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6" r:id="rId2"/>
    <p:sldId id="267" r:id="rId3"/>
    <p:sldId id="268" r:id="rId4"/>
    <p:sldId id="269" r:id="rId5"/>
    <p:sldId id="270" r:id="rId6"/>
    <p:sldId id="271" r:id="rId7"/>
    <p:sldId id="272" r:id="rId8"/>
    <p:sldId id="273" r:id="rId9"/>
    <p:sldId id="274" r:id="rId10"/>
    <p:sldId id="275" r:id="rId11"/>
    <p:sldId id="390" r:id="rId12"/>
    <p:sldId id="259" r:id="rId13"/>
    <p:sldId id="257"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EDE07F-6CB2-40DF-B24E-940835B008F8}" v="23" dt="2026-05-03T01:51:53.954"/>
    <p1510:client id="{1A78A620-F70C-4EE1-B00F-E02878251BF0}" v="332" dt="2026-05-03T13:38:47.723"/>
    <p1510:client id="{AD41A74E-860B-D247-A9B2-A038B6687544}" v="1" dt="2026-05-05T10:30:54.5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00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quote to cash - at high level is in line with </a:t>
            </a:r>
            <a:r>
              <a:rPr lang="en-US" err="1"/>
              <a:t>waht</a:t>
            </a:r>
            <a:r>
              <a:rPr lang="en-US"/>
              <a:t> they heard </a:t>
            </a:r>
          </a:p>
          <a:p>
            <a:endParaRPr lang="en-US"/>
          </a:p>
          <a:p>
            <a:r>
              <a:rPr lang="en-US"/>
              <a:t>fulfill / build connect happen in back end, not where we have them now </a:t>
            </a:r>
          </a:p>
          <a:p>
            <a:endParaRPr lang="en-US"/>
          </a:p>
          <a:p>
            <a:r>
              <a:rPr lang="en-US"/>
              <a:t>quote to cash and service lifecycle is not showing the right apps. statement is accurate but order creation, fulfillment, bill and collect wont happen in the application shown. remove from that bucket. </a:t>
            </a:r>
          </a:p>
          <a:p>
            <a:endParaRPr lang="en-US"/>
          </a:p>
          <a:p>
            <a:r>
              <a:rPr lang="en-US"/>
              <a:t>once quote is created it is converted to an order in the backend via integration. </a:t>
            </a:r>
          </a:p>
          <a:p>
            <a:endParaRPr lang="en-US"/>
          </a:p>
          <a:p>
            <a:r>
              <a:rPr lang="en-US"/>
              <a:t>PT </a:t>
            </a:r>
            <a:r>
              <a:rPr lang="en-US" err="1"/>
              <a:t>doesnt</a:t>
            </a:r>
            <a:r>
              <a:rPr lang="en-US"/>
              <a:t> use CPQ at all. keep this as generic overview, then double click by each SBG and duplicate and make specific for PT, IA, BA, XX? </a:t>
            </a:r>
          </a:p>
          <a:p>
            <a:endParaRPr lang="en-US"/>
          </a:p>
          <a:p>
            <a:r>
              <a:rPr lang="en-US"/>
              <a:t>- talk to EA team at </a:t>
            </a:r>
            <a:r>
              <a:rPr lang="en-US" err="1"/>
              <a:t>honeywell</a:t>
            </a:r>
            <a:r>
              <a:rPr lang="en-US"/>
              <a:t> - they would give a lot more information as well. -- actually, EA has yet to draw out each architecture -- say we need to understand CPQ and SF in terms of how it impacts the business. SAP well go to PwC for. we can ask client for the top part  since they've spend less time on that.</a:t>
            </a:r>
          </a:p>
          <a:p>
            <a:endParaRPr lang="en-US"/>
          </a:p>
          <a:p>
            <a:r>
              <a:rPr lang="en-US"/>
              <a:t> </a:t>
            </a:r>
          </a:p>
        </p:txBody>
      </p:sp>
      <p:sp>
        <p:nvSpPr>
          <p:cNvPr id="4" name="Slide Number Placeholder 3"/>
          <p:cNvSpPr>
            <a:spLocks noGrp="1"/>
          </p:cNvSpPr>
          <p:nvPr>
            <p:ph type="sldNum" sz="quarter" idx="5"/>
          </p:nvPr>
        </p:nvSpPr>
        <p:spPr/>
        <p:txBody>
          <a:bodyPr/>
          <a:lstStyle/>
          <a:p>
            <a:fld id="{C13A1636-A6AC-A64D-AA78-CAAF24C91815}" type="slidenum">
              <a:rPr lang="en-US" smtClean="0"/>
              <a:t>12</a:t>
            </a:fld>
            <a:endParaRPr lang="en-US"/>
          </a:p>
        </p:txBody>
      </p:sp>
    </p:spTree>
    <p:extLst>
      <p:ext uri="{BB962C8B-B14F-4D97-AF65-F5344CB8AC3E}">
        <p14:creationId xmlns:p14="http://schemas.microsoft.com/office/powerpoint/2010/main" val="11121157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Clarify "legacy SPS/HPS" and 2025 revenue numbers</a:t>
            </a:r>
          </a:p>
          <a:p>
            <a:r>
              <a:rPr lang="en-US" dirty="0">
                <a:ea typeface="Calibri"/>
                <a:cs typeface="Calibri"/>
              </a:rPr>
              <a:t>Add PSS</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2DD047-139D-40E0-9ACC-03EA63DA184F}" type="slidenum">
              <a:t>13</a:t>
            </a:fld>
            <a:endParaRPr lang="en-US"/>
          </a:p>
        </p:txBody>
      </p:sp>
    </p:spTree>
    <p:extLst>
      <p:ext uri="{BB962C8B-B14F-4D97-AF65-F5344CB8AC3E}">
        <p14:creationId xmlns:p14="http://schemas.microsoft.com/office/powerpoint/2010/main" val="2645619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1_XL Content Gray">
    <p:bg>
      <p:bgPr>
        <a:solidFill>
          <a:schemeClr val="accent2"/>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91EEC3B-5E82-A314-8971-402ABABF9C08}"/>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1732" y="6178496"/>
            <a:ext cx="1753669" cy="327979"/>
          </a:xfrm>
          <a:prstGeom prst="rect">
            <a:avLst/>
          </a:prstGeom>
        </p:spPr>
      </p:pic>
    </p:spTree>
    <p:extLst>
      <p:ext uri="{BB962C8B-B14F-4D97-AF65-F5344CB8AC3E}">
        <p14:creationId xmlns:p14="http://schemas.microsoft.com/office/powerpoint/2010/main" val="4054014472"/>
      </p:ext>
    </p:extLst>
  </p:cSld>
  <p:clrMapOvr>
    <a:masterClrMapping/>
  </p:clrMapOvr>
  <p:extLst>
    <p:ext uri="{DCECCB84-F9BA-43D5-87BE-67443E8EF086}">
      <p15:sldGuideLst xmlns:p15="http://schemas.microsoft.com/office/powerpoint/2012/main">
        <p15:guide id="2" pos="559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w/o Takeawa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0A38-A16A-446F-8129-A3FC34253B1F}"/>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47218955-D351-40C8-BFD4-8236355981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7A6FEB-0F20-4122-83B7-A3A8BF9EA12C}"/>
              </a:ext>
            </a:extLst>
          </p:cNvPr>
          <p:cNvSpPr>
            <a:spLocks noGrp="1"/>
          </p:cNvSpPr>
          <p:nvPr>
            <p:ph type="sldNum" sz="quarter" idx="12"/>
          </p:nvPr>
        </p:nvSpPr>
        <p:spPr/>
        <p:txBody>
          <a:bodyPr/>
          <a:lstStyle/>
          <a:p>
            <a:fld id="{739A83F7-42DC-4D59-BB0C-05CCA9FDE912}" type="slidenum">
              <a:rPr lang="en-US" smtClean="0"/>
              <a:t>‹#›</a:t>
            </a:fld>
            <a:endParaRPr lang="en-US"/>
          </a:p>
        </p:txBody>
      </p:sp>
      <p:sp>
        <p:nvSpPr>
          <p:cNvPr id="4" name="Text Placeholder 3">
            <a:extLst>
              <a:ext uri="{FF2B5EF4-FFF2-40B4-BE49-F238E27FC236}">
                <a16:creationId xmlns:a16="http://schemas.microsoft.com/office/drawing/2014/main" id="{539E6B73-C7B7-482C-A588-6792D62C7146}"/>
              </a:ext>
            </a:extLst>
          </p:cNvPr>
          <p:cNvSpPr>
            <a:spLocks noGrp="1"/>
          </p:cNvSpPr>
          <p:nvPr>
            <p:ph type="body" sz="quarter" idx="13"/>
          </p:nvPr>
        </p:nvSpPr>
        <p:spPr>
          <a:xfrm>
            <a:off x="495300" y="1181100"/>
            <a:ext cx="11201400" cy="49149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52254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CD7A4-1F52-4E93-697E-F43A141DB8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AEA30B-1E5E-F5DE-2F8F-451F1A2DEB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C35E9E-4C55-9371-C825-160811866472}"/>
              </a:ext>
            </a:extLst>
          </p:cNvPr>
          <p:cNvSpPr>
            <a:spLocks noGrp="1"/>
          </p:cNvSpPr>
          <p:nvPr>
            <p:ph type="dt" sz="half" idx="10"/>
          </p:nvPr>
        </p:nvSpPr>
        <p:spPr/>
        <p:txBody>
          <a:bodyPr/>
          <a:lstStyle/>
          <a:p>
            <a:fld id="{CBB33C72-001D-4329-85CD-6BC5BEFD2290}" type="datetimeFigureOut">
              <a:rPr lang="en-US" smtClean="0"/>
              <a:t>5/4/26</a:t>
            </a:fld>
            <a:endParaRPr lang="en-US"/>
          </a:p>
        </p:txBody>
      </p:sp>
      <p:sp>
        <p:nvSpPr>
          <p:cNvPr id="5" name="Footer Placeholder 4">
            <a:extLst>
              <a:ext uri="{FF2B5EF4-FFF2-40B4-BE49-F238E27FC236}">
                <a16:creationId xmlns:a16="http://schemas.microsoft.com/office/drawing/2014/main" id="{89F6EF37-2A1D-9F96-EFB8-BAFA1BCEAB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2BC359-9F4F-C9B3-4158-D53441048F53}"/>
              </a:ext>
            </a:extLst>
          </p:cNvPr>
          <p:cNvSpPr>
            <a:spLocks noGrp="1"/>
          </p:cNvSpPr>
          <p:nvPr>
            <p:ph type="sldNum" sz="quarter" idx="12"/>
          </p:nvPr>
        </p:nvSpPr>
        <p:spPr/>
        <p:txBody>
          <a:bodyPr/>
          <a:lstStyle/>
          <a:p>
            <a:fld id="{FD3347DA-0FF1-49B6-886D-10DC325C2063}" type="slidenum">
              <a:rPr lang="en-US" smtClean="0"/>
              <a:t>‹#›</a:t>
            </a:fld>
            <a:endParaRPr lang="en-US"/>
          </a:p>
        </p:txBody>
      </p:sp>
    </p:spTree>
    <p:extLst>
      <p:ext uri="{BB962C8B-B14F-4D97-AF65-F5344CB8AC3E}">
        <p14:creationId xmlns:p14="http://schemas.microsoft.com/office/powerpoint/2010/main" val="131199885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Our History">
            <a:extLst>
              <a:ext uri="{FF2B5EF4-FFF2-40B4-BE49-F238E27FC236}">
                <a16:creationId xmlns:a16="http://schemas.microsoft.com/office/drawing/2014/main" id="{4DA0429F-0656-AA64-F76D-7CE636F6540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5148"/>
          <a:stretch>
            <a:fillRect/>
          </a:stretch>
        </p:blipFill>
        <p:spPr bwMode="auto">
          <a:xfrm>
            <a:off x="636624" y="64008"/>
            <a:ext cx="11524896" cy="6791148"/>
          </a:xfrm>
          <a:prstGeom prst="rect">
            <a:avLst/>
          </a:prstGeom>
          <a:noFill/>
          <a:extLst>
            <a:ext uri="{909E8E84-426E-40DD-AFC4-6F175D3DCCD1}">
              <a14:hiddenFill xmlns:a14="http://schemas.microsoft.com/office/drawing/2010/main">
                <a:solidFill>
                  <a:srgbClr val="FFFFFF"/>
                </a:solidFill>
              </a14:hiddenFill>
            </a:ext>
          </a:extLst>
        </p:spPr>
      </p:pic>
      <p:sp>
        <p:nvSpPr>
          <p:cNvPr id="2" name="Shape 0"/>
          <p:cNvSpPr/>
          <p:nvPr/>
        </p:nvSpPr>
        <p:spPr>
          <a:xfrm>
            <a:off x="0" y="0"/>
            <a:ext cx="5335960" cy="6858000"/>
          </a:xfrm>
          <a:prstGeom prst="rect">
            <a:avLst/>
          </a:prstGeom>
          <a:solidFill>
            <a:srgbClr val="111111"/>
          </a:solidFill>
          <a:ln w="12700">
            <a:solidFill>
              <a:srgbClr val="111111"/>
            </a:solidFill>
            <a:prstDash val="solid"/>
          </a:ln>
        </p:spPr>
        <p:txBody>
          <a:bodyPr/>
          <a:lstStyle/>
          <a:p>
            <a:endParaRPr lang="en-US"/>
          </a:p>
        </p:txBody>
      </p:sp>
      <p:sp>
        <p:nvSpPr>
          <p:cNvPr id="3" name="Shape 1"/>
          <p:cNvSpPr/>
          <p:nvPr/>
        </p:nvSpPr>
        <p:spPr>
          <a:xfrm>
            <a:off x="0" y="0"/>
            <a:ext cx="12161520" cy="64008"/>
          </a:xfrm>
          <a:prstGeom prst="rect">
            <a:avLst/>
          </a:prstGeom>
          <a:solidFill>
            <a:srgbClr val="CC0000"/>
          </a:solidFill>
          <a:ln w="12700">
            <a:solidFill>
              <a:srgbClr val="CC0000"/>
            </a:solidFill>
            <a:prstDash val="solid"/>
          </a:ln>
        </p:spPr>
        <p:txBody>
          <a:bodyPr/>
          <a:lstStyle/>
          <a:p>
            <a:endParaRPr lang="en-US"/>
          </a:p>
        </p:txBody>
      </p:sp>
      <p:sp>
        <p:nvSpPr>
          <p:cNvPr id="4" name="Shape 2"/>
          <p:cNvSpPr/>
          <p:nvPr/>
        </p:nvSpPr>
        <p:spPr>
          <a:xfrm>
            <a:off x="5335960" y="27432"/>
            <a:ext cx="50292" cy="6793992"/>
          </a:xfrm>
          <a:prstGeom prst="rect">
            <a:avLst/>
          </a:prstGeom>
          <a:solidFill>
            <a:srgbClr val="CC0000"/>
          </a:solidFill>
          <a:ln w="12700">
            <a:solidFill>
              <a:srgbClr val="CC0000"/>
            </a:solidFill>
            <a:prstDash val="solid"/>
          </a:ln>
        </p:spPr>
        <p:txBody>
          <a:bodyPr/>
          <a:lstStyle/>
          <a:p>
            <a:endParaRPr lang="en-US"/>
          </a:p>
        </p:txBody>
      </p:sp>
      <p:sp>
        <p:nvSpPr>
          <p:cNvPr id="5" name="Text 3"/>
          <p:cNvSpPr/>
          <p:nvPr/>
        </p:nvSpPr>
        <p:spPr>
          <a:xfrm>
            <a:off x="502920" y="1371600"/>
            <a:ext cx="5486400" cy="274320"/>
          </a:xfrm>
          <a:prstGeom prst="rect">
            <a:avLst/>
          </a:prstGeom>
          <a:noFill/>
          <a:ln/>
        </p:spPr>
        <p:txBody>
          <a:bodyPr wrap="square" lIns="0" tIns="0" rIns="0" bIns="0" rtlCol="0" anchor="ctr"/>
          <a:lstStyle/>
          <a:p>
            <a:pPr marL="0" indent="0">
              <a:buNone/>
            </a:pPr>
            <a:r>
              <a:rPr lang="en-US" sz="950" b="1" kern="0" spc="400" dirty="0">
                <a:solidFill>
                  <a:srgbClr val="CC0000"/>
                </a:solidFill>
                <a:latin typeface="Calibri" pitchFamily="34" charset="0"/>
                <a:ea typeface="Calibri" pitchFamily="34" charset="-122"/>
                <a:cs typeface="Calibri" pitchFamily="34" charset="-120"/>
              </a:rPr>
              <a:t>EXECUTIVE BRIEFING</a:t>
            </a:r>
            <a:endParaRPr lang="en-US" sz="950" dirty="0"/>
          </a:p>
        </p:txBody>
      </p:sp>
      <p:sp>
        <p:nvSpPr>
          <p:cNvPr id="6" name="Text 4"/>
          <p:cNvSpPr/>
          <p:nvPr/>
        </p:nvSpPr>
        <p:spPr>
          <a:xfrm>
            <a:off x="502920" y="1755648"/>
            <a:ext cx="5486400" cy="233172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Honeywell</a:t>
            </a:r>
            <a:endParaRPr lang="en-US" sz="4000" dirty="0"/>
          </a:p>
          <a:p>
            <a:pPr marL="0" indent="0">
              <a:buNone/>
            </a:pPr>
            <a:r>
              <a:rPr lang="en-US" sz="4000" b="1" dirty="0">
                <a:solidFill>
                  <a:srgbClr val="FFFFFF"/>
                </a:solidFill>
                <a:latin typeface="Calibri" pitchFamily="34" charset="0"/>
                <a:ea typeface="Calibri" pitchFamily="34" charset="-122"/>
                <a:cs typeface="Calibri" pitchFamily="34" charset="-120"/>
              </a:rPr>
              <a:t>Front Office</a:t>
            </a:r>
            <a:endParaRPr lang="en-US" sz="4000" dirty="0"/>
          </a:p>
          <a:p>
            <a:pPr marL="0" indent="0">
              <a:buNone/>
            </a:pPr>
            <a:r>
              <a:rPr lang="en-US" sz="4000" b="1" dirty="0">
                <a:solidFill>
                  <a:srgbClr val="FFFFFF"/>
                </a:solidFill>
                <a:latin typeface="Calibri" pitchFamily="34" charset="0"/>
                <a:ea typeface="Calibri" pitchFamily="34" charset="-122"/>
                <a:cs typeface="Calibri" pitchFamily="34" charset="-120"/>
              </a:rPr>
              <a:t>Transformation</a:t>
            </a:r>
            <a:endParaRPr lang="en-US" sz="4000" dirty="0"/>
          </a:p>
        </p:txBody>
      </p:sp>
      <p:sp>
        <p:nvSpPr>
          <p:cNvPr id="7" name="Shape 5"/>
          <p:cNvSpPr/>
          <p:nvPr/>
        </p:nvSpPr>
        <p:spPr>
          <a:xfrm>
            <a:off x="502920" y="4224528"/>
            <a:ext cx="1645920" cy="50292"/>
          </a:xfrm>
          <a:prstGeom prst="rect">
            <a:avLst/>
          </a:prstGeom>
          <a:solidFill>
            <a:srgbClr val="CC0000"/>
          </a:solidFill>
          <a:ln w="12700">
            <a:solidFill>
              <a:srgbClr val="CC0000"/>
            </a:solidFill>
            <a:prstDash val="solid"/>
          </a:ln>
        </p:spPr>
        <p:txBody>
          <a:bodyPr/>
          <a:lstStyle/>
          <a:p>
            <a:endParaRPr lang="en-US"/>
          </a:p>
        </p:txBody>
      </p:sp>
      <p:sp>
        <p:nvSpPr>
          <p:cNvPr id="8" name="Text 6"/>
          <p:cNvSpPr/>
          <p:nvPr/>
        </p:nvSpPr>
        <p:spPr>
          <a:xfrm>
            <a:off x="502920" y="4352544"/>
            <a:ext cx="5486400" cy="658368"/>
          </a:xfrm>
          <a:prstGeom prst="rect">
            <a:avLst/>
          </a:prstGeom>
          <a:noFill/>
          <a:ln/>
        </p:spPr>
        <p:txBody>
          <a:bodyPr wrap="square" lIns="0" tIns="0" rIns="0" bIns="0" rtlCol="0" anchor="ctr"/>
          <a:lstStyle/>
          <a:p>
            <a:pPr marL="0" indent="0">
              <a:buNone/>
            </a:pPr>
            <a:r>
              <a:rPr lang="en-US" sz="1450" dirty="0">
                <a:solidFill>
                  <a:srgbClr val="C0C0C0"/>
                </a:solidFill>
                <a:latin typeface="Calibri" pitchFamily="34" charset="0"/>
                <a:ea typeface="Calibri" pitchFamily="34" charset="-122"/>
                <a:cs typeface="Calibri" pitchFamily="34" charset="-120"/>
              </a:rPr>
              <a:t>The Path to an Agentic,</a:t>
            </a:r>
            <a:endParaRPr lang="en-US" sz="1450" dirty="0"/>
          </a:p>
          <a:p>
            <a:pPr marL="0" indent="0">
              <a:buNone/>
            </a:pPr>
            <a:r>
              <a:rPr lang="en-US" sz="1450">
                <a:solidFill>
                  <a:srgbClr val="C0C0C0"/>
                </a:solidFill>
                <a:latin typeface="Calibri"/>
                <a:ea typeface="Calibri"/>
                <a:cs typeface="Calibri"/>
              </a:rPr>
              <a:t>Customer-Centric Enterprise</a:t>
            </a:r>
            <a:endParaRPr lang="en-US" sz="1450">
              <a:latin typeface="Calibri"/>
              <a:ea typeface="Calibri"/>
              <a:cs typeface="Calibri"/>
            </a:endParaRPr>
          </a:p>
        </p:txBody>
      </p:sp>
      <p:sp>
        <p:nvSpPr>
          <p:cNvPr id="10" name="Text 8"/>
          <p:cNvSpPr/>
          <p:nvPr/>
        </p:nvSpPr>
        <p:spPr>
          <a:xfrm>
            <a:off x="502920" y="5468112"/>
            <a:ext cx="5486400" cy="237744"/>
          </a:xfrm>
          <a:prstGeom prst="rect">
            <a:avLst/>
          </a:prstGeom>
          <a:noFill/>
          <a:ln/>
        </p:spPr>
        <p:txBody>
          <a:bodyPr wrap="square" lIns="0" tIns="0" rIns="0" bIns="0" rtlCol="0" anchor="ctr"/>
          <a:lstStyle/>
          <a:p>
            <a:pPr marL="0" indent="0">
              <a:buNone/>
            </a:pPr>
            <a:r>
              <a:rPr lang="en-US" sz="1050" i="1" dirty="0">
                <a:solidFill>
                  <a:srgbClr val="A8A8A8"/>
                </a:solidFill>
                <a:latin typeface="Calibri" pitchFamily="34" charset="0"/>
                <a:ea typeface="Calibri" pitchFamily="34" charset="-122"/>
                <a:cs typeface="Calibri" pitchFamily="34" charset="-120"/>
              </a:rPr>
              <a:t>May 2026 </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CC0000"/>
          </a:solidFill>
          <a:ln w="12700">
            <a:solidFill>
              <a:srgbClr val="CC0000"/>
            </a:solidFill>
            <a:prstDash val="solid"/>
          </a:ln>
        </p:spPr>
        <p:txBody>
          <a:bodyPr/>
          <a:lstStyle/>
          <a:p>
            <a:endParaRPr lang="en-US"/>
          </a:p>
        </p:txBody>
      </p:sp>
      <p:sp>
        <p:nvSpPr>
          <p:cNvPr id="3" name="Shape 1"/>
          <p:cNvSpPr/>
          <p:nvPr/>
        </p:nvSpPr>
        <p:spPr>
          <a:xfrm>
            <a:off x="0" y="54864"/>
            <a:ext cx="164592" cy="6803136"/>
          </a:xfrm>
          <a:prstGeom prst="rect">
            <a:avLst/>
          </a:prstGeom>
          <a:solidFill>
            <a:srgbClr val="111111"/>
          </a:solidFill>
          <a:ln w="12700">
            <a:solidFill>
              <a:srgbClr val="111111"/>
            </a:solidFill>
            <a:prstDash val="solid"/>
          </a:ln>
        </p:spPr>
        <p:txBody>
          <a:bodyPr/>
          <a:lstStyle/>
          <a:p>
            <a:endParaRPr lang="en-US"/>
          </a:p>
        </p:txBody>
      </p:sp>
      <p:sp>
        <p:nvSpPr>
          <p:cNvPr id="4" name="Text 2"/>
          <p:cNvSpPr/>
          <p:nvPr/>
        </p:nvSpPr>
        <p:spPr>
          <a:xfrm>
            <a:off x="329184" y="118872"/>
            <a:ext cx="7315200" cy="246888"/>
          </a:xfrm>
          <a:prstGeom prst="rect">
            <a:avLst/>
          </a:prstGeom>
          <a:noFill/>
          <a:ln/>
        </p:spPr>
        <p:txBody>
          <a:bodyPr wrap="square" lIns="0" tIns="0" rIns="0" bIns="0" rtlCol="0" anchor="ctr"/>
          <a:lstStyle/>
          <a:p>
            <a:pPr marL="0" indent="0">
              <a:buNone/>
            </a:pPr>
            <a:r>
              <a:rPr lang="en-US" sz="900" b="1" kern="0" spc="300" dirty="0">
                <a:solidFill>
                  <a:srgbClr val="CC0000"/>
                </a:solidFill>
                <a:latin typeface="Calibri" pitchFamily="34" charset="0"/>
                <a:ea typeface="Calibri" pitchFamily="34" charset="-122"/>
                <a:cs typeface="Calibri" pitchFamily="34" charset="-120"/>
              </a:rPr>
              <a:t>THE OPPORTUNITY CONTEXT</a:t>
            </a:r>
            <a:endParaRPr lang="en-US" sz="900" dirty="0"/>
          </a:p>
        </p:txBody>
      </p:sp>
      <p:sp>
        <p:nvSpPr>
          <p:cNvPr id="5" name="Text 3"/>
          <p:cNvSpPr/>
          <p:nvPr/>
        </p:nvSpPr>
        <p:spPr>
          <a:xfrm>
            <a:off x="329184" y="384048"/>
            <a:ext cx="7315200" cy="457200"/>
          </a:xfrm>
          <a:prstGeom prst="rect">
            <a:avLst/>
          </a:prstGeom>
          <a:noFill/>
          <a:ln/>
        </p:spPr>
        <p:txBody>
          <a:bodyPr wrap="square" lIns="0" tIns="0" rIns="0" bIns="0" rtlCol="0" anchor="ctr"/>
          <a:lstStyle/>
          <a:p>
            <a:pPr marL="0" indent="0">
              <a:buNone/>
            </a:pPr>
            <a:r>
              <a:rPr lang="en-US" sz="2000" b="1" dirty="0">
                <a:solidFill>
                  <a:srgbClr val="1F1F1F"/>
                </a:solidFill>
                <a:latin typeface="Calibri" pitchFamily="34" charset="0"/>
                <a:ea typeface="Calibri" pitchFamily="34" charset="-122"/>
                <a:cs typeface="Calibri" pitchFamily="34" charset="-120"/>
              </a:rPr>
              <a:t>Why this conversation is happening now</a:t>
            </a:r>
            <a:endParaRPr lang="en-US" sz="2000" dirty="0"/>
          </a:p>
        </p:txBody>
      </p:sp>
      <p:sp>
        <p:nvSpPr>
          <p:cNvPr id="6" name="Shape 4"/>
          <p:cNvSpPr/>
          <p:nvPr/>
        </p:nvSpPr>
        <p:spPr>
          <a:xfrm>
            <a:off x="329184" y="859536"/>
            <a:ext cx="6492240" cy="20117"/>
          </a:xfrm>
          <a:prstGeom prst="rect">
            <a:avLst/>
          </a:prstGeom>
          <a:solidFill>
            <a:srgbClr val="D4D4D4"/>
          </a:solidFill>
          <a:ln w="12700">
            <a:solidFill>
              <a:srgbClr val="D4D4D4"/>
            </a:solidFill>
            <a:prstDash val="solid"/>
          </a:ln>
        </p:spPr>
        <p:txBody>
          <a:bodyPr/>
          <a:lstStyle/>
          <a:p>
            <a:endParaRPr lang="en-US"/>
          </a:p>
        </p:txBody>
      </p:sp>
      <p:sp>
        <p:nvSpPr>
          <p:cNvPr id="8" name="Shape 6"/>
          <p:cNvSpPr/>
          <p:nvPr/>
        </p:nvSpPr>
        <p:spPr>
          <a:xfrm>
            <a:off x="7132320" y="54864"/>
            <a:ext cx="0" cy="6620256"/>
          </a:xfrm>
          <a:prstGeom prst="line">
            <a:avLst/>
          </a:prstGeom>
          <a:noFill/>
          <a:ln w="12700">
            <a:solidFill>
              <a:srgbClr val="D4D4D4"/>
            </a:solidFill>
            <a:prstDash val="solid"/>
          </a:ln>
        </p:spPr>
        <p:txBody>
          <a:bodyPr/>
          <a:lstStyle/>
          <a:p>
            <a:endParaRPr lang="en-US"/>
          </a:p>
        </p:txBody>
      </p:sp>
      <p:sp>
        <p:nvSpPr>
          <p:cNvPr id="9" name="Shape 7"/>
          <p:cNvSpPr/>
          <p:nvPr/>
        </p:nvSpPr>
        <p:spPr>
          <a:xfrm>
            <a:off x="329184" y="1060704"/>
            <a:ext cx="4443980" cy="1645920"/>
          </a:xfrm>
          <a:prstGeom prst="rect">
            <a:avLst/>
          </a:prstGeom>
          <a:solidFill>
            <a:srgbClr val="FFFFFF"/>
          </a:solidFill>
          <a:ln w="10160">
            <a:solidFill>
              <a:srgbClr val="D4D4D4"/>
            </a:solidFill>
            <a:prstDash val="solid"/>
          </a:ln>
          <a:effectLst>
            <a:outerShdw blurRad="50800" dist="25400" dir="8100000" algn="bl" rotWithShape="0">
              <a:srgbClr val="000000">
                <a:alpha val="7000"/>
              </a:srgbClr>
            </a:outerShdw>
          </a:effectLst>
        </p:spPr>
        <p:txBody>
          <a:bodyPr/>
          <a:lstStyle/>
          <a:p>
            <a:endParaRPr lang="en-US"/>
          </a:p>
        </p:txBody>
      </p:sp>
      <p:sp>
        <p:nvSpPr>
          <p:cNvPr id="10" name="Shape 8"/>
          <p:cNvSpPr/>
          <p:nvPr/>
        </p:nvSpPr>
        <p:spPr>
          <a:xfrm>
            <a:off x="329184" y="1060704"/>
            <a:ext cx="4443980" cy="45719"/>
          </a:xfrm>
          <a:prstGeom prst="rect">
            <a:avLst/>
          </a:prstGeom>
          <a:solidFill>
            <a:srgbClr val="111111"/>
          </a:solidFill>
          <a:ln w="12700">
            <a:solidFill>
              <a:srgbClr val="111111"/>
            </a:solidFill>
            <a:prstDash val="solid"/>
          </a:ln>
        </p:spPr>
        <p:txBody>
          <a:bodyPr/>
          <a:lstStyle/>
          <a:p>
            <a:endParaRPr lang="en-US"/>
          </a:p>
        </p:txBody>
      </p:sp>
      <p:sp>
        <p:nvSpPr>
          <p:cNvPr id="11" name="Shape 9"/>
          <p:cNvSpPr/>
          <p:nvPr/>
        </p:nvSpPr>
        <p:spPr>
          <a:xfrm>
            <a:off x="450145" y="1123922"/>
            <a:ext cx="402336" cy="374114"/>
          </a:xfrm>
          <a:prstGeom prst="rect">
            <a:avLst/>
          </a:prstGeom>
          <a:solidFill>
            <a:srgbClr val="CC0000"/>
          </a:solidFill>
          <a:ln w="12700">
            <a:solidFill>
              <a:srgbClr val="CC0000"/>
            </a:solidFill>
            <a:prstDash val="solid"/>
          </a:ln>
        </p:spPr>
        <p:txBody>
          <a:bodyPr/>
          <a:lstStyle/>
          <a:p>
            <a:endParaRPr lang="en-US"/>
          </a:p>
        </p:txBody>
      </p:sp>
      <p:sp>
        <p:nvSpPr>
          <p:cNvPr id="12" name="Text 10"/>
          <p:cNvSpPr/>
          <p:nvPr/>
        </p:nvSpPr>
        <p:spPr>
          <a:xfrm>
            <a:off x="443089" y="1067477"/>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13" name="Text 11"/>
          <p:cNvSpPr/>
          <p:nvPr/>
        </p:nvSpPr>
        <p:spPr>
          <a:xfrm>
            <a:off x="918577" y="1038465"/>
            <a:ext cx="1463040" cy="384048"/>
          </a:xfrm>
          <a:prstGeom prst="rect">
            <a:avLst/>
          </a:prstGeom>
          <a:noFill/>
          <a:ln/>
        </p:spPr>
        <p:txBody>
          <a:bodyPr wrap="square" lIns="0" tIns="0" rIns="0" bIns="0" rtlCol="0" anchor="ctr"/>
          <a:lstStyle/>
          <a:p>
            <a:r>
              <a:rPr lang="en-US" sz="1200" b="1">
                <a:solidFill>
                  <a:srgbClr val="1F1F1F"/>
                </a:solidFill>
                <a:latin typeface="Calibri"/>
                <a:ea typeface="Calibri"/>
                <a:cs typeface="Calibri"/>
              </a:rPr>
              <a:t>Leadership</a:t>
            </a:r>
            <a:r>
              <a:rPr lang="en-US" sz="1200" b="1" dirty="0">
                <a:solidFill>
                  <a:srgbClr val="1F1F1F"/>
                </a:solidFill>
                <a:latin typeface="Calibri"/>
                <a:ea typeface="Calibri"/>
                <a:cs typeface="Calibri"/>
              </a:rPr>
              <a:t> Mandate</a:t>
            </a:r>
            <a:endParaRPr lang="en-US" sz="1200" dirty="0">
              <a:latin typeface="Calibri"/>
              <a:ea typeface="Calibri"/>
              <a:cs typeface="Calibri"/>
            </a:endParaRPr>
          </a:p>
        </p:txBody>
      </p:sp>
      <p:sp>
        <p:nvSpPr>
          <p:cNvPr id="14" name="Shape 12"/>
          <p:cNvSpPr/>
          <p:nvPr/>
        </p:nvSpPr>
        <p:spPr>
          <a:xfrm>
            <a:off x="457200" y="1609344"/>
            <a:ext cx="1920240" cy="18288"/>
          </a:xfrm>
          <a:prstGeom prst="rect">
            <a:avLst/>
          </a:prstGeom>
          <a:solidFill>
            <a:srgbClr val="D4D4D4"/>
          </a:solidFill>
          <a:ln w="12700">
            <a:solidFill>
              <a:srgbClr val="D4D4D4"/>
            </a:solidFill>
            <a:prstDash val="solid"/>
          </a:ln>
        </p:spPr>
        <p:txBody>
          <a:bodyPr/>
          <a:lstStyle/>
          <a:p>
            <a:endParaRPr lang="en-US"/>
          </a:p>
        </p:txBody>
      </p:sp>
      <p:sp>
        <p:nvSpPr>
          <p:cNvPr id="15" name="Text 13"/>
          <p:cNvSpPr/>
          <p:nvPr/>
        </p:nvSpPr>
        <p:spPr>
          <a:xfrm>
            <a:off x="457200" y="1470829"/>
            <a:ext cx="4078224" cy="1219810"/>
          </a:xfrm>
          <a:prstGeom prst="rect">
            <a:avLst/>
          </a:prstGeom>
          <a:noFill/>
          <a:ln/>
        </p:spPr>
        <p:txBody>
          <a:bodyPr wrap="square" lIns="0" tIns="0" rIns="0" bIns="0" rtlCol="0" anchor="t"/>
          <a:lstStyle/>
          <a:p>
            <a:pPr marL="342900" indent="-342900">
              <a:spcAft>
                <a:spcPts val="800"/>
              </a:spcAft>
              <a:buSzPct val="100000"/>
              <a:buChar char="•"/>
            </a:pPr>
            <a:r>
              <a:rPr lang="en-US" sz="1100">
                <a:solidFill>
                  <a:srgbClr val="555555"/>
                </a:solidFill>
                <a:latin typeface="Calibri"/>
                <a:ea typeface="Calibri"/>
                <a:cs typeface="Calibri"/>
              </a:rPr>
              <a:t>Focus from Senior Executives (CCO / CCEX Tech VP) on need for front </a:t>
            </a:r>
            <a:r>
              <a:rPr lang="en-US" sz="1100" dirty="0">
                <a:solidFill>
                  <a:srgbClr val="555555"/>
                </a:solidFill>
                <a:latin typeface="Calibri"/>
                <a:ea typeface="Calibri"/>
                <a:cs typeface="Calibri"/>
              </a:rPr>
              <a:t>office modernization</a:t>
            </a:r>
            <a:endParaRPr lang="en-US" sz="1100" dirty="0">
              <a:latin typeface="Calibri"/>
              <a:ea typeface="Calibri"/>
              <a:cs typeface="Calibri"/>
            </a:endParaRPr>
          </a:p>
          <a:p>
            <a:pPr marL="342900" indent="-342900">
              <a:spcAft>
                <a:spcPts val="800"/>
              </a:spcAft>
              <a:buSzPct val="100000"/>
              <a:buChar char="•"/>
            </a:pPr>
            <a:r>
              <a:rPr lang="en-US" sz="1100">
                <a:solidFill>
                  <a:srgbClr val="555555"/>
                </a:solidFill>
                <a:latin typeface="Calibri"/>
                <a:ea typeface="Calibri"/>
                <a:cs typeface="Calibri"/>
              </a:rPr>
              <a:t>Aspirations to create an Agentic front office vision for Honeywell</a:t>
            </a:r>
            <a:endParaRPr lang="en-US" sz="1100">
              <a:latin typeface="Calibri"/>
              <a:ea typeface="Calibri"/>
              <a:cs typeface="Calibri"/>
            </a:endParaRPr>
          </a:p>
          <a:p>
            <a:pPr marL="342900" indent="-342900">
              <a:spcAft>
                <a:spcPts val="800"/>
              </a:spcAft>
              <a:buSzPct val="100000"/>
              <a:buChar char="•"/>
            </a:pPr>
            <a:r>
              <a:rPr lang="en-US" sz="1100" dirty="0">
                <a:solidFill>
                  <a:srgbClr val="555555"/>
                </a:solidFill>
                <a:latin typeface="Calibri"/>
                <a:ea typeface="Calibri"/>
                <a:cs typeface="Calibri"/>
              </a:rPr>
              <a:t>Need to optimize commercial technology stack that drives value across distinct SBGs</a:t>
            </a:r>
            <a:endParaRPr lang="en-US" sz="1100" dirty="0">
              <a:latin typeface="Calibri"/>
              <a:ea typeface="Calibri"/>
              <a:cs typeface="Calibri"/>
            </a:endParaRPr>
          </a:p>
          <a:p>
            <a:pPr marL="342900" indent="-342900">
              <a:spcAft>
                <a:spcPts val="800"/>
              </a:spcAft>
              <a:buSzPct val="100000"/>
              <a:buChar char="•"/>
            </a:pPr>
            <a:r>
              <a:rPr lang="en-US" sz="1100" dirty="0">
                <a:solidFill>
                  <a:srgbClr val="555555"/>
                </a:solidFill>
                <a:latin typeface="Calibri" pitchFamily="34" charset="0"/>
                <a:ea typeface="Calibri" pitchFamily="34" charset="-122"/>
                <a:cs typeface="Calibri" pitchFamily="34" charset="-120"/>
              </a:rPr>
              <a:t>AI-first policy: cleaner data, smarter decisioning</a:t>
            </a:r>
            <a:endParaRPr lang="en-US" sz="1100" dirty="0"/>
          </a:p>
        </p:txBody>
      </p:sp>
      <p:sp>
        <p:nvSpPr>
          <p:cNvPr id="16" name="Shape 14"/>
          <p:cNvSpPr/>
          <p:nvPr/>
        </p:nvSpPr>
        <p:spPr>
          <a:xfrm>
            <a:off x="347472" y="2796347"/>
            <a:ext cx="4443980" cy="1823314"/>
          </a:xfrm>
          <a:prstGeom prst="rect">
            <a:avLst/>
          </a:prstGeom>
          <a:solidFill>
            <a:srgbClr val="FFFFFF"/>
          </a:solidFill>
          <a:ln w="10160">
            <a:solidFill>
              <a:srgbClr val="D4D4D4"/>
            </a:solidFill>
            <a:prstDash val="solid"/>
          </a:ln>
          <a:effectLst>
            <a:outerShdw blurRad="50800" dist="25400" dir="8100000" algn="bl" rotWithShape="0">
              <a:srgbClr val="000000">
                <a:alpha val="7000"/>
              </a:srgbClr>
            </a:outerShdw>
          </a:effectLst>
        </p:spPr>
        <p:txBody>
          <a:bodyPr/>
          <a:lstStyle/>
          <a:p>
            <a:endParaRPr lang="en-US"/>
          </a:p>
        </p:txBody>
      </p:sp>
      <p:sp>
        <p:nvSpPr>
          <p:cNvPr id="17" name="Shape 15"/>
          <p:cNvSpPr/>
          <p:nvPr/>
        </p:nvSpPr>
        <p:spPr>
          <a:xfrm>
            <a:off x="347472" y="2796347"/>
            <a:ext cx="4443980" cy="45719"/>
          </a:xfrm>
          <a:prstGeom prst="rect">
            <a:avLst/>
          </a:prstGeom>
          <a:solidFill>
            <a:srgbClr val="111111"/>
          </a:solidFill>
          <a:ln w="12700">
            <a:solidFill>
              <a:srgbClr val="111111"/>
            </a:solidFill>
            <a:prstDash val="solid"/>
          </a:ln>
        </p:spPr>
        <p:txBody>
          <a:bodyPr/>
          <a:lstStyle/>
          <a:p>
            <a:endParaRPr lang="en-US"/>
          </a:p>
        </p:txBody>
      </p:sp>
      <p:sp>
        <p:nvSpPr>
          <p:cNvPr id="18" name="Shape 16"/>
          <p:cNvSpPr/>
          <p:nvPr/>
        </p:nvSpPr>
        <p:spPr>
          <a:xfrm>
            <a:off x="475488" y="2887787"/>
            <a:ext cx="402336" cy="402336"/>
          </a:xfrm>
          <a:prstGeom prst="rect">
            <a:avLst/>
          </a:prstGeom>
          <a:solidFill>
            <a:srgbClr val="CC0000"/>
          </a:solidFill>
          <a:ln w="12700">
            <a:solidFill>
              <a:srgbClr val="CC0000"/>
            </a:solidFill>
            <a:prstDash val="solid"/>
          </a:ln>
        </p:spPr>
        <p:txBody>
          <a:bodyPr/>
          <a:lstStyle/>
          <a:p>
            <a:endParaRPr lang="en-US"/>
          </a:p>
        </p:txBody>
      </p:sp>
      <p:sp>
        <p:nvSpPr>
          <p:cNvPr id="19" name="Text 17"/>
          <p:cNvSpPr/>
          <p:nvPr/>
        </p:nvSpPr>
        <p:spPr>
          <a:xfrm>
            <a:off x="475488" y="2887787"/>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20" name="Text 18"/>
          <p:cNvSpPr/>
          <p:nvPr/>
        </p:nvSpPr>
        <p:spPr>
          <a:xfrm>
            <a:off x="950976" y="2915219"/>
            <a:ext cx="1463040" cy="384048"/>
          </a:xfrm>
          <a:prstGeom prst="rect">
            <a:avLst/>
          </a:prstGeom>
          <a:noFill/>
          <a:ln/>
        </p:spPr>
        <p:txBody>
          <a:bodyPr wrap="square" lIns="0" tIns="0" rIns="0" bIns="0" rtlCol="0" anchor="ctr"/>
          <a:lstStyle/>
          <a:p>
            <a:pPr marL="0" indent="0">
              <a:buNone/>
            </a:pPr>
            <a:r>
              <a:rPr lang="en-US" sz="1200" b="1" dirty="0">
                <a:solidFill>
                  <a:srgbClr val="1F1F1F"/>
                </a:solidFill>
                <a:latin typeface="Calibri" pitchFamily="34" charset="0"/>
                <a:ea typeface="Calibri" pitchFamily="34" charset="-122"/>
                <a:cs typeface="Calibri" pitchFamily="34" charset="-120"/>
              </a:rPr>
              <a:t>The S/4HANA Window</a:t>
            </a:r>
            <a:endParaRPr lang="en-US" sz="1200" dirty="0"/>
          </a:p>
        </p:txBody>
      </p:sp>
      <p:sp>
        <p:nvSpPr>
          <p:cNvPr id="21" name="Shape 19"/>
          <p:cNvSpPr/>
          <p:nvPr/>
        </p:nvSpPr>
        <p:spPr>
          <a:xfrm>
            <a:off x="475488" y="3344987"/>
            <a:ext cx="1920240" cy="18288"/>
          </a:xfrm>
          <a:prstGeom prst="rect">
            <a:avLst/>
          </a:prstGeom>
          <a:solidFill>
            <a:srgbClr val="D4D4D4"/>
          </a:solidFill>
          <a:ln w="12700">
            <a:solidFill>
              <a:srgbClr val="D4D4D4"/>
            </a:solidFill>
            <a:prstDash val="solid"/>
          </a:ln>
        </p:spPr>
        <p:txBody>
          <a:bodyPr/>
          <a:lstStyle/>
          <a:p>
            <a:endParaRPr lang="en-US"/>
          </a:p>
        </p:txBody>
      </p:sp>
      <p:sp>
        <p:nvSpPr>
          <p:cNvPr id="22" name="Text 20"/>
          <p:cNvSpPr/>
          <p:nvPr/>
        </p:nvSpPr>
        <p:spPr>
          <a:xfrm>
            <a:off x="475487" y="3418139"/>
            <a:ext cx="3956909" cy="1201522"/>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555555"/>
                </a:solidFill>
                <a:latin typeface="Calibri" pitchFamily="34" charset="0"/>
                <a:ea typeface="Calibri" pitchFamily="34" charset="-122"/>
                <a:cs typeface="Calibri" pitchFamily="34" charset="-120"/>
              </a:rPr>
              <a:t>S/4HANA 2–4 years out — design decisions being made NOW</a:t>
            </a:r>
            <a:endParaRPr lang="en-US" sz="1100" dirty="0"/>
          </a:p>
          <a:p>
            <a:pPr marL="342900" indent="-342900">
              <a:spcAft>
                <a:spcPts val="800"/>
              </a:spcAft>
              <a:buSzPct val="100000"/>
              <a:buChar char="•"/>
            </a:pPr>
            <a:r>
              <a:rPr lang="en-US" sz="1100" dirty="0">
                <a:solidFill>
                  <a:srgbClr val="555555"/>
                </a:solidFill>
                <a:latin typeface="Calibri" pitchFamily="34" charset="0"/>
                <a:ea typeface="Calibri" pitchFamily="34" charset="-122"/>
                <a:cs typeface="Calibri" pitchFamily="34" charset="-120"/>
              </a:rPr>
              <a:t>38 cataloged integrations at risk in ECC → S/4 migration</a:t>
            </a:r>
            <a:endParaRPr lang="en-US" sz="1100" dirty="0"/>
          </a:p>
          <a:p>
            <a:pPr marL="342900" indent="-342900">
              <a:spcAft>
                <a:spcPts val="800"/>
              </a:spcAft>
              <a:buSzPct val="100000"/>
              <a:buChar char="•"/>
            </a:pPr>
            <a:r>
              <a:rPr lang="en-US" sz="1100" dirty="0">
                <a:solidFill>
                  <a:srgbClr val="555555"/>
                </a:solidFill>
                <a:latin typeface="Calibri" pitchFamily="34" charset="0"/>
                <a:ea typeface="Calibri" pitchFamily="34" charset="-122"/>
                <a:cs typeface="Calibri" pitchFamily="34" charset="-120"/>
              </a:rPr>
              <a:t>Business partner model changes ripple across all front-office systems</a:t>
            </a:r>
            <a:endParaRPr lang="en-US" sz="1100" dirty="0"/>
          </a:p>
          <a:p>
            <a:pPr marL="342900" indent="-342900">
              <a:spcAft>
                <a:spcPts val="800"/>
              </a:spcAft>
              <a:buSzPct val="100000"/>
              <a:buChar char="•"/>
            </a:pPr>
            <a:r>
              <a:rPr lang="en-US" sz="1100" dirty="0">
                <a:solidFill>
                  <a:srgbClr val="555555"/>
                </a:solidFill>
                <a:latin typeface="Calibri" pitchFamily="34" charset="0"/>
                <a:ea typeface="Calibri" pitchFamily="34" charset="-122"/>
                <a:cs typeface="Calibri" pitchFamily="34" charset="-120"/>
              </a:rPr>
              <a:t>Lift-and-shift will replicate today's failure modes</a:t>
            </a:r>
            <a:endParaRPr lang="en-US" sz="1100" dirty="0"/>
          </a:p>
        </p:txBody>
      </p:sp>
      <p:sp>
        <p:nvSpPr>
          <p:cNvPr id="23" name="Shape 21"/>
          <p:cNvSpPr/>
          <p:nvPr/>
        </p:nvSpPr>
        <p:spPr>
          <a:xfrm>
            <a:off x="347471" y="4738533"/>
            <a:ext cx="4443981" cy="1735419"/>
          </a:xfrm>
          <a:prstGeom prst="rect">
            <a:avLst/>
          </a:prstGeom>
          <a:solidFill>
            <a:srgbClr val="FFFFFF"/>
          </a:solidFill>
          <a:ln w="10160">
            <a:solidFill>
              <a:srgbClr val="D4D4D4"/>
            </a:solidFill>
            <a:prstDash val="solid"/>
          </a:ln>
          <a:effectLst>
            <a:outerShdw blurRad="50800" dist="25400" dir="8100000" algn="bl" rotWithShape="0">
              <a:srgbClr val="000000">
                <a:alpha val="7000"/>
              </a:srgbClr>
            </a:outerShdw>
          </a:effectLst>
        </p:spPr>
        <p:txBody>
          <a:bodyPr/>
          <a:lstStyle/>
          <a:p>
            <a:endParaRPr lang="en-US"/>
          </a:p>
        </p:txBody>
      </p:sp>
      <p:sp>
        <p:nvSpPr>
          <p:cNvPr id="24" name="Shape 22"/>
          <p:cNvSpPr/>
          <p:nvPr/>
        </p:nvSpPr>
        <p:spPr>
          <a:xfrm>
            <a:off x="347472" y="4738533"/>
            <a:ext cx="4443980" cy="45719"/>
          </a:xfrm>
          <a:prstGeom prst="rect">
            <a:avLst/>
          </a:prstGeom>
          <a:solidFill>
            <a:srgbClr val="111111"/>
          </a:solidFill>
          <a:ln w="12700">
            <a:solidFill>
              <a:srgbClr val="111111"/>
            </a:solidFill>
            <a:prstDash val="solid"/>
          </a:ln>
        </p:spPr>
        <p:txBody>
          <a:bodyPr/>
          <a:lstStyle/>
          <a:p>
            <a:endParaRPr lang="en-US"/>
          </a:p>
        </p:txBody>
      </p:sp>
      <p:sp>
        <p:nvSpPr>
          <p:cNvPr id="25" name="Shape 23"/>
          <p:cNvSpPr/>
          <p:nvPr/>
        </p:nvSpPr>
        <p:spPr>
          <a:xfrm>
            <a:off x="475488" y="4829973"/>
            <a:ext cx="402336" cy="402336"/>
          </a:xfrm>
          <a:prstGeom prst="rect">
            <a:avLst/>
          </a:prstGeom>
          <a:solidFill>
            <a:srgbClr val="CC0000"/>
          </a:solidFill>
          <a:ln w="12700">
            <a:solidFill>
              <a:srgbClr val="CC0000"/>
            </a:solidFill>
            <a:prstDash val="solid"/>
          </a:ln>
        </p:spPr>
        <p:txBody>
          <a:bodyPr/>
          <a:lstStyle/>
          <a:p>
            <a:endParaRPr lang="en-US"/>
          </a:p>
        </p:txBody>
      </p:sp>
      <p:sp>
        <p:nvSpPr>
          <p:cNvPr id="26" name="Text 24"/>
          <p:cNvSpPr/>
          <p:nvPr/>
        </p:nvSpPr>
        <p:spPr>
          <a:xfrm>
            <a:off x="475488" y="4829973"/>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7" name="Text 25"/>
          <p:cNvSpPr/>
          <p:nvPr/>
        </p:nvSpPr>
        <p:spPr>
          <a:xfrm>
            <a:off x="950976" y="4857405"/>
            <a:ext cx="1463040" cy="384048"/>
          </a:xfrm>
          <a:prstGeom prst="rect">
            <a:avLst/>
          </a:prstGeom>
          <a:noFill/>
          <a:ln/>
        </p:spPr>
        <p:txBody>
          <a:bodyPr wrap="square" lIns="0" tIns="0" rIns="0" bIns="0" rtlCol="0" anchor="ctr"/>
          <a:lstStyle/>
          <a:p>
            <a:pPr marL="0" indent="0">
              <a:buNone/>
            </a:pPr>
            <a:r>
              <a:rPr lang="en-US" sz="1200" b="1" dirty="0">
                <a:solidFill>
                  <a:srgbClr val="1F1F1F"/>
                </a:solidFill>
                <a:latin typeface="Calibri" pitchFamily="34" charset="0"/>
                <a:ea typeface="Calibri" pitchFamily="34" charset="-122"/>
                <a:cs typeface="Calibri" pitchFamily="34" charset="-120"/>
              </a:rPr>
              <a:t>PwC's Unique Position</a:t>
            </a:r>
            <a:endParaRPr lang="en-US" sz="1200" dirty="0"/>
          </a:p>
        </p:txBody>
      </p:sp>
      <p:sp>
        <p:nvSpPr>
          <p:cNvPr id="28" name="Shape 26"/>
          <p:cNvSpPr/>
          <p:nvPr/>
        </p:nvSpPr>
        <p:spPr>
          <a:xfrm>
            <a:off x="475488" y="5300889"/>
            <a:ext cx="1920240" cy="18288"/>
          </a:xfrm>
          <a:prstGeom prst="rect">
            <a:avLst/>
          </a:prstGeom>
          <a:solidFill>
            <a:srgbClr val="D4D4D4"/>
          </a:solidFill>
          <a:ln w="12700">
            <a:solidFill>
              <a:srgbClr val="D4D4D4"/>
            </a:solidFill>
            <a:prstDash val="solid"/>
          </a:ln>
        </p:spPr>
        <p:txBody>
          <a:bodyPr/>
          <a:lstStyle/>
          <a:p>
            <a:endParaRPr lang="en-US"/>
          </a:p>
        </p:txBody>
      </p:sp>
      <p:sp>
        <p:nvSpPr>
          <p:cNvPr id="29" name="Text 27"/>
          <p:cNvSpPr/>
          <p:nvPr/>
        </p:nvSpPr>
        <p:spPr>
          <a:xfrm>
            <a:off x="475487" y="5360325"/>
            <a:ext cx="4131413" cy="1045047"/>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555555"/>
                </a:solidFill>
                <a:latin typeface="Calibri" pitchFamily="34" charset="0"/>
                <a:ea typeface="Calibri" pitchFamily="34" charset="-122"/>
                <a:cs typeface="Calibri" pitchFamily="34" charset="-120"/>
              </a:rPr>
              <a:t>Active PoC: headless commerce platform (SBG 1, $450K signed)</a:t>
            </a:r>
            <a:endParaRPr lang="en-US" sz="1100" dirty="0"/>
          </a:p>
          <a:p>
            <a:pPr marL="342900" indent="-342900">
              <a:spcAft>
                <a:spcPts val="800"/>
              </a:spcAft>
              <a:buSzPct val="100000"/>
              <a:buChar char="•"/>
            </a:pPr>
            <a:r>
              <a:rPr lang="en-US" sz="1100" dirty="0">
                <a:solidFill>
                  <a:srgbClr val="555555"/>
                </a:solidFill>
                <a:latin typeface="Calibri" pitchFamily="34" charset="0"/>
                <a:ea typeface="Calibri" pitchFamily="34" charset="-122"/>
                <a:cs typeface="Calibri" pitchFamily="34" charset="-120"/>
              </a:rPr>
              <a:t>S/4 impact assessment — 38 integrations cataloged &amp; risk-mapped</a:t>
            </a:r>
            <a:endParaRPr lang="en-US" sz="1100" dirty="0"/>
          </a:p>
          <a:p>
            <a:pPr marL="342900" indent="-342900">
              <a:spcAft>
                <a:spcPts val="800"/>
              </a:spcAft>
              <a:buSzPct val="100000"/>
              <a:buChar char="•"/>
            </a:pPr>
            <a:r>
              <a:rPr lang="en-US" sz="1100" dirty="0">
                <a:solidFill>
                  <a:srgbClr val="555555"/>
                </a:solidFill>
                <a:latin typeface="Calibri" pitchFamily="34" charset="0"/>
                <a:ea typeface="Calibri" pitchFamily="34" charset="-122"/>
                <a:cs typeface="Calibri" pitchFamily="34" charset="-120"/>
              </a:rPr>
              <a:t>LTC Visioning Workshop completed December 2025</a:t>
            </a:r>
            <a:endParaRPr lang="en-US" sz="1100" dirty="0"/>
          </a:p>
          <a:p>
            <a:pPr marL="342900" indent="-342900">
              <a:spcAft>
                <a:spcPts val="800"/>
              </a:spcAft>
              <a:buSzPct val="100000"/>
              <a:buChar char="•"/>
            </a:pPr>
            <a:r>
              <a:rPr lang="en-US" sz="1100" dirty="0">
                <a:solidFill>
                  <a:srgbClr val="555555"/>
                </a:solidFill>
                <a:latin typeface="Calibri" pitchFamily="34" charset="0"/>
                <a:ea typeface="Calibri" pitchFamily="34" charset="-122"/>
                <a:cs typeface="Calibri" pitchFamily="34" charset="-120"/>
              </a:rPr>
              <a:t>Deep relationships: CX, SAP, and Digital Commerce</a:t>
            </a:r>
            <a:endParaRPr lang="en-US" sz="1100" dirty="0"/>
          </a:p>
        </p:txBody>
      </p:sp>
      <p:sp>
        <p:nvSpPr>
          <p:cNvPr id="30" name="Shape 28"/>
          <p:cNvSpPr/>
          <p:nvPr/>
        </p:nvSpPr>
        <p:spPr>
          <a:xfrm>
            <a:off x="7278624" y="91440"/>
            <a:ext cx="4773168" cy="768096"/>
          </a:xfrm>
          <a:prstGeom prst="rect">
            <a:avLst/>
          </a:prstGeom>
          <a:solidFill>
            <a:srgbClr val="111111"/>
          </a:solidFill>
          <a:ln w="12700">
            <a:solidFill>
              <a:srgbClr val="111111"/>
            </a:solidFill>
            <a:prstDash val="solid"/>
          </a:ln>
        </p:spPr>
        <p:txBody>
          <a:bodyPr/>
          <a:lstStyle/>
          <a:p>
            <a:endParaRPr lang="en-US"/>
          </a:p>
        </p:txBody>
      </p:sp>
      <p:sp>
        <p:nvSpPr>
          <p:cNvPr id="31" name="Shape 29"/>
          <p:cNvSpPr/>
          <p:nvPr/>
        </p:nvSpPr>
        <p:spPr>
          <a:xfrm>
            <a:off x="7278624" y="822960"/>
            <a:ext cx="4773168" cy="50292"/>
          </a:xfrm>
          <a:prstGeom prst="rect">
            <a:avLst/>
          </a:prstGeom>
          <a:solidFill>
            <a:srgbClr val="CC0000"/>
          </a:solidFill>
          <a:ln w="12700">
            <a:solidFill>
              <a:srgbClr val="CC0000"/>
            </a:solidFill>
            <a:prstDash val="solid"/>
          </a:ln>
        </p:spPr>
        <p:txBody>
          <a:bodyPr/>
          <a:lstStyle/>
          <a:p>
            <a:endParaRPr lang="en-US"/>
          </a:p>
        </p:txBody>
      </p:sp>
      <p:sp>
        <p:nvSpPr>
          <p:cNvPr id="32" name="Text 30"/>
          <p:cNvSpPr/>
          <p:nvPr/>
        </p:nvSpPr>
        <p:spPr>
          <a:xfrm>
            <a:off x="7461504" y="91440"/>
            <a:ext cx="4590288" cy="768096"/>
          </a:xfrm>
          <a:prstGeom prst="rect">
            <a:avLst/>
          </a:prstGeom>
          <a:noFill/>
          <a:ln/>
        </p:spPr>
        <p:txBody>
          <a:bodyPr wrap="square" lIns="0" tIns="0" rIns="0" bIns="0" rtlCol="0" anchor="ctr"/>
          <a:lstStyle/>
          <a:p>
            <a:pPr marL="0" indent="0">
              <a:buNone/>
            </a:pPr>
            <a:r>
              <a:rPr lang="en-US" sz="1300" b="1" kern="0" spc="500" dirty="0">
                <a:solidFill>
                  <a:srgbClr val="FFFFFF"/>
                </a:solidFill>
                <a:latin typeface="Calibri" pitchFamily="34" charset="0"/>
                <a:ea typeface="Calibri" pitchFamily="34" charset="-122"/>
                <a:cs typeface="Calibri" pitchFamily="34" charset="-120"/>
              </a:rPr>
              <a:t>CONTENTS IN THIS DECK</a:t>
            </a:r>
            <a:endParaRPr lang="en-US" sz="1300" dirty="0"/>
          </a:p>
        </p:txBody>
      </p:sp>
      <p:sp>
        <p:nvSpPr>
          <p:cNvPr id="33" name="Shape 31"/>
          <p:cNvSpPr/>
          <p:nvPr/>
        </p:nvSpPr>
        <p:spPr>
          <a:xfrm>
            <a:off x="7278624" y="896112"/>
            <a:ext cx="4773168" cy="603504"/>
          </a:xfrm>
          <a:prstGeom prst="rect">
            <a:avLst/>
          </a:prstGeom>
          <a:solidFill>
            <a:srgbClr val="F4F4F4"/>
          </a:solidFill>
          <a:ln w="6350">
            <a:solidFill>
              <a:srgbClr val="D4D4D4"/>
            </a:solidFill>
            <a:prstDash val="solid"/>
          </a:ln>
        </p:spPr>
        <p:txBody>
          <a:bodyPr/>
          <a:lstStyle/>
          <a:p>
            <a:endParaRPr lang="en-US"/>
          </a:p>
        </p:txBody>
      </p:sp>
      <p:sp>
        <p:nvSpPr>
          <p:cNvPr id="34" name="Shape 32"/>
          <p:cNvSpPr/>
          <p:nvPr/>
        </p:nvSpPr>
        <p:spPr>
          <a:xfrm>
            <a:off x="7278624" y="896112"/>
            <a:ext cx="36576" cy="603504"/>
          </a:xfrm>
          <a:prstGeom prst="rect">
            <a:avLst/>
          </a:prstGeom>
          <a:solidFill>
            <a:srgbClr val="CC0000"/>
          </a:solidFill>
          <a:ln w="12700">
            <a:solidFill>
              <a:srgbClr val="CC0000"/>
            </a:solidFill>
            <a:prstDash val="solid"/>
          </a:ln>
        </p:spPr>
        <p:txBody>
          <a:bodyPr/>
          <a:lstStyle/>
          <a:p>
            <a:endParaRPr lang="en-US"/>
          </a:p>
        </p:txBody>
      </p:sp>
      <p:sp>
        <p:nvSpPr>
          <p:cNvPr id="35" name="Text 33"/>
          <p:cNvSpPr/>
          <p:nvPr/>
        </p:nvSpPr>
        <p:spPr>
          <a:xfrm>
            <a:off x="7388352" y="896112"/>
            <a:ext cx="347472" cy="603504"/>
          </a:xfrm>
          <a:prstGeom prst="rect">
            <a:avLst/>
          </a:prstGeom>
          <a:noFill/>
          <a:ln/>
        </p:spPr>
        <p:txBody>
          <a:bodyPr wrap="square" lIns="0" tIns="0" rIns="0" bIns="0" rtlCol="0" anchor="ctr"/>
          <a:lstStyle/>
          <a:p>
            <a:pPr marL="0" indent="0">
              <a:buNone/>
            </a:pPr>
            <a:r>
              <a:rPr lang="en-US" sz="1100" b="1" dirty="0">
                <a:solidFill>
                  <a:srgbClr val="CC0000"/>
                </a:solidFill>
                <a:latin typeface="Calibri" pitchFamily="34" charset="0"/>
                <a:ea typeface="Calibri" pitchFamily="34" charset="-122"/>
                <a:cs typeface="Calibri" pitchFamily="34" charset="-120"/>
              </a:rPr>
              <a:t>01</a:t>
            </a:r>
            <a:endParaRPr lang="en-US" sz="1100" dirty="0"/>
          </a:p>
        </p:txBody>
      </p:sp>
      <p:sp>
        <p:nvSpPr>
          <p:cNvPr id="36" name="Text 34"/>
          <p:cNvSpPr/>
          <p:nvPr/>
        </p:nvSpPr>
        <p:spPr>
          <a:xfrm>
            <a:off x="7754112" y="950976"/>
            <a:ext cx="4206240" cy="256032"/>
          </a:xfrm>
          <a:prstGeom prst="rect">
            <a:avLst/>
          </a:prstGeom>
          <a:noFill/>
          <a:ln/>
        </p:spPr>
        <p:txBody>
          <a:bodyPr wrap="square" lIns="0" tIns="0" rIns="0" bIns="0" rtlCol="0" anchor="ctr"/>
          <a:lstStyle/>
          <a:p>
            <a:pPr marL="0" indent="0">
              <a:buNone/>
            </a:pPr>
            <a:r>
              <a:rPr lang="en-US" sz="1200" b="1" dirty="0">
                <a:solidFill>
                  <a:srgbClr val="1F1F1F"/>
                </a:solidFill>
                <a:latin typeface="Calibri" pitchFamily="34" charset="0"/>
                <a:ea typeface="Calibri" pitchFamily="34" charset="-122"/>
                <a:cs typeface="Calibri" pitchFamily="34" charset="-120"/>
              </a:rPr>
              <a:t>Opportunity Context</a:t>
            </a:r>
            <a:endParaRPr lang="en-US" sz="1200" dirty="0"/>
          </a:p>
        </p:txBody>
      </p:sp>
      <p:sp>
        <p:nvSpPr>
          <p:cNvPr id="37" name="Text 35"/>
          <p:cNvSpPr/>
          <p:nvPr/>
        </p:nvSpPr>
        <p:spPr>
          <a:xfrm>
            <a:off x="7754112" y="1216152"/>
            <a:ext cx="4206240" cy="219456"/>
          </a:xfrm>
          <a:prstGeom prst="rect">
            <a:avLst/>
          </a:prstGeom>
          <a:noFill/>
          <a:ln/>
        </p:spPr>
        <p:txBody>
          <a:bodyPr wrap="square" lIns="0" tIns="0" rIns="0" bIns="0" rtlCol="0" anchor="ctr"/>
          <a:lstStyle/>
          <a:p>
            <a:pPr marL="0" indent="0">
              <a:buNone/>
            </a:pPr>
            <a:r>
              <a:rPr lang="en-US" sz="900" i="1" dirty="0">
                <a:solidFill>
                  <a:srgbClr val="777777"/>
                </a:solidFill>
                <a:latin typeface="Calibri" pitchFamily="34" charset="0"/>
                <a:ea typeface="Calibri" pitchFamily="34" charset="-122"/>
                <a:cs typeface="Calibri" pitchFamily="34" charset="-120"/>
              </a:rPr>
              <a:t>Why this conversation is happening now</a:t>
            </a:r>
            <a:endParaRPr lang="en-US" sz="900" dirty="0"/>
          </a:p>
        </p:txBody>
      </p:sp>
      <p:sp>
        <p:nvSpPr>
          <p:cNvPr id="38" name="Shape 36"/>
          <p:cNvSpPr/>
          <p:nvPr/>
        </p:nvSpPr>
        <p:spPr>
          <a:xfrm>
            <a:off x="7278624" y="1499616"/>
            <a:ext cx="4773168" cy="603504"/>
          </a:xfrm>
          <a:prstGeom prst="rect">
            <a:avLst/>
          </a:prstGeom>
          <a:solidFill>
            <a:srgbClr val="F4F4F4"/>
          </a:solidFill>
          <a:ln w="6350">
            <a:solidFill>
              <a:srgbClr val="D4D4D4"/>
            </a:solidFill>
            <a:prstDash val="solid"/>
          </a:ln>
        </p:spPr>
        <p:txBody>
          <a:bodyPr/>
          <a:lstStyle/>
          <a:p>
            <a:endParaRPr lang="en-US"/>
          </a:p>
        </p:txBody>
      </p:sp>
      <p:sp>
        <p:nvSpPr>
          <p:cNvPr id="39" name="Shape 37"/>
          <p:cNvSpPr/>
          <p:nvPr/>
        </p:nvSpPr>
        <p:spPr>
          <a:xfrm>
            <a:off x="7278624" y="1499616"/>
            <a:ext cx="36576" cy="603504"/>
          </a:xfrm>
          <a:prstGeom prst="rect">
            <a:avLst/>
          </a:prstGeom>
          <a:solidFill>
            <a:srgbClr val="333333"/>
          </a:solidFill>
          <a:ln w="12700">
            <a:solidFill>
              <a:srgbClr val="333333"/>
            </a:solidFill>
            <a:prstDash val="solid"/>
          </a:ln>
        </p:spPr>
        <p:txBody>
          <a:bodyPr/>
          <a:lstStyle/>
          <a:p>
            <a:endParaRPr lang="en-US"/>
          </a:p>
        </p:txBody>
      </p:sp>
      <p:sp>
        <p:nvSpPr>
          <p:cNvPr id="40" name="Text 38"/>
          <p:cNvSpPr/>
          <p:nvPr/>
        </p:nvSpPr>
        <p:spPr>
          <a:xfrm>
            <a:off x="7388352" y="1499616"/>
            <a:ext cx="347472" cy="603504"/>
          </a:xfrm>
          <a:prstGeom prst="rect">
            <a:avLst/>
          </a:prstGeom>
          <a:noFill/>
          <a:ln/>
        </p:spPr>
        <p:txBody>
          <a:bodyPr wrap="square" lIns="0" tIns="0" rIns="0" bIns="0" rtlCol="0" anchor="ctr"/>
          <a:lstStyle/>
          <a:p>
            <a:pPr marL="0" indent="0">
              <a:buNone/>
            </a:pPr>
            <a:r>
              <a:rPr lang="en-US" sz="1000" b="1" dirty="0">
                <a:solidFill>
                  <a:srgbClr val="A8A8A8"/>
                </a:solidFill>
                <a:latin typeface="Calibri" pitchFamily="34" charset="0"/>
                <a:ea typeface="Calibri" pitchFamily="34" charset="-122"/>
                <a:cs typeface="Calibri" pitchFamily="34" charset="-120"/>
              </a:rPr>
              <a:t>02</a:t>
            </a:r>
            <a:endParaRPr lang="en-US" sz="1000" dirty="0"/>
          </a:p>
        </p:txBody>
      </p:sp>
      <p:sp>
        <p:nvSpPr>
          <p:cNvPr id="41" name="Text 39"/>
          <p:cNvSpPr/>
          <p:nvPr/>
        </p:nvSpPr>
        <p:spPr>
          <a:xfrm>
            <a:off x="7754112" y="1554480"/>
            <a:ext cx="4206240" cy="256032"/>
          </a:xfrm>
          <a:prstGeom prst="rect">
            <a:avLst/>
          </a:prstGeom>
          <a:noFill/>
          <a:ln/>
        </p:spPr>
        <p:txBody>
          <a:bodyPr wrap="square" lIns="0" tIns="0" rIns="0" bIns="0" rtlCol="0" anchor="ctr"/>
          <a:lstStyle/>
          <a:p>
            <a:pPr marL="0" indent="0">
              <a:buNone/>
            </a:pPr>
            <a:r>
              <a:rPr lang="en-US" sz="1150" dirty="0">
                <a:solidFill>
                  <a:srgbClr val="333333"/>
                </a:solidFill>
                <a:latin typeface="Calibri" pitchFamily="34" charset="0"/>
                <a:ea typeface="Calibri" pitchFamily="34" charset="-122"/>
                <a:cs typeface="Calibri" pitchFamily="34" charset="-120"/>
              </a:rPr>
              <a:t>One Honeywell Vision</a:t>
            </a:r>
            <a:endParaRPr lang="en-US" sz="1150" dirty="0"/>
          </a:p>
        </p:txBody>
      </p:sp>
      <p:sp>
        <p:nvSpPr>
          <p:cNvPr id="42" name="Text 40"/>
          <p:cNvSpPr/>
          <p:nvPr/>
        </p:nvSpPr>
        <p:spPr>
          <a:xfrm>
            <a:off x="7754112" y="1819656"/>
            <a:ext cx="4206240" cy="219456"/>
          </a:xfrm>
          <a:prstGeom prst="rect">
            <a:avLst/>
          </a:prstGeom>
          <a:noFill/>
          <a:ln/>
        </p:spPr>
        <p:txBody>
          <a:bodyPr wrap="square" lIns="0" tIns="0" rIns="0" bIns="0" rtlCol="0" anchor="ctr"/>
          <a:lstStyle/>
          <a:p>
            <a:pPr marL="0" indent="0">
              <a:buNone/>
            </a:pPr>
            <a:r>
              <a:rPr lang="en-US" sz="900" i="1" dirty="0">
                <a:solidFill>
                  <a:srgbClr val="777777"/>
                </a:solidFill>
                <a:latin typeface="Calibri" pitchFamily="34" charset="0"/>
                <a:ea typeface="Calibri" pitchFamily="34" charset="-122"/>
                <a:cs typeface="Calibri" pitchFamily="34" charset="-120"/>
              </a:rPr>
              <a:t>The North Star guiding transformation</a:t>
            </a:r>
            <a:endParaRPr lang="en-US" sz="900" dirty="0"/>
          </a:p>
        </p:txBody>
      </p:sp>
      <p:sp>
        <p:nvSpPr>
          <p:cNvPr id="43" name="Shape 41"/>
          <p:cNvSpPr/>
          <p:nvPr/>
        </p:nvSpPr>
        <p:spPr>
          <a:xfrm>
            <a:off x="7278624" y="2103120"/>
            <a:ext cx="4773168" cy="603504"/>
          </a:xfrm>
          <a:prstGeom prst="rect">
            <a:avLst/>
          </a:prstGeom>
          <a:solidFill>
            <a:srgbClr val="FFFFFF"/>
          </a:solidFill>
          <a:ln w="6350">
            <a:solidFill>
              <a:srgbClr val="D4D4D4"/>
            </a:solidFill>
            <a:prstDash val="solid"/>
          </a:ln>
        </p:spPr>
        <p:txBody>
          <a:bodyPr/>
          <a:lstStyle/>
          <a:p>
            <a:endParaRPr lang="en-US"/>
          </a:p>
        </p:txBody>
      </p:sp>
      <p:sp>
        <p:nvSpPr>
          <p:cNvPr id="44" name="Shape 42"/>
          <p:cNvSpPr/>
          <p:nvPr/>
        </p:nvSpPr>
        <p:spPr>
          <a:xfrm>
            <a:off x="7278624" y="2103120"/>
            <a:ext cx="36576" cy="603504"/>
          </a:xfrm>
          <a:prstGeom prst="rect">
            <a:avLst/>
          </a:prstGeom>
          <a:solidFill>
            <a:srgbClr val="333333"/>
          </a:solidFill>
          <a:ln w="12700">
            <a:solidFill>
              <a:srgbClr val="333333"/>
            </a:solidFill>
            <a:prstDash val="solid"/>
          </a:ln>
        </p:spPr>
        <p:txBody>
          <a:bodyPr/>
          <a:lstStyle/>
          <a:p>
            <a:endParaRPr lang="en-US"/>
          </a:p>
        </p:txBody>
      </p:sp>
      <p:sp>
        <p:nvSpPr>
          <p:cNvPr id="45" name="Text 43"/>
          <p:cNvSpPr/>
          <p:nvPr/>
        </p:nvSpPr>
        <p:spPr>
          <a:xfrm>
            <a:off x="7388352" y="2103120"/>
            <a:ext cx="347472" cy="603504"/>
          </a:xfrm>
          <a:prstGeom prst="rect">
            <a:avLst/>
          </a:prstGeom>
          <a:noFill/>
          <a:ln/>
        </p:spPr>
        <p:txBody>
          <a:bodyPr wrap="square" lIns="0" tIns="0" rIns="0" bIns="0" rtlCol="0" anchor="ctr"/>
          <a:lstStyle/>
          <a:p>
            <a:pPr marL="0" indent="0">
              <a:buNone/>
            </a:pPr>
            <a:r>
              <a:rPr lang="en-US" sz="1000" b="1" dirty="0">
                <a:solidFill>
                  <a:srgbClr val="A8A8A8"/>
                </a:solidFill>
                <a:latin typeface="Calibri" pitchFamily="34" charset="0"/>
                <a:ea typeface="Calibri" pitchFamily="34" charset="-122"/>
                <a:cs typeface="Calibri" pitchFamily="34" charset="-120"/>
              </a:rPr>
              <a:t>03</a:t>
            </a:r>
            <a:endParaRPr lang="en-US" sz="1000" dirty="0"/>
          </a:p>
        </p:txBody>
      </p:sp>
      <p:sp>
        <p:nvSpPr>
          <p:cNvPr id="46" name="Text 44"/>
          <p:cNvSpPr/>
          <p:nvPr/>
        </p:nvSpPr>
        <p:spPr>
          <a:xfrm>
            <a:off x="7754112" y="2157984"/>
            <a:ext cx="4206240" cy="256032"/>
          </a:xfrm>
          <a:prstGeom prst="rect">
            <a:avLst/>
          </a:prstGeom>
          <a:noFill/>
          <a:ln/>
        </p:spPr>
        <p:txBody>
          <a:bodyPr wrap="square" lIns="0" tIns="0" rIns="0" bIns="0" rtlCol="0" anchor="ctr"/>
          <a:lstStyle/>
          <a:p>
            <a:pPr marL="0" indent="0">
              <a:buNone/>
            </a:pPr>
            <a:r>
              <a:rPr lang="en-US" sz="1150" dirty="0">
                <a:solidFill>
                  <a:srgbClr val="333333"/>
                </a:solidFill>
                <a:latin typeface="Calibri" pitchFamily="34" charset="0"/>
                <a:ea typeface="Calibri" pitchFamily="34" charset="-122"/>
                <a:cs typeface="Calibri" pitchFamily="34" charset="-120"/>
              </a:rPr>
              <a:t>Problem Statement</a:t>
            </a:r>
            <a:endParaRPr lang="en-US" sz="1150" dirty="0"/>
          </a:p>
        </p:txBody>
      </p:sp>
      <p:sp>
        <p:nvSpPr>
          <p:cNvPr id="47" name="Text 45"/>
          <p:cNvSpPr/>
          <p:nvPr/>
        </p:nvSpPr>
        <p:spPr>
          <a:xfrm>
            <a:off x="7754112" y="2423160"/>
            <a:ext cx="4206240" cy="219456"/>
          </a:xfrm>
          <a:prstGeom prst="rect">
            <a:avLst/>
          </a:prstGeom>
          <a:noFill/>
          <a:ln/>
        </p:spPr>
        <p:txBody>
          <a:bodyPr wrap="square" lIns="0" tIns="0" rIns="0" bIns="0" rtlCol="0" anchor="ctr"/>
          <a:lstStyle/>
          <a:p>
            <a:pPr marL="0" indent="0">
              <a:buNone/>
            </a:pPr>
            <a:r>
              <a:rPr lang="en-US" sz="900" i="1" dirty="0">
                <a:solidFill>
                  <a:srgbClr val="777777"/>
                </a:solidFill>
                <a:latin typeface="Calibri" pitchFamily="34" charset="0"/>
                <a:ea typeface="Calibri" pitchFamily="34" charset="-122"/>
                <a:cs typeface="Calibri" pitchFamily="34" charset="-120"/>
              </a:rPr>
              <a:t>Fragmented, manual, and misaligned</a:t>
            </a:r>
            <a:endParaRPr lang="en-US" sz="900" dirty="0"/>
          </a:p>
        </p:txBody>
      </p:sp>
      <p:sp>
        <p:nvSpPr>
          <p:cNvPr id="48" name="Shape 46"/>
          <p:cNvSpPr/>
          <p:nvPr/>
        </p:nvSpPr>
        <p:spPr>
          <a:xfrm>
            <a:off x="7278624" y="2706624"/>
            <a:ext cx="4773168" cy="603504"/>
          </a:xfrm>
          <a:prstGeom prst="rect">
            <a:avLst/>
          </a:prstGeom>
          <a:solidFill>
            <a:srgbClr val="F4F4F4"/>
          </a:solidFill>
          <a:ln w="6350">
            <a:solidFill>
              <a:srgbClr val="D4D4D4"/>
            </a:solidFill>
            <a:prstDash val="solid"/>
          </a:ln>
        </p:spPr>
        <p:txBody>
          <a:bodyPr/>
          <a:lstStyle/>
          <a:p>
            <a:endParaRPr lang="en-US"/>
          </a:p>
        </p:txBody>
      </p:sp>
      <p:sp>
        <p:nvSpPr>
          <p:cNvPr id="49" name="Shape 47"/>
          <p:cNvSpPr/>
          <p:nvPr/>
        </p:nvSpPr>
        <p:spPr>
          <a:xfrm>
            <a:off x="7278624" y="2706624"/>
            <a:ext cx="36576" cy="603504"/>
          </a:xfrm>
          <a:prstGeom prst="rect">
            <a:avLst/>
          </a:prstGeom>
          <a:solidFill>
            <a:srgbClr val="333333"/>
          </a:solidFill>
          <a:ln w="12700">
            <a:solidFill>
              <a:srgbClr val="333333"/>
            </a:solidFill>
            <a:prstDash val="solid"/>
          </a:ln>
        </p:spPr>
        <p:txBody>
          <a:bodyPr/>
          <a:lstStyle/>
          <a:p>
            <a:endParaRPr lang="en-US"/>
          </a:p>
        </p:txBody>
      </p:sp>
      <p:sp>
        <p:nvSpPr>
          <p:cNvPr id="50" name="Text 48"/>
          <p:cNvSpPr/>
          <p:nvPr/>
        </p:nvSpPr>
        <p:spPr>
          <a:xfrm>
            <a:off x="7388352" y="2706624"/>
            <a:ext cx="347472" cy="603504"/>
          </a:xfrm>
          <a:prstGeom prst="rect">
            <a:avLst/>
          </a:prstGeom>
          <a:noFill/>
          <a:ln/>
        </p:spPr>
        <p:txBody>
          <a:bodyPr wrap="square" lIns="0" tIns="0" rIns="0" bIns="0" rtlCol="0" anchor="ctr"/>
          <a:lstStyle/>
          <a:p>
            <a:pPr marL="0" indent="0">
              <a:buNone/>
            </a:pPr>
            <a:r>
              <a:rPr lang="en-US" sz="1000" b="1" dirty="0">
                <a:solidFill>
                  <a:srgbClr val="A8A8A8"/>
                </a:solidFill>
                <a:latin typeface="Calibri" pitchFamily="34" charset="0"/>
                <a:ea typeface="Calibri" pitchFamily="34" charset="-122"/>
                <a:cs typeface="Calibri" pitchFamily="34" charset="-120"/>
              </a:rPr>
              <a:t>04</a:t>
            </a:r>
            <a:endParaRPr lang="en-US" sz="1000" dirty="0"/>
          </a:p>
        </p:txBody>
      </p:sp>
      <p:sp>
        <p:nvSpPr>
          <p:cNvPr id="51" name="Text 49"/>
          <p:cNvSpPr/>
          <p:nvPr/>
        </p:nvSpPr>
        <p:spPr>
          <a:xfrm>
            <a:off x="7754112" y="2761488"/>
            <a:ext cx="4206240" cy="256032"/>
          </a:xfrm>
          <a:prstGeom prst="rect">
            <a:avLst/>
          </a:prstGeom>
          <a:noFill/>
          <a:ln/>
        </p:spPr>
        <p:txBody>
          <a:bodyPr wrap="square" lIns="0" tIns="0" rIns="0" bIns="0" rtlCol="0" anchor="ctr"/>
          <a:lstStyle/>
          <a:p>
            <a:pPr marL="0" indent="0">
              <a:buNone/>
            </a:pPr>
            <a:r>
              <a:rPr lang="en-US" sz="1150" dirty="0">
                <a:solidFill>
                  <a:srgbClr val="333333"/>
                </a:solidFill>
                <a:latin typeface="Calibri" pitchFamily="34" charset="0"/>
                <a:ea typeface="Calibri" pitchFamily="34" charset="-122"/>
                <a:cs typeface="Calibri" pitchFamily="34" charset="-120"/>
              </a:rPr>
              <a:t>Current State Journey Map</a:t>
            </a:r>
            <a:endParaRPr lang="en-US" sz="1150" dirty="0"/>
          </a:p>
        </p:txBody>
      </p:sp>
      <p:sp>
        <p:nvSpPr>
          <p:cNvPr id="52" name="Text 50"/>
          <p:cNvSpPr/>
          <p:nvPr/>
        </p:nvSpPr>
        <p:spPr>
          <a:xfrm>
            <a:off x="7754112" y="3026664"/>
            <a:ext cx="4206240" cy="219456"/>
          </a:xfrm>
          <a:prstGeom prst="rect">
            <a:avLst/>
          </a:prstGeom>
          <a:noFill/>
          <a:ln/>
        </p:spPr>
        <p:txBody>
          <a:bodyPr wrap="square" lIns="0" tIns="0" rIns="0" bIns="0" rtlCol="0" anchor="ctr"/>
          <a:lstStyle/>
          <a:p>
            <a:pPr marL="0" indent="0">
              <a:buNone/>
            </a:pPr>
            <a:r>
              <a:rPr lang="en-US" sz="900" i="1" dirty="0">
                <a:solidFill>
                  <a:srgbClr val="777777"/>
                </a:solidFill>
                <a:latin typeface="Calibri" pitchFamily="34" charset="0"/>
                <a:ea typeface="Calibri" pitchFamily="34" charset="-122"/>
                <a:cs typeface="Calibri" pitchFamily="34" charset="-120"/>
              </a:rPr>
              <a:t>What customers &amp; teams live with today</a:t>
            </a:r>
            <a:endParaRPr lang="en-US" sz="900" dirty="0"/>
          </a:p>
        </p:txBody>
      </p:sp>
      <p:sp>
        <p:nvSpPr>
          <p:cNvPr id="53" name="Shape 51"/>
          <p:cNvSpPr/>
          <p:nvPr/>
        </p:nvSpPr>
        <p:spPr>
          <a:xfrm>
            <a:off x="7278624" y="3310128"/>
            <a:ext cx="4773168" cy="603504"/>
          </a:xfrm>
          <a:prstGeom prst="rect">
            <a:avLst/>
          </a:prstGeom>
          <a:solidFill>
            <a:srgbClr val="FFFFFF"/>
          </a:solidFill>
          <a:ln w="6350">
            <a:solidFill>
              <a:srgbClr val="D4D4D4"/>
            </a:solidFill>
            <a:prstDash val="solid"/>
          </a:ln>
        </p:spPr>
        <p:txBody>
          <a:bodyPr/>
          <a:lstStyle/>
          <a:p>
            <a:endParaRPr lang="en-US"/>
          </a:p>
        </p:txBody>
      </p:sp>
      <p:sp>
        <p:nvSpPr>
          <p:cNvPr id="54" name="Shape 52"/>
          <p:cNvSpPr/>
          <p:nvPr/>
        </p:nvSpPr>
        <p:spPr>
          <a:xfrm>
            <a:off x="7278624" y="3310128"/>
            <a:ext cx="36576" cy="603504"/>
          </a:xfrm>
          <a:prstGeom prst="rect">
            <a:avLst/>
          </a:prstGeom>
          <a:solidFill>
            <a:srgbClr val="333333"/>
          </a:solidFill>
          <a:ln w="12700">
            <a:solidFill>
              <a:srgbClr val="333333"/>
            </a:solidFill>
            <a:prstDash val="solid"/>
          </a:ln>
        </p:spPr>
        <p:txBody>
          <a:bodyPr/>
          <a:lstStyle/>
          <a:p>
            <a:endParaRPr lang="en-US"/>
          </a:p>
        </p:txBody>
      </p:sp>
      <p:sp>
        <p:nvSpPr>
          <p:cNvPr id="55" name="Text 53"/>
          <p:cNvSpPr/>
          <p:nvPr/>
        </p:nvSpPr>
        <p:spPr>
          <a:xfrm>
            <a:off x="7388352" y="3310128"/>
            <a:ext cx="347472" cy="603504"/>
          </a:xfrm>
          <a:prstGeom prst="rect">
            <a:avLst/>
          </a:prstGeom>
          <a:noFill/>
          <a:ln/>
        </p:spPr>
        <p:txBody>
          <a:bodyPr wrap="square" lIns="0" tIns="0" rIns="0" bIns="0" rtlCol="0" anchor="ctr"/>
          <a:lstStyle/>
          <a:p>
            <a:pPr marL="0" indent="0">
              <a:buNone/>
            </a:pPr>
            <a:r>
              <a:rPr lang="en-US" sz="1000" b="1" dirty="0">
                <a:solidFill>
                  <a:srgbClr val="A8A8A8"/>
                </a:solidFill>
                <a:latin typeface="Calibri" pitchFamily="34" charset="0"/>
                <a:ea typeface="Calibri" pitchFamily="34" charset="-122"/>
                <a:cs typeface="Calibri" pitchFamily="34" charset="-120"/>
              </a:rPr>
              <a:t>05</a:t>
            </a:r>
            <a:endParaRPr lang="en-US" sz="1000" dirty="0"/>
          </a:p>
        </p:txBody>
      </p:sp>
      <p:sp>
        <p:nvSpPr>
          <p:cNvPr id="56" name="Text 54"/>
          <p:cNvSpPr/>
          <p:nvPr/>
        </p:nvSpPr>
        <p:spPr>
          <a:xfrm>
            <a:off x="7754112" y="3364992"/>
            <a:ext cx="4206240" cy="256032"/>
          </a:xfrm>
          <a:prstGeom prst="rect">
            <a:avLst/>
          </a:prstGeom>
          <a:noFill/>
          <a:ln/>
        </p:spPr>
        <p:txBody>
          <a:bodyPr wrap="square" lIns="0" tIns="0" rIns="0" bIns="0" rtlCol="0" anchor="ctr"/>
          <a:lstStyle/>
          <a:p>
            <a:pPr marL="0" indent="0">
              <a:buNone/>
            </a:pPr>
            <a:r>
              <a:rPr lang="en-US" sz="1150" dirty="0">
                <a:solidFill>
                  <a:srgbClr val="333333"/>
                </a:solidFill>
                <a:latin typeface="Calibri" pitchFamily="34" charset="0"/>
                <a:ea typeface="Calibri" pitchFamily="34" charset="-122"/>
                <a:cs typeface="Calibri" pitchFamily="34" charset="-120"/>
              </a:rPr>
              <a:t>Lead-to-Cash Optimization</a:t>
            </a:r>
            <a:endParaRPr lang="en-US" sz="1150" dirty="0"/>
          </a:p>
        </p:txBody>
      </p:sp>
      <p:sp>
        <p:nvSpPr>
          <p:cNvPr id="57" name="Text 55"/>
          <p:cNvSpPr/>
          <p:nvPr/>
        </p:nvSpPr>
        <p:spPr>
          <a:xfrm>
            <a:off x="7754112" y="3630168"/>
            <a:ext cx="4206240" cy="219456"/>
          </a:xfrm>
          <a:prstGeom prst="rect">
            <a:avLst/>
          </a:prstGeom>
          <a:noFill/>
          <a:ln/>
        </p:spPr>
        <p:txBody>
          <a:bodyPr wrap="square" lIns="0" tIns="0" rIns="0" bIns="0" rtlCol="0" anchor="ctr"/>
          <a:lstStyle/>
          <a:p>
            <a:pPr marL="0" indent="0">
              <a:buNone/>
            </a:pPr>
            <a:r>
              <a:rPr lang="en-US" sz="900" i="1" dirty="0">
                <a:solidFill>
                  <a:srgbClr val="777777"/>
                </a:solidFill>
                <a:latin typeface="Calibri" pitchFamily="34" charset="0"/>
                <a:ea typeface="Calibri" pitchFamily="34" charset="-122"/>
                <a:cs typeface="Calibri" pitchFamily="34" charset="-120"/>
              </a:rPr>
              <a:t>Where to act, what to build</a:t>
            </a:r>
            <a:endParaRPr lang="en-US" sz="900" dirty="0"/>
          </a:p>
        </p:txBody>
      </p:sp>
      <p:sp>
        <p:nvSpPr>
          <p:cNvPr id="58" name="Shape 56"/>
          <p:cNvSpPr/>
          <p:nvPr/>
        </p:nvSpPr>
        <p:spPr>
          <a:xfrm>
            <a:off x="7278624" y="3913632"/>
            <a:ext cx="4773168" cy="603504"/>
          </a:xfrm>
          <a:prstGeom prst="rect">
            <a:avLst/>
          </a:prstGeom>
          <a:solidFill>
            <a:srgbClr val="F4F4F4"/>
          </a:solidFill>
          <a:ln w="6350">
            <a:solidFill>
              <a:srgbClr val="D4D4D4"/>
            </a:solidFill>
            <a:prstDash val="solid"/>
          </a:ln>
        </p:spPr>
        <p:txBody>
          <a:bodyPr/>
          <a:lstStyle/>
          <a:p>
            <a:endParaRPr lang="en-US"/>
          </a:p>
        </p:txBody>
      </p:sp>
      <p:sp>
        <p:nvSpPr>
          <p:cNvPr id="59" name="Shape 57"/>
          <p:cNvSpPr/>
          <p:nvPr/>
        </p:nvSpPr>
        <p:spPr>
          <a:xfrm>
            <a:off x="7278624" y="3913632"/>
            <a:ext cx="36576" cy="603504"/>
          </a:xfrm>
          <a:prstGeom prst="rect">
            <a:avLst/>
          </a:prstGeom>
          <a:solidFill>
            <a:srgbClr val="333333"/>
          </a:solidFill>
          <a:ln w="12700">
            <a:solidFill>
              <a:srgbClr val="333333"/>
            </a:solidFill>
            <a:prstDash val="solid"/>
          </a:ln>
        </p:spPr>
        <p:txBody>
          <a:bodyPr/>
          <a:lstStyle/>
          <a:p>
            <a:endParaRPr lang="en-US"/>
          </a:p>
        </p:txBody>
      </p:sp>
      <p:sp>
        <p:nvSpPr>
          <p:cNvPr id="60" name="Text 58"/>
          <p:cNvSpPr/>
          <p:nvPr/>
        </p:nvSpPr>
        <p:spPr>
          <a:xfrm>
            <a:off x="7388352" y="3913632"/>
            <a:ext cx="347472" cy="603504"/>
          </a:xfrm>
          <a:prstGeom prst="rect">
            <a:avLst/>
          </a:prstGeom>
          <a:noFill/>
          <a:ln/>
        </p:spPr>
        <p:txBody>
          <a:bodyPr wrap="square" lIns="0" tIns="0" rIns="0" bIns="0" rtlCol="0" anchor="ctr"/>
          <a:lstStyle/>
          <a:p>
            <a:pPr marL="0" indent="0">
              <a:buNone/>
            </a:pPr>
            <a:r>
              <a:rPr lang="en-US" sz="1000" b="1" dirty="0">
                <a:solidFill>
                  <a:srgbClr val="A8A8A8"/>
                </a:solidFill>
                <a:latin typeface="Calibri" pitchFamily="34" charset="0"/>
                <a:ea typeface="Calibri" pitchFamily="34" charset="-122"/>
                <a:cs typeface="Calibri" pitchFamily="34" charset="-120"/>
              </a:rPr>
              <a:t>06</a:t>
            </a:r>
            <a:endParaRPr lang="en-US" sz="1000" dirty="0"/>
          </a:p>
        </p:txBody>
      </p:sp>
      <p:sp>
        <p:nvSpPr>
          <p:cNvPr id="61" name="Text 59"/>
          <p:cNvSpPr/>
          <p:nvPr/>
        </p:nvSpPr>
        <p:spPr>
          <a:xfrm>
            <a:off x="7754112" y="3968496"/>
            <a:ext cx="4206240" cy="256032"/>
          </a:xfrm>
          <a:prstGeom prst="rect">
            <a:avLst/>
          </a:prstGeom>
          <a:noFill/>
          <a:ln/>
        </p:spPr>
        <p:txBody>
          <a:bodyPr wrap="square" lIns="0" tIns="0" rIns="0" bIns="0" rtlCol="0" anchor="ctr"/>
          <a:lstStyle/>
          <a:p>
            <a:pPr marL="0" indent="0">
              <a:buNone/>
            </a:pPr>
            <a:r>
              <a:rPr lang="en-US" sz="1150" dirty="0">
                <a:solidFill>
                  <a:srgbClr val="333333"/>
                </a:solidFill>
                <a:latin typeface="Calibri" pitchFamily="34" charset="0"/>
                <a:ea typeface="Calibri" pitchFamily="34" charset="-122"/>
                <a:cs typeface="Calibri" pitchFamily="34" charset="-120"/>
              </a:rPr>
              <a:t>Architectural Decisions</a:t>
            </a:r>
            <a:endParaRPr lang="en-US" sz="1150" dirty="0"/>
          </a:p>
        </p:txBody>
      </p:sp>
      <p:sp>
        <p:nvSpPr>
          <p:cNvPr id="62" name="Text 60"/>
          <p:cNvSpPr/>
          <p:nvPr/>
        </p:nvSpPr>
        <p:spPr>
          <a:xfrm>
            <a:off x="7754112" y="4233672"/>
            <a:ext cx="4206240" cy="219456"/>
          </a:xfrm>
          <a:prstGeom prst="rect">
            <a:avLst/>
          </a:prstGeom>
          <a:noFill/>
          <a:ln/>
        </p:spPr>
        <p:txBody>
          <a:bodyPr wrap="square" lIns="0" tIns="0" rIns="0" bIns="0" rtlCol="0" anchor="ctr"/>
          <a:lstStyle/>
          <a:p>
            <a:pPr marL="0" indent="0">
              <a:buNone/>
            </a:pPr>
            <a:r>
              <a:rPr lang="en-US" sz="900" i="1" dirty="0">
                <a:solidFill>
                  <a:srgbClr val="777777"/>
                </a:solidFill>
                <a:latin typeface="Calibri" pitchFamily="34" charset="0"/>
                <a:ea typeface="Calibri" pitchFamily="34" charset="-122"/>
                <a:cs typeface="Calibri" pitchFamily="34" charset="-120"/>
              </a:rPr>
              <a:t>Three choices that define the next 5 years</a:t>
            </a:r>
            <a:endParaRPr lang="en-US" sz="900" dirty="0"/>
          </a:p>
        </p:txBody>
      </p:sp>
      <p:sp>
        <p:nvSpPr>
          <p:cNvPr id="63" name="Shape 61"/>
          <p:cNvSpPr/>
          <p:nvPr/>
        </p:nvSpPr>
        <p:spPr>
          <a:xfrm>
            <a:off x="7278624" y="4517136"/>
            <a:ext cx="4773168" cy="603504"/>
          </a:xfrm>
          <a:prstGeom prst="rect">
            <a:avLst/>
          </a:prstGeom>
          <a:solidFill>
            <a:srgbClr val="FFFFFF"/>
          </a:solidFill>
          <a:ln w="6350">
            <a:solidFill>
              <a:srgbClr val="D4D4D4"/>
            </a:solidFill>
            <a:prstDash val="solid"/>
          </a:ln>
        </p:spPr>
        <p:txBody>
          <a:bodyPr/>
          <a:lstStyle/>
          <a:p>
            <a:endParaRPr lang="en-US"/>
          </a:p>
        </p:txBody>
      </p:sp>
      <p:sp>
        <p:nvSpPr>
          <p:cNvPr id="64" name="Shape 62"/>
          <p:cNvSpPr/>
          <p:nvPr/>
        </p:nvSpPr>
        <p:spPr>
          <a:xfrm>
            <a:off x="7278624" y="4517136"/>
            <a:ext cx="36576" cy="603504"/>
          </a:xfrm>
          <a:prstGeom prst="rect">
            <a:avLst/>
          </a:prstGeom>
          <a:solidFill>
            <a:srgbClr val="333333"/>
          </a:solidFill>
          <a:ln w="12700">
            <a:solidFill>
              <a:srgbClr val="333333"/>
            </a:solidFill>
            <a:prstDash val="solid"/>
          </a:ln>
        </p:spPr>
        <p:txBody>
          <a:bodyPr/>
          <a:lstStyle/>
          <a:p>
            <a:endParaRPr lang="en-US"/>
          </a:p>
        </p:txBody>
      </p:sp>
      <p:sp>
        <p:nvSpPr>
          <p:cNvPr id="65" name="Text 63"/>
          <p:cNvSpPr/>
          <p:nvPr/>
        </p:nvSpPr>
        <p:spPr>
          <a:xfrm>
            <a:off x="7388352" y="4517136"/>
            <a:ext cx="347472" cy="603504"/>
          </a:xfrm>
          <a:prstGeom prst="rect">
            <a:avLst/>
          </a:prstGeom>
          <a:noFill/>
          <a:ln/>
        </p:spPr>
        <p:txBody>
          <a:bodyPr wrap="square" lIns="0" tIns="0" rIns="0" bIns="0" rtlCol="0" anchor="ctr"/>
          <a:lstStyle/>
          <a:p>
            <a:pPr marL="0" indent="0">
              <a:buNone/>
            </a:pPr>
            <a:r>
              <a:rPr lang="en-US" sz="1000" b="1" dirty="0">
                <a:solidFill>
                  <a:srgbClr val="A8A8A8"/>
                </a:solidFill>
                <a:latin typeface="Calibri" pitchFamily="34" charset="0"/>
                <a:ea typeface="Calibri" pitchFamily="34" charset="-122"/>
                <a:cs typeface="Calibri" pitchFamily="34" charset="-120"/>
              </a:rPr>
              <a:t>07</a:t>
            </a:r>
            <a:endParaRPr lang="en-US" sz="1000" dirty="0"/>
          </a:p>
        </p:txBody>
      </p:sp>
      <p:sp>
        <p:nvSpPr>
          <p:cNvPr id="66" name="Text 64"/>
          <p:cNvSpPr/>
          <p:nvPr/>
        </p:nvSpPr>
        <p:spPr>
          <a:xfrm>
            <a:off x="7754112" y="4572000"/>
            <a:ext cx="4206240" cy="256032"/>
          </a:xfrm>
          <a:prstGeom prst="rect">
            <a:avLst/>
          </a:prstGeom>
          <a:noFill/>
          <a:ln/>
        </p:spPr>
        <p:txBody>
          <a:bodyPr wrap="square" lIns="0" tIns="0" rIns="0" bIns="0" rtlCol="0" anchor="ctr"/>
          <a:lstStyle/>
          <a:p>
            <a:pPr marL="0" indent="0">
              <a:buNone/>
            </a:pPr>
            <a:r>
              <a:rPr lang="en-US" sz="1150" dirty="0">
                <a:solidFill>
                  <a:srgbClr val="333333"/>
                </a:solidFill>
                <a:latin typeface="Calibri" pitchFamily="34" charset="0"/>
                <a:ea typeface="Calibri" pitchFamily="34" charset="-122"/>
                <a:cs typeface="Calibri" pitchFamily="34" charset="-120"/>
              </a:rPr>
              <a:t>Agentic Front Office Journey</a:t>
            </a:r>
            <a:endParaRPr lang="en-US" sz="1150" dirty="0"/>
          </a:p>
        </p:txBody>
      </p:sp>
      <p:sp>
        <p:nvSpPr>
          <p:cNvPr id="67" name="Text 65"/>
          <p:cNvSpPr/>
          <p:nvPr/>
        </p:nvSpPr>
        <p:spPr>
          <a:xfrm>
            <a:off x="7754112" y="4837176"/>
            <a:ext cx="4206240" cy="219456"/>
          </a:xfrm>
          <a:prstGeom prst="rect">
            <a:avLst/>
          </a:prstGeom>
          <a:noFill/>
          <a:ln/>
        </p:spPr>
        <p:txBody>
          <a:bodyPr wrap="square" lIns="0" tIns="0" rIns="0" bIns="0" rtlCol="0" anchor="ctr"/>
          <a:lstStyle/>
          <a:p>
            <a:pPr marL="0" indent="0">
              <a:buNone/>
            </a:pPr>
            <a:r>
              <a:rPr lang="en-US" sz="900" i="1" dirty="0">
                <a:solidFill>
                  <a:srgbClr val="777777"/>
                </a:solidFill>
                <a:latin typeface="Calibri" pitchFamily="34" charset="0"/>
                <a:ea typeface="Calibri" pitchFamily="34" charset="-122"/>
                <a:cs typeface="Calibri" pitchFamily="34" charset="-120"/>
              </a:rPr>
              <a:t>32 activities across 4 lifecycle stages</a:t>
            </a:r>
            <a:endParaRPr lang="en-US" sz="900" dirty="0"/>
          </a:p>
        </p:txBody>
      </p:sp>
      <p:sp>
        <p:nvSpPr>
          <p:cNvPr id="68" name="Shape 66"/>
          <p:cNvSpPr/>
          <p:nvPr/>
        </p:nvSpPr>
        <p:spPr>
          <a:xfrm>
            <a:off x="7278624" y="5120640"/>
            <a:ext cx="4773168" cy="603504"/>
          </a:xfrm>
          <a:prstGeom prst="rect">
            <a:avLst/>
          </a:prstGeom>
          <a:solidFill>
            <a:srgbClr val="F4F4F4"/>
          </a:solidFill>
          <a:ln w="6350">
            <a:solidFill>
              <a:srgbClr val="D4D4D4"/>
            </a:solidFill>
            <a:prstDash val="solid"/>
          </a:ln>
        </p:spPr>
        <p:txBody>
          <a:bodyPr/>
          <a:lstStyle/>
          <a:p>
            <a:endParaRPr lang="en-US"/>
          </a:p>
        </p:txBody>
      </p:sp>
      <p:sp>
        <p:nvSpPr>
          <p:cNvPr id="69" name="Shape 67"/>
          <p:cNvSpPr/>
          <p:nvPr/>
        </p:nvSpPr>
        <p:spPr>
          <a:xfrm>
            <a:off x="7278624" y="5120640"/>
            <a:ext cx="36576" cy="603504"/>
          </a:xfrm>
          <a:prstGeom prst="rect">
            <a:avLst/>
          </a:prstGeom>
          <a:solidFill>
            <a:srgbClr val="333333"/>
          </a:solidFill>
          <a:ln w="12700">
            <a:solidFill>
              <a:srgbClr val="333333"/>
            </a:solidFill>
            <a:prstDash val="solid"/>
          </a:ln>
        </p:spPr>
        <p:txBody>
          <a:bodyPr/>
          <a:lstStyle/>
          <a:p>
            <a:endParaRPr lang="en-US"/>
          </a:p>
        </p:txBody>
      </p:sp>
      <p:sp>
        <p:nvSpPr>
          <p:cNvPr id="70" name="Text 68"/>
          <p:cNvSpPr/>
          <p:nvPr/>
        </p:nvSpPr>
        <p:spPr>
          <a:xfrm>
            <a:off x="7388352" y="5120640"/>
            <a:ext cx="347472" cy="603504"/>
          </a:xfrm>
          <a:prstGeom prst="rect">
            <a:avLst/>
          </a:prstGeom>
          <a:noFill/>
          <a:ln/>
        </p:spPr>
        <p:txBody>
          <a:bodyPr wrap="square" lIns="0" tIns="0" rIns="0" bIns="0" rtlCol="0" anchor="ctr"/>
          <a:lstStyle/>
          <a:p>
            <a:pPr marL="0" indent="0">
              <a:buNone/>
            </a:pPr>
            <a:r>
              <a:rPr lang="en-US" sz="1000" b="1" dirty="0">
                <a:solidFill>
                  <a:srgbClr val="A8A8A8"/>
                </a:solidFill>
                <a:latin typeface="Calibri" pitchFamily="34" charset="0"/>
                <a:ea typeface="Calibri" pitchFamily="34" charset="-122"/>
                <a:cs typeface="Calibri" pitchFamily="34" charset="-120"/>
              </a:rPr>
              <a:t>08</a:t>
            </a:r>
            <a:endParaRPr lang="en-US" sz="1000" dirty="0"/>
          </a:p>
        </p:txBody>
      </p:sp>
      <p:sp>
        <p:nvSpPr>
          <p:cNvPr id="71" name="Text 69"/>
          <p:cNvSpPr/>
          <p:nvPr/>
        </p:nvSpPr>
        <p:spPr>
          <a:xfrm>
            <a:off x="7754112" y="5175504"/>
            <a:ext cx="4206240" cy="256032"/>
          </a:xfrm>
          <a:prstGeom prst="rect">
            <a:avLst/>
          </a:prstGeom>
          <a:noFill/>
          <a:ln/>
        </p:spPr>
        <p:txBody>
          <a:bodyPr wrap="square" lIns="0" tIns="0" rIns="0" bIns="0" rtlCol="0" anchor="ctr"/>
          <a:lstStyle/>
          <a:p>
            <a:pPr marL="0" indent="0">
              <a:buNone/>
            </a:pPr>
            <a:r>
              <a:rPr lang="en-US" sz="1150" dirty="0">
                <a:solidFill>
                  <a:srgbClr val="333333"/>
                </a:solidFill>
                <a:latin typeface="Calibri" pitchFamily="34" charset="0"/>
                <a:ea typeface="Calibri" pitchFamily="34" charset="-122"/>
                <a:cs typeface="Calibri" pitchFamily="34" charset="-120"/>
              </a:rPr>
              <a:t>High-Level Roadmap</a:t>
            </a:r>
            <a:endParaRPr lang="en-US" sz="1150" dirty="0"/>
          </a:p>
        </p:txBody>
      </p:sp>
      <p:sp>
        <p:nvSpPr>
          <p:cNvPr id="72" name="Text 70"/>
          <p:cNvSpPr/>
          <p:nvPr/>
        </p:nvSpPr>
        <p:spPr>
          <a:xfrm>
            <a:off x="7754112" y="5440680"/>
            <a:ext cx="4206240" cy="219456"/>
          </a:xfrm>
          <a:prstGeom prst="rect">
            <a:avLst/>
          </a:prstGeom>
          <a:noFill/>
          <a:ln/>
        </p:spPr>
        <p:txBody>
          <a:bodyPr wrap="square" lIns="0" tIns="0" rIns="0" bIns="0" rtlCol="0" anchor="ctr"/>
          <a:lstStyle/>
          <a:p>
            <a:pPr marL="0" indent="0">
              <a:buNone/>
            </a:pPr>
            <a:r>
              <a:rPr lang="en-US" sz="900" i="1" dirty="0">
                <a:solidFill>
                  <a:srgbClr val="777777"/>
                </a:solidFill>
                <a:latin typeface="Calibri" pitchFamily="34" charset="0"/>
                <a:ea typeface="Calibri" pitchFamily="34" charset="-122"/>
                <a:cs typeface="Calibri" pitchFamily="34" charset="-120"/>
              </a:rPr>
              <a:t>Three horizons to an Agentic front office</a:t>
            </a:r>
            <a:endParaRPr lang="en-US" sz="900" dirty="0"/>
          </a:p>
        </p:txBody>
      </p:sp>
      <p:sp>
        <p:nvSpPr>
          <p:cNvPr id="73" name="Shape 71"/>
          <p:cNvSpPr/>
          <p:nvPr/>
        </p:nvSpPr>
        <p:spPr>
          <a:xfrm>
            <a:off x="7278624" y="5724144"/>
            <a:ext cx="4773168" cy="603504"/>
          </a:xfrm>
          <a:prstGeom prst="rect">
            <a:avLst/>
          </a:prstGeom>
          <a:solidFill>
            <a:srgbClr val="FFFFFF"/>
          </a:solidFill>
          <a:ln w="6350">
            <a:solidFill>
              <a:srgbClr val="D4D4D4"/>
            </a:solidFill>
            <a:prstDash val="solid"/>
          </a:ln>
        </p:spPr>
        <p:txBody>
          <a:bodyPr/>
          <a:lstStyle/>
          <a:p>
            <a:endParaRPr lang="en-US"/>
          </a:p>
        </p:txBody>
      </p:sp>
      <p:sp>
        <p:nvSpPr>
          <p:cNvPr id="74" name="Shape 72"/>
          <p:cNvSpPr/>
          <p:nvPr/>
        </p:nvSpPr>
        <p:spPr>
          <a:xfrm>
            <a:off x="7278624" y="5724144"/>
            <a:ext cx="36576" cy="603504"/>
          </a:xfrm>
          <a:prstGeom prst="rect">
            <a:avLst/>
          </a:prstGeom>
          <a:solidFill>
            <a:srgbClr val="333333"/>
          </a:solidFill>
          <a:ln w="12700">
            <a:solidFill>
              <a:srgbClr val="333333"/>
            </a:solidFill>
            <a:prstDash val="solid"/>
          </a:ln>
        </p:spPr>
        <p:txBody>
          <a:bodyPr/>
          <a:lstStyle/>
          <a:p>
            <a:endParaRPr lang="en-US"/>
          </a:p>
        </p:txBody>
      </p:sp>
      <p:sp>
        <p:nvSpPr>
          <p:cNvPr id="75" name="Text 73"/>
          <p:cNvSpPr/>
          <p:nvPr/>
        </p:nvSpPr>
        <p:spPr>
          <a:xfrm>
            <a:off x="7388352" y="5724144"/>
            <a:ext cx="347472" cy="603504"/>
          </a:xfrm>
          <a:prstGeom prst="rect">
            <a:avLst/>
          </a:prstGeom>
          <a:noFill/>
          <a:ln/>
        </p:spPr>
        <p:txBody>
          <a:bodyPr wrap="square" lIns="0" tIns="0" rIns="0" bIns="0" rtlCol="0" anchor="ctr"/>
          <a:lstStyle/>
          <a:p>
            <a:pPr marL="0" indent="0">
              <a:buNone/>
            </a:pPr>
            <a:r>
              <a:rPr lang="en-US" sz="1000" b="1" dirty="0">
                <a:solidFill>
                  <a:srgbClr val="A8A8A8"/>
                </a:solidFill>
                <a:latin typeface="Calibri" pitchFamily="34" charset="0"/>
                <a:ea typeface="Calibri" pitchFamily="34" charset="-122"/>
                <a:cs typeface="Calibri" pitchFamily="34" charset="-120"/>
              </a:rPr>
              <a:t>09</a:t>
            </a:r>
            <a:endParaRPr lang="en-US" sz="1000" dirty="0"/>
          </a:p>
        </p:txBody>
      </p:sp>
      <p:sp>
        <p:nvSpPr>
          <p:cNvPr id="76" name="Text 74"/>
          <p:cNvSpPr/>
          <p:nvPr/>
        </p:nvSpPr>
        <p:spPr>
          <a:xfrm>
            <a:off x="7754112" y="5779008"/>
            <a:ext cx="4206240" cy="256032"/>
          </a:xfrm>
          <a:prstGeom prst="rect">
            <a:avLst/>
          </a:prstGeom>
          <a:noFill/>
          <a:ln/>
        </p:spPr>
        <p:txBody>
          <a:bodyPr wrap="square" lIns="0" tIns="0" rIns="0" bIns="0" rtlCol="0" anchor="ctr"/>
          <a:lstStyle/>
          <a:p>
            <a:pPr marL="0" indent="0">
              <a:buNone/>
            </a:pPr>
            <a:r>
              <a:rPr lang="en-US" sz="1150" dirty="0">
                <a:solidFill>
                  <a:srgbClr val="333333"/>
                </a:solidFill>
                <a:latin typeface="Calibri" pitchFamily="34" charset="0"/>
                <a:ea typeface="Calibri" pitchFamily="34" charset="-122"/>
                <a:cs typeface="Calibri" pitchFamily="34" charset="-120"/>
              </a:rPr>
              <a:t>Where PwC Plays</a:t>
            </a:r>
            <a:endParaRPr lang="en-US" sz="1150" dirty="0"/>
          </a:p>
        </p:txBody>
      </p:sp>
      <p:sp>
        <p:nvSpPr>
          <p:cNvPr id="77" name="Text 75"/>
          <p:cNvSpPr/>
          <p:nvPr/>
        </p:nvSpPr>
        <p:spPr>
          <a:xfrm>
            <a:off x="7754112" y="6044184"/>
            <a:ext cx="4206240" cy="219456"/>
          </a:xfrm>
          <a:prstGeom prst="rect">
            <a:avLst/>
          </a:prstGeom>
          <a:noFill/>
          <a:ln/>
        </p:spPr>
        <p:txBody>
          <a:bodyPr wrap="square" lIns="0" tIns="0" rIns="0" bIns="0" rtlCol="0" anchor="ctr"/>
          <a:lstStyle/>
          <a:p>
            <a:pPr marL="0" indent="0">
              <a:buNone/>
            </a:pPr>
            <a:r>
              <a:rPr lang="en-US" sz="900" i="1" dirty="0">
                <a:solidFill>
                  <a:srgbClr val="777777"/>
                </a:solidFill>
                <a:latin typeface="Calibri" pitchFamily="34" charset="0"/>
                <a:ea typeface="Calibri" pitchFamily="34" charset="-122"/>
                <a:cs typeface="Calibri" pitchFamily="34" charset="-120"/>
              </a:rPr>
              <a:t>Engagements &amp; recommended next steps</a:t>
            </a:r>
            <a:endParaRPr lang="en-US" sz="900" dirty="0"/>
          </a:p>
        </p:txBody>
      </p:sp>
      <p:sp>
        <p:nvSpPr>
          <p:cNvPr id="79" name="Shape 77"/>
          <p:cNvSpPr/>
          <p:nvPr/>
        </p:nvSpPr>
        <p:spPr>
          <a:xfrm>
            <a:off x="0" y="6675120"/>
            <a:ext cx="164592" cy="182880"/>
          </a:xfrm>
          <a:prstGeom prst="rect">
            <a:avLst/>
          </a:prstGeom>
          <a:solidFill>
            <a:srgbClr val="111111"/>
          </a:solidFill>
          <a:ln w="12700">
            <a:solidFill>
              <a:srgbClr val="111111"/>
            </a:solidFill>
            <a:prstDash val="solid"/>
          </a:ln>
        </p:spPr>
        <p:txBody>
          <a:bodyPr/>
          <a:lstStyle/>
          <a:p>
            <a:endParaRPr lang="en-US"/>
          </a:p>
        </p:txBody>
      </p:sp>
      <p:sp>
        <p:nvSpPr>
          <p:cNvPr id="7" name="Text 5"/>
          <p:cNvSpPr/>
          <p:nvPr/>
        </p:nvSpPr>
        <p:spPr>
          <a:xfrm>
            <a:off x="11457432" y="187906"/>
            <a:ext cx="502920" cy="475488"/>
          </a:xfrm>
          <a:prstGeom prst="rect">
            <a:avLst/>
          </a:prstGeom>
          <a:noFill/>
          <a:ln/>
        </p:spPr>
        <p:txBody>
          <a:bodyPr wrap="square" lIns="0" tIns="0" rIns="0" bIns="0" rtlCol="0" anchor="ctr"/>
          <a:lstStyle/>
          <a:p>
            <a:pPr marL="0" indent="0" algn="r">
              <a:buNone/>
            </a:pPr>
            <a:r>
              <a:rPr lang="en-US" sz="2200" b="1" dirty="0">
                <a:solidFill>
                  <a:srgbClr val="CC0000"/>
                </a:solidFill>
                <a:latin typeface="Calibri" pitchFamily="34" charset="0"/>
                <a:ea typeface="Calibri" pitchFamily="34" charset="-122"/>
                <a:cs typeface="Calibri" pitchFamily="34" charset="-120"/>
              </a:rPr>
              <a:t>02</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CC0000"/>
          </a:solidFill>
          <a:ln w="12700">
            <a:solidFill>
              <a:srgbClr val="CC0000"/>
            </a:solidFill>
            <a:prstDash val="solid"/>
          </a:ln>
        </p:spPr>
        <p:txBody>
          <a:bodyPr/>
          <a:lstStyle/>
          <a:p>
            <a:endParaRPr lang="en-US"/>
          </a:p>
        </p:txBody>
      </p:sp>
      <p:sp>
        <p:nvSpPr>
          <p:cNvPr id="3" name="Shape 1"/>
          <p:cNvSpPr/>
          <p:nvPr/>
        </p:nvSpPr>
        <p:spPr>
          <a:xfrm>
            <a:off x="0" y="54864"/>
            <a:ext cx="164592" cy="6803136"/>
          </a:xfrm>
          <a:prstGeom prst="rect">
            <a:avLst/>
          </a:prstGeom>
          <a:solidFill>
            <a:srgbClr val="111111"/>
          </a:solidFill>
          <a:ln w="12700">
            <a:solidFill>
              <a:srgbClr val="111111"/>
            </a:solidFill>
            <a:prstDash val="solid"/>
          </a:ln>
        </p:spPr>
        <p:txBody>
          <a:bodyPr/>
          <a:lstStyle/>
          <a:p>
            <a:endParaRPr lang="en-US"/>
          </a:p>
        </p:txBody>
      </p:sp>
      <p:sp>
        <p:nvSpPr>
          <p:cNvPr id="4" name="Text 2"/>
          <p:cNvSpPr/>
          <p:nvPr/>
        </p:nvSpPr>
        <p:spPr>
          <a:xfrm>
            <a:off x="329184" y="146304"/>
            <a:ext cx="10058400" cy="256032"/>
          </a:xfrm>
          <a:prstGeom prst="rect">
            <a:avLst/>
          </a:prstGeom>
          <a:noFill/>
          <a:ln/>
        </p:spPr>
        <p:txBody>
          <a:bodyPr wrap="square" lIns="0" tIns="0" rIns="0" bIns="0" rtlCol="0" anchor="ctr"/>
          <a:lstStyle/>
          <a:p>
            <a:pPr marL="0" indent="0">
              <a:buNone/>
            </a:pPr>
            <a:r>
              <a:rPr lang="en-US" sz="900" b="1" kern="0" spc="300" dirty="0">
                <a:solidFill>
                  <a:srgbClr val="CC0000"/>
                </a:solidFill>
                <a:latin typeface="Calibri" pitchFamily="34" charset="0"/>
                <a:ea typeface="Calibri" pitchFamily="34" charset="-122"/>
                <a:cs typeface="Calibri" pitchFamily="34" charset="-120"/>
              </a:rPr>
              <a:t>ONE HONEYWELL VISION</a:t>
            </a:r>
            <a:endParaRPr lang="en-US" sz="900" dirty="0"/>
          </a:p>
        </p:txBody>
      </p:sp>
      <p:sp>
        <p:nvSpPr>
          <p:cNvPr id="5" name="Text 3"/>
          <p:cNvSpPr/>
          <p:nvPr/>
        </p:nvSpPr>
        <p:spPr>
          <a:xfrm>
            <a:off x="329184" y="420624"/>
            <a:ext cx="10515600" cy="530352"/>
          </a:xfrm>
          <a:prstGeom prst="rect">
            <a:avLst/>
          </a:prstGeom>
          <a:noFill/>
          <a:ln/>
        </p:spPr>
        <p:txBody>
          <a:bodyPr wrap="square" lIns="0" tIns="0" rIns="0" bIns="0" rtlCol="0" anchor="ctr"/>
          <a:lstStyle/>
          <a:p>
            <a:r>
              <a:rPr lang="en-US" sz="2300" b="1">
                <a:solidFill>
                  <a:srgbClr val="1F1F1F"/>
                </a:solidFill>
                <a:latin typeface="Calibri"/>
                <a:ea typeface="Calibri"/>
                <a:cs typeface="Calibri"/>
              </a:rPr>
              <a:t>LTC Guiding Principles </a:t>
            </a:r>
            <a:endParaRPr lang="en-US" sz="2300" dirty="0"/>
          </a:p>
        </p:txBody>
      </p:sp>
      <p:sp>
        <p:nvSpPr>
          <p:cNvPr id="6" name="Shape 4"/>
          <p:cNvSpPr/>
          <p:nvPr/>
        </p:nvSpPr>
        <p:spPr>
          <a:xfrm>
            <a:off x="329184" y="969264"/>
            <a:ext cx="11667744" cy="20117"/>
          </a:xfrm>
          <a:prstGeom prst="rect">
            <a:avLst/>
          </a:prstGeom>
          <a:solidFill>
            <a:srgbClr val="D4D4D4"/>
          </a:solidFill>
          <a:ln w="12700">
            <a:solidFill>
              <a:srgbClr val="D4D4D4"/>
            </a:solidFill>
            <a:prstDash val="solid"/>
          </a:ln>
        </p:spPr>
        <p:txBody>
          <a:bodyPr/>
          <a:lstStyle/>
          <a:p>
            <a:endParaRPr lang="en-US"/>
          </a:p>
        </p:txBody>
      </p:sp>
      <p:sp>
        <p:nvSpPr>
          <p:cNvPr id="7" name="Text 5"/>
          <p:cNvSpPr/>
          <p:nvPr/>
        </p:nvSpPr>
        <p:spPr>
          <a:xfrm>
            <a:off x="11475720" y="109728"/>
            <a:ext cx="640080" cy="502920"/>
          </a:xfrm>
          <a:prstGeom prst="rect">
            <a:avLst/>
          </a:prstGeom>
          <a:noFill/>
          <a:ln/>
        </p:spPr>
        <p:txBody>
          <a:bodyPr wrap="square" lIns="0" tIns="0" rIns="0" bIns="0" rtlCol="0" anchor="ctr"/>
          <a:lstStyle/>
          <a:p>
            <a:pPr marL="0" indent="0" algn="r">
              <a:buNone/>
            </a:pPr>
            <a:r>
              <a:rPr lang="en-US" sz="2200" b="1" dirty="0">
                <a:solidFill>
                  <a:srgbClr val="CC0000"/>
                </a:solidFill>
                <a:latin typeface="Calibri" pitchFamily="34" charset="0"/>
                <a:ea typeface="Calibri" pitchFamily="34" charset="-122"/>
                <a:cs typeface="Calibri" pitchFamily="34" charset="-120"/>
              </a:rPr>
              <a:t>03</a:t>
            </a:r>
            <a:endParaRPr lang="en-US" sz="2200" dirty="0"/>
          </a:p>
        </p:txBody>
      </p:sp>
      <p:sp>
        <p:nvSpPr>
          <p:cNvPr id="9" name="Shape 7"/>
          <p:cNvSpPr/>
          <p:nvPr/>
        </p:nvSpPr>
        <p:spPr>
          <a:xfrm>
            <a:off x="0" y="6675120"/>
            <a:ext cx="164592" cy="182880"/>
          </a:xfrm>
          <a:prstGeom prst="rect">
            <a:avLst/>
          </a:prstGeom>
          <a:solidFill>
            <a:srgbClr val="111111"/>
          </a:solidFill>
          <a:ln w="12700">
            <a:solidFill>
              <a:srgbClr val="111111"/>
            </a:solidFill>
            <a:prstDash val="solid"/>
          </a:ln>
        </p:spPr>
        <p:txBody>
          <a:bodyPr/>
          <a:lstStyle/>
          <a:p>
            <a:endParaRPr lang="en-US"/>
          </a:p>
        </p:txBody>
      </p:sp>
      <p:sp>
        <p:nvSpPr>
          <p:cNvPr id="12" name="Shape 10"/>
          <p:cNvSpPr/>
          <p:nvPr/>
        </p:nvSpPr>
        <p:spPr>
          <a:xfrm>
            <a:off x="351889" y="1308679"/>
            <a:ext cx="58139" cy="1146400"/>
          </a:xfrm>
          <a:prstGeom prst="rect">
            <a:avLst/>
          </a:prstGeom>
          <a:solidFill>
            <a:srgbClr val="CC0000"/>
          </a:solidFill>
          <a:ln w="12700">
            <a:solidFill>
              <a:srgbClr val="CC0000"/>
            </a:solidFill>
            <a:prstDash val="solid"/>
          </a:ln>
        </p:spPr>
        <p:txBody>
          <a:bodyPr/>
          <a:lstStyle/>
          <a:p>
            <a:endParaRPr lang="en-US"/>
          </a:p>
        </p:txBody>
      </p:sp>
      <p:sp>
        <p:nvSpPr>
          <p:cNvPr id="13" name="Text 11"/>
          <p:cNvSpPr/>
          <p:nvPr/>
        </p:nvSpPr>
        <p:spPr>
          <a:xfrm>
            <a:off x="3753867" y="184458"/>
            <a:ext cx="7619953" cy="841248"/>
          </a:xfrm>
          <a:prstGeom prst="rect">
            <a:avLst/>
          </a:prstGeom>
          <a:noFill/>
          <a:ln/>
        </p:spPr>
        <p:txBody>
          <a:bodyPr wrap="square" lIns="0" tIns="0" rIns="0" bIns="0" rtlCol="0" anchor="ctr"/>
          <a:lstStyle/>
          <a:p>
            <a:pPr marL="0" indent="0">
              <a:buNone/>
            </a:pPr>
            <a:r>
              <a:rPr lang="en-US" sz="1450" i="1" dirty="0">
                <a:solidFill>
                  <a:srgbClr val="333333"/>
                </a:solidFill>
                <a:latin typeface="Calibri" pitchFamily="34" charset="0"/>
                <a:ea typeface="Calibri" pitchFamily="34" charset="-122"/>
                <a:cs typeface="Calibri" pitchFamily="34" charset="-120"/>
              </a:rPr>
              <a:t>"We deeply understand our customers, solve meaningful problems with an integrated portfolio of solutions, and create outcomes that drive lasting growth and foster partnerships."</a:t>
            </a:r>
            <a:endParaRPr lang="en-US" sz="1450" dirty="0"/>
          </a:p>
        </p:txBody>
      </p:sp>
      <p:sp>
        <p:nvSpPr>
          <p:cNvPr id="42" name="Google Shape;830;p89">
            <a:extLst>
              <a:ext uri="{FF2B5EF4-FFF2-40B4-BE49-F238E27FC236}">
                <a16:creationId xmlns:a16="http://schemas.microsoft.com/office/drawing/2014/main" id="{43D52110-16AA-2FC5-295E-66CD8896B187}"/>
              </a:ext>
            </a:extLst>
          </p:cNvPr>
          <p:cNvSpPr/>
          <p:nvPr/>
        </p:nvSpPr>
        <p:spPr>
          <a:xfrm>
            <a:off x="475943" y="2603063"/>
            <a:ext cx="11501600" cy="1146400"/>
          </a:xfrm>
          <a:prstGeom prst="roundRect">
            <a:avLst>
              <a:gd name="adj" fmla="val 0"/>
            </a:avLst>
          </a:prstGeom>
          <a:solidFill>
            <a:schemeClr val="lt1"/>
          </a:solidFill>
          <a:ln>
            <a:noFill/>
          </a:ln>
          <a:effectLst>
            <a:outerShdw blurRad="57150" dist="19050" dir="5400000" algn="bl" rotWithShape="0">
              <a:srgbClr val="000000">
                <a:alpha val="8627"/>
              </a:srgbClr>
            </a:outerShdw>
          </a:effectLst>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sp>
        <p:nvSpPr>
          <p:cNvPr id="43" name="Google Shape;831;p89">
            <a:extLst>
              <a:ext uri="{FF2B5EF4-FFF2-40B4-BE49-F238E27FC236}">
                <a16:creationId xmlns:a16="http://schemas.microsoft.com/office/drawing/2014/main" id="{2CA5258F-0581-9F51-C77C-BF71DB54A465}"/>
              </a:ext>
            </a:extLst>
          </p:cNvPr>
          <p:cNvSpPr/>
          <p:nvPr/>
        </p:nvSpPr>
        <p:spPr>
          <a:xfrm>
            <a:off x="468001" y="3879057"/>
            <a:ext cx="11501600" cy="1146400"/>
          </a:xfrm>
          <a:prstGeom prst="roundRect">
            <a:avLst>
              <a:gd name="adj" fmla="val 0"/>
            </a:avLst>
          </a:prstGeom>
          <a:solidFill>
            <a:schemeClr val="lt1"/>
          </a:solidFill>
          <a:ln>
            <a:noFill/>
          </a:ln>
          <a:effectLst>
            <a:outerShdw blurRad="57150" dist="19050" dir="5400000" algn="bl" rotWithShape="0">
              <a:srgbClr val="000000">
                <a:alpha val="8627"/>
              </a:srgbClr>
            </a:outerShdw>
          </a:effectLst>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sp>
        <p:nvSpPr>
          <p:cNvPr id="44" name="Google Shape;832;p89">
            <a:extLst>
              <a:ext uri="{FF2B5EF4-FFF2-40B4-BE49-F238E27FC236}">
                <a16:creationId xmlns:a16="http://schemas.microsoft.com/office/drawing/2014/main" id="{A82C4C9A-F489-9D24-0928-D15EAA6C8974}"/>
              </a:ext>
            </a:extLst>
          </p:cNvPr>
          <p:cNvSpPr/>
          <p:nvPr/>
        </p:nvSpPr>
        <p:spPr>
          <a:xfrm>
            <a:off x="495328" y="5175103"/>
            <a:ext cx="11501600" cy="1146400"/>
          </a:xfrm>
          <a:prstGeom prst="roundRect">
            <a:avLst>
              <a:gd name="adj" fmla="val 0"/>
            </a:avLst>
          </a:prstGeom>
          <a:solidFill>
            <a:schemeClr val="lt1"/>
          </a:solidFill>
          <a:ln>
            <a:noFill/>
          </a:ln>
          <a:effectLst>
            <a:outerShdw blurRad="57150" dist="19050" dir="5400000" algn="bl" rotWithShape="0">
              <a:srgbClr val="000000">
                <a:alpha val="8627"/>
              </a:srgbClr>
            </a:outerShdw>
          </a:effectLst>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sp>
        <p:nvSpPr>
          <p:cNvPr id="45" name="Google Shape;833;p89">
            <a:extLst>
              <a:ext uri="{FF2B5EF4-FFF2-40B4-BE49-F238E27FC236}">
                <a16:creationId xmlns:a16="http://schemas.microsoft.com/office/drawing/2014/main" id="{D7C3BAD5-A72D-7271-9012-BE8477E25489}"/>
              </a:ext>
            </a:extLst>
          </p:cNvPr>
          <p:cNvSpPr/>
          <p:nvPr/>
        </p:nvSpPr>
        <p:spPr>
          <a:xfrm>
            <a:off x="443053" y="1302579"/>
            <a:ext cx="11501600" cy="1146400"/>
          </a:xfrm>
          <a:prstGeom prst="roundRect">
            <a:avLst>
              <a:gd name="adj" fmla="val 0"/>
            </a:avLst>
          </a:prstGeom>
          <a:solidFill>
            <a:schemeClr val="lt1"/>
          </a:solidFill>
          <a:ln>
            <a:noFill/>
          </a:ln>
          <a:effectLst>
            <a:outerShdw blurRad="57150" dist="19050" dir="5400000" algn="bl" rotWithShape="0">
              <a:srgbClr val="000000">
                <a:alpha val="8627"/>
              </a:srgbClr>
            </a:outerShdw>
          </a:effectLst>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sp>
        <p:nvSpPr>
          <p:cNvPr id="46" name="Google Shape;834;p89">
            <a:extLst>
              <a:ext uri="{FF2B5EF4-FFF2-40B4-BE49-F238E27FC236}">
                <a16:creationId xmlns:a16="http://schemas.microsoft.com/office/drawing/2014/main" id="{B70B75E4-4713-0BEC-C950-B14638FA9512}"/>
              </a:ext>
            </a:extLst>
          </p:cNvPr>
          <p:cNvSpPr/>
          <p:nvPr/>
        </p:nvSpPr>
        <p:spPr>
          <a:xfrm>
            <a:off x="7531677" y="2606212"/>
            <a:ext cx="4446000" cy="1140000"/>
          </a:xfrm>
          <a:prstGeom prst="rect">
            <a:avLst/>
          </a:prstGeom>
          <a:solidFill>
            <a:srgbClr val="E0301E"/>
          </a:solidFill>
          <a:ln>
            <a:noFill/>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ea typeface="Arial"/>
              <a:cs typeface="Arial"/>
              <a:sym typeface="Arial"/>
            </a:endParaRPr>
          </a:p>
        </p:txBody>
      </p:sp>
      <p:sp>
        <p:nvSpPr>
          <p:cNvPr id="47" name="Google Shape;835;p89">
            <a:extLst>
              <a:ext uri="{FF2B5EF4-FFF2-40B4-BE49-F238E27FC236}">
                <a16:creationId xmlns:a16="http://schemas.microsoft.com/office/drawing/2014/main" id="{F0AA0340-017B-91F0-62C4-09BA5921C20D}"/>
              </a:ext>
            </a:extLst>
          </p:cNvPr>
          <p:cNvSpPr/>
          <p:nvPr/>
        </p:nvSpPr>
        <p:spPr>
          <a:xfrm>
            <a:off x="7531677" y="3898912"/>
            <a:ext cx="4446000" cy="1140000"/>
          </a:xfrm>
          <a:prstGeom prst="rect">
            <a:avLst/>
          </a:prstGeom>
          <a:solidFill>
            <a:srgbClr val="E0301E"/>
          </a:solidFill>
          <a:ln>
            <a:noFill/>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sp>
        <p:nvSpPr>
          <p:cNvPr id="48" name="Google Shape;836;p89">
            <a:extLst>
              <a:ext uri="{FF2B5EF4-FFF2-40B4-BE49-F238E27FC236}">
                <a16:creationId xmlns:a16="http://schemas.microsoft.com/office/drawing/2014/main" id="{2FD0D67E-EF58-C23C-1D4C-1CE051D59C6A}"/>
              </a:ext>
            </a:extLst>
          </p:cNvPr>
          <p:cNvSpPr/>
          <p:nvPr/>
        </p:nvSpPr>
        <p:spPr>
          <a:xfrm>
            <a:off x="7531677" y="5177654"/>
            <a:ext cx="4446000" cy="1140000"/>
          </a:xfrm>
          <a:prstGeom prst="rect">
            <a:avLst/>
          </a:prstGeom>
          <a:solidFill>
            <a:srgbClr val="E0301E"/>
          </a:solidFill>
          <a:ln>
            <a:noFill/>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sp>
        <p:nvSpPr>
          <p:cNvPr id="49" name="Google Shape;837;p89">
            <a:extLst>
              <a:ext uri="{FF2B5EF4-FFF2-40B4-BE49-F238E27FC236}">
                <a16:creationId xmlns:a16="http://schemas.microsoft.com/office/drawing/2014/main" id="{BCAFA894-F642-8EFE-1842-BC4E3FA85A76}"/>
              </a:ext>
            </a:extLst>
          </p:cNvPr>
          <p:cNvSpPr/>
          <p:nvPr/>
        </p:nvSpPr>
        <p:spPr>
          <a:xfrm>
            <a:off x="7531677" y="1308679"/>
            <a:ext cx="4446000" cy="1146400"/>
          </a:xfrm>
          <a:prstGeom prst="rect">
            <a:avLst/>
          </a:prstGeom>
          <a:solidFill>
            <a:srgbClr val="E0301E"/>
          </a:solidFill>
          <a:ln>
            <a:noFill/>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ea typeface="Arial"/>
              <a:cs typeface="Arial"/>
              <a:sym typeface="Arial"/>
            </a:endParaRPr>
          </a:p>
        </p:txBody>
      </p:sp>
      <p:sp>
        <p:nvSpPr>
          <p:cNvPr id="50" name="Google Shape;838;p89">
            <a:extLst>
              <a:ext uri="{FF2B5EF4-FFF2-40B4-BE49-F238E27FC236}">
                <a16:creationId xmlns:a16="http://schemas.microsoft.com/office/drawing/2014/main" id="{C26562A1-5B4E-CE9A-1219-A9A5B8DCB87F}"/>
              </a:ext>
            </a:extLst>
          </p:cNvPr>
          <p:cNvSpPr txBox="1"/>
          <p:nvPr/>
        </p:nvSpPr>
        <p:spPr>
          <a:xfrm>
            <a:off x="3133894" y="2844769"/>
            <a:ext cx="3914400" cy="861774"/>
          </a:xfrm>
          <a:prstGeom prst="rect">
            <a:avLst/>
          </a:prstGeom>
          <a:noFill/>
          <a:ln>
            <a:noFill/>
          </a:ln>
        </p:spPr>
        <p:txBody>
          <a:bodyPr spcFirstLastPara="1" wrap="square" lIns="0" tIns="0" rIns="0" bIns="0" anchor="t" anchorCtr="0">
            <a:spAutoFit/>
          </a:bodyPr>
          <a:lstStyle/>
          <a:p>
            <a:pPr defTabSz="1219170">
              <a:buClr>
                <a:srgbClr val="000000"/>
              </a:buClr>
              <a:buSzPts val="900"/>
            </a:pPr>
            <a:r>
              <a:rPr lang="en-US" sz="1200" b="1" kern="0" dirty="0">
                <a:solidFill>
                  <a:srgbClr val="FFFFFF"/>
                </a:solidFill>
                <a:highlight>
                  <a:srgbClr val="E0301E"/>
                </a:highlight>
                <a:ea typeface="Helvetica Neue"/>
                <a:cs typeface="Helvetica Neue"/>
                <a:sym typeface="Helvetica Neue"/>
              </a:rPr>
              <a:t>Simplify &amp; Standardize</a:t>
            </a:r>
            <a:endParaRPr sz="1200" b="1" kern="0" dirty="0">
              <a:solidFill>
                <a:srgbClr val="FFFFFF"/>
              </a:solidFill>
              <a:highlight>
                <a:srgbClr val="D93954"/>
              </a:highlight>
              <a:ea typeface="Helvetica Neue"/>
              <a:cs typeface="Helvetica Neue"/>
              <a:sym typeface="Helvetica Neue"/>
            </a:endParaRPr>
          </a:p>
          <a:p>
            <a:pPr defTabSz="1219170">
              <a:buClr>
                <a:srgbClr val="000000"/>
              </a:buClr>
              <a:buSzPts val="1100"/>
            </a:pPr>
            <a:r>
              <a:rPr lang="en-US" sz="1100" dirty="0"/>
              <a:t>We ruthlessly simplify and standardize the internal operations and commercial policies that </a:t>
            </a:r>
            <a:r>
              <a:rPr lang="en-US" sz="1100" b="1" dirty="0"/>
              <a:t>enable speed, repeatability, and scale </a:t>
            </a:r>
            <a:r>
              <a:rPr lang="en-US" sz="1100" dirty="0"/>
              <a:t>while differentiating only in the areas that create true market advantage.</a:t>
            </a:r>
            <a:endParaRPr sz="1067" kern="0" dirty="0">
              <a:solidFill>
                <a:srgbClr val="000000"/>
              </a:solidFill>
              <a:ea typeface="Helvetica Neue"/>
              <a:cs typeface="Helvetica Neue"/>
              <a:sym typeface="Helvetica Neue"/>
            </a:endParaRPr>
          </a:p>
        </p:txBody>
      </p:sp>
      <p:sp>
        <p:nvSpPr>
          <p:cNvPr id="51" name="Google Shape;839;p89">
            <a:extLst>
              <a:ext uri="{FF2B5EF4-FFF2-40B4-BE49-F238E27FC236}">
                <a16:creationId xmlns:a16="http://schemas.microsoft.com/office/drawing/2014/main" id="{09E779B2-CDD0-5520-D75E-9E37E76BEFF7}"/>
              </a:ext>
            </a:extLst>
          </p:cNvPr>
          <p:cNvSpPr txBox="1"/>
          <p:nvPr/>
        </p:nvSpPr>
        <p:spPr>
          <a:xfrm>
            <a:off x="1156671" y="1620341"/>
            <a:ext cx="2239886" cy="430887"/>
          </a:xfrm>
          <a:prstGeom prst="rect">
            <a:avLst/>
          </a:prstGeom>
          <a:noFill/>
          <a:ln>
            <a:noFill/>
          </a:ln>
        </p:spPr>
        <p:txBody>
          <a:bodyPr spcFirstLastPara="1" wrap="square" lIns="0" tIns="0" rIns="0" bIns="0" anchor="t" anchorCtr="0">
            <a:spAutoFit/>
          </a:bodyPr>
          <a:lstStyle/>
          <a:p>
            <a:pPr>
              <a:buNone/>
            </a:pPr>
            <a:r>
              <a:rPr lang="en-US" sz="1400" b="1" dirty="0"/>
              <a:t>One Honeywell, One Customer Experience</a:t>
            </a:r>
          </a:p>
        </p:txBody>
      </p:sp>
      <p:sp>
        <p:nvSpPr>
          <p:cNvPr id="52" name="Google Shape;840;p89">
            <a:extLst>
              <a:ext uri="{FF2B5EF4-FFF2-40B4-BE49-F238E27FC236}">
                <a16:creationId xmlns:a16="http://schemas.microsoft.com/office/drawing/2014/main" id="{13E00490-18B3-B1B1-0A17-990FC1BC6627}"/>
              </a:ext>
            </a:extLst>
          </p:cNvPr>
          <p:cNvSpPr txBox="1"/>
          <p:nvPr/>
        </p:nvSpPr>
        <p:spPr>
          <a:xfrm>
            <a:off x="3163290" y="1571405"/>
            <a:ext cx="3914400" cy="692497"/>
          </a:xfrm>
          <a:prstGeom prst="rect">
            <a:avLst/>
          </a:prstGeom>
          <a:noFill/>
          <a:ln>
            <a:noFill/>
          </a:ln>
        </p:spPr>
        <p:txBody>
          <a:bodyPr spcFirstLastPara="1" wrap="square" lIns="0" tIns="0" rIns="0" bIns="0" anchor="t" anchorCtr="0">
            <a:spAutoFit/>
          </a:bodyPr>
          <a:lstStyle/>
          <a:p>
            <a:pPr defTabSz="1219170">
              <a:buClr>
                <a:srgbClr val="000000"/>
              </a:buClr>
              <a:buSzPts val="1100"/>
            </a:pPr>
            <a:r>
              <a:rPr lang="en-US" sz="1200" b="1" kern="0" dirty="0">
                <a:solidFill>
                  <a:srgbClr val="FFFFFF"/>
                </a:solidFill>
                <a:highlight>
                  <a:srgbClr val="E0301E"/>
                </a:highlight>
                <a:ea typeface="Helvetica Neue"/>
                <a:cs typeface="Helvetica Neue"/>
                <a:sym typeface="Helvetica Neue"/>
              </a:rPr>
              <a:t>A Consistent Experience</a:t>
            </a:r>
            <a:endParaRPr sz="1200" b="1" kern="0" dirty="0">
              <a:solidFill>
                <a:srgbClr val="FFFFFF"/>
              </a:solidFill>
              <a:highlight>
                <a:srgbClr val="E0301E"/>
              </a:highlight>
              <a:ea typeface="Helvetica Neue"/>
              <a:cs typeface="Helvetica Neue"/>
              <a:sym typeface="Helvetica Neue"/>
            </a:endParaRPr>
          </a:p>
          <a:p>
            <a:pPr>
              <a:buNone/>
            </a:pPr>
            <a:r>
              <a:rPr lang="en-US" sz="1100" dirty="0"/>
              <a:t>We show up to customers as </a:t>
            </a:r>
            <a:r>
              <a:rPr lang="en-US" sz="1100" b="1" i="1" dirty="0"/>
              <a:t>one unified enterprise</a:t>
            </a:r>
            <a:r>
              <a:rPr lang="en-US" sz="1100" dirty="0"/>
              <a:t>—with consistent messaging, seamless handoffs, and an integrated account experience across all SBGs, solutions, and services.</a:t>
            </a:r>
          </a:p>
        </p:txBody>
      </p:sp>
      <p:sp>
        <p:nvSpPr>
          <p:cNvPr id="53" name="Google Shape;841;p89">
            <a:extLst>
              <a:ext uri="{FF2B5EF4-FFF2-40B4-BE49-F238E27FC236}">
                <a16:creationId xmlns:a16="http://schemas.microsoft.com/office/drawing/2014/main" id="{07E4D72C-47C5-56D4-F0E6-94FEF5E4E256}"/>
              </a:ext>
            </a:extLst>
          </p:cNvPr>
          <p:cNvSpPr txBox="1"/>
          <p:nvPr/>
        </p:nvSpPr>
        <p:spPr>
          <a:xfrm>
            <a:off x="7901277" y="1442843"/>
            <a:ext cx="3676000" cy="846386"/>
          </a:xfrm>
          <a:prstGeom prst="rect">
            <a:avLst/>
          </a:prstGeom>
          <a:noFill/>
          <a:ln>
            <a:noFill/>
          </a:ln>
        </p:spPr>
        <p:txBody>
          <a:bodyPr spcFirstLastPara="1" wrap="square" lIns="0" tIns="0" rIns="0" bIns="0" anchor="t" anchorCtr="0">
            <a:spAutoFit/>
          </a:bodyPr>
          <a:lstStyle/>
          <a:p>
            <a:pPr marL="171450" indent="-171450" defTabSz="1219170">
              <a:buClr>
                <a:schemeClr val="bg1"/>
              </a:buClr>
              <a:buSzPts val="800"/>
              <a:buFont typeface="Arial" panose="020B0604020202020204" pitchFamily="34" charset="0"/>
              <a:buChar char="•"/>
            </a:pPr>
            <a:r>
              <a:rPr lang="en-US" sz="1100" kern="0" dirty="0">
                <a:solidFill>
                  <a:srgbClr val="FFFFFF"/>
                </a:solidFill>
                <a:latin typeface="Helvetica Neue"/>
                <a:ea typeface="Helvetica Neue"/>
                <a:cs typeface="Helvetica Neue"/>
                <a:sym typeface="Helvetica Neue"/>
              </a:rPr>
              <a:t>No internal friction should be visible to the customer.</a:t>
            </a:r>
          </a:p>
          <a:p>
            <a:pPr marL="171450" indent="-171450" defTabSz="1219170">
              <a:buClr>
                <a:schemeClr val="bg1"/>
              </a:buClr>
              <a:buSzPts val="800"/>
              <a:buFont typeface="Arial" panose="020B0604020202020204" pitchFamily="34" charset="0"/>
              <a:buChar char="•"/>
            </a:pPr>
            <a:r>
              <a:rPr lang="en-US" sz="1100" kern="0" dirty="0">
                <a:solidFill>
                  <a:srgbClr val="FFFFFF"/>
                </a:solidFill>
                <a:latin typeface="Helvetica Neue"/>
                <a:ea typeface="Helvetica Neue"/>
                <a:cs typeface="Helvetica Neue"/>
                <a:sym typeface="Helvetica Neue"/>
              </a:rPr>
              <a:t>Customer tiering, account ownership, and coverage models must be aligned enterprise-wide.</a:t>
            </a:r>
          </a:p>
          <a:p>
            <a:pPr marL="171450" indent="-171450" defTabSz="1219170">
              <a:buClr>
                <a:schemeClr val="bg1"/>
              </a:buClr>
              <a:buSzPts val="800"/>
              <a:buFont typeface="Arial" panose="020B0604020202020204" pitchFamily="34" charset="0"/>
              <a:buChar char="•"/>
            </a:pPr>
            <a:r>
              <a:rPr lang="en-US" sz="1100" kern="0" dirty="0">
                <a:solidFill>
                  <a:srgbClr val="FFFFFF"/>
                </a:solidFill>
                <a:latin typeface="Helvetica Neue"/>
                <a:ea typeface="Helvetica Neue"/>
                <a:cs typeface="Helvetica Neue"/>
                <a:sym typeface="Helvetica Neue"/>
              </a:rPr>
              <a:t>Solutioning and value articulation must feel cohesive, not fragmented.</a:t>
            </a:r>
          </a:p>
        </p:txBody>
      </p:sp>
      <p:sp>
        <p:nvSpPr>
          <p:cNvPr id="54" name="Google Shape;843;p89">
            <a:extLst>
              <a:ext uri="{FF2B5EF4-FFF2-40B4-BE49-F238E27FC236}">
                <a16:creationId xmlns:a16="http://schemas.microsoft.com/office/drawing/2014/main" id="{5AFDBB43-5B8F-D16D-0B0F-4AD203AD30F4}"/>
              </a:ext>
            </a:extLst>
          </p:cNvPr>
          <p:cNvSpPr txBox="1"/>
          <p:nvPr/>
        </p:nvSpPr>
        <p:spPr>
          <a:xfrm>
            <a:off x="1176305" y="2896360"/>
            <a:ext cx="1854000" cy="646331"/>
          </a:xfrm>
          <a:prstGeom prst="rect">
            <a:avLst/>
          </a:prstGeom>
          <a:noFill/>
          <a:ln>
            <a:noFill/>
          </a:ln>
        </p:spPr>
        <p:txBody>
          <a:bodyPr spcFirstLastPara="1" wrap="square" lIns="0" tIns="0" rIns="0" bIns="0" anchor="t" anchorCtr="0">
            <a:spAutoFit/>
          </a:bodyPr>
          <a:lstStyle/>
          <a:p>
            <a:pPr>
              <a:buNone/>
            </a:pPr>
            <a:r>
              <a:rPr lang="en-US" sz="1400" b="1" dirty="0"/>
              <a:t>Standardize the Core, Differentiate Where It Matters</a:t>
            </a:r>
          </a:p>
        </p:txBody>
      </p:sp>
      <p:sp>
        <p:nvSpPr>
          <p:cNvPr id="55" name="Google Shape;844;p89">
            <a:extLst>
              <a:ext uri="{FF2B5EF4-FFF2-40B4-BE49-F238E27FC236}">
                <a16:creationId xmlns:a16="http://schemas.microsoft.com/office/drawing/2014/main" id="{D09B18A5-FC10-B9A5-8823-D1DB15D1BEA2}"/>
              </a:ext>
            </a:extLst>
          </p:cNvPr>
          <p:cNvSpPr txBox="1"/>
          <p:nvPr/>
        </p:nvSpPr>
        <p:spPr>
          <a:xfrm>
            <a:off x="7916677" y="2744996"/>
            <a:ext cx="3676000" cy="846386"/>
          </a:xfrm>
          <a:prstGeom prst="rect">
            <a:avLst/>
          </a:prstGeom>
          <a:noFill/>
          <a:ln>
            <a:noFill/>
          </a:ln>
        </p:spPr>
        <p:txBody>
          <a:bodyPr spcFirstLastPara="1" wrap="square" lIns="0" tIns="0" rIns="0" bIns="0" anchor="t" anchorCtr="0">
            <a:spAutoFit/>
          </a:bodyPr>
          <a:lstStyle>
            <a:defPPr>
              <a:defRPr lang="en-US"/>
            </a:defPPr>
            <a:lvl1pPr marL="171450" indent="-171450" defTabSz="1219170">
              <a:buClr>
                <a:srgbClr val="000000"/>
              </a:buClr>
              <a:buSzPts val="800"/>
              <a:buFont typeface="Arial" panose="020B0604020202020204" pitchFamily="34" charset="0"/>
              <a:buChar char="•"/>
              <a:defRPr sz="1067" kern="0">
                <a:solidFill>
                  <a:srgbClr val="FFFFFF"/>
                </a:solidFill>
                <a:latin typeface="Helvetica Neue"/>
                <a:ea typeface="Helvetica Neue"/>
                <a:cs typeface="Helvetica Neue"/>
              </a:defRPr>
            </a:lvl1pPr>
          </a:lstStyle>
          <a:p>
            <a:pPr>
              <a:buClr>
                <a:schemeClr val="bg1"/>
              </a:buClr>
            </a:pPr>
            <a:r>
              <a:rPr lang="en-US" sz="1100" dirty="0">
                <a:sym typeface="Helvetica Neue"/>
              </a:rPr>
              <a:t>Standard SKUs, pricing rules, contracts, payment terms, and policies.</a:t>
            </a:r>
          </a:p>
          <a:p>
            <a:pPr>
              <a:buClr>
                <a:schemeClr val="bg1"/>
              </a:buClr>
            </a:pPr>
            <a:r>
              <a:rPr lang="en-US" sz="1100" dirty="0">
                <a:sym typeface="Helvetica Neue"/>
              </a:rPr>
              <a:t>Minimize exceptions, customization, and local variations.</a:t>
            </a:r>
          </a:p>
          <a:p>
            <a:pPr>
              <a:buClr>
                <a:schemeClr val="bg1"/>
              </a:buClr>
            </a:pPr>
            <a:r>
              <a:rPr lang="en-US" sz="1100" dirty="0">
                <a:sym typeface="Helvetica Neue"/>
              </a:rPr>
              <a:t>Focus differentiation on strategic verticals, customer value propositions, and solution offerings.</a:t>
            </a:r>
          </a:p>
        </p:txBody>
      </p:sp>
      <p:sp>
        <p:nvSpPr>
          <p:cNvPr id="56" name="Google Shape;845;p89">
            <a:extLst>
              <a:ext uri="{FF2B5EF4-FFF2-40B4-BE49-F238E27FC236}">
                <a16:creationId xmlns:a16="http://schemas.microsoft.com/office/drawing/2014/main" id="{65FF7172-ADC9-377E-11CD-081E4A852E63}"/>
              </a:ext>
            </a:extLst>
          </p:cNvPr>
          <p:cNvSpPr txBox="1"/>
          <p:nvPr/>
        </p:nvSpPr>
        <p:spPr>
          <a:xfrm>
            <a:off x="1171007" y="4036750"/>
            <a:ext cx="1806774" cy="861774"/>
          </a:xfrm>
          <a:prstGeom prst="rect">
            <a:avLst/>
          </a:prstGeom>
          <a:noFill/>
          <a:ln>
            <a:noFill/>
          </a:ln>
        </p:spPr>
        <p:txBody>
          <a:bodyPr spcFirstLastPara="1" wrap="square" lIns="0" tIns="0" rIns="0" bIns="0" anchor="t" anchorCtr="0">
            <a:spAutoFit/>
          </a:bodyPr>
          <a:lstStyle/>
          <a:p>
            <a:pPr>
              <a:buNone/>
            </a:pPr>
            <a:r>
              <a:rPr lang="en-US" sz="1400" b="1" dirty="0"/>
              <a:t>Build an Insights-Driven, Integrated Solutions GTM Model</a:t>
            </a:r>
          </a:p>
        </p:txBody>
      </p:sp>
      <p:sp>
        <p:nvSpPr>
          <p:cNvPr id="57" name="Google Shape;846;p89">
            <a:extLst>
              <a:ext uri="{FF2B5EF4-FFF2-40B4-BE49-F238E27FC236}">
                <a16:creationId xmlns:a16="http://schemas.microsoft.com/office/drawing/2014/main" id="{6364D063-BB1E-4FAB-95A9-A0F1B8F1F4E9}"/>
              </a:ext>
            </a:extLst>
          </p:cNvPr>
          <p:cNvSpPr txBox="1"/>
          <p:nvPr/>
        </p:nvSpPr>
        <p:spPr>
          <a:xfrm>
            <a:off x="3133911" y="4142112"/>
            <a:ext cx="4105200" cy="692497"/>
          </a:xfrm>
          <a:prstGeom prst="rect">
            <a:avLst/>
          </a:prstGeom>
          <a:noFill/>
          <a:ln>
            <a:noFill/>
          </a:ln>
        </p:spPr>
        <p:txBody>
          <a:bodyPr spcFirstLastPara="1" wrap="square" lIns="0" tIns="0" rIns="0" bIns="0" anchor="t" anchorCtr="0">
            <a:spAutoFit/>
          </a:bodyPr>
          <a:lstStyle/>
          <a:p>
            <a:pPr defTabSz="1219170">
              <a:buClr>
                <a:srgbClr val="000000"/>
              </a:buClr>
              <a:buSzPts val="900"/>
            </a:pPr>
            <a:r>
              <a:rPr lang="en-US" sz="1200" b="1" kern="0" dirty="0">
                <a:solidFill>
                  <a:srgbClr val="FFFFFF"/>
                </a:solidFill>
                <a:highlight>
                  <a:srgbClr val="E0301E"/>
                </a:highlight>
                <a:ea typeface="Helvetica Neue"/>
                <a:cs typeface="Helvetica Neue"/>
                <a:sym typeface="Helvetica Neue"/>
              </a:rPr>
              <a:t>Integrated Portfolio Selling</a:t>
            </a:r>
            <a:endParaRPr sz="1200" b="1" kern="0" dirty="0">
              <a:solidFill>
                <a:srgbClr val="FFFFFF"/>
              </a:solidFill>
              <a:highlight>
                <a:srgbClr val="D93954"/>
              </a:highlight>
              <a:ea typeface="Helvetica Neue"/>
              <a:cs typeface="Helvetica Neue"/>
              <a:sym typeface="Helvetica Neue"/>
            </a:endParaRPr>
          </a:p>
          <a:p>
            <a:pPr>
              <a:buNone/>
            </a:pPr>
            <a:r>
              <a:rPr lang="en-US" sz="1100" dirty="0"/>
              <a:t>Our GTM engine must shift from product selling to </a:t>
            </a:r>
            <a:r>
              <a:rPr lang="en-US" sz="1100" b="1" dirty="0"/>
              <a:t>customer outcomes, lifecycle value, and proactive integrated engagement</a:t>
            </a:r>
            <a:r>
              <a:rPr lang="en-US" sz="1100" dirty="0"/>
              <a:t> powered by unified data and analytics.</a:t>
            </a:r>
          </a:p>
        </p:txBody>
      </p:sp>
      <p:sp>
        <p:nvSpPr>
          <p:cNvPr id="58" name="Google Shape;847;p89">
            <a:extLst>
              <a:ext uri="{FF2B5EF4-FFF2-40B4-BE49-F238E27FC236}">
                <a16:creationId xmlns:a16="http://schemas.microsoft.com/office/drawing/2014/main" id="{6DC6E25E-2E12-BAC3-EDDD-659B4823ABAB}"/>
              </a:ext>
            </a:extLst>
          </p:cNvPr>
          <p:cNvSpPr txBox="1"/>
          <p:nvPr/>
        </p:nvSpPr>
        <p:spPr>
          <a:xfrm>
            <a:off x="7901910" y="4142115"/>
            <a:ext cx="3676000" cy="841321"/>
          </a:xfrm>
          <a:prstGeom prst="rect">
            <a:avLst/>
          </a:prstGeom>
          <a:noFill/>
          <a:ln>
            <a:noFill/>
          </a:ln>
        </p:spPr>
        <p:txBody>
          <a:bodyPr spcFirstLastPara="1" wrap="square" lIns="0" tIns="0" rIns="0" bIns="0" anchor="t" anchorCtr="0">
            <a:spAutoFit/>
          </a:bodyPr>
          <a:lstStyle/>
          <a:p>
            <a:pPr marL="171450" indent="-171450" defTabSz="1219170">
              <a:buClr>
                <a:schemeClr val="bg1"/>
              </a:buClr>
              <a:buSzPts val="900"/>
              <a:buFont typeface="Arial" panose="020B0604020202020204" pitchFamily="34" charset="0"/>
              <a:buChar char="•"/>
            </a:pPr>
            <a:r>
              <a:rPr lang="en-US" sz="1100" kern="0" dirty="0">
                <a:solidFill>
                  <a:srgbClr val="FFFFFF"/>
                </a:solidFill>
                <a:ea typeface="Helvetica Neue"/>
                <a:cs typeface="Helvetica Neue"/>
                <a:sym typeface="Helvetica Neue"/>
              </a:rPr>
              <a:t>Data-driven customer segmentation and tiering.</a:t>
            </a:r>
          </a:p>
          <a:p>
            <a:pPr marL="171450" indent="-171450" defTabSz="1219170">
              <a:buClr>
                <a:schemeClr val="bg1"/>
              </a:buClr>
              <a:buSzPts val="900"/>
              <a:buFont typeface="Arial" panose="020B0604020202020204" pitchFamily="34" charset="0"/>
              <a:buChar char="•"/>
            </a:pPr>
            <a:r>
              <a:rPr lang="en-US" sz="1100" kern="0" dirty="0">
                <a:solidFill>
                  <a:srgbClr val="FFFFFF"/>
                </a:solidFill>
                <a:ea typeface="Helvetica Neue"/>
                <a:cs typeface="Helvetica Neue"/>
                <a:sym typeface="Helvetica Neue"/>
              </a:rPr>
              <a:t>Value-based pricing and commercial decision-making.</a:t>
            </a:r>
          </a:p>
          <a:p>
            <a:pPr marL="171450" indent="-171450" defTabSz="1219170">
              <a:buClr>
                <a:schemeClr val="bg1"/>
              </a:buClr>
              <a:buSzPts val="900"/>
              <a:buFont typeface="Arial" panose="020B0604020202020204" pitchFamily="34" charset="0"/>
              <a:buChar char="•"/>
            </a:pPr>
            <a:r>
              <a:rPr lang="en-US" sz="1100" kern="0" dirty="0">
                <a:solidFill>
                  <a:srgbClr val="FFFFFF"/>
                </a:solidFill>
                <a:ea typeface="Helvetica Neue"/>
                <a:cs typeface="Helvetica Neue"/>
                <a:sym typeface="Helvetica Neue"/>
              </a:rPr>
              <a:t>End-to-end account management that prioritizes solutions and partnerships over transactions.</a:t>
            </a:r>
          </a:p>
          <a:p>
            <a:pPr defTabSz="1219170">
              <a:buClr>
                <a:srgbClr val="000000"/>
              </a:buClr>
              <a:buSzPts val="900"/>
            </a:pPr>
            <a:endParaRPr sz="1067" b="1" kern="0" dirty="0">
              <a:solidFill>
                <a:srgbClr val="FFFFFF"/>
              </a:solidFill>
              <a:ea typeface="Helvetica Neue"/>
              <a:cs typeface="Helvetica Neue"/>
              <a:sym typeface="Helvetica Neue"/>
            </a:endParaRPr>
          </a:p>
        </p:txBody>
      </p:sp>
      <p:sp>
        <p:nvSpPr>
          <p:cNvPr id="59" name="Google Shape;848;p89">
            <a:extLst>
              <a:ext uri="{FF2B5EF4-FFF2-40B4-BE49-F238E27FC236}">
                <a16:creationId xmlns:a16="http://schemas.microsoft.com/office/drawing/2014/main" id="{71C129D0-FF36-A576-362F-337774304C90}"/>
              </a:ext>
            </a:extLst>
          </p:cNvPr>
          <p:cNvSpPr txBox="1"/>
          <p:nvPr/>
        </p:nvSpPr>
        <p:spPr>
          <a:xfrm>
            <a:off x="1194622" y="5380863"/>
            <a:ext cx="1854000" cy="646331"/>
          </a:xfrm>
          <a:prstGeom prst="rect">
            <a:avLst/>
          </a:prstGeom>
          <a:noFill/>
          <a:ln>
            <a:noFill/>
          </a:ln>
        </p:spPr>
        <p:txBody>
          <a:bodyPr spcFirstLastPara="1" wrap="square" lIns="0" tIns="0" rIns="0" bIns="0" anchor="t" anchorCtr="0">
            <a:spAutoFit/>
          </a:bodyPr>
          <a:lstStyle/>
          <a:p>
            <a:pPr>
              <a:buNone/>
            </a:pPr>
            <a:r>
              <a:rPr lang="en-US" sz="1400" b="1" dirty="0"/>
              <a:t>Enable High-Performance Behaviors</a:t>
            </a:r>
          </a:p>
        </p:txBody>
      </p:sp>
      <p:sp>
        <p:nvSpPr>
          <p:cNvPr id="60" name="Google Shape;849;p89">
            <a:extLst>
              <a:ext uri="{FF2B5EF4-FFF2-40B4-BE49-F238E27FC236}">
                <a16:creationId xmlns:a16="http://schemas.microsoft.com/office/drawing/2014/main" id="{B3195A5D-9B1D-65F1-6832-28CC7806D6AE}"/>
              </a:ext>
            </a:extLst>
          </p:cNvPr>
          <p:cNvSpPr txBox="1"/>
          <p:nvPr/>
        </p:nvSpPr>
        <p:spPr>
          <a:xfrm>
            <a:off x="3133894" y="5439497"/>
            <a:ext cx="3914400" cy="692497"/>
          </a:xfrm>
          <a:prstGeom prst="rect">
            <a:avLst/>
          </a:prstGeom>
          <a:noFill/>
          <a:ln>
            <a:noFill/>
          </a:ln>
        </p:spPr>
        <p:txBody>
          <a:bodyPr spcFirstLastPara="1" wrap="square" lIns="0" tIns="0" rIns="0" bIns="0" anchor="t" anchorCtr="0">
            <a:spAutoFit/>
          </a:bodyPr>
          <a:lstStyle/>
          <a:p>
            <a:pPr defTabSz="1219170">
              <a:buClr>
                <a:srgbClr val="000000"/>
              </a:buClr>
              <a:buSzPts val="900"/>
            </a:pPr>
            <a:r>
              <a:rPr lang="en-US" sz="1200" b="1" kern="0" dirty="0">
                <a:solidFill>
                  <a:srgbClr val="FFFFFF"/>
                </a:solidFill>
                <a:highlight>
                  <a:srgbClr val="E0301E"/>
                </a:highlight>
                <a:ea typeface="Helvetica Neue"/>
                <a:cs typeface="Helvetica Neue"/>
                <a:sym typeface="Helvetica Neue"/>
              </a:rPr>
              <a:t>Solution Selling &amp; Partnerships</a:t>
            </a:r>
            <a:endParaRPr sz="1200" b="1" kern="0" dirty="0">
              <a:solidFill>
                <a:srgbClr val="000000"/>
              </a:solidFill>
              <a:ea typeface="Helvetica Neue"/>
              <a:cs typeface="Helvetica Neue"/>
              <a:sym typeface="Helvetica Neue"/>
            </a:endParaRPr>
          </a:p>
          <a:p>
            <a:pPr>
              <a:buNone/>
            </a:pPr>
            <a:r>
              <a:rPr lang="en-US" sz="1100" dirty="0"/>
              <a:t>We design the operating model, incentives, and roles to </a:t>
            </a:r>
            <a:r>
              <a:rPr lang="en-US" sz="1100" b="1" dirty="0"/>
              <a:t>reinforce the behaviors needed </a:t>
            </a:r>
            <a:r>
              <a:rPr lang="en-US" sz="1100" dirty="0"/>
              <a:t>for integrated solution selling and enterprise growth.</a:t>
            </a:r>
          </a:p>
        </p:txBody>
      </p:sp>
      <p:sp>
        <p:nvSpPr>
          <p:cNvPr id="61" name="Google Shape;850;p89">
            <a:extLst>
              <a:ext uri="{FF2B5EF4-FFF2-40B4-BE49-F238E27FC236}">
                <a16:creationId xmlns:a16="http://schemas.microsoft.com/office/drawing/2014/main" id="{BB91D26E-C7A7-886D-A34E-E074F5DD79B1}"/>
              </a:ext>
            </a:extLst>
          </p:cNvPr>
          <p:cNvSpPr txBox="1"/>
          <p:nvPr/>
        </p:nvSpPr>
        <p:spPr>
          <a:xfrm>
            <a:off x="7901277" y="5317503"/>
            <a:ext cx="3676000" cy="1010598"/>
          </a:xfrm>
          <a:prstGeom prst="rect">
            <a:avLst/>
          </a:prstGeom>
          <a:noFill/>
          <a:ln>
            <a:noFill/>
          </a:ln>
        </p:spPr>
        <p:txBody>
          <a:bodyPr spcFirstLastPara="1" wrap="square" lIns="0" tIns="0" rIns="0" bIns="0" anchor="t" anchorCtr="0">
            <a:spAutoFit/>
          </a:bodyPr>
          <a:lstStyle/>
          <a:p>
            <a:pPr marL="171450" indent="-171450" defTabSz="1219170">
              <a:buClr>
                <a:schemeClr val="bg1"/>
              </a:buClr>
              <a:buSzPts val="900"/>
              <a:buFont typeface="Arial" panose="020B0604020202020204" pitchFamily="34" charset="0"/>
              <a:buChar char="•"/>
            </a:pPr>
            <a:r>
              <a:rPr lang="en-US" sz="1100" kern="0" dirty="0">
                <a:solidFill>
                  <a:srgbClr val="FFFFFF"/>
                </a:solidFill>
                <a:ea typeface="Helvetica Neue"/>
                <a:cs typeface="Helvetica Neue"/>
                <a:sym typeface="Helvetica Neue"/>
              </a:rPr>
              <a:t>Clear ownership across sales, channel, service, and delivery teams.</a:t>
            </a:r>
          </a:p>
          <a:p>
            <a:pPr marL="171450" indent="-171450" defTabSz="1219170">
              <a:buClr>
                <a:schemeClr val="bg1"/>
              </a:buClr>
              <a:buSzPts val="900"/>
              <a:buFont typeface="Arial" panose="020B0604020202020204" pitchFamily="34" charset="0"/>
              <a:buChar char="•"/>
            </a:pPr>
            <a:r>
              <a:rPr lang="en-US" sz="1100" kern="0" dirty="0">
                <a:solidFill>
                  <a:srgbClr val="FFFFFF"/>
                </a:solidFill>
                <a:ea typeface="Helvetica Neue"/>
                <a:cs typeface="Helvetica Neue"/>
                <a:sym typeface="Helvetica Neue"/>
              </a:rPr>
              <a:t>Incentives that reward enterprise-wide outcomes (pull-through mindset).</a:t>
            </a:r>
          </a:p>
          <a:p>
            <a:pPr marL="171450" indent="-171450" defTabSz="1219170">
              <a:buClr>
                <a:schemeClr val="bg1"/>
              </a:buClr>
              <a:buSzPts val="900"/>
              <a:buFont typeface="Arial" panose="020B0604020202020204" pitchFamily="34" charset="0"/>
              <a:buChar char="•"/>
            </a:pPr>
            <a:r>
              <a:rPr lang="en-US" sz="1100" kern="0" dirty="0">
                <a:solidFill>
                  <a:srgbClr val="FFFFFF"/>
                </a:solidFill>
                <a:ea typeface="Helvetica Neue"/>
                <a:cs typeface="Helvetica Neue"/>
                <a:sym typeface="Helvetica Neue"/>
              </a:rPr>
              <a:t>Cross-SBG collaboration, not internal competition.</a:t>
            </a:r>
          </a:p>
          <a:p>
            <a:pPr defTabSz="1219170">
              <a:buClr>
                <a:srgbClr val="000000"/>
              </a:buClr>
              <a:buSzPts val="900"/>
            </a:pPr>
            <a:endParaRPr sz="1067" kern="0" dirty="0">
              <a:solidFill>
                <a:srgbClr val="FFFFFF"/>
              </a:solidFill>
              <a:ea typeface="Helvetica Neue"/>
              <a:cs typeface="Helvetica Neue"/>
              <a:sym typeface="Helvetica Neue"/>
            </a:endParaRPr>
          </a:p>
        </p:txBody>
      </p:sp>
      <p:grpSp>
        <p:nvGrpSpPr>
          <p:cNvPr id="62" name="Google Shape;853;p89">
            <a:extLst>
              <a:ext uri="{FF2B5EF4-FFF2-40B4-BE49-F238E27FC236}">
                <a16:creationId xmlns:a16="http://schemas.microsoft.com/office/drawing/2014/main" id="{19099BD3-ECC1-4B61-97DB-7506CC846C2F}"/>
              </a:ext>
            </a:extLst>
          </p:cNvPr>
          <p:cNvGrpSpPr/>
          <p:nvPr/>
        </p:nvGrpSpPr>
        <p:grpSpPr>
          <a:xfrm>
            <a:off x="7326277" y="1759779"/>
            <a:ext cx="369600" cy="369600"/>
            <a:chOff x="5396600" y="1095650"/>
            <a:chExt cx="277200" cy="277200"/>
          </a:xfrm>
        </p:grpSpPr>
        <p:sp>
          <p:nvSpPr>
            <p:cNvPr id="63" name="Google Shape;854;p89">
              <a:extLst>
                <a:ext uri="{FF2B5EF4-FFF2-40B4-BE49-F238E27FC236}">
                  <a16:creationId xmlns:a16="http://schemas.microsoft.com/office/drawing/2014/main" id="{D0CDDC42-C44F-77E8-A960-36672CA1EBFC}"/>
                </a:ext>
              </a:extLst>
            </p:cNvPr>
            <p:cNvSpPr/>
            <p:nvPr/>
          </p:nvSpPr>
          <p:spPr>
            <a:xfrm>
              <a:off x="5396600" y="1095650"/>
              <a:ext cx="277200" cy="277200"/>
            </a:xfrm>
            <a:prstGeom prst="ellipse">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pic>
          <p:nvPicPr>
            <p:cNvPr id="64" name="Google Shape;855;p89">
              <a:extLst>
                <a:ext uri="{FF2B5EF4-FFF2-40B4-BE49-F238E27FC236}">
                  <a16:creationId xmlns:a16="http://schemas.microsoft.com/office/drawing/2014/main" id="{037CE0DF-ADFE-7C7C-57F5-98DE6626CBBA}"/>
                </a:ext>
              </a:extLst>
            </p:cNvPr>
            <p:cNvPicPr preferRelativeResize="0"/>
            <p:nvPr/>
          </p:nvPicPr>
          <p:blipFill rotWithShape="1">
            <a:blip r:embed="rId3">
              <a:alphaModFix/>
            </a:blip>
            <a:srcRect/>
            <a:stretch/>
          </p:blipFill>
          <p:spPr>
            <a:xfrm rot="5400000">
              <a:off x="5490175" y="1194675"/>
              <a:ext cx="90050" cy="79150"/>
            </a:xfrm>
            <a:prstGeom prst="rect">
              <a:avLst/>
            </a:prstGeom>
            <a:noFill/>
            <a:ln w="9525" cap="flat" cmpd="sng">
              <a:solidFill>
                <a:schemeClr val="lt1"/>
              </a:solidFill>
              <a:prstDash val="solid"/>
              <a:round/>
              <a:headEnd type="none" w="sm" len="sm"/>
              <a:tailEnd type="none" w="sm" len="sm"/>
            </a:ln>
          </p:spPr>
        </p:pic>
      </p:grpSp>
      <p:grpSp>
        <p:nvGrpSpPr>
          <p:cNvPr id="65" name="Google Shape;856;p89">
            <a:extLst>
              <a:ext uri="{FF2B5EF4-FFF2-40B4-BE49-F238E27FC236}">
                <a16:creationId xmlns:a16="http://schemas.microsoft.com/office/drawing/2014/main" id="{9710F837-6CFC-3C1D-8C78-0B3A561791B9}"/>
              </a:ext>
            </a:extLst>
          </p:cNvPr>
          <p:cNvGrpSpPr/>
          <p:nvPr/>
        </p:nvGrpSpPr>
        <p:grpSpPr>
          <a:xfrm>
            <a:off x="7326277" y="2992196"/>
            <a:ext cx="369600" cy="369600"/>
            <a:chOff x="5396600" y="1095650"/>
            <a:chExt cx="277200" cy="277200"/>
          </a:xfrm>
        </p:grpSpPr>
        <p:sp>
          <p:nvSpPr>
            <p:cNvPr id="66" name="Google Shape;857;p89">
              <a:extLst>
                <a:ext uri="{FF2B5EF4-FFF2-40B4-BE49-F238E27FC236}">
                  <a16:creationId xmlns:a16="http://schemas.microsoft.com/office/drawing/2014/main" id="{B965827F-07F1-B7B1-EDA8-EFD13FCE2FBF}"/>
                </a:ext>
              </a:extLst>
            </p:cNvPr>
            <p:cNvSpPr/>
            <p:nvPr/>
          </p:nvSpPr>
          <p:spPr>
            <a:xfrm>
              <a:off x="5396600" y="1095650"/>
              <a:ext cx="277200" cy="277200"/>
            </a:xfrm>
            <a:prstGeom prst="ellipse">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pic>
          <p:nvPicPr>
            <p:cNvPr id="67" name="Google Shape;858;p89">
              <a:extLst>
                <a:ext uri="{FF2B5EF4-FFF2-40B4-BE49-F238E27FC236}">
                  <a16:creationId xmlns:a16="http://schemas.microsoft.com/office/drawing/2014/main" id="{E634E6CC-ED10-4E97-A034-DE2602300CC4}"/>
                </a:ext>
              </a:extLst>
            </p:cNvPr>
            <p:cNvPicPr preferRelativeResize="0"/>
            <p:nvPr/>
          </p:nvPicPr>
          <p:blipFill rotWithShape="1">
            <a:blip r:embed="rId3">
              <a:alphaModFix/>
            </a:blip>
            <a:srcRect/>
            <a:stretch/>
          </p:blipFill>
          <p:spPr>
            <a:xfrm rot="5400000">
              <a:off x="5490175" y="1194675"/>
              <a:ext cx="90050" cy="79150"/>
            </a:xfrm>
            <a:prstGeom prst="rect">
              <a:avLst/>
            </a:prstGeom>
            <a:noFill/>
            <a:ln w="9525" cap="flat" cmpd="sng">
              <a:solidFill>
                <a:schemeClr val="lt1"/>
              </a:solidFill>
              <a:prstDash val="solid"/>
              <a:round/>
              <a:headEnd type="none" w="sm" len="sm"/>
              <a:tailEnd type="none" w="sm" len="sm"/>
            </a:ln>
          </p:spPr>
        </p:pic>
      </p:grpSp>
      <p:grpSp>
        <p:nvGrpSpPr>
          <p:cNvPr id="68" name="Google Shape;859;p89">
            <a:extLst>
              <a:ext uri="{FF2B5EF4-FFF2-40B4-BE49-F238E27FC236}">
                <a16:creationId xmlns:a16="http://schemas.microsoft.com/office/drawing/2014/main" id="{D0CFAD7A-005F-ABDC-7DE5-687588366F8F}"/>
              </a:ext>
            </a:extLst>
          </p:cNvPr>
          <p:cNvGrpSpPr/>
          <p:nvPr/>
        </p:nvGrpSpPr>
        <p:grpSpPr>
          <a:xfrm>
            <a:off x="7326277" y="4284096"/>
            <a:ext cx="369600" cy="369600"/>
            <a:chOff x="5396600" y="1095650"/>
            <a:chExt cx="277200" cy="277200"/>
          </a:xfrm>
        </p:grpSpPr>
        <p:sp>
          <p:nvSpPr>
            <p:cNvPr id="69" name="Google Shape;860;p89">
              <a:extLst>
                <a:ext uri="{FF2B5EF4-FFF2-40B4-BE49-F238E27FC236}">
                  <a16:creationId xmlns:a16="http://schemas.microsoft.com/office/drawing/2014/main" id="{C66D9567-8C61-EB56-99E5-11E6509416B1}"/>
                </a:ext>
              </a:extLst>
            </p:cNvPr>
            <p:cNvSpPr/>
            <p:nvPr/>
          </p:nvSpPr>
          <p:spPr>
            <a:xfrm>
              <a:off x="5396600" y="1095650"/>
              <a:ext cx="277200" cy="277200"/>
            </a:xfrm>
            <a:prstGeom prst="ellipse">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pic>
          <p:nvPicPr>
            <p:cNvPr id="70" name="Google Shape;861;p89">
              <a:extLst>
                <a:ext uri="{FF2B5EF4-FFF2-40B4-BE49-F238E27FC236}">
                  <a16:creationId xmlns:a16="http://schemas.microsoft.com/office/drawing/2014/main" id="{84D9DBCE-AB94-A37B-CAE4-BFEC92C8EEA6}"/>
                </a:ext>
              </a:extLst>
            </p:cNvPr>
            <p:cNvPicPr preferRelativeResize="0"/>
            <p:nvPr/>
          </p:nvPicPr>
          <p:blipFill rotWithShape="1">
            <a:blip r:embed="rId3">
              <a:alphaModFix/>
            </a:blip>
            <a:srcRect/>
            <a:stretch/>
          </p:blipFill>
          <p:spPr>
            <a:xfrm rot="5400000">
              <a:off x="5490175" y="1194675"/>
              <a:ext cx="90050" cy="79150"/>
            </a:xfrm>
            <a:prstGeom prst="rect">
              <a:avLst/>
            </a:prstGeom>
            <a:noFill/>
            <a:ln w="9525" cap="flat" cmpd="sng">
              <a:solidFill>
                <a:schemeClr val="lt1"/>
              </a:solidFill>
              <a:prstDash val="solid"/>
              <a:round/>
              <a:headEnd type="none" w="sm" len="sm"/>
              <a:tailEnd type="none" w="sm" len="sm"/>
            </a:ln>
          </p:spPr>
        </p:pic>
      </p:grpSp>
      <p:grpSp>
        <p:nvGrpSpPr>
          <p:cNvPr id="71" name="Google Shape;862;p89">
            <a:extLst>
              <a:ext uri="{FF2B5EF4-FFF2-40B4-BE49-F238E27FC236}">
                <a16:creationId xmlns:a16="http://schemas.microsoft.com/office/drawing/2014/main" id="{7D8F007E-F370-9DF0-B7F4-47567646992C}"/>
              </a:ext>
            </a:extLst>
          </p:cNvPr>
          <p:cNvGrpSpPr/>
          <p:nvPr/>
        </p:nvGrpSpPr>
        <p:grpSpPr>
          <a:xfrm>
            <a:off x="7326277" y="5579263"/>
            <a:ext cx="369600" cy="369600"/>
            <a:chOff x="5396600" y="1095650"/>
            <a:chExt cx="277200" cy="277200"/>
          </a:xfrm>
        </p:grpSpPr>
        <p:sp>
          <p:nvSpPr>
            <p:cNvPr id="72" name="Google Shape;863;p89">
              <a:extLst>
                <a:ext uri="{FF2B5EF4-FFF2-40B4-BE49-F238E27FC236}">
                  <a16:creationId xmlns:a16="http://schemas.microsoft.com/office/drawing/2014/main" id="{DDA7647A-F39D-F23F-9BA8-30DF3830BF10}"/>
                </a:ext>
              </a:extLst>
            </p:cNvPr>
            <p:cNvSpPr/>
            <p:nvPr/>
          </p:nvSpPr>
          <p:spPr>
            <a:xfrm>
              <a:off x="5396600" y="1095650"/>
              <a:ext cx="277200" cy="277200"/>
            </a:xfrm>
            <a:prstGeom prst="ellipse">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pic>
          <p:nvPicPr>
            <p:cNvPr id="73" name="Google Shape;864;p89">
              <a:extLst>
                <a:ext uri="{FF2B5EF4-FFF2-40B4-BE49-F238E27FC236}">
                  <a16:creationId xmlns:a16="http://schemas.microsoft.com/office/drawing/2014/main" id="{22D5F041-59AB-7565-B8DB-A4B427CA8E90}"/>
                </a:ext>
              </a:extLst>
            </p:cNvPr>
            <p:cNvPicPr preferRelativeResize="0"/>
            <p:nvPr/>
          </p:nvPicPr>
          <p:blipFill rotWithShape="1">
            <a:blip r:embed="rId3">
              <a:alphaModFix/>
            </a:blip>
            <a:srcRect/>
            <a:stretch/>
          </p:blipFill>
          <p:spPr>
            <a:xfrm rot="5400000">
              <a:off x="5490175" y="1194675"/>
              <a:ext cx="90050" cy="79150"/>
            </a:xfrm>
            <a:prstGeom prst="rect">
              <a:avLst/>
            </a:prstGeom>
            <a:noFill/>
            <a:ln w="9525" cap="flat" cmpd="sng">
              <a:solidFill>
                <a:schemeClr val="lt1"/>
              </a:solidFill>
              <a:prstDash val="solid"/>
              <a:round/>
              <a:headEnd type="none" w="sm" len="sm"/>
              <a:tailEnd type="none" w="sm" len="sm"/>
            </a:ln>
          </p:spPr>
        </p:pic>
      </p:grpSp>
      <p:grpSp>
        <p:nvGrpSpPr>
          <p:cNvPr id="74" name="Google Shape;2376;p59">
            <a:extLst>
              <a:ext uri="{FF2B5EF4-FFF2-40B4-BE49-F238E27FC236}">
                <a16:creationId xmlns:a16="http://schemas.microsoft.com/office/drawing/2014/main" id="{AD639010-C0B4-853D-8B99-28FA88562CAB}"/>
              </a:ext>
            </a:extLst>
          </p:cNvPr>
          <p:cNvGrpSpPr/>
          <p:nvPr/>
        </p:nvGrpSpPr>
        <p:grpSpPr>
          <a:xfrm>
            <a:off x="536067" y="1620341"/>
            <a:ext cx="519628" cy="519801"/>
            <a:chOff x="2753539" y="2736287"/>
            <a:chExt cx="422275" cy="422275"/>
          </a:xfrm>
          <a:solidFill>
            <a:schemeClr val="bg2"/>
          </a:solidFill>
        </p:grpSpPr>
        <p:sp>
          <p:nvSpPr>
            <p:cNvPr id="75" name="Google Shape;2377;p59">
              <a:extLst>
                <a:ext uri="{FF2B5EF4-FFF2-40B4-BE49-F238E27FC236}">
                  <a16:creationId xmlns:a16="http://schemas.microsoft.com/office/drawing/2014/main" id="{4A4E6C73-671E-EEA9-AE04-7951E6BA4B5C}"/>
                </a:ext>
              </a:extLst>
            </p:cNvPr>
            <p:cNvSpPr/>
            <p:nvPr/>
          </p:nvSpPr>
          <p:spPr>
            <a:xfrm>
              <a:off x="2753539" y="2736287"/>
              <a:ext cx="422275" cy="422275"/>
            </a:xfrm>
            <a:custGeom>
              <a:avLst/>
              <a:gdLst/>
              <a:ahLst/>
              <a:cxnLst/>
              <a:rect l="l" t="t" r="r" b="b"/>
              <a:pathLst>
                <a:path w="266" h="266" extrusionOk="0">
                  <a:moveTo>
                    <a:pt x="0" y="0"/>
                  </a:moveTo>
                  <a:lnTo>
                    <a:pt x="0" y="266"/>
                  </a:lnTo>
                  <a:lnTo>
                    <a:pt x="266" y="266"/>
                  </a:lnTo>
                  <a:lnTo>
                    <a:pt x="266" y="0"/>
                  </a:lnTo>
                  <a:lnTo>
                    <a:pt x="0" y="0"/>
                  </a:lnTo>
                  <a:close/>
                  <a:moveTo>
                    <a:pt x="255" y="254"/>
                  </a:moveTo>
                  <a:lnTo>
                    <a:pt x="11" y="254"/>
                  </a:lnTo>
                  <a:lnTo>
                    <a:pt x="11" y="11"/>
                  </a:lnTo>
                  <a:lnTo>
                    <a:pt x="255" y="11"/>
                  </a:lnTo>
                  <a:lnTo>
                    <a:pt x="255" y="254"/>
                  </a:lnTo>
                  <a:close/>
                </a:path>
              </a:pathLst>
            </a:custGeom>
            <a:grpFill/>
            <a:ln>
              <a:solidFill>
                <a:schemeClr val="bg2"/>
              </a:solid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dirty="0">
                <a:solidFill>
                  <a:srgbClr val="000000"/>
                </a:solidFill>
                <a:latin typeface="Arial"/>
                <a:ea typeface="Arial"/>
                <a:cs typeface="Arial"/>
                <a:sym typeface="Arial"/>
              </a:endParaRPr>
            </a:p>
          </p:txBody>
        </p:sp>
        <p:sp>
          <p:nvSpPr>
            <p:cNvPr id="76" name="Google Shape;2378;p59">
              <a:extLst>
                <a:ext uri="{FF2B5EF4-FFF2-40B4-BE49-F238E27FC236}">
                  <a16:creationId xmlns:a16="http://schemas.microsoft.com/office/drawing/2014/main" id="{692DEF4C-C975-4CF9-D6E1-2D95E67F7C34}"/>
                </a:ext>
              </a:extLst>
            </p:cNvPr>
            <p:cNvSpPr/>
            <p:nvPr/>
          </p:nvSpPr>
          <p:spPr>
            <a:xfrm>
              <a:off x="2812277" y="2769624"/>
              <a:ext cx="182563" cy="314325"/>
            </a:xfrm>
            <a:custGeom>
              <a:avLst/>
              <a:gdLst/>
              <a:ahLst/>
              <a:cxnLst/>
              <a:rect l="l" t="t" r="r" b="b"/>
              <a:pathLst>
                <a:path w="83" h="143" extrusionOk="0">
                  <a:moveTo>
                    <a:pt x="9" y="81"/>
                  </a:moveTo>
                  <a:cubicBezTo>
                    <a:pt x="9" y="48"/>
                    <a:pt x="34" y="21"/>
                    <a:pt x="67" y="20"/>
                  </a:cubicBezTo>
                  <a:cubicBezTo>
                    <a:pt x="61" y="26"/>
                    <a:pt x="61" y="26"/>
                    <a:pt x="61" y="26"/>
                  </a:cubicBezTo>
                  <a:cubicBezTo>
                    <a:pt x="67" y="32"/>
                    <a:pt x="67" y="32"/>
                    <a:pt x="67" y="32"/>
                  </a:cubicBezTo>
                  <a:cubicBezTo>
                    <a:pt x="83" y="16"/>
                    <a:pt x="83" y="16"/>
                    <a:pt x="83" y="16"/>
                  </a:cubicBezTo>
                  <a:cubicBezTo>
                    <a:pt x="67" y="0"/>
                    <a:pt x="67" y="0"/>
                    <a:pt x="67" y="0"/>
                  </a:cubicBezTo>
                  <a:cubicBezTo>
                    <a:pt x="61" y="6"/>
                    <a:pt x="61" y="6"/>
                    <a:pt x="61" y="6"/>
                  </a:cubicBezTo>
                  <a:cubicBezTo>
                    <a:pt x="66" y="11"/>
                    <a:pt x="66" y="11"/>
                    <a:pt x="66" y="11"/>
                  </a:cubicBezTo>
                  <a:cubicBezTo>
                    <a:pt x="29" y="13"/>
                    <a:pt x="0" y="43"/>
                    <a:pt x="0" y="81"/>
                  </a:cubicBezTo>
                  <a:cubicBezTo>
                    <a:pt x="0" y="108"/>
                    <a:pt x="16" y="132"/>
                    <a:pt x="39" y="143"/>
                  </a:cubicBezTo>
                  <a:cubicBezTo>
                    <a:pt x="41" y="134"/>
                    <a:pt x="41" y="134"/>
                    <a:pt x="41" y="134"/>
                  </a:cubicBezTo>
                  <a:cubicBezTo>
                    <a:pt x="22" y="124"/>
                    <a:pt x="9" y="104"/>
                    <a:pt x="9" y="81"/>
                  </a:cubicBezTo>
                  <a:close/>
                </a:path>
              </a:pathLst>
            </a:custGeom>
            <a:grpFill/>
            <a:ln>
              <a:solidFill>
                <a:schemeClr val="bg2"/>
              </a:solid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sp>
          <p:nvSpPr>
            <p:cNvPr id="77" name="Google Shape;2379;p59">
              <a:extLst>
                <a:ext uri="{FF2B5EF4-FFF2-40B4-BE49-F238E27FC236}">
                  <a16:creationId xmlns:a16="http://schemas.microsoft.com/office/drawing/2014/main" id="{2724E668-0387-2593-06DD-033313959C3F}"/>
                </a:ext>
              </a:extLst>
            </p:cNvPr>
            <p:cNvSpPr/>
            <p:nvPr/>
          </p:nvSpPr>
          <p:spPr>
            <a:xfrm>
              <a:off x="2931339" y="2807724"/>
              <a:ext cx="187325" cy="315913"/>
            </a:xfrm>
            <a:custGeom>
              <a:avLst/>
              <a:gdLst/>
              <a:ahLst/>
              <a:cxnLst/>
              <a:rect l="l" t="t" r="r" b="b"/>
              <a:pathLst>
                <a:path w="85" h="144" extrusionOk="0">
                  <a:moveTo>
                    <a:pt x="85" y="64"/>
                  </a:moveTo>
                  <a:cubicBezTo>
                    <a:pt x="85" y="35"/>
                    <a:pt x="67" y="10"/>
                    <a:pt x="43" y="0"/>
                  </a:cubicBezTo>
                  <a:cubicBezTo>
                    <a:pt x="40" y="8"/>
                    <a:pt x="40" y="8"/>
                    <a:pt x="40" y="8"/>
                  </a:cubicBezTo>
                  <a:cubicBezTo>
                    <a:pt x="61" y="18"/>
                    <a:pt x="76" y="39"/>
                    <a:pt x="76" y="64"/>
                  </a:cubicBezTo>
                  <a:cubicBezTo>
                    <a:pt x="76" y="97"/>
                    <a:pt x="49" y="123"/>
                    <a:pt x="16" y="124"/>
                  </a:cubicBezTo>
                  <a:cubicBezTo>
                    <a:pt x="22" y="118"/>
                    <a:pt x="22" y="118"/>
                    <a:pt x="22" y="118"/>
                  </a:cubicBezTo>
                  <a:cubicBezTo>
                    <a:pt x="16" y="112"/>
                    <a:pt x="16" y="112"/>
                    <a:pt x="16" y="112"/>
                  </a:cubicBezTo>
                  <a:cubicBezTo>
                    <a:pt x="0" y="128"/>
                    <a:pt x="0" y="128"/>
                    <a:pt x="0" y="128"/>
                  </a:cubicBezTo>
                  <a:cubicBezTo>
                    <a:pt x="16" y="144"/>
                    <a:pt x="16" y="144"/>
                    <a:pt x="16" y="144"/>
                  </a:cubicBezTo>
                  <a:cubicBezTo>
                    <a:pt x="22" y="138"/>
                    <a:pt x="22" y="138"/>
                    <a:pt x="22" y="138"/>
                  </a:cubicBezTo>
                  <a:cubicBezTo>
                    <a:pt x="17" y="133"/>
                    <a:pt x="17" y="133"/>
                    <a:pt x="17" y="133"/>
                  </a:cubicBezTo>
                  <a:cubicBezTo>
                    <a:pt x="55" y="132"/>
                    <a:pt x="85" y="101"/>
                    <a:pt x="85" y="64"/>
                  </a:cubicBezTo>
                  <a:close/>
                </a:path>
              </a:pathLst>
            </a:custGeom>
            <a:grpFill/>
            <a:ln>
              <a:solidFill>
                <a:schemeClr val="bg2"/>
              </a:solid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sp>
          <p:nvSpPr>
            <p:cNvPr id="78" name="Google Shape;2380;p59">
              <a:extLst>
                <a:ext uri="{FF2B5EF4-FFF2-40B4-BE49-F238E27FC236}">
                  <a16:creationId xmlns:a16="http://schemas.microsoft.com/office/drawing/2014/main" id="{85BB00D7-A51D-717E-4058-334EDE9EE833}"/>
                </a:ext>
              </a:extLst>
            </p:cNvPr>
            <p:cNvSpPr/>
            <p:nvPr/>
          </p:nvSpPr>
          <p:spPr>
            <a:xfrm>
              <a:off x="2869427" y="2850587"/>
              <a:ext cx="192088" cy="192088"/>
            </a:xfrm>
            <a:custGeom>
              <a:avLst/>
              <a:gdLst/>
              <a:ahLst/>
              <a:cxnLst/>
              <a:rect l="l" t="t" r="r" b="b"/>
              <a:pathLst>
                <a:path w="87" h="87" extrusionOk="0">
                  <a:moveTo>
                    <a:pt x="43" y="0"/>
                  </a:moveTo>
                  <a:cubicBezTo>
                    <a:pt x="19" y="0"/>
                    <a:pt x="0" y="20"/>
                    <a:pt x="0" y="44"/>
                  </a:cubicBezTo>
                  <a:cubicBezTo>
                    <a:pt x="0" y="68"/>
                    <a:pt x="19" y="87"/>
                    <a:pt x="43" y="87"/>
                  </a:cubicBezTo>
                  <a:cubicBezTo>
                    <a:pt x="67" y="87"/>
                    <a:pt x="87" y="68"/>
                    <a:pt x="87" y="44"/>
                  </a:cubicBezTo>
                  <a:cubicBezTo>
                    <a:pt x="87" y="20"/>
                    <a:pt x="67" y="0"/>
                    <a:pt x="43" y="0"/>
                  </a:cubicBezTo>
                  <a:close/>
                  <a:moveTo>
                    <a:pt x="8" y="48"/>
                  </a:moveTo>
                  <a:cubicBezTo>
                    <a:pt x="17" y="48"/>
                    <a:pt x="17" y="48"/>
                    <a:pt x="17" y="48"/>
                  </a:cubicBezTo>
                  <a:cubicBezTo>
                    <a:pt x="18" y="51"/>
                    <a:pt x="18" y="54"/>
                    <a:pt x="19" y="58"/>
                  </a:cubicBezTo>
                  <a:cubicBezTo>
                    <a:pt x="11" y="58"/>
                    <a:pt x="11" y="58"/>
                    <a:pt x="11" y="58"/>
                  </a:cubicBezTo>
                  <a:cubicBezTo>
                    <a:pt x="9" y="54"/>
                    <a:pt x="8" y="51"/>
                    <a:pt x="8" y="48"/>
                  </a:cubicBezTo>
                  <a:close/>
                  <a:moveTo>
                    <a:pt x="47" y="21"/>
                  </a:moveTo>
                  <a:cubicBezTo>
                    <a:pt x="47" y="12"/>
                    <a:pt x="47" y="12"/>
                    <a:pt x="47" y="12"/>
                  </a:cubicBezTo>
                  <a:cubicBezTo>
                    <a:pt x="50" y="14"/>
                    <a:pt x="53" y="17"/>
                    <a:pt x="55" y="21"/>
                  </a:cubicBezTo>
                  <a:lnTo>
                    <a:pt x="47" y="21"/>
                  </a:lnTo>
                  <a:close/>
                  <a:moveTo>
                    <a:pt x="60" y="30"/>
                  </a:moveTo>
                  <a:cubicBezTo>
                    <a:pt x="61" y="33"/>
                    <a:pt x="62" y="36"/>
                    <a:pt x="62" y="39"/>
                  </a:cubicBezTo>
                  <a:cubicBezTo>
                    <a:pt x="47" y="39"/>
                    <a:pt x="47" y="39"/>
                    <a:pt x="47" y="39"/>
                  </a:cubicBezTo>
                  <a:cubicBezTo>
                    <a:pt x="47" y="30"/>
                    <a:pt x="47" y="30"/>
                    <a:pt x="47" y="30"/>
                  </a:cubicBezTo>
                  <a:lnTo>
                    <a:pt x="60" y="30"/>
                  </a:lnTo>
                  <a:close/>
                  <a:moveTo>
                    <a:pt x="39" y="12"/>
                  </a:moveTo>
                  <a:cubicBezTo>
                    <a:pt x="39" y="21"/>
                    <a:pt x="39" y="21"/>
                    <a:pt x="39" y="21"/>
                  </a:cubicBezTo>
                  <a:cubicBezTo>
                    <a:pt x="32" y="21"/>
                    <a:pt x="32" y="21"/>
                    <a:pt x="32" y="21"/>
                  </a:cubicBezTo>
                  <a:cubicBezTo>
                    <a:pt x="34" y="17"/>
                    <a:pt x="37" y="14"/>
                    <a:pt x="39" y="12"/>
                  </a:cubicBezTo>
                  <a:close/>
                  <a:moveTo>
                    <a:pt x="39" y="30"/>
                  </a:moveTo>
                  <a:cubicBezTo>
                    <a:pt x="39" y="39"/>
                    <a:pt x="39" y="39"/>
                    <a:pt x="39" y="39"/>
                  </a:cubicBezTo>
                  <a:cubicBezTo>
                    <a:pt x="26" y="39"/>
                    <a:pt x="26" y="39"/>
                    <a:pt x="26" y="39"/>
                  </a:cubicBezTo>
                  <a:cubicBezTo>
                    <a:pt x="26" y="36"/>
                    <a:pt x="27" y="33"/>
                    <a:pt x="28" y="30"/>
                  </a:cubicBezTo>
                  <a:lnTo>
                    <a:pt x="39" y="30"/>
                  </a:lnTo>
                  <a:close/>
                  <a:moveTo>
                    <a:pt x="17" y="39"/>
                  </a:moveTo>
                  <a:cubicBezTo>
                    <a:pt x="8" y="39"/>
                    <a:pt x="8" y="39"/>
                    <a:pt x="8" y="39"/>
                  </a:cubicBezTo>
                  <a:cubicBezTo>
                    <a:pt x="8" y="36"/>
                    <a:pt x="9" y="33"/>
                    <a:pt x="11" y="30"/>
                  </a:cubicBezTo>
                  <a:cubicBezTo>
                    <a:pt x="19" y="30"/>
                    <a:pt x="19" y="30"/>
                    <a:pt x="19" y="30"/>
                  </a:cubicBezTo>
                  <a:cubicBezTo>
                    <a:pt x="18" y="33"/>
                    <a:pt x="18" y="36"/>
                    <a:pt x="17" y="39"/>
                  </a:cubicBezTo>
                  <a:close/>
                  <a:moveTo>
                    <a:pt x="26" y="48"/>
                  </a:moveTo>
                  <a:cubicBezTo>
                    <a:pt x="39" y="48"/>
                    <a:pt x="39" y="48"/>
                    <a:pt x="39" y="48"/>
                  </a:cubicBezTo>
                  <a:cubicBezTo>
                    <a:pt x="39" y="58"/>
                    <a:pt x="39" y="58"/>
                    <a:pt x="39" y="58"/>
                  </a:cubicBezTo>
                  <a:cubicBezTo>
                    <a:pt x="28" y="58"/>
                    <a:pt x="28" y="58"/>
                    <a:pt x="28" y="58"/>
                  </a:cubicBezTo>
                  <a:cubicBezTo>
                    <a:pt x="27" y="55"/>
                    <a:pt x="26" y="51"/>
                    <a:pt x="26" y="48"/>
                  </a:cubicBezTo>
                  <a:close/>
                  <a:moveTo>
                    <a:pt x="39" y="66"/>
                  </a:moveTo>
                  <a:cubicBezTo>
                    <a:pt x="39" y="75"/>
                    <a:pt x="39" y="75"/>
                    <a:pt x="39" y="75"/>
                  </a:cubicBezTo>
                  <a:cubicBezTo>
                    <a:pt x="37" y="73"/>
                    <a:pt x="34" y="70"/>
                    <a:pt x="32" y="66"/>
                  </a:cubicBezTo>
                  <a:lnTo>
                    <a:pt x="39" y="66"/>
                  </a:lnTo>
                  <a:close/>
                  <a:moveTo>
                    <a:pt x="47" y="75"/>
                  </a:moveTo>
                  <a:cubicBezTo>
                    <a:pt x="47" y="66"/>
                    <a:pt x="47" y="66"/>
                    <a:pt x="47" y="66"/>
                  </a:cubicBezTo>
                  <a:cubicBezTo>
                    <a:pt x="55" y="66"/>
                    <a:pt x="55" y="66"/>
                    <a:pt x="55" y="66"/>
                  </a:cubicBezTo>
                  <a:cubicBezTo>
                    <a:pt x="53" y="70"/>
                    <a:pt x="50" y="73"/>
                    <a:pt x="47" y="75"/>
                  </a:cubicBezTo>
                  <a:close/>
                  <a:moveTo>
                    <a:pt x="47" y="58"/>
                  </a:moveTo>
                  <a:cubicBezTo>
                    <a:pt x="47" y="48"/>
                    <a:pt x="47" y="48"/>
                    <a:pt x="47" y="48"/>
                  </a:cubicBezTo>
                  <a:cubicBezTo>
                    <a:pt x="62" y="48"/>
                    <a:pt x="62" y="48"/>
                    <a:pt x="62" y="48"/>
                  </a:cubicBezTo>
                  <a:cubicBezTo>
                    <a:pt x="62" y="51"/>
                    <a:pt x="61" y="55"/>
                    <a:pt x="60" y="58"/>
                  </a:cubicBezTo>
                  <a:lnTo>
                    <a:pt x="47" y="58"/>
                  </a:lnTo>
                  <a:close/>
                  <a:moveTo>
                    <a:pt x="70" y="48"/>
                  </a:moveTo>
                  <a:cubicBezTo>
                    <a:pt x="78" y="48"/>
                    <a:pt x="78" y="48"/>
                    <a:pt x="78" y="48"/>
                  </a:cubicBezTo>
                  <a:cubicBezTo>
                    <a:pt x="78" y="51"/>
                    <a:pt x="77" y="54"/>
                    <a:pt x="76" y="58"/>
                  </a:cubicBezTo>
                  <a:cubicBezTo>
                    <a:pt x="68" y="58"/>
                    <a:pt x="68" y="58"/>
                    <a:pt x="68" y="58"/>
                  </a:cubicBezTo>
                  <a:cubicBezTo>
                    <a:pt x="69" y="54"/>
                    <a:pt x="70" y="51"/>
                    <a:pt x="70" y="48"/>
                  </a:cubicBezTo>
                  <a:close/>
                  <a:moveTo>
                    <a:pt x="70" y="39"/>
                  </a:moveTo>
                  <a:cubicBezTo>
                    <a:pt x="70" y="36"/>
                    <a:pt x="69" y="33"/>
                    <a:pt x="68" y="30"/>
                  </a:cubicBezTo>
                  <a:cubicBezTo>
                    <a:pt x="76" y="30"/>
                    <a:pt x="76" y="30"/>
                    <a:pt x="76" y="30"/>
                  </a:cubicBezTo>
                  <a:cubicBezTo>
                    <a:pt x="77" y="33"/>
                    <a:pt x="78" y="36"/>
                    <a:pt x="78" y="39"/>
                  </a:cubicBezTo>
                  <a:lnTo>
                    <a:pt x="70" y="39"/>
                  </a:lnTo>
                  <a:close/>
                  <a:moveTo>
                    <a:pt x="71" y="21"/>
                  </a:moveTo>
                  <a:cubicBezTo>
                    <a:pt x="65" y="21"/>
                    <a:pt x="65" y="21"/>
                    <a:pt x="65" y="21"/>
                  </a:cubicBezTo>
                  <a:cubicBezTo>
                    <a:pt x="63" y="18"/>
                    <a:pt x="61" y="14"/>
                    <a:pt x="59" y="12"/>
                  </a:cubicBezTo>
                  <a:cubicBezTo>
                    <a:pt x="63" y="14"/>
                    <a:pt x="67" y="17"/>
                    <a:pt x="71" y="21"/>
                  </a:cubicBezTo>
                  <a:close/>
                  <a:moveTo>
                    <a:pt x="29" y="11"/>
                  </a:moveTo>
                  <a:cubicBezTo>
                    <a:pt x="27" y="14"/>
                    <a:pt x="24" y="17"/>
                    <a:pt x="22" y="21"/>
                  </a:cubicBezTo>
                  <a:cubicBezTo>
                    <a:pt x="16" y="21"/>
                    <a:pt x="16" y="21"/>
                    <a:pt x="16" y="21"/>
                  </a:cubicBezTo>
                  <a:cubicBezTo>
                    <a:pt x="19" y="17"/>
                    <a:pt x="24" y="14"/>
                    <a:pt x="29" y="11"/>
                  </a:cubicBezTo>
                  <a:close/>
                  <a:moveTo>
                    <a:pt x="16" y="66"/>
                  </a:moveTo>
                  <a:cubicBezTo>
                    <a:pt x="22" y="66"/>
                    <a:pt x="22" y="66"/>
                    <a:pt x="22" y="66"/>
                  </a:cubicBezTo>
                  <a:cubicBezTo>
                    <a:pt x="24" y="70"/>
                    <a:pt x="27" y="73"/>
                    <a:pt x="29" y="76"/>
                  </a:cubicBezTo>
                  <a:cubicBezTo>
                    <a:pt x="24" y="74"/>
                    <a:pt x="19" y="70"/>
                    <a:pt x="16" y="66"/>
                  </a:cubicBezTo>
                  <a:close/>
                  <a:moveTo>
                    <a:pt x="59" y="75"/>
                  </a:moveTo>
                  <a:cubicBezTo>
                    <a:pt x="61" y="73"/>
                    <a:pt x="63" y="69"/>
                    <a:pt x="65" y="66"/>
                  </a:cubicBezTo>
                  <a:cubicBezTo>
                    <a:pt x="71" y="66"/>
                    <a:pt x="71" y="66"/>
                    <a:pt x="71" y="66"/>
                  </a:cubicBezTo>
                  <a:cubicBezTo>
                    <a:pt x="67" y="70"/>
                    <a:pt x="63" y="73"/>
                    <a:pt x="59" y="75"/>
                  </a:cubicBezTo>
                  <a:close/>
                </a:path>
              </a:pathLst>
            </a:custGeom>
            <a:grpFill/>
            <a:ln>
              <a:solidFill>
                <a:schemeClr val="bg2"/>
              </a:solid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dirty="0">
                <a:solidFill>
                  <a:srgbClr val="000000"/>
                </a:solidFill>
                <a:latin typeface="Arial"/>
                <a:ea typeface="Arial"/>
                <a:cs typeface="Arial"/>
                <a:sym typeface="Arial"/>
              </a:endParaRPr>
            </a:p>
          </p:txBody>
        </p:sp>
      </p:grpSp>
      <p:sp>
        <p:nvSpPr>
          <p:cNvPr id="79" name="Google Shape;1094;p53">
            <a:extLst>
              <a:ext uri="{FF2B5EF4-FFF2-40B4-BE49-F238E27FC236}">
                <a16:creationId xmlns:a16="http://schemas.microsoft.com/office/drawing/2014/main" id="{E3C10763-F240-FC54-1E33-0DBB5CF248C4}"/>
              </a:ext>
            </a:extLst>
          </p:cNvPr>
          <p:cNvSpPr/>
          <p:nvPr/>
        </p:nvSpPr>
        <p:spPr>
          <a:xfrm>
            <a:off x="566310" y="2894832"/>
            <a:ext cx="519628" cy="519801"/>
          </a:xfrm>
          <a:custGeom>
            <a:avLst/>
            <a:gdLst/>
            <a:ahLst/>
            <a:cxnLst/>
            <a:rect l="l" t="t" r="r" b="b"/>
            <a:pathLst>
              <a:path w="347" h="346" extrusionOk="0">
                <a:moveTo>
                  <a:pt x="0" y="0"/>
                </a:moveTo>
                <a:cubicBezTo>
                  <a:pt x="0" y="346"/>
                  <a:pt x="0" y="346"/>
                  <a:pt x="0" y="346"/>
                </a:cubicBezTo>
                <a:cubicBezTo>
                  <a:pt x="347" y="346"/>
                  <a:pt x="347" y="346"/>
                  <a:pt x="347" y="346"/>
                </a:cubicBezTo>
                <a:cubicBezTo>
                  <a:pt x="347" y="0"/>
                  <a:pt x="347" y="0"/>
                  <a:pt x="347" y="0"/>
                </a:cubicBezTo>
                <a:lnTo>
                  <a:pt x="0" y="0"/>
                </a:lnTo>
                <a:close/>
                <a:moveTo>
                  <a:pt x="332" y="332"/>
                </a:moveTo>
                <a:cubicBezTo>
                  <a:pt x="15" y="332"/>
                  <a:pt x="15" y="332"/>
                  <a:pt x="15" y="332"/>
                </a:cubicBezTo>
                <a:cubicBezTo>
                  <a:pt x="15" y="15"/>
                  <a:pt x="15" y="15"/>
                  <a:pt x="15" y="15"/>
                </a:cubicBezTo>
                <a:cubicBezTo>
                  <a:pt x="332" y="15"/>
                  <a:pt x="332" y="15"/>
                  <a:pt x="332" y="15"/>
                </a:cubicBezTo>
                <a:lnTo>
                  <a:pt x="332" y="332"/>
                </a:lnTo>
                <a:close/>
                <a:moveTo>
                  <a:pt x="48" y="309"/>
                </a:moveTo>
                <a:cubicBezTo>
                  <a:pt x="133" y="224"/>
                  <a:pt x="133" y="224"/>
                  <a:pt x="133" y="224"/>
                </a:cubicBezTo>
                <a:cubicBezTo>
                  <a:pt x="153" y="241"/>
                  <a:pt x="178" y="250"/>
                  <a:pt x="204" y="250"/>
                </a:cubicBezTo>
                <a:cubicBezTo>
                  <a:pt x="233" y="250"/>
                  <a:pt x="260" y="239"/>
                  <a:pt x="280" y="219"/>
                </a:cubicBezTo>
                <a:cubicBezTo>
                  <a:pt x="322" y="177"/>
                  <a:pt x="322" y="109"/>
                  <a:pt x="280" y="67"/>
                </a:cubicBezTo>
                <a:cubicBezTo>
                  <a:pt x="260" y="46"/>
                  <a:pt x="233" y="35"/>
                  <a:pt x="204" y="35"/>
                </a:cubicBezTo>
                <a:cubicBezTo>
                  <a:pt x="175" y="35"/>
                  <a:pt x="148" y="46"/>
                  <a:pt x="128" y="67"/>
                </a:cubicBezTo>
                <a:cubicBezTo>
                  <a:pt x="88" y="107"/>
                  <a:pt x="86" y="171"/>
                  <a:pt x="123" y="214"/>
                </a:cubicBezTo>
                <a:cubicBezTo>
                  <a:pt x="37" y="299"/>
                  <a:pt x="37" y="299"/>
                  <a:pt x="37" y="299"/>
                </a:cubicBezTo>
                <a:lnTo>
                  <a:pt x="48" y="309"/>
                </a:lnTo>
                <a:close/>
                <a:moveTo>
                  <a:pt x="270" y="208"/>
                </a:moveTo>
                <a:cubicBezTo>
                  <a:pt x="252" y="226"/>
                  <a:pt x="229" y="236"/>
                  <a:pt x="204" y="236"/>
                </a:cubicBezTo>
                <a:cubicBezTo>
                  <a:pt x="179" y="236"/>
                  <a:pt x="156" y="226"/>
                  <a:pt x="138" y="208"/>
                </a:cubicBezTo>
                <a:cubicBezTo>
                  <a:pt x="134" y="204"/>
                  <a:pt x="129" y="199"/>
                  <a:pt x="126" y="193"/>
                </a:cubicBezTo>
                <a:cubicBezTo>
                  <a:pt x="139" y="193"/>
                  <a:pt x="139" y="193"/>
                  <a:pt x="139" y="193"/>
                </a:cubicBezTo>
                <a:cubicBezTo>
                  <a:pt x="178" y="193"/>
                  <a:pt x="178" y="193"/>
                  <a:pt x="178" y="193"/>
                </a:cubicBezTo>
                <a:cubicBezTo>
                  <a:pt x="193" y="193"/>
                  <a:pt x="193" y="193"/>
                  <a:pt x="193" y="193"/>
                </a:cubicBezTo>
                <a:cubicBezTo>
                  <a:pt x="217" y="193"/>
                  <a:pt x="217" y="193"/>
                  <a:pt x="217" y="193"/>
                </a:cubicBezTo>
                <a:cubicBezTo>
                  <a:pt x="231" y="193"/>
                  <a:pt x="231" y="193"/>
                  <a:pt x="231" y="193"/>
                </a:cubicBezTo>
                <a:cubicBezTo>
                  <a:pt x="270" y="193"/>
                  <a:pt x="270" y="193"/>
                  <a:pt x="270" y="193"/>
                </a:cubicBezTo>
                <a:cubicBezTo>
                  <a:pt x="282" y="193"/>
                  <a:pt x="282" y="193"/>
                  <a:pt x="282" y="193"/>
                </a:cubicBezTo>
                <a:cubicBezTo>
                  <a:pt x="278" y="199"/>
                  <a:pt x="274" y="204"/>
                  <a:pt x="270" y="208"/>
                </a:cubicBezTo>
                <a:close/>
                <a:moveTo>
                  <a:pt x="193" y="112"/>
                </a:moveTo>
                <a:cubicBezTo>
                  <a:pt x="193" y="97"/>
                  <a:pt x="193" y="97"/>
                  <a:pt x="193" y="97"/>
                </a:cubicBezTo>
                <a:cubicBezTo>
                  <a:pt x="217" y="97"/>
                  <a:pt x="217" y="97"/>
                  <a:pt x="217" y="97"/>
                </a:cubicBezTo>
                <a:cubicBezTo>
                  <a:pt x="217" y="132"/>
                  <a:pt x="217" y="132"/>
                  <a:pt x="217" y="132"/>
                </a:cubicBezTo>
                <a:cubicBezTo>
                  <a:pt x="217" y="179"/>
                  <a:pt x="217" y="179"/>
                  <a:pt x="217" y="179"/>
                </a:cubicBezTo>
                <a:cubicBezTo>
                  <a:pt x="193" y="179"/>
                  <a:pt x="193" y="179"/>
                  <a:pt x="193" y="179"/>
                </a:cubicBezTo>
                <a:lnTo>
                  <a:pt x="193" y="112"/>
                </a:lnTo>
                <a:close/>
                <a:moveTo>
                  <a:pt x="255" y="179"/>
                </a:moveTo>
                <a:cubicBezTo>
                  <a:pt x="231" y="179"/>
                  <a:pt x="231" y="179"/>
                  <a:pt x="231" y="179"/>
                </a:cubicBezTo>
                <a:cubicBezTo>
                  <a:pt x="231" y="147"/>
                  <a:pt x="231" y="147"/>
                  <a:pt x="231" y="147"/>
                </a:cubicBezTo>
                <a:cubicBezTo>
                  <a:pt x="255" y="147"/>
                  <a:pt x="255" y="147"/>
                  <a:pt x="255" y="147"/>
                </a:cubicBezTo>
                <a:lnTo>
                  <a:pt x="255" y="179"/>
                </a:lnTo>
                <a:close/>
                <a:moveTo>
                  <a:pt x="178" y="179"/>
                </a:moveTo>
                <a:cubicBezTo>
                  <a:pt x="154" y="179"/>
                  <a:pt x="154" y="179"/>
                  <a:pt x="154" y="179"/>
                </a:cubicBezTo>
                <a:cubicBezTo>
                  <a:pt x="154" y="127"/>
                  <a:pt x="154" y="127"/>
                  <a:pt x="154" y="127"/>
                </a:cubicBezTo>
                <a:cubicBezTo>
                  <a:pt x="178" y="127"/>
                  <a:pt x="178" y="127"/>
                  <a:pt x="178" y="127"/>
                </a:cubicBezTo>
                <a:lnTo>
                  <a:pt x="178" y="179"/>
                </a:lnTo>
                <a:close/>
                <a:moveTo>
                  <a:pt x="138" y="77"/>
                </a:moveTo>
                <a:cubicBezTo>
                  <a:pt x="156" y="59"/>
                  <a:pt x="179" y="50"/>
                  <a:pt x="204" y="50"/>
                </a:cubicBezTo>
                <a:cubicBezTo>
                  <a:pt x="229" y="50"/>
                  <a:pt x="252" y="59"/>
                  <a:pt x="270" y="77"/>
                </a:cubicBezTo>
                <a:cubicBezTo>
                  <a:pt x="297" y="104"/>
                  <a:pt x="304" y="145"/>
                  <a:pt x="290" y="179"/>
                </a:cubicBezTo>
                <a:cubicBezTo>
                  <a:pt x="270" y="179"/>
                  <a:pt x="270" y="179"/>
                  <a:pt x="270" y="179"/>
                </a:cubicBezTo>
                <a:cubicBezTo>
                  <a:pt x="270" y="132"/>
                  <a:pt x="270" y="132"/>
                  <a:pt x="270" y="132"/>
                </a:cubicBezTo>
                <a:cubicBezTo>
                  <a:pt x="231" y="132"/>
                  <a:pt x="231" y="132"/>
                  <a:pt x="231" y="132"/>
                </a:cubicBezTo>
                <a:cubicBezTo>
                  <a:pt x="231" y="83"/>
                  <a:pt x="231" y="83"/>
                  <a:pt x="231" y="83"/>
                </a:cubicBezTo>
                <a:cubicBezTo>
                  <a:pt x="178" y="83"/>
                  <a:pt x="178" y="83"/>
                  <a:pt x="178" y="83"/>
                </a:cubicBezTo>
                <a:cubicBezTo>
                  <a:pt x="178" y="112"/>
                  <a:pt x="178" y="112"/>
                  <a:pt x="178" y="112"/>
                </a:cubicBezTo>
                <a:cubicBezTo>
                  <a:pt x="139" y="112"/>
                  <a:pt x="139" y="112"/>
                  <a:pt x="139" y="112"/>
                </a:cubicBezTo>
                <a:cubicBezTo>
                  <a:pt x="139" y="179"/>
                  <a:pt x="139" y="179"/>
                  <a:pt x="139" y="179"/>
                </a:cubicBezTo>
                <a:cubicBezTo>
                  <a:pt x="118" y="179"/>
                  <a:pt x="118" y="179"/>
                  <a:pt x="118" y="179"/>
                </a:cubicBezTo>
                <a:cubicBezTo>
                  <a:pt x="104" y="145"/>
                  <a:pt x="111" y="104"/>
                  <a:pt x="138" y="77"/>
                </a:cubicBezTo>
                <a:close/>
              </a:path>
            </a:pathLst>
          </a:custGeom>
          <a:solidFill>
            <a:schemeClr val="bg2"/>
          </a:solidFill>
          <a:ln>
            <a:solidFill>
              <a:schemeClr val="bg2"/>
            </a:solid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80" name="Google Shape;2515;p60">
            <a:extLst>
              <a:ext uri="{FF2B5EF4-FFF2-40B4-BE49-F238E27FC236}">
                <a16:creationId xmlns:a16="http://schemas.microsoft.com/office/drawing/2014/main" id="{61DAD70F-FE82-C1DD-DAEF-02223E49E215}"/>
              </a:ext>
            </a:extLst>
          </p:cNvPr>
          <p:cNvGrpSpPr/>
          <p:nvPr/>
        </p:nvGrpSpPr>
        <p:grpSpPr>
          <a:xfrm>
            <a:off x="564212" y="4200330"/>
            <a:ext cx="519629" cy="519800"/>
            <a:chOff x="4227858" y="4046399"/>
            <a:chExt cx="422275" cy="422275"/>
          </a:xfrm>
          <a:solidFill>
            <a:schemeClr val="bg2"/>
          </a:solidFill>
        </p:grpSpPr>
        <p:sp>
          <p:nvSpPr>
            <p:cNvPr id="81" name="Google Shape;2516;p60">
              <a:extLst>
                <a:ext uri="{FF2B5EF4-FFF2-40B4-BE49-F238E27FC236}">
                  <a16:creationId xmlns:a16="http://schemas.microsoft.com/office/drawing/2014/main" id="{8FC6FEC4-BB3B-1744-4083-F44D99194C1C}"/>
                </a:ext>
              </a:extLst>
            </p:cNvPr>
            <p:cNvSpPr/>
            <p:nvPr/>
          </p:nvSpPr>
          <p:spPr>
            <a:xfrm>
              <a:off x="4227858" y="4098786"/>
              <a:ext cx="263525" cy="123825"/>
            </a:xfrm>
            <a:custGeom>
              <a:avLst/>
              <a:gdLst/>
              <a:ahLst/>
              <a:cxnLst/>
              <a:rect l="l" t="t" r="r" b="b"/>
              <a:pathLst>
                <a:path w="166" h="78" extrusionOk="0">
                  <a:moveTo>
                    <a:pt x="33" y="55"/>
                  </a:moveTo>
                  <a:lnTo>
                    <a:pt x="45" y="55"/>
                  </a:lnTo>
                  <a:lnTo>
                    <a:pt x="45" y="68"/>
                  </a:lnTo>
                  <a:lnTo>
                    <a:pt x="33" y="68"/>
                  </a:lnTo>
                  <a:lnTo>
                    <a:pt x="33" y="55"/>
                  </a:lnTo>
                  <a:close/>
                  <a:moveTo>
                    <a:pt x="78" y="11"/>
                  </a:moveTo>
                  <a:lnTo>
                    <a:pt x="89" y="11"/>
                  </a:lnTo>
                  <a:lnTo>
                    <a:pt x="89" y="68"/>
                  </a:lnTo>
                  <a:lnTo>
                    <a:pt x="78" y="68"/>
                  </a:lnTo>
                  <a:lnTo>
                    <a:pt x="78" y="11"/>
                  </a:lnTo>
                  <a:close/>
                  <a:moveTo>
                    <a:pt x="122" y="33"/>
                  </a:moveTo>
                  <a:lnTo>
                    <a:pt x="133" y="33"/>
                  </a:lnTo>
                  <a:lnTo>
                    <a:pt x="133" y="68"/>
                  </a:lnTo>
                  <a:lnTo>
                    <a:pt x="122" y="68"/>
                  </a:lnTo>
                  <a:lnTo>
                    <a:pt x="122" y="33"/>
                  </a:lnTo>
                  <a:close/>
                  <a:moveTo>
                    <a:pt x="54" y="78"/>
                  </a:moveTo>
                  <a:lnTo>
                    <a:pt x="65" y="78"/>
                  </a:lnTo>
                  <a:lnTo>
                    <a:pt x="99" y="78"/>
                  </a:lnTo>
                  <a:lnTo>
                    <a:pt x="111" y="78"/>
                  </a:lnTo>
                  <a:lnTo>
                    <a:pt x="143" y="78"/>
                  </a:lnTo>
                  <a:lnTo>
                    <a:pt x="166" y="78"/>
                  </a:lnTo>
                  <a:lnTo>
                    <a:pt x="166" y="68"/>
                  </a:lnTo>
                  <a:lnTo>
                    <a:pt x="143" y="68"/>
                  </a:lnTo>
                  <a:lnTo>
                    <a:pt x="143" y="22"/>
                  </a:lnTo>
                  <a:lnTo>
                    <a:pt x="111" y="22"/>
                  </a:lnTo>
                  <a:lnTo>
                    <a:pt x="111" y="68"/>
                  </a:lnTo>
                  <a:lnTo>
                    <a:pt x="99" y="68"/>
                  </a:lnTo>
                  <a:lnTo>
                    <a:pt x="99" y="0"/>
                  </a:lnTo>
                  <a:lnTo>
                    <a:pt x="65" y="0"/>
                  </a:lnTo>
                  <a:lnTo>
                    <a:pt x="65" y="68"/>
                  </a:lnTo>
                  <a:lnTo>
                    <a:pt x="54" y="68"/>
                  </a:lnTo>
                  <a:lnTo>
                    <a:pt x="54" y="44"/>
                  </a:lnTo>
                  <a:lnTo>
                    <a:pt x="21" y="44"/>
                  </a:lnTo>
                  <a:lnTo>
                    <a:pt x="21" y="68"/>
                  </a:lnTo>
                  <a:lnTo>
                    <a:pt x="0" y="68"/>
                  </a:lnTo>
                  <a:lnTo>
                    <a:pt x="0" y="78"/>
                  </a:lnTo>
                  <a:lnTo>
                    <a:pt x="21" y="78"/>
                  </a:lnTo>
                  <a:lnTo>
                    <a:pt x="54" y="78"/>
                  </a:lnTo>
                  <a:close/>
                </a:path>
              </a:pathLst>
            </a:custGeom>
            <a:grpFill/>
            <a:ln>
              <a:solidFill>
                <a:schemeClr val="bg2"/>
              </a:solid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sp>
          <p:nvSpPr>
            <p:cNvPr id="82" name="Google Shape;2517;p60">
              <a:extLst>
                <a:ext uri="{FF2B5EF4-FFF2-40B4-BE49-F238E27FC236}">
                  <a16:creationId xmlns:a16="http://schemas.microsoft.com/office/drawing/2014/main" id="{8FF07B94-7AE8-F10E-A37C-7C1BD481BA84}"/>
                </a:ext>
              </a:extLst>
            </p:cNvPr>
            <p:cNvSpPr/>
            <p:nvPr/>
          </p:nvSpPr>
          <p:spPr>
            <a:xfrm>
              <a:off x="4227858" y="4046399"/>
              <a:ext cx="422275" cy="422275"/>
            </a:xfrm>
            <a:custGeom>
              <a:avLst/>
              <a:gdLst/>
              <a:ahLst/>
              <a:cxnLst/>
              <a:rect l="l" t="t" r="r" b="b"/>
              <a:pathLst>
                <a:path w="192" h="192" extrusionOk="0">
                  <a:moveTo>
                    <a:pt x="96" y="124"/>
                  </a:moveTo>
                  <a:cubicBezTo>
                    <a:pt x="96" y="117"/>
                    <a:pt x="99" y="110"/>
                    <a:pt x="104" y="105"/>
                  </a:cubicBezTo>
                  <a:cubicBezTo>
                    <a:pt x="109" y="99"/>
                    <a:pt x="116" y="96"/>
                    <a:pt x="124" y="96"/>
                  </a:cubicBezTo>
                  <a:cubicBezTo>
                    <a:pt x="131" y="96"/>
                    <a:pt x="138" y="99"/>
                    <a:pt x="143" y="105"/>
                  </a:cubicBezTo>
                  <a:cubicBezTo>
                    <a:pt x="149" y="110"/>
                    <a:pt x="152" y="117"/>
                    <a:pt x="152" y="124"/>
                  </a:cubicBezTo>
                  <a:cubicBezTo>
                    <a:pt x="152" y="132"/>
                    <a:pt x="149" y="139"/>
                    <a:pt x="143" y="144"/>
                  </a:cubicBezTo>
                  <a:cubicBezTo>
                    <a:pt x="138" y="149"/>
                    <a:pt x="131" y="152"/>
                    <a:pt x="124" y="152"/>
                  </a:cubicBezTo>
                  <a:cubicBezTo>
                    <a:pt x="118" y="152"/>
                    <a:pt x="112" y="150"/>
                    <a:pt x="107" y="147"/>
                  </a:cubicBezTo>
                  <a:cubicBezTo>
                    <a:pt x="128" y="126"/>
                    <a:pt x="128" y="126"/>
                    <a:pt x="128" y="126"/>
                  </a:cubicBezTo>
                  <a:cubicBezTo>
                    <a:pt x="128" y="136"/>
                    <a:pt x="128" y="136"/>
                    <a:pt x="128" y="136"/>
                  </a:cubicBezTo>
                  <a:cubicBezTo>
                    <a:pt x="136" y="136"/>
                    <a:pt x="136" y="136"/>
                    <a:pt x="136" y="136"/>
                  </a:cubicBezTo>
                  <a:cubicBezTo>
                    <a:pt x="136" y="112"/>
                    <a:pt x="136" y="112"/>
                    <a:pt x="136" y="112"/>
                  </a:cubicBezTo>
                  <a:cubicBezTo>
                    <a:pt x="112" y="112"/>
                    <a:pt x="112" y="112"/>
                    <a:pt x="112" y="112"/>
                  </a:cubicBezTo>
                  <a:cubicBezTo>
                    <a:pt x="112" y="120"/>
                    <a:pt x="112" y="120"/>
                    <a:pt x="112" y="120"/>
                  </a:cubicBezTo>
                  <a:cubicBezTo>
                    <a:pt x="122" y="120"/>
                    <a:pt x="122" y="120"/>
                    <a:pt x="122" y="120"/>
                  </a:cubicBezTo>
                  <a:cubicBezTo>
                    <a:pt x="101" y="141"/>
                    <a:pt x="101" y="141"/>
                    <a:pt x="101" y="141"/>
                  </a:cubicBezTo>
                  <a:cubicBezTo>
                    <a:pt x="98" y="136"/>
                    <a:pt x="96" y="130"/>
                    <a:pt x="96" y="124"/>
                  </a:cubicBezTo>
                  <a:close/>
                  <a:moveTo>
                    <a:pt x="0" y="0"/>
                  </a:moveTo>
                  <a:cubicBezTo>
                    <a:pt x="0" y="64"/>
                    <a:pt x="0" y="64"/>
                    <a:pt x="0" y="64"/>
                  </a:cubicBezTo>
                  <a:cubicBezTo>
                    <a:pt x="8" y="64"/>
                    <a:pt x="8" y="64"/>
                    <a:pt x="8" y="64"/>
                  </a:cubicBezTo>
                  <a:cubicBezTo>
                    <a:pt x="8" y="8"/>
                    <a:pt x="8" y="8"/>
                    <a:pt x="8" y="8"/>
                  </a:cubicBezTo>
                  <a:cubicBezTo>
                    <a:pt x="184" y="8"/>
                    <a:pt x="184" y="8"/>
                    <a:pt x="184" y="8"/>
                  </a:cubicBezTo>
                  <a:cubicBezTo>
                    <a:pt x="184" y="184"/>
                    <a:pt x="184" y="184"/>
                    <a:pt x="184" y="184"/>
                  </a:cubicBezTo>
                  <a:cubicBezTo>
                    <a:pt x="29" y="184"/>
                    <a:pt x="29" y="184"/>
                    <a:pt x="29" y="184"/>
                  </a:cubicBezTo>
                  <a:cubicBezTo>
                    <a:pt x="68" y="146"/>
                    <a:pt x="68" y="146"/>
                    <a:pt x="68" y="146"/>
                  </a:cubicBezTo>
                  <a:cubicBezTo>
                    <a:pt x="88" y="166"/>
                    <a:pt x="88" y="166"/>
                    <a:pt x="88" y="166"/>
                  </a:cubicBezTo>
                  <a:cubicBezTo>
                    <a:pt x="101" y="152"/>
                    <a:pt x="101" y="152"/>
                    <a:pt x="101" y="152"/>
                  </a:cubicBezTo>
                  <a:cubicBezTo>
                    <a:pt x="108" y="157"/>
                    <a:pt x="116" y="160"/>
                    <a:pt x="124" y="160"/>
                  </a:cubicBezTo>
                  <a:cubicBezTo>
                    <a:pt x="132" y="160"/>
                    <a:pt x="139" y="157"/>
                    <a:pt x="146" y="152"/>
                  </a:cubicBezTo>
                  <a:cubicBezTo>
                    <a:pt x="169" y="175"/>
                    <a:pt x="169" y="175"/>
                    <a:pt x="169" y="175"/>
                  </a:cubicBezTo>
                  <a:cubicBezTo>
                    <a:pt x="174" y="169"/>
                    <a:pt x="174" y="169"/>
                    <a:pt x="174" y="169"/>
                  </a:cubicBezTo>
                  <a:cubicBezTo>
                    <a:pt x="152" y="147"/>
                    <a:pt x="152" y="147"/>
                    <a:pt x="152" y="147"/>
                  </a:cubicBezTo>
                  <a:cubicBezTo>
                    <a:pt x="163" y="132"/>
                    <a:pt x="162" y="112"/>
                    <a:pt x="149" y="99"/>
                  </a:cubicBezTo>
                  <a:cubicBezTo>
                    <a:pt x="135" y="85"/>
                    <a:pt x="112" y="85"/>
                    <a:pt x="98" y="99"/>
                  </a:cubicBezTo>
                  <a:cubicBezTo>
                    <a:pt x="85" y="112"/>
                    <a:pt x="84" y="132"/>
                    <a:pt x="96" y="147"/>
                  </a:cubicBezTo>
                  <a:cubicBezTo>
                    <a:pt x="88" y="155"/>
                    <a:pt x="88" y="155"/>
                    <a:pt x="88" y="155"/>
                  </a:cubicBezTo>
                  <a:cubicBezTo>
                    <a:pt x="68" y="135"/>
                    <a:pt x="68" y="135"/>
                    <a:pt x="68" y="135"/>
                  </a:cubicBezTo>
                  <a:cubicBezTo>
                    <a:pt x="18" y="184"/>
                    <a:pt x="18" y="184"/>
                    <a:pt x="18" y="184"/>
                  </a:cubicBezTo>
                  <a:cubicBezTo>
                    <a:pt x="8" y="184"/>
                    <a:pt x="8" y="184"/>
                    <a:pt x="8" y="184"/>
                  </a:cubicBezTo>
                  <a:cubicBezTo>
                    <a:pt x="8" y="88"/>
                    <a:pt x="8" y="88"/>
                    <a:pt x="8" y="88"/>
                  </a:cubicBezTo>
                  <a:cubicBezTo>
                    <a:pt x="0" y="88"/>
                    <a:pt x="0" y="88"/>
                    <a:pt x="0" y="88"/>
                  </a:cubicBezTo>
                  <a:cubicBezTo>
                    <a:pt x="0" y="192"/>
                    <a:pt x="0" y="192"/>
                    <a:pt x="0" y="192"/>
                  </a:cubicBezTo>
                  <a:cubicBezTo>
                    <a:pt x="192" y="192"/>
                    <a:pt x="192" y="192"/>
                    <a:pt x="192" y="192"/>
                  </a:cubicBezTo>
                  <a:cubicBezTo>
                    <a:pt x="192" y="0"/>
                    <a:pt x="192" y="0"/>
                    <a:pt x="192" y="0"/>
                  </a:cubicBezTo>
                  <a:lnTo>
                    <a:pt x="0" y="0"/>
                  </a:lnTo>
                  <a:close/>
                </a:path>
              </a:pathLst>
            </a:custGeom>
            <a:grpFill/>
            <a:ln>
              <a:solidFill>
                <a:schemeClr val="bg2"/>
              </a:solid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sp>
          <p:nvSpPr>
            <p:cNvPr id="83" name="Google Shape;2518;p60">
              <a:extLst>
                <a:ext uri="{FF2B5EF4-FFF2-40B4-BE49-F238E27FC236}">
                  <a16:creationId xmlns:a16="http://schemas.microsoft.com/office/drawing/2014/main" id="{2317E1DB-4481-4510-593B-6C9116A7FE26}"/>
                </a:ext>
              </a:extLst>
            </p:cNvPr>
            <p:cNvSpPr/>
            <p:nvPr/>
          </p:nvSpPr>
          <p:spPr>
            <a:xfrm>
              <a:off x="4473921" y="4098786"/>
              <a:ext cx="88800" cy="17400"/>
            </a:xfrm>
            <a:prstGeom prst="rect">
              <a:avLst/>
            </a:prstGeom>
            <a:grpFill/>
            <a:ln>
              <a:solidFill>
                <a:schemeClr val="bg2"/>
              </a:solid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sp>
          <p:nvSpPr>
            <p:cNvPr id="84" name="Google Shape;2519;p60">
              <a:extLst>
                <a:ext uri="{FF2B5EF4-FFF2-40B4-BE49-F238E27FC236}">
                  <a16:creationId xmlns:a16="http://schemas.microsoft.com/office/drawing/2014/main" id="{0FDC1E99-C72E-DD4E-784A-30666A1DC6EC}"/>
                </a:ext>
              </a:extLst>
            </p:cNvPr>
            <p:cNvSpPr/>
            <p:nvPr/>
          </p:nvSpPr>
          <p:spPr>
            <a:xfrm>
              <a:off x="4580283" y="4098786"/>
              <a:ext cx="14400" cy="17400"/>
            </a:xfrm>
            <a:prstGeom prst="rect">
              <a:avLst/>
            </a:prstGeom>
            <a:grpFill/>
            <a:ln>
              <a:solidFill>
                <a:schemeClr val="bg2"/>
              </a:solid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sp>
          <p:nvSpPr>
            <p:cNvPr id="85" name="Google Shape;2520;p60">
              <a:extLst>
                <a:ext uri="{FF2B5EF4-FFF2-40B4-BE49-F238E27FC236}">
                  <a16:creationId xmlns:a16="http://schemas.microsoft.com/office/drawing/2014/main" id="{2FCDA242-5C10-242B-EE72-2937C8394CCA}"/>
                </a:ext>
              </a:extLst>
            </p:cNvPr>
            <p:cNvSpPr/>
            <p:nvPr/>
          </p:nvSpPr>
          <p:spPr>
            <a:xfrm>
              <a:off x="4542183" y="4133711"/>
              <a:ext cx="52500" cy="17400"/>
            </a:xfrm>
            <a:prstGeom prst="rect">
              <a:avLst/>
            </a:prstGeom>
            <a:grpFill/>
            <a:ln>
              <a:solidFill>
                <a:schemeClr val="bg2"/>
              </a:solid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sp>
          <p:nvSpPr>
            <p:cNvPr id="86" name="Google Shape;2521;p60">
              <a:extLst>
                <a:ext uri="{FF2B5EF4-FFF2-40B4-BE49-F238E27FC236}">
                  <a16:creationId xmlns:a16="http://schemas.microsoft.com/office/drawing/2014/main" id="{F36CE0C5-EE43-0852-D0FA-8B93D75605F6}"/>
                </a:ext>
              </a:extLst>
            </p:cNvPr>
            <p:cNvSpPr/>
            <p:nvPr/>
          </p:nvSpPr>
          <p:spPr>
            <a:xfrm>
              <a:off x="4491383" y="4133711"/>
              <a:ext cx="33300" cy="17400"/>
            </a:xfrm>
            <a:prstGeom prst="rect">
              <a:avLst/>
            </a:prstGeom>
            <a:grpFill/>
            <a:ln>
              <a:solidFill>
                <a:schemeClr val="bg2"/>
              </a:solid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sp>
          <p:nvSpPr>
            <p:cNvPr id="87" name="Google Shape;2522;p60">
              <a:extLst>
                <a:ext uri="{FF2B5EF4-FFF2-40B4-BE49-F238E27FC236}">
                  <a16:creationId xmlns:a16="http://schemas.microsoft.com/office/drawing/2014/main" id="{E191A2EC-AF98-CDFA-A649-E4D49FD1942F}"/>
                </a:ext>
              </a:extLst>
            </p:cNvPr>
            <p:cNvSpPr/>
            <p:nvPr/>
          </p:nvSpPr>
          <p:spPr>
            <a:xfrm>
              <a:off x="4313583" y="4257536"/>
              <a:ext cx="90600" cy="17400"/>
            </a:xfrm>
            <a:prstGeom prst="rect">
              <a:avLst/>
            </a:prstGeom>
            <a:grpFill/>
            <a:ln>
              <a:solidFill>
                <a:schemeClr val="bg2"/>
              </a:solid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sp>
          <p:nvSpPr>
            <p:cNvPr id="88" name="Google Shape;2523;p60">
              <a:extLst>
                <a:ext uri="{FF2B5EF4-FFF2-40B4-BE49-F238E27FC236}">
                  <a16:creationId xmlns:a16="http://schemas.microsoft.com/office/drawing/2014/main" id="{EC644B04-3C0C-130C-09DC-268602506B42}"/>
                </a:ext>
              </a:extLst>
            </p:cNvPr>
            <p:cNvSpPr/>
            <p:nvPr/>
          </p:nvSpPr>
          <p:spPr>
            <a:xfrm>
              <a:off x="4280246" y="4257536"/>
              <a:ext cx="18900" cy="17400"/>
            </a:xfrm>
            <a:prstGeom prst="rect">
              <a:avLst/>
            </a:prstGeom>
            <a:grpFill/>
            <a:ln>
              <a:solidFill>
                <a:schemeClr val="bg2"/>
              </a:solid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sp>
          <p:nvSpPr>
            <p:cNvPr id="89" name="Google Shape;2524;p60">
              <a:extLst>
                <a:ext uri="{FF2B5EF4-FFF2-40B4-BE49-F238E27FC236}">
                  <a16:creationId xmlns:a16="http://schemas.microsoft.com/office/drawing/2014/main" id="{F8ABD7CD-013C-CC0C-46B0-1AE5A99626EA}"/>
                </a:ext>
              </a:extLst>
            </p:cNvPr>
            <p:cNvSpPr/>
            <p:nvPr/>
          </p:nvSpPr>
          <p:spPr>
            <a:xfrm>
              <a:off x="4280246" y="4292461"/>
              <a:ext cx="50700" cy="17400"/>
            </a:xfrm>
            <a:prstGeom prst="rect">
              <a:avLst/>
            </a:prstGeom>
            <a:grpFill/>
            <a:ln>
              <a:solidFill>
                <a:schemeClr val="bg2"/>
              </a:solid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sp>
          <p:nvSpPr>
            <p:cNvPr id="90" name="Google Shape;2525;p60">
              <a:extLst>
                <a:ext uri="{FF2B5EF4-FFF2-40B4-BE49-F238E27FC236}">
                  <a16:creationId xmlns:a16="http://schemas.microsoft.com/office/drawing/2014/main" id="{7A237B6F-389E-15AF-7B03-82669B975966}"/>
                </a:ext>
              </a:extLst>
            </p:cNvPr>
            <p:cNvSpPr/>
            <p:nvPr/>
          </p:nvSpPr>
          <p:spPr>
            <a:xfrm>
              <a:off x="4351683" y="4292461"/>
              <a:ext cx="33300" cy="17400"/>
            </a:xfrm>
            <a:prstGeom prst="rect">
              <a:avLst/>
            </a:prstGeom>
            <a:grpFill/>
            <a:ln>
              <a:solidFill>
                <a:schemeClr val="bg2"/>
              </a:solid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grpSp>
      <p:grpSp>
        <p:nvGrpSpPr>
          <p:cNvPr id="91" name="Google Shape;2420;p59">
            <a:extLst>
              <a:ext uri="{FF2B5EF4-FFF2-40B4-BE49-F238E27FC236}">
                <a16:creationId xmlns:a16="http://schemas.microsoft.com/office/drawing/2014/main" id="{DC99F16D-BF10-4716-DDB4-D87AC30F5723}"/>
              </a:ext>
            </a:extLst>
          </p:cNvPr>
          <p:cNvGrpSpPr/>
          <p:nvPr/>
        </p:nvGrpSpPr>
        <p:grpSpPr>
          <a:xfrm>
            <a:off x="569108" y="5445349"/>
            <a:ext cx="519628" cy="519801"/>
            <a:chOff x="4774752" y="5030659"/>
            <a:chExt cx="420688" cy="420688"/>
          </a:xfrm>
          <a:solidFill>
            <a:schemeClr val="bg2"/>
          </a:solidFill>
        </p:grpSpPr>
        <p:sp>
          <p:nvSpPr>
            <p:cNvPr id="92" name="Google Shape;2421;p59">
              <a:extLst>
                <a:ext uri="{FF2B5EF4-FFF2-40B4-BE49-F238E27FC236}">
                  <a16:creationId xmlns:a16="http://schemas.microsoft.com/office/drawing/2014/main" id="{3AA160C5-1C4A-E3DC-7710-6910B8D574E7}"/>
                </a:ext>
              </a:extLst>
            </p:cNvPr>
            <p:cNvSpPr/>
            <p:nvPr/>
          </p:nvSpPr>
          <p:spPr>
            <a:xfrm>
              <a:off x="4774752" y="5030659"/>
              <a:ext cx="420688" cy="420688"/>
            </a:xfrm>
            <a:custGeom>
              <a:avLst/>
              <a:gdLst/>
              <a:ahLst/>
              <a:cxnLst/>
              <a:rect l="l" t="t" r="r" b="b"/>
              <a:pathLst>
                <a:path w="192" h="192" extrusionOk="0">
                  <a:moveTo>
                    <a:pt x="0" y="0"/>
                  </a:moveTo>
                  <a:cubicBezTo>
                    <a:pt x="0" y="192"/>
                    <a:pt x="0" y="192"/>
                    <a:pt x="0" y="192"/>
                  </a:cubicBezTo>
                  <a:cubicBezTo>
                    <a:pt x="192" y="192"/>
                    <a:pt x="192" y="192"/>
                    <a:pt x="192" y="192"/>
                  </a:cubicBezTo>
                  <a:cubicBezTo>
                    <a:pt x="192" y="0"/>
                    <a:pt x="192" y="0"/>
                    <a:pt x="192" y="0"/>
                  </a:cubicBezTo>
                  <a:lnTo>
                    <a:pt x="0" y="0"/>
                  </a:lnTo>
                  <a:close/>
                  <a:moveTo>
                    <a:pt x="153" y="133"/>
                  </a:moveTo>
                  <a:cubicBezTo>
                    <a:pt x="166" y="133"/>
                    <a:pt x="166" y="133"/>
                    <a:pt x="166" y="133"/>
                  </a:cubicBezTo>
                  <a:cubicBezTo>
                    <a:pt x="166" y="82"/>
                    <a:pt x="166" y="82"/>
                    <a:pt x="166" y="82"/>
                  </a:cubicBezTo>
                  <a:cubicBezTo>
                    <a:pt x="166" y="73"/>
                    <a:pt x="158" y="65"/>
                    <a:pt x="149" y="65"/>
                  </a:cubicBezTo>
                  <a:cubicBezTo>
                    <a:pt x="126" y="65"/>
                    <a:pt x="126" y="65"/>
                    <a:pt x="126" y="65"/>
                  </a:cubicBezTo>
                  <a:cubicBezTo>
                    <a:pt x="121" y="65"/>
                    <a:pt x="116" y="67"/>
                    <a:pt x="113" y="71"/>
                  </a:cubicBezTo>
                  <a:cubicBezTo>
                    <a:pt x="113" y="71"/>
                    <a:pt x="113" y="71"/>
                    <a:pt x="113" y="71"/>
                  </a:cubicBezTo>
                  <a:cubicBezTo>
                    <a:pt x="119" y="76"/>
                    <a:pt x="119" y="76"/>
                    <a:pt x="119" y="76"/>
                  </a:cubicBezTo>
                  <a:cubicBezTo>
                    <a:pt x="119" y="76"/>
                    <a:pt x="119" y="76"/>
                    <a:pt x="119" y="76"/>
                  </a:cubicBezTo>
                  <a:cubicBezTo>
                    <a:pt x="121" y="74"/>
                    <a:pt x="123" y="73"/>
                    <a:pt x="126" y="73"/>
                  </a:cubicBezTo>
                  <a:cubicBezTo>
                    <a:pt x="149" y="73"/>
                    <a:pt x="149" y="73"/>
                    <a:pt x="149" y="73"/>
                  </a:cubicBezTo>
                  <a:cubicBezTo>
                    <a:pt x="154" y="73"/>
                    <a:pt x="158" y="77"/>
                    <a:pt x="158" y="82"/>
                  </a:cubicBezTo>
                  <a:cubicBezTo>
                    <a:pt x="158" y="125"/>
                    <a:pt x="158" y="125"/>
                    <a:pt x="158" y="125"/>
                  </a:cubicBezTo>
                  <a:cubicBezTo>
                    <a:pt x="146" y="125"/>
                    <a:pt x="146" y="125"/>
                    <a:pt x="146" y="125"/>
                  </a:cubicBezTo>
                  <a:cubicBezTo>
                    <a:pt x="146" y="184"/>
                    <a:pt x="146" y="184"/>
                    <a:pt x="146" y="184"/>
                  </a:cubicBezTo>
                  <a:cubicBezTo>
                    <a:pt x="129" y="184"/>
                    <a:pt x="129" y="184"/>
                    <a:pt x="129" y="184"/>
                  </a:cubicBezTo>
                  <a:cubicBezTo>
                    <a:pt x="129" y="125"/>
                    <a:pt x="129" y="125"/>
                    <a:pt x="129" y="125"/>
                  </a:cubicBezTo>
                  <a:cubicBezTo>
                    <a:pt x="78" y="125"/>
                    <a:pt x="78" y="125"/>
                    <a:pt x="78" y="125"/>
                  </a:cubicBezTo>
                  <a:cubicBezTo>
                    <a:pt x="89" y="114"/>
                    <a:pt x="89" y="114"/>
                    <a:pt x="89" y="114"/>
                  </a:cubicBezTo>
                  <a:cubicBezTo>
                    <a:pt x="83" y="108"/>
                    <a:pt x="83" y="108"/>
                    <a:pt x="83" y="108"/>
                  </a:cubicBezTo>
                  <a:cubicBezTo>
                    <a:pt x="62" y="129"/>
                    <a:pt x="62" y="129"/>
                    <a:pt x="62" y="129"/>
                  </a:cubicBezTo>
                  <a:cubicBezTo>
                    <a:pt x="83" y="149"/>
                    <a:pt x="83" y="149"/>
                    <a:pt x="83" y="149"/>
                  </a:cubicBezTo>
                  <a:cubicBezTo>
                    <a:pt x="89" y="144"/>
                    <a:pt x="89" y="144"/>
                    <a:pt x="89" y="144"/>
                  </a:cubicBezTo>
                  <a:cubicBezTo>
                    <a:pt x="78" y="133"/>
                    <a:pt x="78" y="133"/>
                    <a:pt x="78" y="133"/>
                  </a:cubicBezTo>
                  <a:cubicBezTo>
                    <a:pt x="121" y="133"/>
                    <a:pt x="121" y="133"/>
                    <a:pt x="121" y="133"/>
                  </a:cubicBezTo>
                  <a:cubicBezTo>
                    <a:pt x="121" y="184"/>
                    <a:pt x="121" y="184"/>
                    <a:pt x="121" y="184"/>
                  </a:cubicBezTo>
                  <a:cubicBezTo>
                    <a:pt x="71" y="184"/>
                    <a:pt x="71" y="184"/>
                    <a:pt x="71" y="184"/>
                  </a:cubicBezTo>
                  <a:cubicBezTo>
                    <a:pt x="71" y="146"/>
                    <a:pt x="71" y="146"/>
                    <a:pt x="71" y="146"/>
                  </a:cubicBezTo>
                  <a:cubicBezTo>
                    <a:pt x="63" y="139"/>
                    <a:pt x="63" y="139"/>
                    <a:pt x="63" y="139"/>
                  </a:cubicBezTo>
                  <a:cubicBezTo>
                    <a:pt x="63" y="184"/>
                    <a:pt x="63" y="184"/>
                    <a:pt x="63" y="184"/>
                  </a:cubicBezTo>
                  <a:cubicBezTo>
                    <a:pt x="47" y="184"/>
                    <a:pt x="47" y="184"/>
                    <a:pt x="47" y="184"/>
                  </a:cubicBezTo>
                  <a:cubicBezTo>
                    <a:pt x="47" y="125"/>
                    <a:pt x="47" y="125"/>
                    <a:pt x="47" y="125"/>
                  </a:cubicBezTo>
                  <a:cubicBezTo>
                    <a:pt x="34" y="125"/>
                    <a:pt x="34" y="125"/>
                    <a:pt x="34" y="125"/>
                  </a:cubicBezTo>
                  <a:cubicBezTo>
                    <a:pt x="34" y="82"/>
                    <a:pt x="34" y="82"/>
                    <a:pt x="34" y="82"/>
                  </a:cubicBezTo>
                  <a:cubicBezTo>
                    <a:pt x="34" y="77"/>
                    <a:pt x="38" y="73"/>
                    <a:pt x="43" y="73"/>
                  </a:cubicBezTo>
                  <a:cubicBezTo>
                    <a:pt x="66" y="73"/>
                    <a:pt x="66" y="73"/>
                    <a:pt x="66" y="73"/>
                  </a:cubicBezTo>
                  <a:cubicBezTo>
                    <a:pt x="71" y="73"/>
                    <a:pt x="76" y="77"/>
                    <a:pt x="76" y="82"/>
                  </a:cubicBezTo>
                  <a:cubicBezTo>
                    <a:pt x="76" y="99"/>
                    <a:pt x="76" y="99"/>
                    <a:pt x="76" y="99"/>
                  </a:cubicBezTo>
                  <a:cubicBezTo>
                    <a:pt x="114" y="99"/>
                    <a:pt x="114" y="99"/>
                    <a:pt x="114" y="99"/>
                  </a:cubicBezTo>
                  <a:cubicBezTo>
                    <a:pt x="104" y="110"/>
                    <a:pt x="104" y="110"/>
                    <a:pt x="104" y="110"/>
                  </a:cubicBezTo>
                  <a:cubicBezTo>
                    <a:pt x="109" y="115"/>
                    <a:pt x="109" y="115"/>
                    <a:pt x="109" y="115"/>
                  </a:cubicBezTo>
                  <a:cubicBezTo>
                    <a:pt x="129" y="95"/>
                    <a:pt x="129" y="95"/>
                    <a:pt x="129" y="95"/>
                  </a:cubicBezTo>
                  <a:cubicBezTo>
                    <a:pt x="109" y="75"/>
                    <a:pt x="109" y="75"/>
                    <a:pt x="109" y="75"/>
                  </a:cubicBezTo>
                  <a:cubicBezTo>
                    <a:pt x="104" y="80"/>
                    <a:pt x="104" y="80"/>
                    <a:pt x="104" y="80"/>
                  </a:cubicBezTo>
                  <a:cubicBezTo>
                    <a:pt x="114" y="91"/>
                    <a:pt x="114" y="91"/>
                    <a:pt x="114" y="91"/>
                  </a:cubicBezTo>
                  <a:cubicBezTo>
                    <a:pt x="83" y="91"/>
                    <a:pt x="83" y="91"/>
                    <a:pt x="83" y="91"/>
                  </a:cubicBezTo>
                  <a:cubicBezTo>
                    <a:pt x="83" y="82"/>
                    <a:pt x="83" y="82"/>
                    <a:pt x="83" y="82"/>
                  </a:cubicBezTo>
                  <a:cubicBezTo>
                    <a:pt x="83" y="73"/>
                    <a:pt x="76" y="65"/>
                    <a:pt x="66" y="65"/>
                  </a:cubicBezTo>
                  <a:cubicBezTo>
                    <a:pt x="43" y="65"/>
                    <a:pt x="43" y="65"/>
                    <a:pt x="43" y="65"/>
                  </a:cubicBezTo>
                  <a:cubicBezTo>
                    <a:pt x="34" y="65"/>
                    <a:pt x="26" y="73"/>
                    <a:pt x="26" y="82"/>
                  </a:cubicBezTo>
                  <a:cubicBezTo>
                    <a:pt x="26" y="133"/>
                    <a:pt x="26" y="133"/>
                    <a:pt x="26" y="133"/>
                  </a:cubicBezTo>
                  <a:cubicBezTo>
                    <a:pt x="39" y="133"/>
                    <a:pt x="39" y="133"/>
                    <a:pt x="39" y="133"/>
                  </a:cubicBezTo>
                  <a:cubicBezTo>
                    <a:pt x="39" y="184"/>
                    <a:pt x="39" y="184"/>
                    <a:pt x="39" y="184"/>
                  </a:cubicBezTo>
                  <a:cubicBezTo>
                    <a:pt x="8" y="184"/>
                    <a:pt x="8" y="184"/>
                    <a:pt x="8" y="184"/>
                  </a:cubicBezTo>
                  <a:cubicBezTo>
                    <a:pt x="8" y="8"/>
                    <a:pt x="8" y="8"/>
                    <a:pt x="8" y="8"/>
                  </a:cubicBezTo>
                  <a:cubicBezTo>
                    <a:pt x="184" y="8"/>
                    <a:pt x="184" y="8"/>
                    <a:pt x="184" y="8"/>
                  </a:cubicBezTo>
                  <a:cubicBezTo>
                    <a:pt x="184" y="184"/>
                    <a:pt x="184" y="184"/>
                    <a:pt x="184" y="184"/>
                  </a:cubicBezTo>
                  <a:cubicBezTo>
                    <a:pt x="153" y="184"/>
                    <a:pt x="153" y="184"/>
                    <a:pt x="153" y="184"/>
                  </a:cubicBezTo>
                  <a:lnTo>
                    <a:pt x="153" y="133"/>
                  </a:lnTo>
                  <a:close/>
                </a:path>
              </a:pathLst>
            </a:custGeom>
            <a:grpFill/>
            <a:ln>
              <a:solidFill>
                <a:schemeClr val="bg2"/>
              </a:solid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sp>
          <p:nvSpPr>
            <p:cNvPr id="93" name="Google Shape;2422;p59">
              <a:extLst>
                <a:ext uri="{FF2B5EF4-FFF2-40B4-BE49-F238E27FC236}">
                  <a16:creationId xmlns:a16="http://schemas.microsoft.com/office/drawing/2014/main" id="{F91861F0-A553-0805-89EA-4D978C13681A}"/>
                </a:ext>
              </a:extLst>
            </p:cNvPr>
            <p:cNvSpPr/>
            <p:nvPr/>
          </p:nvSpPr>
          <p:spPr>
            <a:xfrm>
              <a:off x="4860477" y="5084634"/>
              <a:ext cx="69850" cy="73025"/>
            </a:xfrm>
            <a:custGeom>
              <a:avLst/>
              <a:gdLst/>
              <a:ahLst/>
              <a:cxnLst/>
              <a:rect l="l" t="t" r="r" b="b"/>
              <a:pathLst>
                <a:path w="32" h="33" extrusionOk="0">
                  <a:moveTo>
                    <a:pt x="16" y="0"/>
                  </a:moveTo>
                  <a:cubicBezTo>
                    <a:pt x="7" y="0"/>
                    <a:pt x="0" y="7"/>
                    <a:pt x="0" y="16"/>
                  </a:cubicBezTo>
                  <a:cubicBezTo>
                    <a:pt x="0" y="25"/>
                    <a:pt x="7" y="33"/>
                    <a:pt x="16" y="33"/>
                  </a:cubicBezTo>
                  <a:cubicBezTo>
                    <a:pt x="24" y="33"/>
                    <a:pt x="32" y="25"/>
                    <a:pt x="32" y="16"/>
                  </a:cubicBezTo>
                  <a:cubicBezTo>
                    <a:pt x="32" y="7"/>
                    <a:pt x="24" y="0"/>
                    <a:pt x="16" y="0"/>
                  </a:cubicBezTo>
                  <a:close/>
                  <a:moveTo>
                    <a:pt x="16" y="25"/>
                  </a:moveTo>
                  <a:cubicBezTo>
                    <a:pt x="11" y="25"/>
                    <a:pt x="8" y="21"/>
                    <a:pt x="8" y="16"/>
                  </a:cubicBezTo>
                  <a:cubicBezTo>
                    <a:pt x="8" y="12"/>
                    <a:pt x="11" y="8"/>
                    <a:pt x="16" y="8"/>
                  </a:cubicBezTo>
                  <a:cubicBezTo>
                    <a:pt x="20" y="8"/>
                    <a:pt x="24" y="12"/>
                    <a:pt x="24" y="16"/>
                  </a:cubicBezTo>
                  <a:cubicBezTo>
                    <a:pt x="24" y="21"/>
                    <a:pt x="20" y="25"/>
                    <a:pt x="16" y="25"/>
                  </a:cubicBezTo>
                  <a:close/>
                </a:path>
              </a:pathLst>
            </a:custGeom>
            <a:grpFill/>
            <a:ln>
              <a:solidFill>
                <a:schemeClr val="bg2"/>
              </a:solid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sp>
          <p:nvSpPr>
            <p:cNvPr id="94" name="Google Shape;2423;p59">
              <a:extLst>
                <a:ext uri="{FF2B5EF4-FFF2-40B4-BE49-F238E27FC236}">
                  <a16:creationId xmlns:a16="http://schemas.microsoft.com/office/drawing/2014/main" id="{CD896762-AD7E-1867-D1FD-9C6F8BE1EBFC}"/>
                </a:ext>
              </a:extLst>
            </p:cNvPr>
            <p:cNvSpPr/>
            <p:nvPr/>
          </p:nvSpPr>
          <p:spPr>
            <a:xfrm>
              <a:off x="5039865" y="5084634"/>
              <a:ext cx="69850" cy="73025"/>
            </a:xfrm>
            <a:custGeom>
              <a:avLst/>
              <a:gdLst/>
              <a:ahLst/>
              <a:cxnLst/>
              <a:rect l="l" t="t" r="r" b="b"/>
              <a:pathLst>
                <a:path w="32" h="33" extrusionOk="0">
                  <a:moveTo>
                    <a:pt x="17" y="0"/>
                  </a:moveTo>
                  <a:cubicBezTo>
                    <a:pt x="8" y="0"/>
                    <a:pt x="0" y="7"/>
                    <a:pt x="0" y="16"/>
                  </a:cubicBezTo>
                  <a:cubicBezTo>
                    <a:pt x="0" y="25"/>
                    <a:pt x="8" y="33"/>
                    <a:pt x="17" y="33"/>
                  </a:cubicBezTo>
                  <a:cubicBezTo>
                    <a:pt x="25" y="33"/>
                    <a:pt x="32" y="25"/>
                    <a:pt x="32" y="16"/>
                  </a:cubicBezTo>
                  <a:cubicBezTo>
                    <a:pt x="32" y="7"/>
                    <a:pt x="25" y="0"/>
                    <a:pt x="17" y="0"/>
                  </a:cubicBezTo>
                  <a:close/>
                  <a:moveTo>
                    <a:pt x="25" y="16"/>
                  </a:moveTo>
                  <a:cubicBezTo>
                    <a:pt x="25" y="21"/>
                    <a:pt x="21" y="25"/>
                    <a:pt x="17" y="25"/>
                  </a:cubicBezTo>
                  <a:cubicBezTo>
                    <a:pt x="12" y="25"/>
                    <a:pt x="8" y="21"/>
                    <a:pt x="8" y="16"/>
                  </a:cubicBezTo>
                  <a:cubicBezTo>
                    <a:pt x="8" y="12"/>
                    <a:pt x="12" y="8"/>
                    <a:pt x="17" y="8"/>
                  </a:cubicBezTo>
                  <a:cubicBezTo>
                    <a:pt x="21" y="8"/>
                    <a:pt x="25" y="12"/>
                    <a:pt x="25" y="16"/>
                  </a:cubicBezTo>
                  <a:close/>
                </a:path>
              </a:pathLst>
            </a:custGeom>
            <a:grpFill/>
            <a:ln>
              <a:solidFill>
                <a:schemeClr val="bg2"/>
              </a:solid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grpSp>
      <p:sp>
        <p:nvSpPr>
          <p:cNvPr id="95" name="Shape 10">
            <a:extLst>
              <a:ext uri="{FF2B5EF4-FFF2-40B4-BE49-F238E27FC236}">
                <a16:creationId xmlns:a16="http://schemas.microsoft.com/office/drawing/2014/main" id="{C25EAEBF-B42E-A4D1-93B2-CEE6703C0055}"/>
              </a:ext>
            </a:extLst>
          </p:cNvPr>
          <p:cNvSpPr/>
          <p:nvPr/>
        </p:nvSpPr>
        <p:spPr>
          <a:xfrm>
            <a:off x="356322" y="2663829"/>
            <a:ext cx="58139" cy="1085634"/>
          </a:xfrm>
          <a:prstGeom prst="rect">
            <a:avLst/>
          </a:prstGeom>
          <a:solidFill>
            <a:srgbClr val="CC0000"/>
          </a:solidFill>
          <a:ln w="12700">
            <a:solidFill>
              <a:srgbClr val="CC0000"/>
            </a:solidFill>
            <a:prstDash val="solid"/>
          </a:ln>
        </p:spPr>
        <p:txBody>
          <a:bodyPr/>
          <a:lstStyle/>
          <a:p>
            <a:endParaRPr lang="en-US"/>
          </a:p>
        </p:txBody>
      </p:sp>
      <p:sp>
        <p:nvSpPr>
          <p:cNvPr id="96" name="Shape 10">
            <a:extLst>
              <a:ext uri="{FF2B5EF4-FFF2-40B4-BE49-F238E27FC236}">
                <a16:creationId xmlns:a16="http://schemas.microsoft.com/office/drawing/2014/main" id="{63513F4A-DD2F-F447-F97F-714EB0495052}"/>
              </a:ext>
            </a:extLst>
          </p:cNvPr>
          <p:cNvSpPr/>
          <p:nvPr/>
        </p:nvSpPr>
        <p:spPr>
          <a:xfrm>
            <a:off x="361897" y="3917412"/>
            <a:ext cx="58139" cy="1085634"/>
          </a:xfrm>
          <a:prstGeom prst="rect">
            <a:avLst/>
          </a:prstGeom>
          <a:solidFill>
            <a:srgbClr val="CC0000"/>
          </a:solidFill>
          <a:ln w="12700">
            <a:solidFill>
              <a:srgbClr val="CC0000"/>
            </a:solidFill>
            <a:prstDash val="solid"/>
          </a:ln>
        </p:spPr>
        <p:txBody>
          <a:bodyPr/>
          <a:lstStyle/>
          <a:p>
            <a:endParaRPr lang="en-US"/>
          </a:p>
        </p:txBody>
      </p:sp>
      <p:sp>
        <p:nvSpPr>
          <p:cNvPr id="97" name="Shape 10">
            <a:extLst>
              <a:ext uri="{FF2B5EF4-FFF2-40B4-BE49-F238E27FC236}">
                <a16:creationId xmlns:a16="http://schemas.microsoft.com/office/drawing/2014/main" id="{A6529340-20F5-A371-FC36-BA3D9C0A6C51}"/>
              </a:ext>
            </a:extLst>
          </p:cNvPr>
          <p:cNvSpPr/>
          <p:nvPr/>
        </p:nvSpPr>
        <p:spPr>
          <a:xfrm>
            <a:off x="354088" y="5154821"/>
            <a:ext cx="58139" cy="1085634"/>
          </a:xfrm>
          <a:prstGeom prst="rect">
            <a:avLst/>
          </a:prstGeom>
          <a:solidFill>
            <a:srgbClr val="CC0000"/>
          </a:solidFill>
          <a:ln w="12700">
            <a:solidFill>
              <a:srgbClr val="CC0000"/>
            </a:solidFill>
            <a:prstDash val="solid"/>
          </a:ln>
        </p:spPr>
        <p:txBody>
          <a:bodyPr/>
          <a:lstStyle/>
          <a:p>
            <a:endParaRPr lang="en-US"/>
          </a:p>
        </p:txBody>
      </p:sp>
      <p:sp>
        <p:nvSpPr>
          <p:cNvPr id="8" name="Google Shape;840;p89">
            <a:extLst>
              <a:ext uri="{FF2B5EF4-FFF2-40B4-BE49-F238E27FC236}">
                <a16:creationId xmlns:a16="http://schemas.microsoft.com/office/drawing/2014/main" id="{FED48E39-11B1-7E5D-8E64-92FAD1EF3E2D}"/>
              </a:ext>
            </a:extLst>
          </p:cNvPr>
          <p:cNvSpPr txBox="1"/>
          <p:nvPr/>
        </p:nvSpPr>
        <p:spPr>
          <a:xfrm>
            <a:off x="3135068" y="6235127"/>
            <a:ext cx="4521177" cy="537331"/>
          </a:xfrm>
          <a:prstGeom prst="rect">
            <a:avLst/>
          </a:prstGeom>
          <a:noFill/>
          <a:ln>
            <a:noFill/>
          </a:ln>
        </p:spPr>
        <p:txBody>
          <a:bodyPr spcFirstLastPara="1" wrap="square" lIns="0" tIns="0" rIns="0" bIns="0" anchor="t" anchorCtr="0">
            <a:spAutoFit/>
          </a:bodyPr>
          <a:lstStyle/>
          <a:p>
            <a:pPr defTabSz="1219170">
              <a:buClr>
                <a:srgbClr val="000000"/>
              </a:buClr>
              <a:buSzPts val="1100"/>
            </a:pPr>
            <a:endParaRPr sz="1200" b="1" kern="0" dirty="0">
              <a:solidFill>
                <a:srgbClr val="FFFFFF"/>
              </a:solidFill>
              <a:highlight>
                <a:srgbClr val="E0301E"/>
              </a:highlight>
              <a:ea typeface="Helvetica Neue"/>
              <a:cs typeface="Helvetica Neue"/>
              <a:sym typeface="Helvetica Neue"/>
            </a:endParaRPr>
          </a:p>
          <a:p>
            <a:r>
              <a:rPr lang="en-US" sz="1100" i="1" dirty="0"/>
              <a:t>Source:  LTC visioning session with Eric Seidel, Aisha Florida, SBG </a:t>
            </a:r>
            <a:r>
              <a:rPr lang="en-US" sz="1100" i="1"/>
              <a:t>CCOs and PwC S/4 and Commercial team in January 2026.  </a:t>
            </a:r>
            <a:endParaRPr lang="en-US" sz="1100" i="1">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CC0000"/>
          </a:solidFill>
          <a:ln w="12700">
            <a:solidFill>
              <a:srgbClr val="CC0000"/>
            </a:solidFill>
            <a:prstDash val="solid"/>
          </a:ln>
        </p:spPr>
        <p:txBody>
          <a:bodyPr/>
          <a:lstStyle/>
          <a:p>
            <a:endParaRPr lang="en-US"/>
          </a:p>
        </p:txBody>
      </p:sp>
      <p:sp>
        <p:nvSpPr>
          <p:cNvPr id="3" name="Shape 1"/>
          <p:cNvSpPr/>
          <p:nvPr/>
        </p:nvSpPr>
        <p:spPr>
          <a:xfrm>
            <a:off x="0" y="54864"/>
            <a:ext cx="164592" cy="6803136"/>
          </a:xfrm>
          <a:prstGeom prst="rect">
            <a:avLst/>
          </a:prstGeom>
          <a:solidFill>
            <a:srgbClr val="111111"/>
          </a:solidFill>
          <a:ln w="12700">
            <a:solidFill>
              <a:srgbClr val="111111"/>
            </a:solidFill>
            <a:prstDash val="solid"/>
          </a:ln>
        </p:spPr>
        <p:txBody>
          <a:bodyPr/>
          <a:lstStyle/>
          <a:p>
            <a:endParaRPr lang="en-US"/>
          </a:p>
        </p:txBody>
      </p:sp>
      <p:sp>
        <p:nvSpPr>
          <p:cNvPr id="4" name="Text 2"/>
          <p:cNvSpPr/>
          <p:nvPr/>
        </p:nvSpPr>
        <p:spPr>
          <a:xfrm>
            <a:off x="329184" y="146304"/>
            <a:ext cx="10058400" cy="256032"/>
          </a:xfrm>
          <a:prstGeom prst="rect">
            <a:avLst/>
          </a:prstGeom>
          <a:noFill/>
          <a:ln/>
        </p:spPr>
        <p:txBody>
          <a:bodyPr wrap="square" lIns="0" tIns="0" rIns="0" bIns="0" rtlCol="0" anchor="ctr"/>
          <a:lstStyle/>
          <a:p>
            <a:pPr marL="0" indent="0">
              <a:buNone/>
            </a:pPr>
            <a:r>
              <a:rPr lang="en-US" sz="900" b="1" kern="0" spc="300" dirty="0">
                <a:solidFill>
                  <a:srgbClr val="CC0000"/>
                </a:solidFill>
                <a:latin typeface="Calibri" pitchFamily="34" charset="0"/>
                <a:ea typeface="Calibri" pitchFamily="34" charset="-122"/>
                <a:cs typeface="Calibri" pitchFamily="34" charset="-120"/>
              </a:rPr>
              <a:t>THE PROBLEM STATEMENT</a:t>
            </a:r>
            <a:endParaRPr lang="en-US" sz="900" dirty="0"/>
          </a:p>
        </p:txBody>
      </p:sp>
      <p:sp>
        <p:nvSpPr>
          <p:cNvPr id="5" name="Text 3"/>
          <p:cNvSpPr/>
          <p:nvPr/>
        </p:nvSpPr>
        <p:spPr>
          <a:xfrm>
            <a:off x="329184" y="420624"/>
            <a:ext cx="10515600" cy="530352"/>
          </a:xfrm>
          <a:prstGeom prst="rect">
            <a:avLst/>
          </a:prstGeom>
          <a:noFill/>
          <a:ln/>
        </p:spPr>
        <p:txBody>
          <a:bodyPr wrap="square" lIns="0" tIns="0" rIns="0" bIns="0" rtlCol="0" anchor="ctr"/>
          <a:lstStyle/>
          <a:p>
            <a:pPr marL="0" indent="0">
              <a:buNone/>
            </a:pPr>
            <a:r>
              <a:rPr lang="en-US" sz="2300" b="1" dirty="0">
                <a:solidFill>
                  <a:srgbClr val="1F1F1F"/>
                </a:solidFill>
                <a:latin typeface="Calibri" pitchFamily="34" charset="0"/>
                <a:ea typeface="Calibri" pitchFamily="34" charset="-122"/>
                <a:cs typeface="Calibri" pitchFamily="34" charset="-120"/>
              </a:rPr>
              <a:t>The front office today: fragmented, manual, and misaligned</a:t>
            </a:r>
            <a:endParaRPr lang="en-US" sz="2300" dirty="0"/>
          </a:p>
        </p:txBody>
      </p:sp>
      <p:sp>
        <p:nvSpPr>
          <p:cNvPr id="6" name="Shape 4"/>
          <p:cNvSpPr/>
          <p:nvPr/>
        </p:nvSpPr>
        <p:spPr>
          <a:xfrm>
            <a:off x="329184" y="969264"/>
            <a:ext cx="11667744" cy="20117"/>
          </a:xfrm>
          <a:prstGeom prst="rect">
            <a:avLst/>
          </a:prstGeom>
          <a:solidFill>
            <a:srgbClr val="D4D4D4"/>
          </a:solidFill>
          <a:ln w="12700">
            <a:solidFill>
              <a:srgbClr val="D4D4D4"/>
            </a:solidFill>
            <a:prstDash val="solid"/>
          </a:ln>
        </p:spPr>
        <p:txBody>
          <a:bodyPr/>
          <a:lstStyle/>
          <a:p>
            <a:endParaRPr lang="en-US"/>
          </a:p>
        </p:txBody>
      </p:sp>
      <p:sp>
        <p:nvSpPr>
          <p:cNvPr id="7" name="Text 5"/>
          <p:cNvSpPr/>
          <p:nvPr/>
        </p:nvSpPr>
        <p:spPr>
          <a:xfrm>
            <a:off x="11475720" y="109728"/>
            <a:ext cx="640080" cy="502920"/>
          </a:xfrm>
          <a:prstGeom prst="rect">
            <a:avLst/>
          </a:prstGeom>
          <a:noFill/>
          <a:ln/>
        </p:spPr>
        <p:txBody>
          <a:bodyPr wrap="square" lIns="0" tIns="0" rIns="0" bIns="0" rtlCol="0" anchor="ctr"/>
          <a:lstStyle/>
          <a:p>
            <a:pPr marL="0" indent="0" algn="r">
              <a:buNone/>
            </a:pPr>
            <a:r>
              <a:rPr lang="en-US" sz="2200" b="1" dirty="0">
                <a:solidFill>
                  <a:srgbClr val="CC0000"/>
                </a:solidFill>
                <a:latin typeface="Calibri" pitchFamily="34" charset="0"/>
                <a:ea typeface="Calibri" pitchFamily="34" charset="-122"/>
                <a:cs typeface="Calibri" pitchFamily="34" charset="-120"/>
              </a:rPr>
              <a:t>04</a:t>
            </a:r>
            <a:endParaRPr lang="en-US" sz="2200" dirty="0"/>
          </a:p>
        </p:txBody>
      </p:sp>
      <p:sp>
        <p:nvSpPr>
          <p:cNvPr id="9" name="Shape 7"/>
          <p:cNvSpPr/>
          <p:nvPr/>
        </p:nvSpPr>
        <p:spPr>
          <a:xfrm>
            <a:off x="0" y="6675120"/>
            <a:ext cx="164592" cy="182880"/>
          </a:xfrm>
          <a:prstGeom prst="rect">
            <a:avLst/>
          </a:prstGeom>
          <a:solidFill>
            <a:srgbClr val="111111"/>
          </a:solidFill>
          <a:ln w="12700">
            <a:solidFill>
              <a:srgbClr val="111111"/>
            </a:solidFill>
            <a:prstDash val="solid"/>
          </a:ln>
        </p:spPr>
        <p:txBody>
          <a:bodyPr/>
          <a:lstStyle/>
          <a:p>
            <a:endParaRPr lang="en-US"/>
          </a:p>
        </p:txBody>
      </p:sp>
      <p:sp>
        <p:nvSpPr>
          <p:cNvPr id="11" name="Shape 9"/>
          <p:cNvSpPr/>
          <p:nvPr/>
        </p:nvSpPr>
        <p:spPr>
          <a:xfrm>
            <a:off x="329184" y="1133856"/>
            <a:ext cx="2798064" cy="1261872"/>
          </a:xfrm>
          <a:prstGeom prst="rect">
            <a:avLst/>
          </a:prstGeom>
          <a:solidFill>
            <a:srgbClr val="FFFFFF"/>
          </a:solidFill>
          <a:ln w="10160">
            <a:solidFill>
              <a:srgbClr val="D4D4D4"/>
            </a:solidFill>
            <a:prstDash val="solid"/>
          </a:ln>
          <a:effectLst>
            <a:outerShdw blurRad="63500" dist="25400" dir="8100000" algn="bl" rotWithShape="0">
              <a:srgbClr val="000000">
                <a:alpha val="7000"/>
              </a:srgbClr>
            </a:outerShdw>
          </a:effectLst>
        </p:spPr>
        <p:txBody>
          <a:bodyPr/>
          <a:lstStyle/>
          <a:p>
            <a:endParaRPr lang="en-US"/>
          </a:p>
        </p:txBody>
      </p:sp>
      <p:sp>
        <p:nvSpPr>
          <p:cNvPr id="12" name="Shape 10"/>
          <p:cNvSpPr/>
          <p:nvPr/>
        </p:nvSpPr>
        <p:spPr>
          <a:xfrm>
            <a:off x="329184" y="1133856"/>
            <a:ext cx="2798064" cy="50292"/>
          </a:xfrm>
          <a:prstGeom prst="rect">
            <a:avLst/>
          </a:prstGeom>
          <a:solidFill>
            <a:srgbClr val="CC0000"/>
          </a:solidFill>
          <a:ln w="12700">
            <a:solidFill>
              <a:srgbClr val="CC0000"/>
            </a:solidFill>
            <a:prstDash val="solid"/>
          </a:ln>
        </p:spPr>
        <p:txBody>
          <a:bodyPr/>
          <a:lstStyle/>
          <a:p>
            <a:endParaRPr lang="en-US"/>
          </a:p>
        </p:txBody>
      </p:sp>
      <p:sp>
        <p:nvSpPr>
          <p:cNvPr id="13" name="Text 11"/>
          <p:cNvSpPr/>
          <p:nvPr/>
        </p:nvSpPr>
        <p:spPr>
          <a:xfrm>
            <a:off x="329184" y="1207008"/>
            <a:ext cx="2798064" cy="658368"/>
          </a:xfrm>
          <a:prstGeom prst="rect">
            <a:avLst/>
          </a:prstGeom>
          <a:noFill/>
          <a:ln/>
        </p:spPr>
        <p:txBody>
          <a:bodyPr wrap="square" lIns="0" tIns="0" rIns="0" bIns="0" rtlCol="0" anchor="ctr"/>
          <a:lstStyle/>
          <a:p>
            <a:pPr marL="0" indent="0" algn="ctr">
              <a:buNone/>
            </a:pPr>
            <a:r>
              <a:rPr lang="en-US" sz="4200" b="1" dirty="0">
                <a:solidFill>
                  <a:srgbClr val="CC0000"/>
                </a:solidFill>
                <a:latin typeface="Calibri" pitchFamily="34" charset="0"/>
                <a:ea typeface="Calibri" pitchFamily="34" charset="-122"/>
                <a:cs typeface="Calibri" pitchFamily="34" charset="-120"/>
              </a:rPr>
              <a:t>52+</a:t>
            </a:r>
            <a:endParaRPr lang="en-US" sz="4200" dirty="0"/>
          </a:p>
        </p:txBody>
      </p:sp>
      <p:sp>
        <p:nvSpPr>
          <p:cNvPr id="14" name="Text 12"/>
          <p:cNvSpPr/>
          <p:nvPr/>
        </p:nvSpPr>
        <p:spPr>
          <a:xfrm>
            <a:off x="329184" y="1837944"/>
            <a:ext cx="2798064" cy="475488"/>
          </a:xfrm>
          <a:prstGeom prst="rect">
            <a:avLst/>
          </a:prstGeom>
          <a:noFill/>
          <a:ln/>
        </p:spPr>
        <p:txBody>
          <a:bodyPr wrap="square" lIns="0" tIns="0" rIns="0" bIns="0" rtlCol="0" anchor="ctr"/>
          <a:lstStyle/>
          <a:p>
            <a:pPr marL="0" indent="0" algn="ctr">
              <a:buNone/>
            </a:pPr>
            <a:r>
              <a:rPr lang="en-US" sz="1100" dirty="0">
                <a:solidFill>
                  <a:srgbClr val="777777"/>
                </a:solidFill>
                <a:latin typeface="Calibri" pitchFamily="34" charset="0"/>
                <a:ea typeface="Calibri" pitchFamily="34" charset="-122"/>
                <a:cs typeface="Calibri" pitchFamily="34" charset="-120"/>
              </a:rPr>
              <a:t>Friction points</a:t>
            </a:r>
            <a:endParaRPr lang="en-US" sz="1100" dirty="0"/>
          </a:p>
          <a:p>
            <a:pPr marL="0" indent="0" algn="ctr">
              <a:buNone/>
            </a:pPr>
            <a:r>
              <a:rPr lang="en-US" sz="1100" dirty="0">
                <a:solidFill>
                  <a:srgbClr val="777777"/>
                </a:solidFill>
                <a:latin typeface="Calibri" pitchFamily="34" charset="0"/>
                <a:ea typeface="Calibri" pitchFamily="34" charset="-122"/>
                <a:cs typeface="Calibri" pitchFamily="34" charset="-120"/>
              </a:rPr>
              <a:t>Inquiry → Order</a:t>
            </a:r>
            <a:endParaRPr lang="en-US" sz="1100" dirty="0"/>
          </a:p>
        </p:txBody>
      </p:sp>
      <p:sp>
        <p:nvSpPr>
          <p:cNvPr id="15" name="Shape 13"/>
          <p:cNvSpPr/>
          <p:nvPr/>
        </p:nvSpPr>
        <p:spPr>
          <a:xfrm>
            <a:off x="3255264" y="1133856"/>
            <a:ext cx="2798064" cy="1261872"/>
          </a:xfrm>
          <a:prstGeom prst="rect">
            <a:avLst/>
          </a:prstGeom>
          <a:solidFill>
            <a:srgbClr val="FFFFFF"/>
          </a:solidFill>
          <a:ln w="10160">
            <a:solidFill>
              <a:srgbClr val="D4D4D4"/>
            </a:solidFill>
            <a:prstDash val="solid"/>
          </a:ln>
          <a:effectLst>
            <a:outerShdw blurRad="63500" dist="25400" dir="8100000" algn="bl" rotWithShape="0">
              <a:srgbClr val="000000">
                <a:alpha val="7000"/>
              </a:srgbClr>
            </a:outerShdw>
          </a:effectLst>
        </p:spPr>
        <p:txBody>
          <a:bodyPr/>
          <a:lstStyle/>
          <a:p>
            <a:endParaRPr lang="en-US"/>
          </a:p>
        </p:txBody>
      </p:sp>
      <p:sp>
        <p:nvSpPr>
          <p:cNvPr id="16" name="Shape 14"/>
          <p:cNvSpPr/>
          <p:nvPr/>
        </p:nvSpPr>
        <p:spPr>
          <a:xfrm>
            <a:off x="3255264" y="1133856"/>
            <a:ext cx="2798064" cy="50292"/>
          </a:xfrm>
          <a:prstGeom prst="rect">
            <a:avLst/>
          </a:prstGeom>
          <a:solidFill>
            <a:srgbClr val="111111"/>
          </a:solidFill>
          <a:ln w="12700">
            <a:solidFill>
              <a:srgbClr val="111111"/>
            </a:solidFill>
            <a:prstDash val="solid"/>
          </a:ln>
        </p:spPr>
        <p:txBody>
          <a:bodyPr/>
          <a:lstStyle/>
          <a:p>
            <a:endParaRPr lang="en-US"/>
          </a:p>
        </p:txBody>
      </p:sp>
      <p:sp>
        <p:nvSpPr>
          <p:cNvPr id="17" name="Text 15"/>
          <p:cNvSpPr/>
          <p:nvPr/>
        </p:nvSpPr>
        <p:spPr>
          <a:xfrm>
            <a:off x="3255264" y="1207008"/>
            <a:ext cx="2798064" cy="658368"/>
          </a:xfrm>
          <a:prstGeom prst="rect">
            <a:avLst/>
          </a:prstGeom>
          <a:noFill/>
          <a:ln/>
        </p:spPr>
        <p:txBody>
          <a:bodyPr wrap="square" lIns="0" tIns="0" rIns="0" bIns="0" rtlCol="0" anchor="ctr"/>
          <a:lstStyle/>
          <a:p>
            <a:pPr marL="0" indent="0" algn="ctr">
              <a:buNone/>
            </a:pPr>
            <a:r>
              <a:rPr lang="en-US" sz="4200" b="1" dirty="0">
                <a:solidFill>
                  <a:srgbClr val="1F1F1F"/>
                </a:solidFill>
                <a:latin typeface="Calibri" pitchFamily="34" charset="0"/>
                <a:ea typeface="Calibri" pitchFamily="34" charset="-122"/>
                <a:cs typeface="Calibri" pitchFamily="34" charset="-120"/>
              </a:rPr>
              <a:t>4–5</a:t>
            </a:r>
            <a:endParaRPr lang="en-US" sz="4200" dirty="0"/>
          </a:p>
        </p:txBody>
      </p:sp>
      <p:sp>
        <p:nvSpPr>
          <p:cNvPr id="18" name="Text 16"/>
          <p:cNvSpPr/>
          <p:nvPr/>
        </p:nvSpPr>
        <p:spPr>
          <a:xfrm>
            <a:off x="3255264" y="1837944"/>
            <a:ext cx="2798064" cy="475488"/>
          </a:xfrm>
          <a:prstGeom prst="rect">
            <a:avLst/>
          </a:prstGeom>
          <a:noFill/>
          <a:ln/>
        </p:spPr>
        <p:txBody>
          <a:bodyPr wrap="square" lIns="0" tIns="0" rIns="0" bIns="0" rtlCol="0" anchor="ctr"/>
          <a:lstStyle/>
          <a:p>
            <a:pPr marL="0" indent="0" algn="ctr">
              <a:buNone/>
            </a:pPr>
            <a:r>
              <a:rPr lang="en-US" sz="1100" dirty="0">
                <a:solidFill>
                  <a:srgbClr val="777777"/>
                </a:solidFill>
                <a:latin typeface="Calibri" pitchFamily="34" charset="0"/>
                <a:ea typeface="Calibri" pitchFamily="34" charset="-122"/>
                <a:cs typeface="Calibri" pitchFamily="34" charset="-120"/>
              </a:rPr>
              <a:t>Salesforce</a:t>
            </a:r>
            <a:endParaRPr lang="en-US" sz="1100" dirty="0"/>
          </a:p>
          <a:p>
            <a:pPr marL="0" indent="0" algn="ctr">
              <a:buNone/>
            </a:pPr>
            <a:r>
              <a:rPr lang="en-US" sz="1100" dirty="0">
                <a:solidFill>
                  <a:srgbClr val="777777"/>
                </a:solidFill>
                <a:latin typeface="Calibri" pitchFamily="34" charset="0"/>
                <a:ea typeface="Calibri" pitchFamily="34" charset="-122"/>
                <a:cs typeface="Calibri" pitchFamily="34" charset="-120"/>
              </a:rPr>
              <a:t>instances</a:t>
            </a:r>
            <a:endParaRPr lang="en-US" sz="1100" dirty="0"/>
          </a:p>
        </p:txBody>
      </p:sp>
      <p:sp>
        <p:nvSpPr>
          <p:cNvPr id="19" name="Shape 17"/>
          <p:cNvSpPr/>
          <p:nvPr/>
        </p:nvSpPr>
        <p:spPr>
          <a:xfrm>
            <a:off x="6181344" y="1133856"/>
            <a:ext cx="2798064" cy="1261872"/>
          </a:xfrm>
          <a:prstGeom prst="rect">
            <a:avLst/>
          </a:prstGeom>
          <a:solidFill>
            <a:srgbClr val="FFFFFF"/>
          </a:solidFill>
          <a:ln w="10160">
            <a:solidFill>
              <a:srgbClr val="D4D4D4"/>
            </a:solidFill>
            <a:prstDash val="solid"/>
          </a:ln>
          <a:effectLst>
            <a:outerShdw blurRad="63500" dist="25400" dir="8100000" algn="bl" rotWithShape="0">
              <a:srgbClr val="000000">
                <a:alpha val="7000"/>
              </a:srgbClr>
            </a:outerShdw>
          </a:effectLst>
        </p:spPr>
        <p:txBody>
          <a:bodyPr/>
          <a:lstStyle/>
          <a:p>
            <a:endParaRPr lang="en-US"/>
          </a:p>
        </p:txBody>
      </p:sp>
      <p:sp>
        <p:nvSpPr>
          <p:cNvPr id="20" name="Shape 18"/>
          <p:cNvSpPr/>
          <p:nvPr/>
        </p:nvSpPr>
        <p:spPr>
          <a:xfrm>
            <a:off x="6181344" y="1133856"/>
            <a:ext cx="2798064" cy="50292"/>
          </a:xfrm>
          <a:prstGeom prst="rect">
            <a:avLst/>
          </a:prstGeom>
          <a:solidFill>
            <a:srgbClr val="111111"/>
          </a:solidFill>
          <a:ln w="12700">
            <a:solidFill>
              <a:srgbClr val="111111"/>
            </a:solidFill>
            <a:prstDash val="solid"/>
          </a:ln>
        </p:spPr>
        <p:txBody>
          <a:bodyPr/>
          <a:lstStyle/>
          <a:p>
            <a:endParaRPr lang="en-US"/>
          </a:p>
        </p:txBody>
      </p:sp>
      <p:sp>
        <p:nvSpPr>
          <p:cNvPr id="21" name="Text 19"/>
          <p:cNvSpPr/>
          <p:nvPr/>
        </p:nvSpPr>
        <p:spPr>
          <a:xfrm>
            <a:off x="6181344" y="1207008"/>
            <a:ext cx="2798064" cy="658368"/>
          </a:xfrm>
          <a:prstGeom prst="rect">
            <a:avLst/>
          </a:prstGeom>
          <a:noFill/>
          <a:ln/>
        </p:spPr>
        <p:txBody>
          <a:bodyPr wrap="square" lIns="0" tIns="0" rIns="0" bIns="0" rtlCol="0" anchor="ctr"/>
          <a:lstStyle/>
          <a:p>
            <a:pPr marL="0" indent="0" algn="ctr">
              <a:buNone/>
            </a:pPr>
            <a:r>
              <a:rPr lang="en-US" sz="4200" b="1" dirty="0">
                <a:solidFill>
                  <a:srgbClr val="1F1F1F"/>
                </a:solidFill>
                <a:latin typeface="Calibri" pitchFamily="34" charset="0"/>
                <a:ea typeface="Calibri" pitchFamily="34" charset="-122"/>
                <a:cs typeface="Calibri" pitchFamily="34" charset="-120"/>
              </a:rPr>
              <a:t>38</a:t>
            </a:r>
            <a:endParaRPr lang="en-US" sz="4200" dirty="0"/>
          </a:p>
        </p:txBody>
      </p:sp>
      <p:sp>
        <p:nvSpPr>
          <p:cNvPr id="22" name="Text 20"/>
          <p:cNvSpPr/>
          <p:nvPr/>
        </p:nvSpPr>
        <p:spPr>
          <a:xfrm>
            <a:off x="6181344" y="1837944"/>
            <a:ext cx="2798064" cy="475488"/>
          </a:xfrm>
          <a:prstGeom prst="rect">
            <a:avLst/>
          </a:prstGeom>
          <a:noFill/>
          <a:ln/>
        </p:spPr>
        <p:txBody>
          <a:bodyPr wrap="square" lIns="0" tIns="0" rIns="0" bIns="0" rtlCol="0" anchor="ctr"/>
          <a:lstStyle/>
          <a:p>
            <a:pPr marL="0" indent="0" algn="ctr">
              <a:buNone/>
            </a:pPr>
            <a:r>
              <a:rPr lang="en-US" sz="1100" dirty="0">
                <a:solidFill>
                  <a:srgbClr val="777777"/>
                </a:solidFill>
                <a:latin typeface="Calibri" pitchFamily="34" charset="0"/>
                <a:ea typeface="Calibri" pitchFamily="34" charset="-122"/>
                <a:cs typeface="Calibri" pitchFamily="34" charset="-120"/>
              </a:rPr>
              <a:t>Integrations at</a:t>
            </a:r>
            <a:endParaRPr lang="en-US" sz="1100" dirty="0"/>
          </a:p>
          <a:p>
            <a:pPr marL="0" indent="0" algn="ctr">
              <a:buNone/>
            </a:pPr>
            <a:r>
              <a:rPr lang="en-US" sz="1100" dirty="0">
                <a:solidFill>
                  <a:srgbClr val="777777"/>
                </a:solidFill>
                <a:latin typeface="Calibri" pitchFamily="34" charset="0"/>
                <a:ea typeface="Calibri" pitchFamily="34" charset="-122"/>
                <a:cs typeface="Calibri" pitchFamily="34" charset="-120"/>
              </a:rPr>
              <a:t>S/4 risk</a:t>
            </a:r>
            <a:endParaRPr lang="en-US" sz="1100" dirty="0"/>
          </a:p>
        </p:txBody>
      </p:sp>
      <p:sp>
        <p:nvSpPr>
          <p:cNvPr id="23" name="Shape 21"/>
          <p:cNvSpPr/>
          <p:nvPr/>
        </p:nvSpPr>
        <p:spPr>
          <a:xfrm>
            <a:off x="9107424" y="1133856"/>
            <a:ext cx="2798064" cy="1261872"/>
          </a:xfrm>
          <a:prstGeom prst="rect">
            <a:avLst/>
          </a:prstGeom>
          <a:solidFill>
            <a:srgbClr val="FFFFFF"/>
          </a:solidFill>
          <a:ln w="10160">
            <a:solidFill>
              <a:srgbClr val="D4D4D4"/>
            </a:solidFill>
            <a:prstDash val="solid"/>
          </a:ln>
          <a:effectLst>
            <a:outerShdw blurRad="63500" dist="25400" dir="8100000" algn="bl" rotWithShape="0">
              <a:srgbClr val="000000">
                <a:alpha val="7000"/>
              </a:srgbClr>
            </a:outerShdw>
          </a:effectLst>
        </p:spPr>
        <p:txBody>
          <a:bodyPr/>
          <a:lstStyle/>
          <a:p>
            <a:endParaRPr lang="en-US"/>
          </a:p>
        </p:txBody>
      </p:sp>
      <p:sp>
        <p:nvSpPr>
          <p:cNvPr id="24" name="Shape 22"/>
          <p:cNvSpPr/>
          <p:nvPr/>
        </p:nvSpPr>
        <p:spPr>
          <a:xfrm>
            <a:off x="9107424" y="1133856"/>
            <a:ext cx="2798064" cy="50292"/>
          </a:xfrm>
          <a:prstGeom prst="rect">
            <a:avLst/>
          </a:prstGeom>
          <a:solidFill>
            <a:srgbClr val="111111"/>
          </a:solidFill>
          <a:ln w="12700">
            <a:solidFill>
              <a:srgbClr val="111111"/>
            </a:solidFill>
            <a:prstDash val="solid"/>
          </a:ln>
        </p:spPr>
        <p:txBody>
          <a:bodyPr/>
          <a:lstStyle/>
          <a:p>
            <a:endParaRPr lang="en-US"/>
          </a:p>
        </p:txBody>
      </p:sp>
      <p:sp>
        <p:nvSpPr>
          <p:cNvPr id="25" name="Text 23"/>
          <p:cNvSpPr/>
          <p:nvPr/>
        </p:nvSpPr>
        <p:spPr>
          <a:xfrm>
            <a:off x="9107424" y="1207008"/>
            <a:ext cx="2798064" cy="658368"/>
          </a:xfrm>
          <a:prstGeom prst="rect">
            <a:avLst/>
          </a:prstGeom>
          <a:noFill/>
          <a:ln/>
        </p:spPr>
        <p:txBody>
          <a:bodyPr wrap="square" lIns="0" tIns="0" rIns="0" bIns="0" rtlCol="0" anchor="ctr"/>
          <a:lstStyle/>
          <a:p>
            <a:pPr marL="0" indent="0" algn="ctr">
              <a:buNone/>
            </a:pPr>
            <a:r>
              <a:rPr lang="en-US" sz="4200" b="1" dirty="0">
                <a:solidFill>
                  <a:srgbClr val="1F1F1F"/>
                </a:solidFill>
                <a:latin typeface="Calibri" pitchFamily="34" charset="0"/>
                <a:ea typeface="Calibri" pitchFamily="34" charset="-122"/>
                <a:cs typeface="Calibri" pitchFamily="34" charset="-120"/>
              </a:rPr>
              <a:t>6</a:t>
            </a:r>
            <a:endParaRPr lang="en-US" sz="4200" dirty="0"/>
          </a:p>
        </p:txBody>
      </p:sp>
      <p:sp>
        <p:nvSpPr>
          <p:cNvPr id="26" name="Text 24"/>
          <p:cNvSpPr/>
          <p:nvPr/>
        </p:nvSpPr>
        <p:spPr>
          <a:xfrm>
            <a:off x="9107424" y="1837944"/>
            <a:ext cx="2798064" cy="475488"/>
          </a:xfrm>
          <a:prstGeom prst="rect">
            <a:avLst/>
          </a:prstGeom>
          <a:noFill/>
          <a:ln/>
        </p:spPr>
        <p:txBody>
          <a:bodyPr wrap="square" lIns="0" tIns="0" rIns="0" bIns="0" rtlCol="0" anchor="ctr"/>
          <a:lstStyle/>
          <a:p>
            <a:pPr marL="0" indent="0" algn="ctr">
              <a:buNone/>
            </a:pPr>
            <a:r>
              <a:rPr lang="en-US" sz="1100" dirty="0">
                <a:solidFill>
                  <a:srgbClr val="777777"/>
                </a:solidFill>
                <a:latin typeface="Calibri" pitchFamily="34" charset="0"/>
                <a:ea typeface="Calibri" pitchFamily="34" charset="-122"/>
                <a:cs typeface="Calibri" pitchFamily="34" charset="-120"/>
              </a:rPr>
              <a:t>Marketo</a:t>
            </a:r>
            <a:endParaRPr lang="en-US" sz="1100" dirty="0"/>
          </a:p>
          <a:p>
            <a:pPr marL="0" indent="0" algn="ctr">
              <a:buNone/>
            </a:pPr>
            <a:r>
              <a:rPr lang="en-US" sz="1100" dirty="0">
                <a:solidFill>
                  <a:srgbClr val="777777"/>
                </a:solidFill>
                <a:latin typeface="Calibri" pitchFamily="34" charset="0"/>
                <a:ea typeface="Calibri" pitchFamily="34" charset="-122"/>
                <a:cs typeface="Calibri" pitchFamily="34" charset="-120"/>
              </a:rPr>
              <a:t>instances</a:t>
            </a:r>
            <a:endParaRPr lang="en-US" sz="1100" dirty="0"/>
          </a:p>
        </p:txBody>
      </p:sp>
      <p:sp>
        <p:nvSpPr>
          <p:cNvPr id="27" name="Shape 25"/>
          <p:cNvSpPr/>
          <p:nvPr/>
        </p:nvSpPr>
        <p:spPr>
          <a:xfrm>
            <a:off x="329184" y="2578608"/>
            <a:ext cx="5687568" cy="1828800"/>
          </a:xfrm>
          <a:prstGeom prst="rect">
            <a:avLst/>
          </a:prstGeom>
          <a:solidFill>
            <a:srgbClr val="FFFFFF"/>
          </a:solidFill>
          <a:ln w="10160">
            <a:solidFill>
              <a:srgbClr val="D4D4D4"/>
            </a:solidFill>
            <a:prstDash val="solid"/>
          </a:ln>
          <a:effectLst>
            <a:outerShdw blurRad="63500" dist="25400" dir="8100000" algn="bl" rotWithShape="0">
              <a:srgbClr val="000000">
                <a:alpha val="7000"/>
              </a:srgbClr>
            </a:outerShdw>
          </a:effectLst>
        </p:spPr>
        <p:txBody>
          <a:bodyPr/>
          <a:lstStyle/>
          <a:p>
            <a:endParaRPr lang="en-US"/>
          </a:p>
        </p:txBody>
      </p:sp>
      <p:sp>
        <p:nvSpPr>
          <p:cNvPr id="28" name="Shape 26"/>
          <p:cNvSpPr/>
          <p:nvPr/>
        </p:nvSpPr>
        <p:spPr>
          <a:xfrm>
            <a:off x="329184" y="2578608"/>
            <a:ext cx="50292" cy="1828800"/>
          </a:xfrm>
          <a:prstGeom prst="rect">
            <a:avLst/>
          </a:prstGeom>
          <a:solidFill>
            <a:srgbClr val="CC0000"/>
          </a:solidFill>
          <a:ln w="12700">
            <a:solidFill>
              <a:srgbClr val="CC0000"/>
            </a:solidFill>
            <a:prstDash val="solid"/>
          </a:ln>
        </p:spPr>
        <p:txBody>
          <a:bodyPr/>
          <a:lstStyle/>
          <a:p>
            <a:endParaRPr lang="en-US"/>
          </a:p>
        </p:txBody>
      </p:sp>
      <p:sp>
        <p:nvSpPr>
          <p:cNvPr id="29" name="Text 27"/>
          <p:cNvSpPr/>
          <p:nvPr/>
        </p:nvSpPr>
        <p:spPr>
          <a:xfrm>
            <a:off x="484632" y="2670048"/>
            <a:ext cx="5394960" cy="310896"/>
          </a:xfrm>
          <a:prstGeom prst="rect">
            <a:avLst/>
          </a:prstGeom>
          <a:noFill/>
          <a:ln/>
        </p:spPr>
        <p:txBody>
          <a:bodyPr wrap="square" lIns="0" tIns="0" rIns="0" bIns="0" rtlCol="0" anchor="ctr"/>
          <a:lstStyle/>
          <a:p>
            <a:pPr marL="0" indent="0">
              <a:buNone/>
            </a:pPr>
            <a:r>
              <a:rPr lang="en-US" sz="1300" b="1" dirty="0">
                <a:solidFill>
                  <a:srgbClr val="1F1F1F"/>
                </a:solidFill>
                <a:latin typeface="Calibri" pitchFamily="34" charset="0"/>
                <a:ea typeface="Calibri" pitchFamily="34" charset="-122"/>
                <a:cs typeface="Calibri" pitchFamily="34" charset="-120"/>
              </a:rPr>
              <a:t>Fragmented Data &amp; Systems</a:t>
            </a:r>
            <a:endParaRPr lang="en-US" sz="1300" dirty="0"/>
          </a:p>
        </p:txBody>
      </p:sp>
      <p:sp>
        <p:nvSpPr>
          <p:cNvPr id="30" name="Shape 28"/>
          <p:cNvSpPr/>
          <p:nvPr/>
        </p:nvSpPr>
        <p:spPr>
          <a:xfrm>
            <a:off x="484632" y="3008376"/>
            <a:ext cx="5303520" cy="18288"/>
          </a:xfrm>
          <a:prstGeom prst="rect">
            <a:avLst/>
          </a:prstGeom>
          <a:solidFill>
            <a:srgbClr val="D4D4D4"/>
          </a:solidFill>
          <a:ln w="12700">
            <a:solidFill>
              <a:srgbClr val="D4D4D4"/>
            </a:solidFill>
            <a:prstDash val="solid"/>
          </a:ln>
        </p:spPr>
        <p:txBody>
          <a:bodyPr/>
          <a:lstStyle/>
          <a:p>
            <a:endParaRPr lang="en-US"/>
          </a:p>
        </p:txBody>
      </p:sp>
      <p:sp>
        <p:nvSpPr>
          <p:cNvPr id="31" name="Text 29"/>
          <p:cNvSpPr/>
          <p:nvPr/>
        </p:nvSpPr>
        <p:spPr>
          <a:xfrm>
            <a:off x="484632" y="3072384"/>
            <a:ext cx="5394960" cy="1261872"/>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555555"/>
                </a:solidFill>
                <a:latin typeface="Calibri" pitchFamily="34" charset="0"/>
                <a:ea typeface="Calibri" pitchFamily="34" charset="-122"/>
                <a:cs typeface="Calibri" pitchFamily="34" charset="-120"/>
              </a:rPr>
              <a:t>Multiple Salesforce instances — no unified customer record across SBGs</a:t>
            </a:r>
            <a:endParaRPr lang="en-US" sz="1150" dirty="0"/>
          </a:p>
          <a:p>
            <a:pPr marL="342900" indent="-342900">
              <a:spcAft>
                <a:spcPts val="300"/>
              </a:spcAft>
              <a:buSzPct val="100000"/>
              <a:buChar char="•"/>
            </a:pPr>
            <a:r>
              <a:rPr lang="en-US" sz="1150" dirty="0">
                <a:solidFill>
                  <a:srgbClr val="555555"/>
                </a:solidFill>
                <a:latin typeface="Calibri" pitchFamily="34" charset="0"/>
                <a:ea typeface="Calibri" pitchFamily="34" charset="-122"/>
                <a:cs typeface="Calibri" pitchFamily="34" charset="-120"/>
              </a:rPr>
              <a:t>6 Marketo instances at varying maturity and integration levels</a:t>
            </a:r>
            <a:endParaRPr lang="en-US" sz="1150" dirty="0"/>
          </a:p>
          <a:p>
            <a:pPr marL="342900" indent="-342900">
              <a:spcAft>
                <a:spcPts val="300"/>
              </a:spcAft>
              <a:buSzPct val="100000"/>
              <a:buChar char="•"/>
            </a:pPr>
            <a:r>
              <a:rPr lang="en-US" sz="1150" dirty="0">
                <a:solidFill>
                  <a:srgbClr val="555555"/>
                </a:solidFill>
                <a:latin typeface="Calibri" pitchFamily="34" charset="0"/>
                <a:ea typeface="Calibri" pitchFamily="34" charset="-122"/>
                <a:cs typeface="Calibri" pitchFamily="34" charset="-120"/>
              </a:rPr>
              <a:t>No CDP: e-commerce blocked by disparate customer entitlements</a:t>
            </a:r>
            <a:endParaRPr lang="en-US" sz="1150" dirty="0"/>
          </a:p>
          <a:p>
            <a:pPr marL="342900" indent="-342900">
              <a:spcAft>
                <a:spcPts val="300"/>
              </a:spcAft>
              <a:buSzPct val="100000"/>
              <a:buChar char="•"/>
            </a:pPr>
            <a:r>
              <a:rPr lang="en-US" sz="1150" dirty="0">
                <a:solidFill>
                  <a:srgbClr val="555555"/>
                </a:solidFill>
                <a:latin typeface="Calibri" pitchFamily="34" charset="0"/>
                <a:ea typeface="Calibri" pitchFamily="34" charset="-122"/>
                <a:cs typeface="Calibri" pitchFamily="34" charset="-120"/>
              </a:rPr>
              <a:t>Swivel-chair activities across ERP, CRM, and customer portals</a:t>
            </a:r>
            <a:endParaRPr lang="en-US" sz="1150" dirty="0"/>
          </a:p>
        </p:txBody>
      </p:sp>
      <p:sp>
        <p:nvSpPr>
          <p:cNvPr id="32" name="Shape 30"/>
          <p:cNvSpPr/>
          <p:nvPr/>
        </p:nvSpPr>
        <p:spPr>
          <a:xfrm>
            <a:off x="6163056" y="2578608"/>
            <a:ext cx="5687568" cy="1828800"/>
          </a:xfrm>
          <a:prstGeom prst="rect">
            <a:avLst/>
          </a:prstGeom>
          <a:solidFill>
            <a:srgbClr val="FFFFFF"/>
          </a:solidFill>
          <a:ln w="10160">
            <a:solidFill>
              <a:srgbClr val="D4D4D4"/>
            </a:solidFill>
            <a:prstDash val="solid"/>
          </a:ln>
          <a:effectLst>
            <a:outerShdw blurRad="63500" dist="25400" dir="8100000" algn="bl" rotWithShape="0">
              <a:srgbClr val="000000">
                <a:alpha val="7000"/>
              </a:srgbClr>
            </a:outerShdw>
          </a:effectLst>
        </p:spPr>
        <p:txBody>
          <a:bodyPr/>
          <a:lstStyle/>
          <a:p>
            <a:endParaRPr lang="en-US"/>
          </a:p>
        </p:txBody>
      </p:sp>
      <p:sp>
        <p:nvSpPr>
          <p:cNvPr id="33" name="Shape 31"/>
          <p:cNvSpPr/>
          <p:nvPr/>
        </p:nvSpPr>
        <p:spPr>
          <a:xfrm>
            <a:off x="6163056" y="2578608"/>
            <a:ext cx="50292" cy="1828800"/>
          </a:xfrm>
          <a:prstGeom prst="rect">
            <a:avLst/>
          </a:prstGeom>
          <a:solidFill>
            <a:srgbClr val="CC0000"/>
          </a:solidFill>
          <a:ln w="12700">
            <a:solidFill>
              <a:srgbClr val="CC0000"/>
            </a:solidFill>
            <a:prstDash val="solid"/>
          </a:ln>
        </p:spPr>
        <p:txBody>
          <a:bodyPr/>
          <a:lstStyle/>
          <a:p>
            <a:endParaRPr lang="en-US"/>
          </a:p>
        </p:txBody>
      </p:sp>
      <p:sp>
        <p:nvSpPr>
          <p:cNvPr id="34" name="Text 32"/>
          <p:cNvSpPr/>
          <p:nvPr/>
        </p:nvSpPr>
        <p:spPr>
          <a:xfrm>
            <a:off x="6318504" y="2670048"/>
            <a:ext cx="5394960" cy="310896"/>
          </a:xfrm>
          <a:prstGeom prst="rect">
            <a:avLst/>
          </a:prstGeom>
          <a:noFill/>
          <a:ln/>
        </p:spPr>
        <p:txBody>
          <a:bodyPr wrap="square" lIns="0" tIns="0" rIns="0" bIns="0" rtlCol="0" anchor="ctr"/>
          <a:lstStyle/>
          <a:p>
            <a:pPr marL="0" indent="0">
              <a:buNone/>
            </a:pPr>
            <a:r>
              <a:rPr lang="en-US" sz="1300" b="1" dirty="0">
                <a:solidFill>
                  <a:srgbClr val="1F1F1F"/>
                </a:solidFill>
                <a:latin typeface="Calibri" pitchFamily="34" charset="0"/>
                <a:ea typeface="Calibri" pitchFamily="34" charset="-122"/>
                <a:cs typeface="Calibri" pitchFamily="34" charset="-120"/>
              </a:rPr>
              <a:t>Broken Integration Architecture</a:t>
            </a:r>
            <a:endParaRPr lang="en-US" sz="1300" dirty="0"/>
          </a:p>
        </p:txBody>
      </p:sp>
      <p:sp>
        <p:nvSpPr>
          <p:cNvPr id="35" name="Shape 33"/>
          <p:cNvSpPr/>
          <p:nvPr/>
        </p:nvSpPr>
        <p:spPr>
          <a:xfrm>
            <a:off x="6318504" y="3008376"/>
            <a:ext cx="5303520" cy="18288"/>
          </a:xfrm>
          <a:prstGeom prst="rect">
            <a:avLst/>
          </a:prstGeom>
          <a:solidFill>
            <a:srgbClr val="D4D4D4"/>
          </a:solidFill>
          <a:ln w="12700">
            <a:solidFill>
              <a:srgbClr val="D4D4D4"/>
            </a:solidFill>
            <a:prstDash val="solid"/>
          </a:ln>
        </p:spPr>
        <p:txBody>
          <a:bodyPr/>
          <a:lstStyle/>
          <a:p>
            <a:endParaRPr lang="en-US"/>
          </a:p>
        </p:txBody>
      </p:sp>
      <p:sp>
        <p:nvSpPr>
          <p:cNvPr id="36" name="Text 34"/>
          <p:cNvSpPr/>
          <p:nvPr/>
        </p:nvSpPr>
        <p:spPr>
          <a:xfrm>
            <a:off x="6318504" y="3072384"/>
            <a:ext cx="5394960" cy="1261872"/>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555555"/>
                </a:solidFill>
                <a:latin typeface="Calibri" pitchFamily="34" charset="0"/>
                <a:ea typeface="Calibri" pitchFamily="34" charset="-122"/>
                <a:cs typeface="Calibri" pitchFamily="34" charset="-120"/>
              </a:rPr>
              <a:t>38 cataloged integrations — many siloed and undocumented</a:t>
            </a:r>
            <a:endParaRPr lang="en-US" sz="1150" dirty="0"/>
          </a:p>
          <a:p>
            <a:pPr marL="342900" indent="-342900">
              <a:spcAft>
                <a:spcPts val="300"/>
              </a:spcAft>
              <a:buSzPct val="100000"/>
              <a:buChar char="•"/>
            </a:pPr>
            <a:r>
              <a:rPr lang="en-US" sz="1150" dirty="0">
                <a:solidFill>
                  <a:srgbClr val="555555"/>
                </a:solidFill>
                <a:latin typeface="Calibri" pitchFamily="34" charset="0"/>
                <a:ea typeface="Calibri" pitchFamily="34" charset="-122"/>
                <a:cs typeface="Calibri" pitchFamily="34" charset="-120"/>
              </a:rPr>
              <a:t>ECC → S/4HANA migration will break critical front-office connections</a:t>
            </a:r>
            <a:endParaRPr lang="en-US" sz="1150" dirty="0"/>
          </a:p>
          <a:p>
            <a:pPr marL="342900" indent="-342900">
              <a:spcAft>
                <a:spcPts val="300"/>
              </a:spcAft>
              <a:buSzPct val="100000"/>
              <a:buChar char="•"/>
            </a:pPr>
            <a:r>
              <a:rPr lang="en-US" sz="1150" dirty="0">
                <a:solidFill>
                  <a:srgbClr val="555555"/>
                </a:solidFill>
                <a:latin typeface="Calibri" pitchFamily="34" charset="0"/>
                <a:ea typeface="Calibri" pitchFamily="34" charset="-122"/>
                <a:cs typeface="Calibri" pitchFamily="34" charset="-120"/>
              </a:rPr>
              <a:t>Business partner model change ripples across all downstream systems</a:t>
            </a:r>
            <a:endParaRPr lang="en-US" sz="1150" dirty="0"/>
          </a:p>
          <a:p>
            <a:pPr marL="342900" indent="-342900">
              <a:spcAft>
                <a:spcPts val="300"/>
              </a:spcAft>
              <a:buSzPct val="100000"/>
              <a:buChar char="•"/>
            </a:pPr>
            <a:r>
              <a:rPr lang="en-US" sz="1150" dirty="0">
                <a:solidFill>
                  <a:srgbClr val="555555"/>
                </a:solidFill>
                <a:latin typeface="Calibri" pitchFamily="34" charset="0"/>
                <a:ea typeface="Calibri" pitchFamily="34" charset="-122"/>
                <a:cs typeface="Calibri" pitchFamily="34" charset="-120"/>
              </a:rPr>
              <a:t>Lift-and-shift will replicate today's failure modes into S/4</a:t>
            </a:r>
            <a:endParaRPr lang="en-US" sz="1150" dirty="0"/>
          </a:p>
        </p:txBody>
      </p:sp>
      <p:sp>
        <p:nvSpPr>
          <p:cNvPr id="37" name="Shape 35"/>
          <p:cNvSpPr/>
          <p:nvPr/>
        </p:nvSpPr>
        <p:spPr>
          <a:xfrm>
            <a:off x="329184" y="4535424"/>
            <a:ext cx="5687568" cy="1828800"/>
          </a:xfrm>
          <a:prstGeom prst="rect">
            <a:avLst/>
          </a:prstGeom>
          <a:solidFill>
            <a:srgbClr val="FFFFFF"/>
          </a:solidFill>
          <a:ln w="10160">
            <a:solidFill>
              <a:srgbClr val="D4D4D4"/>
            </a:solidFill>
            <a:prstDash val="solid"/>
          </a:ln>
          <a:effectLst>
            <a:outerShdw blurRad="63500" dist="25400" dir="8100000" algn="bl" rotWithShape="0">
              <a:srgbClr val="000000">
                <a:alpha val="7000"/>
              </a:srgbClr>
            </a:outerShdw>
          </a:effectLst>
        </p:spPr>
        <p:txBody>
          <a:bodyPr/>
          <a:lstStyle/>
          <a:p>
            <a:endParaRPr lang="en-US"/>
          </a:p>
        </p:txBody>
      </p:sp>
      <p:sp>
        <p:nvSpPr>
          <p:cNvPr id="38" name="Shape 36"/>
          <p:cNvSpPr/>
          <p:nvPr/>
        </p:nvSpPr>
        <p:spPr>
          <a:xfrm>
            <a:off x="329184" y="4535424"/>
            <a:ext cx="50292" cy="1828800"/>
          </a:xfrm>
          <a:prstGeom prst="rect">
            <a:avLst/>
          </a:prstGeom>
          <a:solidFill>
            <a:srgbClr val="CC0000"/>
          </a:solidFill>
          <a:ln w="12700">
            <a:solidFill>
              <a:srgbClr val="CC0000"/>
            </a:solidFill>
            <a:prstDash val="solid"/>
          </a:ln>
        </p:spPr>
        <p:txBody>
          <a:bodyPr/>
          <a:lstStyle/>
          <a:p>
            <a:endParaRPr lang="en-US"/>
          </a:p>
        </p:txBody>
      </p:sp>
      <p:sp>
        <p:nvSpPr>
          <p:cNvPr id="39" name="Text 37"/>
          <p:cNvSpPr/>
          <p:nvPr/>
        </p:nvSpPr>
        <p:spPr>
          <a:xfrm>
            <a:off x="484632" y="4626864"/>
            <a:ext cx="5394960" cy="310896"/>
          </a:xfrm>
          <a:prstGeom prst="rect">
            <a:avLst/>
          </a:prstGeom>
          <a:noFill/>
          <a:ln/>
        </p:spPr>
        <p:txBody>
          <a:bodyPr wrap="square" lIns="0" tIns="0" rIns="0" bIns="0" rtlCol="0" anchor="ctr"/>
          <a:lstStyle/>
          <a:p>
            <a:pPr marL="0" indent="0">
              <a:buNone/>
            </a:pPr>
            <a:r>
              <a:rPr lang="en-US" sz="1300" b="1" dirty="0">
                <a:solidFill>
                  <a:srgbClr val="1F1F1F"/>
                </a:solidFill>
                <a:latin typeface="Calibri" pitchFamily="34" charset="0"/>
                <a:ea typeface="Calibri" pitchFamily="34" charset="-122"/>
                <a:cs typeface="Calibri" pitchFamily="34" charset="-120"/>
              </a:rPr>
              <a:t>Customer Experience Failures</a:t>
            </a:r>
            <a:endParaRPr lang="en-US" sz="1300" dirty="0"/>
          </a:p>
        </p:txBody>
      </p:sp>
      <p:sp>
        <p:nvSpPr>
          <p:cNvPr id="40" name="Shape 38"/>
          <p:cNvSpPr/>
          <p:nvPr/>
        </p:nvSpPr>
        <p:spPr>
          <a:xfrm>
            <a:off x="484632" y="4965192"/>
            <a:ext cx="5303520" cy="18288"/>
          </a:xfrm>
          <a:prstGeom prst="rect">
            <a:avLst/>
          </a:prstGeom>
          <a:solidFill>
            <a:srgbClr val="D4D4D4"/>
          </a:solidFill>
          <a:ln w="12700">
            <a:solidFill>
              <a:srgbClr val="D4D4D4"/>
            </a:solidFill>
            <a:prstDash val="solid"/>
          </a:ln>
        </p:spPr>
        <p:txBody>
          <a:bodyPr/>
          <a:lstStyle/>
          <a:p>
            <a:endParaRPr lang="en-US"/>
          </a:p>
        </p:txBody>
      </p:sp>
      <p:sp>
        <p:nvSpPr>
          <p:cNvPr id="41" name="Text 39"/>
          <p:cNvSpPr/>
          <p:nvPr/>
        </p:nvSpPr>
        <p:spPr>
          <a:xfrm>
            <a:off x="484632" y="5029200"/>
            <a:ext cx="5394960" cy="1261872"/>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555555"/>
                </a:solidFill>
                <a:latin typeface="Calibri" pitchFamily="34" charset="0"/>
                <a:ea typeface="Calibri" pitchFamily="34" charset="-122"/>
                <a:cs typeface="Calibri" pitchFamily="34" charset="-120"/>
              </a:rPr>
              <a:t>Credit limits not set at onboarding → downstream order blocks</a:t>
            </a:r>
            <a:endParaRPr lang="en-US" sz="1150" dirty="0"/>
          </a:p>
          <a:p>
            <a:pPr marL="342900" indent="-342900">
              <a:spcAft>
                <a:spcPts val="300"/>
              </a:spcAft>
              <a:buSzPct val="100000"/>
              <a:buChar char="•"/>
            </a:pPr>
            <a:r>
              <a:rPr lang="en-US" sz="1150" dirty="0">
                <a:solidFill>
                  <a:srgbClr val="555555"/>
                </a:solidFill>
                <a:latin typeface="Calibri" pitchFamily="34" charset="0"/>
                <a:ea typeface="Calibri" pitchFamily="34" charset="-122"/>
                <a:cs typeface="Calibri" pitchFamily="34" charset="-120"/>
              </a:rPr>
              <a:t>No touchless process flow from customer inquiry to order fulfillment</a:t>
            </a:r>
            <a:endParaRPr lang="en-US" sz="1150" dirty="0"/>
          </a:p>
          <a:p>
            <a:pPr marL="342900" indent="-342900">
              <a:spcAft>
                <a:spcPts val="300"/>
              </a:spcAft>
              <a:buSzPct val="100000"/>
              <a:buChar char="•"/>
            </a:pPr>
            <a:r>
              <a:rPr lang="en-US" sz="1150" dirty="0">
                <a:solidFill>
                  <a:srgbClr val="555555"/>
                </a:solidFill>
                <a:latin typeface="Calibri" pitchFamily="34" charset="0"/>
                <a:ea typeface="Calibri" pitchFamily="34" charset="-122"/>
                <a:cs typeface="Calibri" pitchFamily="34" charset="-120"/>
              </a:rPr>
              <a:t>Account hierarchy disconnected → manual patching required at order time</a:t>
            </a:r>
            <a:endParaRPr lang="en-US" sz="1150" dirty="0"/>
          </a:p>
          <a:p>
            <a:pPr marL="342900" indent="-342900">
              <a:spcAft>
                <a:spcPts val="300"/>
              </a:spcAft>
              <a:buSzPct val="100000"/>
              <a:buChar char="•"/>
            </a:pPr>
            <a:r>
              <a:rPr lang="en-US" sz="1150" dirty="0">
                <a:solidFill>
                  <a:srgbClr val="555555"/>
                </a:solidFill>
                <a:latin typeface="Calibri" pitchFamily="34" charset="0"/>
                <a:ea typeface="Calibri" pitchFamily="34" charset="-122"/>
                <a:cs typeface="Calibri" pitchFamily="34" charset="-120"/>
              </a:rPr>
              <a:t>52+ undesirable observations in inquiry-to-order value stream map</a:t>
            </a:r>
            <a:endParaRPr lang="en-US" sz="1150" dirty="0"/>
          </a:p>
        </p:txBody>
      </p:sp>
      <p:sp>
        <p:nvSpPr>
          <p:cNvPr id="42" name="Shape 40"/>
          <p:cNvSpPr/>
          <p:nvPr/>
        </p:nvSpPr>
        <p:spPr>
          <a:xfrm>
            <a:off x="6163056" y="4535424"/>
            <a:ext cx="5687568" cy="1828800"/>
          </a:xfrm>
          <a:prstGeom prst="rect">
            <a:avLst/>
          </a:prstGeom>
          <a:solidFill>
            <a:srgbClr val="FFFFFF"/>
          </a:solidFill>
          <a:ln w="10160">
            <a:solidFill>
              <a:srgbClr val="D4D4D4"/>
            </a:solidFill>
            <a:prstDash val="solid"/>
          </a:ln>
          <a:effectLst>
            <a:outerShdw blurRad="63500" dist="25400" dir="8100000" algn="bl" rotWithShape="0">
              <a:srgbClr val="000000">
                <a:alpha val="7000"/>
              </a:srgbClr>
            </a:outerShdw>
          </a:effectLst>
        </p:spPr>
        <p:txBody>
          <a:bodyPr/>
          <a:lstStyle/>
          <a:p>
            <a:endParaRPr lang="en-US"/>
          </a:p>
        </p:txBody>
      </p:sp>
      <p:sp>
        <p:nvSpPr>
          <p:cNvPr id="43" name="Shape 41"/>
          <p:cNvSpPr/>
          <p:nvPr/>
        </p:nvSpPr>
        <p:spPr>
          <a:xfrm>
            <a:off x="6163056" y="4535424"/>
            <a:ext cx="50292" cy="1828800"/>
          </a:xfrm>
          <a:prstGeom prst="rect">
            <a:avLst/>
          </a:prstGeom>
          <a:solidFill>
            <a:srgbClr val="CC0000"/>
          </a:solidFill>
          <a:ln w="12700">
            <a:solidFill>
              <a:srgbClr val="CC0000"/>
            </a:solidFill>
            <a:prstDash val="solid"/>
          </a:ln>
        </p:spPr>
        <p:txBody>
          <a:bodyPr/>
          <a:lstStyle/>
          <a:p>
            <a:endParaRPr lang="en-US"/>
          </a:p>
        </p:txBody>
      </p:sp>
      <p:sp>
        <p:nvSpPr>
          <p:cNvPr id="44" name="Text 42"/>
          <p:cNvSpPr/>
          <p:nvPr/>
        </p:nvSpPr>
        <p:spPr>
          <a:xfrm>
            <a:off x="6318504" y="4626864"/>
            <a:ext cx="5394960" cy="310896"/>
          </a:xfrm>
          <a:prstGeom prst="rect">
            <a:avLst/>
          </a:prstGeom>
          <a:noFill/>
          <a:ln/>
        </p:spPr>
        <p:txBody>
          <a:bodyPr wrap="square" lIns="0" tIns="0" rIns="0" bIns="0" rtlCol="0" anchor="ctr"/>
          <a:lstStyle/>
          <a:p>
            <a:pPr marL="0" indent="0">
              <a:buNone/>
            </a:pPr>
            <a:r>
              <a:rPr lang="en-US" sz="1300" b="1" dirty="0">
                <a:solidFill>
                  <a:srgbClr val="1F1F1F"/>
                </a:solidFill>
                <a:latin typeface="Calibri" pitchFamily="34" charset="0"/>
                <a:ea typeface="Calibri" pitchFamily="34" charset="-122"/>
                <a:cs typeface="Calibri" pitchFamily="34" charset="-120"/>
              </a:rPr>
              <a:t>Commercial Misalignment</a:t>
            </a:r>
            <a:endParaRPr lang="en-US" sz="1300" dirty="0"/>
          </a:p>
        </p:txBody>
      </p:sp>
      <p:sp>
        <p:nvSpPr>
          <p:cNvPr id="45" name="Shape 43"/>
          <p:cNvSpPr/>
          <p:nvPr/>
        </p:nvSpPr>
        <p:spPr>
          <a:xfrm>
            <a:off x="6318504" y="4965192"/>
            <a:ext cx="5303520" cy="18288"/>
          </a:xfrm>
          <a:prstGeom prst="rect">
            <a:avLst/>
          </a:prstGeom>
          <a:solidFill>
            <a:srgbClr val="D4D4D4"/>
          </a:solidFill>
          <a:ln w="12700">
            <a:solidFill>
              <a:srgbClr val="D4D4D4"/>
            </a:solidFill>
            <a:prstDash val="solid"/>
          </a:ln>
        </p:spPr>
        <p:txBody>
          <a:bodyPr/>
          <a:lstStyle/>
          <a:p>
            <a:endParaRPr lang="en-US"/>
          </a:p>
        </p:txBody>
      </p:sp>
      <p:sp>
        <p:nvSpPr>
          <p:cNvPr id="46" name="Text 44"/>
          <p:cNvSpPr/>
          <p:nvPr/>
        </p:nvSpPr>
        <p:spPr>
          <a:xfrm>
            <a:off x="6318504" y="5029200"/>
            <a:ext cx="5394960" cy="1261872"/>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555555"/>
                </a:solidFill>
                <a:latin typeface="Calibri" pitchFamily="34" charset="0"/>
                <a:ea typeface="Calibri" pitchFamily="34" charset="-122"/>
                <a:cs typeface="Calibri" pitchFamily="34" charset="-120"/>
              </a:rPr>
              <a:t>SBGs operating in silos — competing rather than cross-selling</a:t>
            </a:r>
            <a:endParaRPr lang="en-US" sz="1150" dirty="0"/>
          </a:p>
          <a:p>
            <a:pPr marL="342900" indent="-342900">
              <a:spcAft>
                <a:spcPts val="300"/>
              </a:spcAft>
              <a:buSzPct val="100000"/>
              <a:buChar char="•"/>
            </a:pPr>
            <a:r>
              <a:rPr lang="en-US" sz="1150" dirty="0">
                <a:solidFill>
                  <a:srgbClr val="555555"/>
                </a:solidFill>
                <a:latin typeface="Calibri" pitchFamily="34" charset="0"/>
                <a:ea typeface="Calibri" pitchFamily="34" charset="-122"/>
                <a:cs typeface="Calibri" pitchFamily="34" charset="-120"/>
              </a:rPr>
              <a:t>No pull-through incentive model for integrated solution selling</a:t>
            </a:r>
            <a:endParaRPr lang="en-US" sz="1150" dirty="0"/>
          </a:p>
          <a:p>
            <a:pPr marL="342900" indent="-342900">
              <a:spcAft>
                <a:spcPts val="300"/>
              </a:spcAft>
              <a:buSzPct val="100000"/>
              <a:buChar char="•"/>
            </a:pPr>
            <a:r>
              <a:rPr lang="en-US" sz="1150" dirty="0">
                <a:solidFill>
                  <a:srgbClr val="555555"/>
                </a:solidFill>
                <a:latin typeface="Calibri" pitchFamily="34" charset="0"/>
                <a:ea typeface="Calibri" pitchFamily="34" charset="-122"/>
                <a:cs typeface="Calibri" pitchFamily="34" charset="-120"/>
              </a:rPr>
              <a:t>Adobe analytics broken: hit-level data missing, tracking inconsistent</a:t>
            </a:r>
            <a:endParaRPr lang="en-US" sz="1150" dirty="0"/>
          </a:p>
          <a:p>
            <a:pPr marL="342900" indent="-342900">
              <a:spcAft>
                <a:spcPts val="300"/>
              </a:spcAft>
              <a:buSzPct val="100000"/>
              <a:buChar char="•"/>
            </a:pPr>
            <a:r>
              <a:rPr lang="en-US" sz="1150" dirty="0">
                <a:solidFill>
                  <a:srgbClr val="555555"/>
                </a:solidFill>
                <a:latin typeface="Calibri" pitchFamily="34" charset="0"/>
                <a:ea typeface="Calibri" pitchFamily="34" charset="-122"/>
                <a:cs typeface="Calibri" pitchFamily="34" charset="-120"/>
              </a:rPr>
              <a:t>No person-centric analytics — browser-level only, no individual identity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CC0000"/>
          </a:solidFill>
          <a:ln w="12700">
            <a:solidFill>
              <a:srgbClr val="CC0000"/>
            </a:solidFill>
            <a:prstDash val="solid"/>
          </a:ln>
        </p:spPr>
        <p:txBody>
          <a:bodyPr/>
          <a:lstStyle/>
          <a:p>
            <a:endParaRPr lang="en-US"/>
          </a:p>
        </p:txBody>
      </p:sp>
      <p:sp>
        <p:nvSpPr>
          <p:cNvPr id="3" name="Shape 1"/>
          <p:cNvSpPr/>
          <p:nvPr/>
        </p:nvSpPr>
        <p:spPr>
          <a:xfrm>
            <a:off x="0" y="54864"/>
            <a:ext cx="164592" cy="6803136"/>
          </a:xfrm>
          <a:prstGeom prst="rect">
            <a:avLst/>
          </a:prstGeom>
          <a:solidFill>
            <a:srgbClr val="111111"/>
          </a:solidFill>
          <a:ln w="12700">
            <a:solidFill>
              <a:srgbClr val="111111"/>
            </a:solidFill>
            <a:prstDash val="solid"/>
          </a:ln>
        </p:spPr>
        <p:txBody>
          <a:bodyPr/>
          <a:lstStyle/>
          <a:p>
            <a:endParaRPr lang="en-US"/>
          </a:p>
        </p:txBody>
      </p:sp>
      <p:sp>
        <p:nvSpPr>
          <p:cNvPr id="4" name="Text 2"/>
          <p:cNvSpPr/>
          <p:nvPr/>
        </p:nvSpPr>
        <p:spPr>
          <a:xfrm>
            <a:off x="329184" y="137160"/>
            <a:ext cx="10058400" cy="246888"/>
          </a:xfrm>
          <a:prstGeom prst="rect">
            <a:avLst/>
          </a:prstGeom>
          <a:noFill/>
          <a:ln/>
        </p:spPr>
        <p:txBody>
          <a:bodyPr wrap="square" lIns="0" tIns="0" rIns="0" bIns="0" rtlCol="0" anchor="ctr"/>
          <a:lstStyle/>
          <a:p>
            <a:pPr marL="0" indent="0">
              <a:buNone/>
            </a:pPr>
            <a:r>
              <a:rPr lang="en-US" sz="900" b="1" kern="0" spc="300" dirty="0">
                <a:solidFill>
                  <a:srgbClr val="CC0000"/>
                </a:solidFill>
                <a:latin typeface="Calibri" pitchFamily="34" charset="0"/>
                <a:ea typeface="Calibri" pitchFamily="34" charset="-122"/>
                <a:cs typeface="Calibri" pitchFamily="34" charset="-120"/>
              </a:rPr>
              <a:t>CURRENT STATE — DUAL PERSPECTIVE JOURNEY MAP</a:t>
            </a:r>
            <a:endParaRPr lang="en-US" sz="900" dirty="0"/>
          </a:p>
        </p:txBody>
      </p:sp>
      <p:sp>
        <p:nvSpPr>
          <p:cNvPr id="5" name="Text 3"/>
          <p:cNvSpPr/>
          <p:nvPr/>
        </p:nvSpPr>
        <p:spPr>
          <a:xfrm>
            <a:off x="329184" y="402336"/>
            <a:ext cx="10515600" cy="457200"/>
          </a:xfrm>
          <a:prstGeom prst="rect">
            <a:avLst/>
          </a:prstGeom>
          <a:noFill/>
          <a:ln/>
        </p:spPr>
        <p:txBody>
          <a:bodyPr wrap="square" lIns="0" tIns="0" rIns="0" bIns="0" rtlCol="0" anchor="ctr"/>
          <a:lstStyle/>
          <a:p>
            <a:pPr marL="0" indent="0">
              <a:buNone/>
            </a:pPr>
            <a:r>
              <a:rPr lang="en-US" sz="2000" b="1" dirty="0">
                <a:solidFill>
                  <a:srgbClr val="1F1F1F"/>
                </a:solidFill>
                <a:latin typeface="Calibri" pitchFamily="34" charset="0"/>
                <a:ea typeface="Calibri" pitchFamily="34" charset="-122"/>
                <a:cs typeface="Calibri" pitchFamily="34" charset="-120"/>
              </a:rPr>
              <a:t>The current Honeywell customer experience is fragmented while business teams are disconnected</a:t>
            </a:r>
            <a:endParaRPr lang="en-US" sz="2000" dirty="0"/>
          </a:p>
        </p:txBody>
      </p:sp>
      <p:sp>
        <p:nvSpPr>
          <p:cNvPr id="6" name="Shape 4"/>
          <p:cNvSpPr/>
          <p:nvPr/>
        </p:nvSpPr>
        <p:spPr>
          <a:xfrm>
            <a:off x="329184" y="877824"/>
            <a:ext cx="11667744" cy="20117"/>
          </a:xfrm>
          <a:prstGeom prst="rect">
            <a:avLst/>
          </a:prstGeom>
          <a:solidFill>
            <a:srgbClr val="D4D4D4"/>
          </a:solidFill>
          <a:ln w="12700">
            <a:solidFill>
              <a:srgbClr val="D4D4D4"/>
            </a:solidFill>
            <a:prstDash val="solid"/>
          </a:ln>
        </p:spPr>
        <p:txBody>
          <a:bodyPr/>
          <a:lstStyle/>
          <a:p>
            <a:endParaRPr lang="en-US"/>
          </a:p>
        </p:txBody>
      </p:sp>
      <p:sp>
        <p:nvSpPr>
          <p:cNvPr id="7" name="Text 5"/>
          <p:cNvSpPr/>
          <p:nvPr/>
        </p:nvSpPr>
        <p:spPr>
          <a:xfrm>
            <a:off x="11475720" y="109728"/>
            <a:ext cx="640080" cy="475488"/>
          </a:xfrm>
          <a:prstGeom prst="rect">
            <a:avLst/>
          </a:prstGeom>
          <a:noFill/>
          <a:ln/>
        </p:spPr>
        <p:txBody>
          <a:bodyPr wrap="square" lIns="0" tIns="0" rIns="0" bIns="0" rtlCol="0" anchor="ctr"/>
          <a:lstStyle/>
          <a:p>
            <a:pPr marL="0" indent="0" algn="r">
              <a:buNone/>
            </a:pPr>
            <a:r>
              <a:rPr lang="en-US" sz="2200" b="1" dirty="0">
                <a:solidFill>
                  <a:srgbClr val="CC0000"/>
                </a:solidFill>
                <a:latin typeface="Calibri" pitchFamily="34" charset="0"/>
                <a:ea typeface="Calibri" pitchFamily="34" charset="-122"/>
                <a:cs typeface="Calibri" pitchFamily="34" charset="-120"/>
              </a:rPr>
              <a:t>05</a:t>
            </a:r>
            <a:endParaRPr lang="en-US" sz="2200" dirty="0"/>
          </a:p>
        </p:txBody>
      </p:sp>
      <p:sp>
        <p:nvSpPr>
          <p:cNvPr id="8" name="Shape 6"/>
          <p:cNvSpPr/>
          <p:nvPr/>
        </p:nvSpPr>
        <p:spPr>
          <a:xfrm>
            <a:off x="219456" y="969264"/>
            <a:ext cx="1234440" cy="658368"/>
          </a:xfrm>
          <a:prstGeom prst="rect">
            <a:avLst/>
          </a:prstGeom>
          <a:solidFill>
            <a:srgbClr val="111111"/>
          </a:solidFill>
          <a:ln w="12700">
            <a:solidFill>
              <a:srgbClr val="111111"/>
            </a:solidFill>
            <a:prstDash val="solid"/>
          </a:ln>
        </p:spPr>
        <p:txBody>
          <a:bodyPr/>
          <a:lstStyle/>
          <a:p>
            <a:endParaRPr lang="en-US" sz="2000"/>
          </a:p>
        </p:txBody>
      </p:sp>
      <p:sp>
        <p:nvSpPr>
          <p:cNvPr id="9" name="Text 7"/>
          <p:cNvSpPr/>
          <p:nvPr/>
        </p:nvSpPr>
        <p:spPr>
          <a:xfrm>
            <a:off x="219456" y="969264"/>
            <a:ext cx="1234440" cy="65836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JOURNEY</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STAGE</a:t>
            </a:r>
            <a:endParaRPr lang="en-US" sz="1100" dirty="0"/>
          </a:p>
        </p:txBody>
      </p:sp>
      <p:sp>
        <p:nvSpPr>
          <p:cNvPr id="10" name="Shape 8"/>
          <p:cNvSpPr/>
          <p:nvPr/>
        </p:nvSpPr>
        <p:spPr>
          <a:xfrm>
            <a:off x="219456" y="1719072"/>
            <a:ext cx="1234440" cy="731520"/>
          </a:xfrm>
          <a:prstGeom prst="rect">
            <a:avLst/>
          </a:prstGeom>
          <a:solidFill>
            <a:srgbClr val="333333"/>
          </a:solidFill>
          <a:ln w="12700">
            <a:solidFill>
              <a:srgbClr val="333333"/>
            </a:solidFill>
            <a:prstDash val="solid"/>
          </a:ln>
        </p:spPr>
        <p:txBody>
          <a:bodyPr/>
          <a:lstStyle/>
          <a:p>
            <a:endParaRPr lang="en-US" sz="2000"/>
          </a:p>
        </p:txBody>
      </p:sp>
      <p:sp>
        <p:nvSpPr>
          <p:cNvPr id="11" name="Text 9"/>
          <p:cNvSpPr/>
          <p:nvPr/>
        </p:nvSpPr>
        <p:spPr>
          <a:xfrm>
            <a:off x="219456" y="1719072"/>
            <a:ext cx="123444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CUSTOMER</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VOICE</a:t>
            </a:r>
            <a:endParaRPr lang="en-US" sz="1100" dirty="0"/>
          </a:p>
        </p:txBody>
      </p:sp>
      <p:sp>
        <p:nvSpPr>
          <p:cNvPr id="12" name="Shape 10"/>
          <p:cNvSpPr/>
          <p:nvPr/>
        </p:nvSpPr>
        <p:spPr>
          <a:xfrm>
            <a:off x="219456" y="2542032"/>
            <a:ext cx="1234440" cy="987552"/>
          </a:xfrm>
          <a:prstGeom prst="rect">
            <a:avLst/>
          </a:prstGeom>
          <a:solidFill>
            <a:srgbClr val="CC0000"/>
          </a:solidFill>
          <a:ln w="12700">
            <a:solidFill>
              <a:srgbClr val="CC0000"/>
            </a:solidFill>
            <a:prstDash val="solid"/>
          </a:ln>
        </p:spPr>
        <p:txBody>
          <a:bodyPr/>
          <a:lstStyle/>
          <a:p>
            <a:endParaRPr lang="en-US" sz="1100"/>
          </a:p>
        </p:txBody>
      </p:sp>
      <p:sp>
        <p:nvSpPr>
          <p:cNvPr id="13" name="Text 11"/>
          <p:cNvSpPr/>
          <p:nvPr/>
        </p:nvSpPr>
        <p:spPr>
          <a:xfrm>
            <a:off x="219456" y="2542032"/>
            <a:ext cx="1234440" cy="9875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CUSTOMER</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PAIN POINTS</a:t>
            </a:r>
            <a:endParaRPr lang="en-US" sz="1100" dirty="0"/>
          </a:p>
        </p:txBody>
      </p:sp>
      <p:sp>
        <p:nvSpPr>
          <p:cNvPr id="14" name="Shape 12"/>
          <p:cNvSpPr/>
          <p:nvPr/>
        </p:nvSpPr>
        <p:spPr>
          <a:xfrm>
            <a:off x="219456" y="3621024"/>
            <a:ext cx="1234440" cy="1307592"/>
          </a:xfrm>
          <a:prstGeom prst="rect">
            <a:avLst/>
          </a:prstGeom>
          <a:solidFill>
            <a:srgbClr val="333333"/>
          </a:solidFill>
          <a:ln w="12700">
            <a:solidFill>
              <a:srgbClr val="333333"/>
            </a:solidFill>
            <a:prstDash val="solid"/>
          </a:ln>
        </p:spPr>
        <p:txBody>
          <a:bodyPr/>
          <a:lstStyle/>
          <a:p>
            <a:endParaRPr lang="en-US" sz="1100"/>
          </a:p>
        </p:txBody>
      </p:sp>
      <p:sp>
        <p:nvSpPr>
          <p:cNvPr id="15" name="Text 13"/>
          <p:cNvSpPr/>
          <p:nvPr/>
        </p:nvSpPr>
        <p:spPr>
          <a:xfrm>
            <a:off x="219456" y="3621024"/>
            <a:ext cx="1234440" cy="111556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TEAM</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FRICTION</a:t>
            </a:r>
            <a:endParaRPr lang="en-US" sz="1100" dirty="0"/>
          </a:p>
        </p:txBody>
      </p:sp>
      <p:sp>
        <p:nvSpPr>
          <p:cNvPr id="16" name="Shape 14"/>
          <p:cNvSpPr/>
          <p:nvPr/>
        </p:nvSpPr>
        <p:spPr>
          <a:xfrm>
            <a:off x="219456" y="5051393"/>
            <a:ext cx="1234440" cy="1481328"/>
          </a:xfrm>
          <a:prstGeom prst="rect">
            <a:avLst/>
          </a:prstGeom>
          <a:solidFill>
            <a:srgbClr val="111111"/>
          </a:solidFill>
          <a:ln w="12700">
            <a:solidFill>
              <a:srgbClr val="111111"/>
            </a:solidFill>
            <a:prstDash val="solid"/>
          </a:ln>
        </p:spPr>
        <p:txBody>
          <a:bodyPr/>
          <a:lstStyle/>
          <a:p>
            <a:endParaRPr lang="en-US" sz="1100"/>
          </a:p>
        </p:txBody>
      </p:sp>
      <p:sp>
        <p:nvSpPr>
          <p:cNvPr id="17" name="Text 15"/>
          <p:cNvSpPr/>
          <p:nvPr/>
        </p:nvSpPr>
        <p:spPr>
          <a:xfrm>
            <a:off x="219456" y="5051393"/>
            <a:ext cx="1234440" cy="1481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TECHNOLOGY </a:t>
            </a:r>
            <a:br>
              <a:rPr lang="en-US" sz="1100" b="1" dirty="0">
                <a:solidFill>
                  <a:srgbClr val="FFFFFF"/>
                </a:solidFill>
                <a:latin typeface="Calibri" pitchFamily="34" charset="0"/>
                <a:ea typeface="Calibri" pitchFamily="34" charset="-122"/>
                <a:cs typeface="Calibri" pitchFamily="34" charset="-120"/>
              </a:rPr>
            </a:br>
            <a:r>
              <a:rPr lang="en-US" sz="1100" b="1" dirty="0">
                <a:solidFill>
                  <a:srgbClr val="FFFFFF"/>
                </a:solidFill>
                <a:latin typeface="Calibri" pitchFamily="34" charset="0"/>
                <a:ea typeface="Calibri" pitchFamily="34" charset="-122"/>
                <a:cs typeface="Calibri" pitchFamily="34" charset="-120"/>
              </a:rPr>
              <a:t>PAIN POINTS</a:t>
            </a:r>
            <a:endParaRPr lang="en-US" sz="1100" dirty="0"/>
          </a:p>
        </p:txBody>
      </p:sp>
      <p:sp>
        <p:nvSpPr>
          <p:cNvPr id="18" name="Shape 16"/>
          <p:cNvSpPr/>
          <p:nvPr/>
        </p:nvSpPr>
        <p:spPr>
          <a:xfrm>
            <a:off x="219456" y="3547872"/>
            <a:ext cx="11887200" cy="50292"/>
          </a:xfrm>
          <a:prstGeom prst="rect">
            <a:avLst/>
          </a:prstGeom>
          <a:solidFill>
            <a:srgbClr val="111111"/>
          </a:solidFill>
          <a:ln w="12700">
            <a:solidFill>
              <a:srgbClr val="111111"/>
            </a:solidFill>
            <a:prstDash val="solid"/>
          </a:ln>
        </p:spPr>
        <p:txBody>
          <a:bodyPr/>
          <a:lstStyle/>
          <a:p>
            <a:endParaRPr lang="en-US"/>
          </a:p>
        </p:txBody>
      </p:sp>
      <p:sp>
        <p:nvSpPr>
          <p:cNvPr id="19" name="Text 17"/>
          <p:cNvSpPr/>
          <p:nvPr/>
        </p:nvSpPr>
        <p:spPr>
          <a:xfrm>
            <a:off x="1618488" y="3200400"/>
            <a:ext cx="2743200" cy="219456"/>
          </a:xfrm>
          <a:prstGeom prst="rect">
            <a:avLst/>
          </a:prstGeom>
          <a:noFill/>
          <a:ln/>
        </p:spPr>
        <p:txBody>
          <a:bodyPr wrap="square" lIns="0" tIns="0" rIns="0" bIns="0" rtlCol="0" anchor="ctr"/>
          <a:lstStyle/>
          <a:p>
            <a:pPr marL="0" indent="0">
              <a:buNone/>
            </a:pPr>
            <a:r>
              <a:rPr lang="en-US" sz="750" b="1" kern="0" spc="200" dirty="0">
                <a:solidFill>
                  <a:srgbClr val="777777"/>
                </a:solidFill>
                <a:latin typeface="Calibri" pitchFamily="34" charset="0"/>
                <a:ea typeface="Calibri" pitchFamily="34" charset="-122"/>
                <a:cs typeface="Calibri" pitchFamily="34" charset="-120"/>
              </a:rPr>
              <a:t>CUSTOMER LENS</a:t>
            </a:r>
            <a:endParaRPr lang="en-US" sz="750" dirty="0"/>
          </a:p>
        </p:txBody>
      </p:sp>
      <p:sp>
        <p:nvSpPr>
          <p:cNvPr id="20" name="Text 18"/>
          <p:cNvSpPr/>
          <p:nvPr/>
        </p:nvSpPr>
        <p:spPr>
          <a:xfrm>
            <a:off x="1618488" y="3566160"/>
            <a:ext cx="6400800" cy="219456"/>
          </a:xfrm>
          <a:prstGeom prst="rect">
            <a:avLst/>
          </a:prstGeom>
          <a:noFill/>
          <a:ln/>
        </p:spPr>
        <p:txBody>
          <a:bodyPr wrap="square" lIns="0" tIns="0" rIns="0" bIns="0" rtlCol="0" anchor="ctr"/>
          <a:lstStyle/>
          <a:p>
            <a:pPr marL="0" indent="0">
              <a:buNone/>
            </a:pPr>
            <a:r>
              <a:rPr lang="en-US" sz="750" b="1" kern="0" spc="200" dirty="0">
                <a:solidFill>
                  <a:srgbClr val="777777"/>
                </a:solidFill>
                <a:latin typeface="Calibri" pitchFamily="34" charset="0"/>
                <a:ea typeface="Calibri" pitchFamily="34" charset="-122"/>
                <a:cs typeface="Calibri" pitchFamily="34" charset="-120"/>
              </a:rPr>
              <a:t>HONEYWELL INTERNAL LENS  —  Sales · Marketing · CX</a:t>
            </a:r>
            <a:endParaRPr lang="en-US" sz="750" dirty="0"/>
          </a:p>
        </p:txBody>
      </p:sp>
      <p:sp>
        <p:nvSpPr>
          <p:cNvPr id="21" name="Shape 19"/>
          <p:cNvSpPr/>
          <p:nvPr/>
        </p:nvSpPr>
        <p:spPr>
          <a:xfrm>
            <a:off x="1508760" y="969264"/>
            <a:ext cx="2070202" cy="658368"/>
          </a:xfrm>
          <a:prstGeom prst="rect">
            <a:avLst/>
          </a:prstGeom>
          <a:solidFill>
            <a:srgbClr val="CC0000"/>
          </a:solidFill>
          <a:ln w="12700">
            <a:solidFill>
              <a:srgbClr val="CC0000"/>
            </a:solidFill>
            <a:prstDash val="solid"/>
          </a:ln>
        </p:spPr>
        <p:txBody>
          <a:bodyPr/>
          <a:lstStyle/>
          <a:p>
            <a:endParaRPr lang="en-US"/>
          </a:p>
        </p:txBody>
      </p:sp>
      <p:sp>
        <p:nvSpPr>
          <p:cNvPr id="22" name="Text 20"/>
          <p:cNvSpPr/>
          <p:nvPr/>
        </p:nvSpPr>
        <p:spPr>
          <a:xfrm>
            <a:off x="1581912" y="996696"/>
            <a:ext cx="329184" cy="256032"/>
          </a:xfrm>
          <a:prstGeom prst="rect">
            <a:avLst/>
          </a:prstGeom>
          <a:noFill/>
          <a:ln/>
        </p:spPr>
        <p:txBody>
          <a:bodyPr wrap="square" lIns="0" tIns="0" rIns="0" bIns="0" rtlCol="0" anchor="ctr"/>
          <a:lstStyle/>
          <a:p>
            <a:pPr marL="0" indent="0">
              <a:buNone/>
            </a:pPr>
            <a:r>
              <a:rPr lang="en-US" sz="1200" b="1" dirty="0">
                <a:solidFill>
                  <a:schemeClr val="bg1">
                    <a:lumMod val="85000"/>
                  </a:schemeClr>
                </a:solidFill>
                <a:latin typeface="Calibri" pitchFamily="34" charset="0"/>
                <a:ea typeface="Calibri" pitchFamily="34" charset="-122"/>
                <a:cs typeface="Calibri" pitchFamily="34" charset="-120"/>
              </a:rPr>
              <a:t>01</a:t>
            </a:r>
            <a:endParaRPr lang="en-US" sz="1200" dirty="0">
              <a:solidFill>
                <a:schemeClr val="bg1">
                  <a:lumMod val="85000"/>
                </a:schemeClr>
              </a:solidFill>
            </a:endParaRPr>
          </a:p>
        </p:txBody>
      </p:sp>
      <p:sp>
        <p:nvSpPr>
          <p:cNvPr id="23" name="Text 21"/>
          <p:cNvSpPr/>
          <p:nvPr/>
        </p:nvSpPr>
        <p:spPr>
          <a:xfrm>
            <a:off x="1508760" y="1188720"/>
            <a:ext cx="2070202" cy="347472"/>
          </a:xfrm>
          <a:prstGeom prst="rect">
            <a:avLst/>
          </a:prstGeom>
          <a:noFill/>
          <a:ln/>
        </p:spPr>
        <p:txBody>
          <a:bodyPr wrap="square" lIns="0" tIns="0" rIns="0" bIns="0" rtlCol="0" anchor="ctr"/>
          <a:lstStyle/>
          <a:p>
            <a:pPr marL="0" indent="0" algn="ctr">
              <a:buNone/>
            </a:pPr>
            <a:r>
              <a:rPr lang="en-US" sz="1100" b="1" kern="0" spc="50" dirty="0">
                <a:solidFill>
                  <a:srgbClr val="FFFFFF"/>
                </a:solidFill>
                <a:latin typeface="Calibri" pitchFamily="34" charset="0"/>
                <a:ea typeface="Calibri" pitchFamily="34" charset="-122"/>
                <a:cs typeface="Calibri" pitchFamily="34" charset="-120"/>
              </a:rPr>
              <a:t>DISCOVER</a:t>
            </a:r>
            <a:endParaRPr lang="en-US" sz="1100" dirty="0"/>
          </a:p>
        </p:txBody>
      </p:sp>
      <p:sp>
        <p:nvSpPr>
          <p:cNvPr id="24" name="Shape 22"/>
          <p:cNvSpPr/>
          <p:nvPr/>
        </p:nvSpPr>
        <p:spPr>
          <a:xfrm>
            <a:off x="3578962" y="1153607"/>
            <a:ext cx="45720" cy="289682"/>
          </a:xfrm>
          <a:prstGeom prst="rect">
            <a:avLst/>
          </a:prstGeom>
          <a:solidFill>
            <a:srgbClr val="CC0000"/>
          </a:solidFill>
          <a:ln w="12700">
            <a:solidFill>
              <a:srgbClr val="CC0000"/>
            </a:solidFill>
            <a:prstDash val="solid"/>
          </a:ln>
        </p:spPr>
        <p:txBody>
          <a:bodyPr/>
          <a:lstStyle/>
          <a:p>
            <a:endParaRPr lang="en-US"/>
          </a:p>
        </p:txBody>
      </p:sp>
      <p:sp>
        <p:nvSpPr>
          <p:cNvPr id="25" name="Shape 23"/>
          <p:cNvSpPr/>
          <p:nvPr/>
        </p:nvSpPr>
        <p:spPr>
          <a:xfrm>
            <a:off x="1508760" y="1719072"/>
            <a:ext cx="2070202" cy="731520"/>
          </a:xfrm>
          <a:prstGeom prst="rect">
            <a:avLst/>
          </a:prstGeom>
          <a:solidFill>
            <a:srgbClr val="EBEBEB"/>
          </a:solidFill>
          <a:ln w="6350">
            <a:solidFill>
              <a:srgbClr val="D4D4D4"/>
            </a:solidFill>
            <a:prstDash val="solid"/>
          </a:ln>
        </p:spPr>
        <p:txBody>
          <a:bodyPr/>
          <a:lstStyle/>
          <a:p>
            <a:endParaRPr lang="en-US"/>
          </a:p>
        </p:txBody>
      </p:sp>
      <p:sp>
        <p:nvSpPr>
          <p:cNvPr id="26" name="Shape 24"/>
          <p:cNvSpPr/>
          <p:nvPr/>
        </p:nvSpPr>
        <p:spPr>
          <a:xfrm>
            <a:off x="1508760" y="1719072"/>
            <a:ext cx="36576" cy="731520"/>
          </a:xfrm>
          <a:prstGeom prst="rect">
            <a:avLst/>
          </a:prstGeom>
          <a:solidFill>
            <a:srgbClr val="A8A8A8"/>
          </a:solidFill>
          <a:ln w="12700">
            <a:solidFill>
              <a:srgbClr val="A8A8A8"/>
            </a:solidFill>
            <a:prstDash val="solid"/>
          </a:ln>
        </p:spPr>
        <p:txBody>
          <a:bodyPr/>
          <a:lstStyle/>
          <a:p>
            <a:endParaRPr lang="en-US"/>
          </a:p>
        </p:txBody>
      </p:sp>
      <p:sp>
        <p:nvSpPr>
          <p:cNvPr id="27" name="Text 25"/>
          <p:cNvSpPr/>
          <p:nvPr/>
        </p:nvSpPr>
        <p:spPr>
          <a:xfrm>
            <a:off x="1572768" y="1709928"/>
            <a:ext cx="164592" cy="256032"/>
          </a:xfrm>
          <a:prstGeom prst="rect">
            <a:avLst/>
          </a:prstGeom>
          <a:noFill/>
          <a:ln/>
        </p:spPr>
        <p:txBody>
          <a:bodyPr wrap="square" lIns="0" tIns="0" rIns="0" bIns="0" rtlCol="0" anchor="ctr"/>
          <a:lstStyle/>
          <a:p>
            <a:pPr marL="0" indent="0">
              <a:buNone/>
            </a:pPr>
            <a:r>
              <a:rPr lang="en-US" sz="1600" b="1" dirty="0">
                <a:solidFill>
                  <a:srgbClr val="777777"/>
                </a:solidFill>
                <a:latin typeface="Calibri" pitchFamily="34" charset="0"/>
                <a:ea typeface="Calibri" pitchFamily="34" charset="-122"/>
                <a:cs typeface="Calibri" pitchFamily="34" charset="-120"/>
              </a:rPr>
              <a:t>“</a:t>
            </a:r>
            <a:endParaRPr lang="en-US" sz="1600" dirty="0"/>
          </a:p>
        </p:txBody>
      </p:sp>
      <p:sp>
        <p:nvSpPr>
          <p:cNvPr id="28" name="Text 26"/>
          <p:cNvSpPr/>
          <p:nvPr/>
        </p:nvSpPr>
        <p:spPr>
          <a:xfrm>
            <a:off x="1591056" y="1847088"/>
            <a:ext cx="1942186" cy="576072"/>
          </a:xfrm>
          <a:prstGeom prst="rect">
            <a:avLst/>
          </a:prstGeom>
          <a:noFill/>
          <a:ln/>
        </p:spPr>
        <p:txBody>
          <a:bodyPr wrap="square" lIns="0" tIns="0" rIns="0" bIns="0" rtlCol="0" anchor="t"/>
          <a:lstStyle/>
          <a:p>
            <a:pPr marL="0" indent="0">
              <a:buNone/>
            </a:pPr>
            <a:r>
              <a:rPr lang="en-US" sz="1050" i="1" dirty="0">
                <a:solidFill>
                  <a:srgbClr val="333333"/>
                </a:solidFill>
                <a:latin typeface="Calibri" pitchFamily="34" charset="0"/>
                <a:ea typeface="Calibri" pitchFamily="34" charset="-122"/>
                <a:cs typeface="Calibri" pitchFamily="34" charset="-120"/>
              </a:rPr>
              <a:t>"Help me find the right product — does Honeywell serve my need?"</a:t>
            </a:r>
            <a:endParaRPr lang="en-US" sz="1050" dirty="0"/>
          </a:p>
        </p:txBody>
      </p:sp>
      <p:sp>
        <p:nvSpPr>
          <p:cNvPr id="29" name="Shape 27"/>
          <p:cNvSpPr/>
          <p:nvPr/>
        </p:nvSpPr>
        <p:spPr>
          <a:xfrm>
            <a:off x="1508760" y="2542032"/>
            <a:ext cx="2070202" cy="987552"/>
          </a:xfrm>
          <a:prstGeom prst="rect">
            <a:avLst/>
          </a:prstGeom>
          <a:solidFill>
            <a:srgbClr val="FFFFFF"/>
          </a:solidFill>
          <a:ln w="6350">
            <a:solidFill>
              <a:srgbClr val="D4D4D4"/>
            </a:solidFill>
            <a:prstDash val="solid"/>
          </a:ln>
        </p:spPr>
        <p:txBody>
          <a:bodyPr/>
          <a:lstStyle/>
          <a:p>
            <a:endParaRPr lang="en-US"/>
          </a:p>
        </p:txBody>
      </p:sp>
      <p:sp>
        <p:nvSpPr>
          <p:cNvPr id="30" name="Shape 28"/>
          <p:cNvSpPr/>
          <p:nvPr/>
        </p:nvSpPr>
        <p:spPr>
          <a:xfrm>
            <a:off x="1508760" y="2542032"/>
            <a:ext cx="50292" cy="987552"/>
          </a:xfrm>
          <a:prstGeom prst="rect">
            <a:avLst/>
          </a:prstGeom>
          <a:solidFill>
            <a:srgbClr val="CC0000"/>
          </a:solidFill>
          <a:ln w="12700">
            <a:solidFill>
              <a:srgbClr val="CC0000"/>
            </a:solidFill>
            <a:prstDash val="solid"/>
          </a:ln>
        </p:spPr>
        <p:txBody>
          <a:bodyPr/>
          <a:lstStyle/>
          <a:p>
            <a:endParaRPr lang="en-US"/>
          </a:p>
        </p:txBody>
      </p:sp>
      <p:sp>
        <p:nvSpPr>
          <p:cNvPr id="31" name="Text 29"/>
          <p:cNvSpPr/>
          <p:nvPr/>
        </p:nvSpPr>
        <p:spPr>
          <a:xfrm>
            <a:off x="1600200" y="2615184"/>
            <a:ext cx="1942186" cy="896112"/>
          </a:xfrm>
          <a:prstGeom prst="rect">
            <a:avLst/>
          </a:prstGeom>
          <a:noFill/>
          <a:ln/>
        </p:spPr>
        <p:txBody>
          <a:bodyPr wrap="square" lIns="0" tIns="0" rIns="0" bIns="0" rtlCol="0" anchor="t"/>
          <a:lstStyle/>
          <a:p>
            <a:pPr marL="0" indent="0">
              <a:buNone/>
            </a:pPr>
            <a:r>
              <a:rPr lang="en-US" sz="1000" dirty="0">
                <a:solidFill>
                  <a:srgbClr val="333333"/>
                </a:solidFill>
                <a:latin typeface="Calibri" pitchFamily="34" charset="0"/>
                <a:ea typeface="Calibri" pitchFamily="34" charset="-122"/>
                <a:cs typeface="Calibri" pitchFamily="34" charset="-120"/>
              </a:rPr>
              <a:t>No personalization or relevancy</a:t>
            </a:r>
            <a:endParaRPr lang="en-US" sz="1000" dirty="0"/>
          </a:p>
        </p:txBody>
      </p:sp>
      <p:sp>
        <p:nvSpPr>
          <p:cNvPr id="32" name="Shape 30"/>
          <p:cNvSpPr/>
          <p:nvPr/>
        </p:nvSpPr>
        <p:spPr>
          <a:xfrm>
            <a:off x="1508760" y="3547872"/>
            <a:ext cx="2115922" cy="50292"/>
          </a:xfrm>
          <a:prstGeom prst="rect">
            <a:avLst/>
          </a:prstGeom>
          <a:solidFill>
            <a:srgbClr val="111111"/>
          </a:solidFill>
          <a:ln w="12700">
            <a:solidFill>
              <a:srgbClr val="111111"/>
            </a:solidFill>
            <a:prstDash val="solid"/>
          </a:ln>
        </p:spPr>
        <p:txBody>
          <a:bodyPr/>
          <a:lstStyle/>
          <a:p>
            <a:endParaRPr lang="en-US"/>
          </a:p>
        </p:txBody>
      </p:sp>
      <p:sp>
        <p:nvSpPr>
          <p:cNvPr id="33" name="Shape 31"/>
          <p:cNvSpPr/>
          <p:nvPr/>
        </p:nvSpPr>
        <p:spPr>
          <a:xfrm>
            <a:off x="1508760" y="3621024"/>
            <a:ext cx="2070202" cy="1307592"/>
          </a:xfrm>
          <a:prstGeom prst="rect">
            <a:avLst/>
          </a:prstGeom>
          <a:solidFill>
            <a:srgbClr val="EBEBEB"/>
          </a:solidFill>
          <a:ln w="6350">
            <a:solidFill>
              <a:srgbClr val="D4D4D4"/>
            </a:solidFill>
            <a:prstDash val="solid"/>
          </a:ln>
        </p:spPr>
        <p:txBody>
          <a:bodyPr/>
          <a:lstStyle/>
          <a:p>
            <a:endParaRPr lang="en-US"/>
          </a:p>
        </p:txBody>
      </p:sp>
      <p:sp>
        <p:nvSpPr>
          <p:cNvPr id="34" name="Shape 32"/>
          <p:cNvSpPr/>
          <p:nvPr/>
        </p:nvSpPr>
        <p:spPr>
          <a:xfrm>
            <a:off x="1508760" y="3621024"/>
            <a:ext cx="45720" cy="1307592"/>
          </a:xfrm>
          <a:prstGeom prst="rect">
            <a:avLst/>
          </a:prstGeom>
          <a:solidFill>
            <a:srgbClr val="333333"/>
          </a:solidFill>
          <a:ln w="12700">
            <a:solidFill>
              <a:srgbClr val="333333"/>
            </a:solidFill>
            <a:prstDash val="solid"/>
          </a:ln>
        </p:spPr>
        <p:txBody>
          <a:bodyPr/>
          <a:lstStyle/>
          <a:p>
            <a:endParaRPr lang="en-US"/>
          </a:p>
        </p:txBody>
      </p:sp>
      <p:sp>
        <p:nvSpPr>
          <p:cNvPr id="35" name="Shape 33"/>
          <p:cNvSpPr/>
          <p:nvPr/>
        </p:nvSpPr>
        <p:spPr>
          <a:xfrm>
            <a:off x="1600200" y="3712464"/>
            <a:ext cx="384048" cy="182880"/>
          </a:xfrm>
          <a:prstGeom prst="rect">
            <a:avLst/>
          </a:prstGeom>
          <a:solidFill>
            <a:srgbClr val="333333"/>
          </a:solidFill>
          <a:ln w="12700">
            <a:solidFill>
              <a:srgbClr val="333333"/>
            </a:solidFill>
            <a:prstDash val="solid"/>
          </a:ln>
        </p:spPr>
        <p:txBody>
          <a:bodyPr/>
          <a:lstStyle/>
          <a:p>
            <a:endParaRPr lang="en-US"/>
          </a:p>
        </p:txBody>
      </p:sp>
      <p:sp>
        <p:nvSpPr>
          <p:cNvPr id="36" name="Text 34"/>
          <p:cNvSpPr/>
          <p:nvPr/>
        </p:nvSpPr>
        <p:spPr>
          <a:xfrm>
            <a:off x="1600200" y="3712464"/>
            <a:ext cx="38404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MKT</a:t>
            </a:r>
            <a:endParaRPr lang="en-US" sz="700" dirty="0"/>
          </a:p>
        </p:txBody>
      </p:sp>
      <p:sp>
        <p:nvSpPr>
          <p:cNvPr id="37" name="Text 35"/>
          <p:cNvSpPr/>
          <p:nvPr/>
        </p:nvSpPr>
        <p:spPr>
          <a:xfrm>
            <a:off x="2020824" y="3685032"/>
            <a:ext cx="1503274" cy="320040"/>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6 Marketo instances; campaigns can't be consolidated/measured</a:t>
            </a:r>
            <a:endParaRPr lang="en-US" sz="850" dirty="0"/>
          </a:p>
        </p:txBody>
      </p:sp>
      <p:sp>
        <p:nvSpPr>
          <p:cNvPr id="38" name="Shape 36"/>
          <p:cNvSpPr/>
          <p:nvPr/>
        </p:nvSpPr>
        <p:spPr>
          <a:xfrm>
            <a:off x="1600200" y="4050792"/>
            <a:ext cx="384048" cy="182880"/>
          </a:xfrm>
          <a:prstGeom prst="rect">
            <a:avLst/>
          </a:prstGeom>
          <a:solidFill>
            <a:srgbClr val="333333"/>
          </a:solidFill>
          <a:ln w="12700">
            <a:solidFill>
              <a:srgbClr val="333333"/>
            </a:solidFill>
            <a:prstDash val="solid"/>
          </a:ln>
        </p:spPr>
        <p:txBody>
          <a:bodyPr/>
          <a:lstStyle/>
          <a:p>
            <a:endParaRPr lang="en-US"/>
          </a:p>
        </p:txBody>
      </p:sp>
      <p:sp>
        <p:nvSpPr>
          <p:cNvPr id="39" name="Text 37"/>
          <p:cNvSpPr/>
          <p:nvPr/>
        </p:nvSpPr>
        <p:spPr>
          <a:xfrm>
            <a:off x="1600200" y="4050792"/>
            <a:ext cx="38404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MKT</a:t>
            </a:r>
            <a:endParaRPr lang="en-US" sz="700" dirty="0"/>
          </a:p>
        </p:txBody>
      </p:sp>
      <p:sp>
        <p:nvSpPr>
          <p:cNvPr id="40" name="Text 38"/>
          <p:cNvSpPr/>
          <p:nvPr/>
        </p:nvSpPr>
        <p:spPr>
          <a:xfrm>
            <a:off x="2020824" y="4023360"/>
            <a:ext cx="1503274" cy="320040"/>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Adobe analytics broken — marketers blind on content engagement and lead intent</a:t>
            </a:r>
            <a:endParaRPr lang="en-US" sz="850" dirty="0"/>
          </a:p>
        </p:txBody>
      </p:sp>
      <p:sp>
        <p:nvSpPr>
          <p:cNvPr id="41" name="Shape 39"/>
          <p:cNvSpPr/>
          <p:nvPr/>
        </p:nvSpPr>
        <p:spPr>
          <a:xfrm>
            <a:off x="1600200" y="4500800"/>
            <a:ext cx="384048" cy="182880"/>
          </a:xfrm>
          <a:prstGeom prst="rect">
            <a:avLst/>
          </a:prstGeom>
          <a:solidFill>
            <a:srgbClr val="333333"/>
          </a:solidFill>
          <a:ln w="12700">
            <a:solidFill>
              <a:srgbClr val="333333"/>
            </a:solidFill>
            <a:prstDash val="solid"/>
          </a:ln>
        </p:spPr>
        <p:txBody>
          <a:bodyPr/>
          <a:lstStyle/>
          <a:p>
            <a:endParaRPr lang="en-US"/>
          </a:p>
        </p:txBody>
      </p:sp>
      <p:sp>
        <p:nvSpPr>
          <p:cNvPr id="42" name="Text 40"/>
          <p:cNvSpPr/>
          <p:nvPr/>
        </p:nvSpPr>
        <p:spPr>
          <a:xfrm>
            <a:off x="1600200" y="4521742"/>
            <a:ext cx="38404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SALES</a:t>
            </a:r>
            <a:endParaRPr lang="en-US" sz="700" dirty="0"/>
          </a:p>
        </p:txBody>
      </p:sp>
      <p:sp>
        <p:nvSpPr>
          <p:cNvPr id="43" name="Text 41"/>
          <p:cNvSpPr/>
          <p:nvPr/>
        </p:nvSpPr>
        <p:spPr>
          <a:xfrm>
            <a:off x="2020824" y="4494310"/>
            <a:ext cx="1503274" cy="320040"/>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No unified lead handoff — SQLs arrive without account context or intent signals</a:t>
            </a:r>
            <a:endParaRPr lang="en-US" sz="850" dirty="0"/>
          </a:p>
        </p:txBody>
      </p:sp>
      <p:sp>
        <p:nvSpPr>
          <p:cNvPr id="44" name="Shape 42"/>
          <p:cNvSpPr/>
          <p:nvPr/>
        </p:nvSpPr>
        <p:spPr>
          <a:xfrm>
            <a:off x="1508760" y="5051393"/>
            <a:ext cx="2070202" cy="1481328"/>
          </a:xfrm>
          <a:prstGeom prst="rect">
            <a:avLst/>
          </a:prstGeom>
          <a:solidFill>
            <a:srgbClr val="FFFFFF"/>
          </a:solidFill>
          <a:ln w="6350">
            <a:solidFill>
              <a:srgbClr val="D4D4D4"/>
            </a:solidFill>
            <a:prstDash val="solid"/>
          </a:ln>
        </p:spPr>
        <p:txBody>
          <a:bodyPr/>
          <a:lstStyle/>
          <a:p>
            <a:endParaRPr lang="en-US"/>
          </a:p>
        </p:txBody>
      </p:sp>
      <p:sp>
        <p:nvSpPr>
          <p:cNvPr id="45" name="Shape 43"/>
          <p:cNvSpPr/>
          <p:nvPr/>
        </p:nvSpPr>
        <p:spPr>
          <a:xfrm>
            <a:off x="1508760" y="5051393"/>
            <a:ext cx="36576" cy="1481328"/>
          </a:xfrm>
          <a:prstGeom prst="rect">
            <a:avLst/>
          </a:prstGeom>
          <a:solidFill>
            <a:srgbClr val="CC0000"/>
          </a:solidFill>
          <a:ln w="12700">
            <a:solidFill>
              <a:srgbClr val="CC0000"/>
            </a:solidFill>
            <a:prstDash val="solid"/>
          </a:ln>
        </p:spPr>
        <p:txBody>
          <a:bodyPr/>
          <a:lstStyle/>
          <a:p>
            <a:endParaRPr lang="en-US"/>
          </a:p>
        </p:txBody>
      </p:sp>
      <p:sp>
        <p:nvSpPr>
          <p:cNvPr id="46" name="Shape 44"/>
          <p:cNvSpPr/>
          <p:nvPr/>
        </p:nvSpPr>
        <p:spPr>
          <a:xfrm>
            <a:off x="1600200" y="5142833"/>
            <a:ext cx="1914754" cy="256032"/>
          </a:xfrm>
          <a:prstGeom prst="rect">
            <a:avLst/>
          </a:prstGeom>
          <a:solidFill>
            <a:srgbClr val="111111"/>
          </a:solidFill>
          <a:ln w="12700">
            <a:solidFill>
              <a:srgbClr val="111111"/>
            </a:solidFill>
            <a:prstDash val="solid"/>
          </a:ln>
        </p:spPr>
        <p:txBody>
          <a:bodyPr/>
          <a:lstStyle/>
          <a:p>
            <a:endParaRPr lang="en-US"/>
          </a:p>
        </p:txBody>
      </p:sp>
      <p:sp>
        <p:nvSpPr>
          <p:cNvPr id="47" name="Text 45"/>
          <p:cNvSpPr/>
          <p:nvPr/>
        </p:nvSpPr>
        <p:spPr>
          <a:xfrm>
            <a:off x="1627632" y="5142833"/>
            <a:ext cx="1887322"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Adobe Analytics (broken)</a:t>
            </a:r>
            <a:endParaRPr lang="en-US" sz="850" dirty="0"/>
          </a:p>
        </p:txBody>
      </p:sp>
      <p:sp>
        <p:nvSpPr>
          <p:cNvPr id="48" name="Shape 46"/>
          <p:cNvSpPr/>
          <p:nvPr/>
        </p:nvSpPr>
        <p:spPr>
          <a:xfrm>
            <a:off x="1600200" y="5453729"/>
            <a:ext cx="1914754" cy="256032"/>
          </a:xfrm>
          <a:prstGeom prst="rect">
            <a:avLst/>
          </a:prstGeom>
          <a:solidFill>
            <a:srgbClr val="111111"/>
          </a:solidFill>
          <a:ln w="12700">
            <a:solidFill>
              <a:srgbClr val="111111"/>
            </a:solidFill>
            <a:prstDash val="solid"/>
          </a:ln>
        </p:spPr>
        <p:txBody>
          <a:bodyPr/>
          <a:lstStyle/>
          <a:p>
            <a:endParaRPr lang="en-US"/>
          </a:p>
        </p:txBody>
      </p:sp>
      <p:sp>
        <p:nvSpPr>
          <p:cNvPr id="49" name="Text 47"/>
          <p:cNvSpPr/>
          <p:nvPr/>
        </p:nvSpPr>
        <p:spPr>
          <a:xfrm>
            <a:off x="1627632" y="5453729"/>
            <a:ext cx="1887322"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6× Marketo instances</a:t>
            </a:r>
            <a:endParaRPr lang="en-US" sz="850" dirty="0"/>
          </a:p>
        </p:txBody>
      </p:sp>
      <p:sp>
        <p:nvSpPr>
          <p:cNvPr id="50" name="Shape 48"/>
          <p:cNvSpPr/>
          <p:nvPr/>
        </p:nvSpPr>
        <p:spPr>
          <a:xfrm>
            <a:off x="1600200" y="5764625"/>
            <a:ext cx="1914754" cy="256032"/>
          </a:xfrm>
          <a:prstGeom prst="rect">
            <a:avLst/>
          </a:prstGeom>
          <a:solidFill>
            <a:srgbClr val="111111"/>
          </a:solidFill>
          <a:ln w="12700">
            <a:solidFill>
              <a:srgbClr val="111111"/>
            </a:solidFill>
            <a:prstDash val="solid"/>
          </a:ln>
        </p:spPr>
        <p:txBody>
          <a:bodyPr/>
          <a:lstStyle/>
          <a:p>
            <a:endParaRPr lang="en-US"/>
          </a:p>
        </p:txBody>
      </p:sp>
      <p:sp>
        <p:nvSpPr>
          <p:cNvPr id="51" name="Text 49"/>
          <p:cNvSpPr/>
          <p:nvPr/>
        </p:nvSpPr>
        <p:spPr>
          <a:xfrm>
            <a:off x="1627632" y="5764625"/>
            <a:ext cx="1887322"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AEM — no pre-fetch</a:t>
            </a:r>
            <a:endParaRPr lang="en-US" sz="850" dirty="0"/>
          </a:p>
        </p:txBody>
      </p:sp>
      <p:sp>
        <p:nvSpPr>
          <p:cNvPr id="52" name="Shape 50"/>
          <p:cNvSpPr/>
          <p:nvPr/>
        </p:nvSpPr>
        <p:spPr>
          <a:xfrm>
            <a:off x="1600200" y="6075521"/>
            <a:ext cx="1914754" cy="256032"/>
          </a:xfrm>
          <a:prstGeom prst="rect">
            <a:avLst/>
          </a:prstGeom>
          <a:solidFill>
            <a:srgbClr val="111111"/>
          </a:solidFill>
          <a:ln w="12700">
            <a:solidFill>
              <a:srgbClr val="111111"/>
            </a:solidFill>
            <a:prstDash val="solid"/>
          </a:ln>
        </p:spPr>
        <p:txBody>
          <a:bodyPr/>
          <a:lstStyle/>
          <a:p>
            <a:endParaRPr lang="en-US"/>
          </a:p>
        </p:txBody>
      </p:sp>
      <p:sp>
        <p:nvSpPr>
          <p:cNvPr id="53" name="Text 51"/>
          <p:cNvSpPr/>
          <p:nvPr/>
        </p:nvSpPr>
        <p:spPr>
          <a:xfrm>
            <a:off x="1627632" y="6075521"/>
            <a:ext cx="1887322"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No CDP / identity layer</a:t>
            </a:r>
            <a:endParaRPr lang="en-US" sz="850" dirty="0"/>
          </a:p>
        </p:txBody>
      </p:sp>
      <p:sp>
        <p:nvSpPr>
          <p:cNvPr id="54" name="Shape 52"/>
          <p:cNvSpPr/>
          <p:nvPr/>
        </p:nvSpPr>
        <p:spPr>
          <a:xfrm>
            <a:off x="3624682" y="969264"/>
            <a:ext cx="2070202" cy="658368"/>
          </a:xfrm>
          <a:prstGeom prst="rect">
            <a:avLst/>
          </a:prstGeom>
          <a:solidFill>
            <a:srgbClr val="111111"/>
          </a:solidFill>
          <a:ln w="12700">
            <a:solidFill>
              <a:srgbClr val="111111"/>
            </a:solidFill>
            <a:prstDash val="solid"/>
          </a:ln>
        </p:spPr>
        <p:txBody>
          <a:bodyPr/>
          <a:lstStyle/>
          <a:p>
            <a:endParaRPr lang="en-US"/>
          </a:p>
        </p:txBody>
      </p:sp>
      <p:sp>
        <p:nvSpPr>
          <p:cNvPr id="55" name="Text 53"/>
          <p:cNvSpPr/>
          <p:nvPr/>
        </p:nvSpPr>
        <p:spPr>
          <a:xfrm>
            <a:off x="3697834" y="996696"/>
            <a:ext cx="329184" cy="256032"/>
          </a:xfrm>
          <a:prstGeom prst="rect">
            <a:avLst/>
          </a:prstGeom>
          <a:noFill/>
          <a:ln/>
        </p:spPr>
        <p:txBody>
          <a:bodyPr wrap="square" lIns="0" tIns="0" rIns="0" bIns="0" rtlCol="0" anchor="ctr"/>
          <a:lstStyle/>
          <a:p>
            <a:pPr marL="0" indent="0">
              <a:buNone/>
            </a:pPr>
            <a:r>
              <a:rPr lang="en-US" sz="1200" b="1" dirty="0">
                <a:solidFill>
                  <a:schemeClr val="bg1">
                    <a:lumMod val="85000"/>
                  </a:schemeClr>
                </a:solidFill>
                <a:latin typeface="Calibri" pitchFamily="34" charset="0"/>
                <a:ea typeface="Calibri" pitchFamily="34" charset="-122"/>
                <a:cs typeface="Calibri" pitchFamily="34" charset="-120"/>
              </a:rPr>
              <a:t>02</a:t>
            </a:r>
            <a:endParaRPr lang="en-US" sz="1200" dirty="0">
              <a:solidFill>
                <a:schemeClr val="bg1">
                  <a:lumMod val="85000"/>
                </a:schemeClr>
              </a:solidFill>
            </a:endParaRPr>
          </a:p>
        </p:txBody>
      </p:sp>
      <p:sp>
        <p:nvSpPr>
          <p:cNvPr id="56" name="Text 54"/>
          <p:cNvSpPr/>
          <p:nvPr/>
        </p:nvSpPr>
        <p:spPr>
          <a:xfrm>
            <a:off x="3624682" y="1188720"/>
            <a:ext cx="2070202" cy="347472"/>
          </a:xfrm>
          <a:prstGeom prst="rect">
            <a:avLst/>
          </a:prstGeom>
          <a:noFill/>
          <a:ln/>
        </p:spPr>
        <p:txBody>
          <a:bodyPr wrap="square" lIns="0" tIns="0" rIns="0" bIns="0" rtlCol="0" anchor="ctr"/>
          <a:lstStyle/>
          <a:p>
            <a:pPr marL="0" indent="0" algn="ctr">
              <a:buNone/>
            </a:pPr>
            <a:r>
              <a:rPr lang="en-US" sz="1100" b="1" kern="0" spc="50" dirty="0">
                <a:solidFill>
                  <a:srgbClr val="FFFFFF"/>
                </a:solidFill>
                <a:latin typeface="Calibri" pitchFamily="34" charset="0"/>
                <a:ea typeface="Calibri" pitchFamily="34" charset="-122"/>
                <a:cs typeface="Calibri" pitchFamily="34" charset="-120"/>
              </a:rPr>
              <a:t>CONFIGURE</a:t>
            </a:r>
            <a:endParaRPr lang="en-US" sz="1100" dirty="0"/>
          </a:p>
        </p:txBody>
      </p:sp>
      <p:sp>
        <p:nvSpPr>
          <p:cNvPr id="57" name="Shape 55"/>
          <p:cNvSpPr/>
          <p:nvPr/>
        </p:nvSpPr>
        <p:spPr>
          <a:xfrm>
            <a:off x="5694883" y="1153607"/>
            <a:ext cx="45720" cy="289682"/>
          </a:xfrm>
          <a:prstGeom prst="rect">
            <a:avLst/>
          </a:prstGeom>
          <a:solidFill>
            <a:srgbClr val="111111"/>
          </a:solidFill>
          <a:ln w="12700">
            <a:solidFill>
              <a:srgbClr val="111111"/>
            </a:solidFill>
            <a:prstDash val="solid"/>
          </a:ln>
        </p:spPr>
        <p:txBody>
          <a:bodyPr/>
          <a:lstStyle/>
          <a:p>
            <a:endParaRPr lang="en-US"/>
          </a:p>
        </p:txBody>
      </p:sp>
      <p:sp>
        <p:nvSpPr>
          <p:cNvPr id="58" name="Shape 56"/>
          <p:cNvSpPr/>
          <p:nvPr/>
        </p:nvSpPr>
        <p:spPr>
          <a:xfrm>
            <a:off x="3624682" y="1719072"/>
            <a:ext cx="2070202" cy="731520"/>
          </a:xfrm>
          <a:prstGeom prst="rect">
            <a:avLst/>
          </a:prstGeom>
          <a:solidFill>
            <a:srgbClr val="F4F4F4"/>
          </a:solidFill>
          <a:ln w="6350">
            <a:solidFill>
              <a:srgbClr val="D4D4D4"/>
            </a:solidFill>
            <a:prstDash val="solid"/>
          </a:ln>
        </p:spPr>
        <p:txBody>
          <a:bodyPr/>
          <a:lstStyle/>
          <a:p>
            <a:endParaRPr lang="en-US"/>
          </a:p>
        </p:txBody>
      </p:sp>
      <p:sp>
        <p:nvSpPr>
          <p:cNvPr id="59" name="Shape 57"/>
          <p:cNvSpPr/>
          <p:nvPr/>
        </p:nvSpPr>
        <p:spPr>
          <a:xfrm>
            <a:off x="3624682" y="1719072"/>
            <a:ext cx="36576" cy="731520"/>
          </a:xfrm>
          <a:prstGeom prst="rect">
            <a:avLst/>
          </a:prstGeom>
          <a:solidFill>
            <a:srgbClr val="A8A8A8"/>
          </a:solidFill>
          <a:ln w="12700">
            <a:solidFill>
              <a:srgbClr val="A8A8A8"/>
            </a:solidFill>
            <a:prstDash val="solid"/>
          </a:ln>
        </p:spPr>
        <p:txBody>
          <a:bodyPr/>
          <a:lstStyle/>
          <a:p>
            <a:endParaRPr lang="en-US"/>
          </a:p>
        </p:txBody>
      </p:sp>
      <p:sp>
        <p:nvSpPr>
          <p:cNvPr id="60" name="Text 58"/>
          <p:cNvSpPr/>
          <p:nvPr/>
        </p:nvSpPr>
        <p:spPr>
          <a:xfrm>
            <a:off x="3688690" y="1709928"/>
            <a:ext cx="164592" cy="256032"/>
          </a:xfrm>
          <a:prstGeom prst="rect">
            <a:avLst/>
          </a:prstGeom>
          <a:noFill/>
          <a:ln/>
        </p:spPr>
        <p:txBody>
          <a:bodyPr wrap="square" lIns="0" tIns="0" rIns="0" bIns="0" rtlCol="0" anchor="ctr"/>
          <a:lstStyle/>
          <a:p>
            <a:pPr marL="0" indent="0">
              <a:buNone/>
            </a:pPr>
            <a:r>
              <a:rPr lang="en-US" sz="1600" b="1" dirty="0">
                <a:solidFill>
                  <a:srgbClr val="777777"/>
                </a:solidFill>
                <a:latin typeface="Calibri" pitchFamily="34" charset="0"/>
                <a:ea typeface="Calibri" pitchFamily="34" charset="-122"/>
                <a:cs typeface="Calibri" pitchFamily="34" charset="-120"/>
              </a:rPr>
              <a:t>“</a:t>
            </a:r>
            <a:endParaRPr lang="en-US" sz="1600" dirty="0"/>
          </a:p>
        </p:txBody>
      </p:sp>
      <p:sp>
        <p:nvSpPr>
          <p:cNvPr id="61" name="Text 59"/>
          <p:cNvSpPr/>
          <p:nvPr/>
        </p:nvSpPr>
        <p:spPr>
          <a:xfrm>
            <a:off x="3706978" y="1847088"/>
            <a:ext cx="1942186" cy="576072"/>
          </a:xfrm>
          <a:prstGeom prst="rect">
            <a:avLst/>
          </a:prstGeom>
          <a:noFill/>
          <a:ln/>
        </p:spPr>
        <p:txBody>
          <a:bodyPr wrap="square" lIns="0" tIns="0" rIns="0" bIns="0" rtlCol="0" anchor="t"/>
          <a:lstStyle/>
          <a:p>
            <a:pPr marL="0" indent="0">
              <a:buNone/>
            </a:pPr>
            <a:r>
              <a:rPr lang="en-US" sz="1050" i="1" dirty="0">
                <a:solidFill>
                  <a:srgbClr val="333333"/>
                </a:solidFill>
                <a:latin typeface="Calibri" pitchFamily="34" charset="0"/>
                <a:ea typeface="Calibri" pitchFamily="34" charset="-122"/>
                <a:cs typeface="Calibri" pitchFamily="34" charset="-120"/>
              </a:rPr>
              <a:t>"Can Honeywell guide me through complex options with accurate pricing?"</a:t>
            </a:r>
            <a:endParaRPr lang="en-US" sz="1050" dirty="0"/>
          </a:p>
        </p:txBody>
      </p:sp>
      <p:sp>
        <p:nvSpPr>
          <p:cNvPr id="62" name="Shape 60"/>
          <p:cNvSpPr/>
          <p:nvPr/>
        </p:nvSpPr>
        <p:spPr>
          <a:xfrm>
            <a:off x="3624682" y="2542032"/>
            <a:ext cx="2070202" cy="987552"/>
          </a:xfrm>
          <a:prstGeom prst="rect">
            <a:avLst/>
          </a:prstGeom>
          <a:solidFill>
            <a:srgbClr val="F4F4F4"/>
          </a:solidFill>
          <a:ln w="6350">
            <a:solidFill>
              <a:srgbClr val="D4D4D4"/>
            </a:solidFill>
            <a:prstDash val="solid"/>
          </a:ln>
        </p:spPr>
        <p:txBody>
          <a:bodyPr/>
          <a:lstStyle/>
          <a:p>
            <a:endParaRPr lang="en-US"/>
          </a:p>
        </p:txBody>
      </p:sp>
      <p:sp>
        <p:nvSpPr>
          <p:cNvPr id="63" name="Shape 61"/>
          <p:cNvSpPr/>
          <p:nvPr/>
        </p:nvSpPr>
        <p:spPr>
          <a:xfrm>
            <a:off x="3624682" y="2542032"/>
            <a:ext cx="50292" cy="987552"/>
          </a:xfrm>
          <a:prstGeom prst="rect">
            <a:avLst/>
          </a:prstGeom>
          <a:solidFill>
            <a:srgbClr val="CC0000"/>
          </a:solidFill>
          <a:ln w="12700">
            <a:solidFill>
              <a:srgbClr val="CC0000"/>
            </a:solidFill>
            <a:prstDash val="solid"/>
          </a:ln>
        </p:spPr>
        <p:txBody>
          <a:bodyPr/>
          <a:lstStyle/>
          <a:p>
            <a:endParaRPr lang="en-US"/>
          </a:p>
        </p:txBody>
      </p:sp>
      <p:sp>
        <p:nvSpPr>
          <p:cNvPr id="64" name="Text 62"/>
          <p:cNvSpPr/>
          <p:nvPr/>
        </p:nvSpPr>
        <p:spPr>
          <a:xfrm>
            <a:off x="3716122" y="2615184"/>
            <a:ext cx="1942186" cy="896112"/>
          </a:xfrm>
          <a:prstGeom prst="rect">
            <a:avLst/>
          </a:prstGeom>
          <a:noFill/>
          <a:ln/>
        </p:spPr>
        <p:txBody>
          <a:bodyPr wrap="square" lIns="0" tIns="0" rIns="0" bIns="0" rtlCol="0" anchor="t"/>
          <a:lstStyle/>
          <a:p>
            <a:pPr marL="0" indent="0">
              <a:buNone/>
            </a:pPr>
            <a:r>
              <a:rPr lang="en-US" sz="1000" dirty="0">
                <a:solidFill>
                  <a:srgbClr val="333333"/>
                </a:solidFill>
                <a:latin typeface="Calibri" pitchFamily="34" charset="0"/>
                <a:ea typeface="Calibri" pitchFamily="34" charset="-122"/>
                <a:cs typeface="Calibri" pitchFamily="34" charset="-120"/>
              </a:rPr>
              <a:t>Fragmented click to quote. </a:t>
            </a:r>
          </a:p>
          <a:p>
            <a:pPr marL="0" indent="0">
              <a:buNone/>
            </a:pPr>
            <a:r>
              <a:rPr lang="en-US" sz="1000" dirty="0">
                <a:solidFill>
                  <a:srgbClr val="333333"/>
                </a:solidFill>
                <a:latin typeface="Calibri" pitchFamily="34" charset="0"/>
                <a:ea typeface="Calibri" pitchFamily="34" charset="-122"/>
                <a:cs typeface="Calibri" pitchFamily="34" charset="-120"/>
              </a:rPr>
              <a:t>Manual pricing &amp; compliance.</a:t>
            </a:r>
          </a:p>
          <a:p>
            <a:pPr marL="0" indent="0">
              <a:buNone/>
            </a:pPr>
            <a:r>
              <a:rPr lang="en-US" sz="1000" dirty="0">
                <a:solidFill>
                  <a:srgbClr val="333333"/>
                </a:solidFill>
                <a:latin typeface="Calibri" pitchFamily="34" charset="0"/>
                <a:ea typeface="Calibri" pitchFamily="34" charset="-122"/>
                <a:cs typeface="Calibri" pitchFamily="34" charset="-120"/>
              </a:rPr>
              <a:t>No guided selling for complex engineered products.</a:t>
            </a:r>
            <a:endParaRPr lang="en-US" sz="1000" dirty="0"/>
          </a:p>
        </p:txBody>
      </p:sp>
      <p:sp>
        <p:nvSpPr>
          <p:cNvPr id="65" name="Shape 63"/>
          <p:cNvSpPr/>
          <p:nvPr/>
        </p:nvSpPr>
        <p:spPr>
          <a:xfrm>
            <a:off x="3624682" y="3547872"/>
            <a:ext cx="2115922" cy="50292"/>
          </a:xfrm>
          <a:prstGeom prst="rect">
            <a:avLst/>
          </a:prstGeom>
          <a:solidFill>
            <a:srgbClr val="111111"/>
          </a:solidFill>
          <a:ln w="12700">
            <a:solidFill>
              <a:srgbClr val="111111"/>
            </a:solidFill>
            <a:prstDash val="solid"/>
          </a:ln>
        </p:spPr>
        <p:txBody>
          <a:bodyPr/>
          <a:lstStyle/>
          <a:p>
            <a:endParaRPr lang="en-US"/>
          </a:p>
        </p:txBody>
      </p:sp>
      <p:sp>
        <p:nvSpPr>
          <p:cNvPr id="66" name="Shape 64"/>
          <p:cNvSpPr/>
          <p:nvPr/>
        </p:nvSpPr>
        <p:spPr>
          <a:xfrm>
            <a:off x="3624682" y="3621024"/>
            <a:ext cx="2070202" cy="1307592"/>
          </a:xfrm>
          <a:prstGeom prst="rect">
            <a:avLst/>
          </a:prstGeom>
          <a:solidFill>
            <a:srgbClr val="F4F4F4"/>
          </a:solidFill>
          <a:ln w="6350">
            <a:solidFill>
              <a:srgbClr val="D4D4D4"/>
            </a:solidFill>
            <a:prstDash val="solid"/>
          </a:ln>
        </p:spPr>
        <p:txBody>
          <a:bodyPr/>
          <a:lstStyle/>
          <a:p>
            <a:endParaRPr lang="en-US"/>
          </a:p>
        </p:txBody>
      </p:sp>
      <p:sp>
        <p:nvSpPr>
          <p:cNvPr id="67" name="Shape 65"/>
          <p:cNvSpPr/>
          <p:nvPr/>
        </p:nvSpPr>
        <p:spPr>
          <a:xfrm>
            <a:off x="3624682" y="3621024"/>
            <a:ext cx="45720" cy="1307592"/>
          </a:xfrm>
          <a:prstGeom prst="rect">
            <a:avLst/>
          </a:prstGeom>
          <a:solidFill>
            <a:srgbClr val="333333"/>
          </a:solidFill>
          <a:ln w="12700">
            <a:solidFill>
              <a:srgbClr val="333333"/>
            </a:solidFill>
            <a:prstDash val="solid"/>
          </a:ln>
        </p:spPr>
        <p:txBody>
          <a:bodyPr/>
          <a:lstStyle/>
          <a:p>
            <a:endParaRPr lang="en-US"/>
          </a:p>
        </p:txBody>
      </p:sp>
      <p:sp>
        <p:nvSpPr>
          <p:cNvPr id="68" name="Shape 66"/>
          <p:cNvSpPr/>
          <p:nvPr/>
        </p:nvSpPr>
        <p:spPr>
          <a:xfrm>
            <a:off x="3716122" y="3712464"/>
            <a:ext cx="384048" cy="182880"/>
          </a:xfrm>
          <a:prstGeom prst="rect">
            <a:avLst/>
          </a:prstGeom>
          <a:solidFill>
            <a:srgbClr val="333333"/>
          </a:solidFill>
          <a:ln w="12700">
            <a:solidFill>
              <a:srgbClr val="333333"/>
            </a:solidFill>
            <a:prstDash val="solid"/>
          </a:ln>
        </p:spPr>
        <p:txBody>
          <a:bodyPr/>
          <a:lstStyle/>
          <a:p>
            <a:endParaRPr lang="en-US"/>
          </a:p>
        </p:txBody>
      </p:sp>
      <p:sp>
        <p:nvSpPr>
          <p:cNvPr id="69" name="Text 67"/>
          <p:cNvSpPr/>
          <p:nvPr/>
        </p:nvSpPr>
        <p:spPr>
          <a:xfrm>
            <a:off x="3716122" y="3712464"/>
            <a:ext cx="38404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SALES</a:t>
            </a:r>
            <a:endParaRPr lang="en-US" sz="700" dirty="0"/>
          </a:p>
        </p:txBody>
      </p:sp>
      <p:sp>
        <p:nvSpPr>
          <p:cNvPr id="70" name="Text 68"/>
          <p:cNvSpPr/>
          <p:nvPr/>
        </p:nvSpPr>
        <p:spPr>
          <a:xfrm>
            <a:off x="4136746" y="3685032"/>
            <a:ext cx="1503274" cy="320040"/>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No CPQ tool — reps manually build quotes in Excel; error-prone</a:t>
            </a:r>
            <a:endParaRPr lang="en-US" sz="850" dirty="0"/>
          </a:p>
        </p:txBody>
      </p:sp>
      <p:sp>
        <p:nvSpPr>
          <p:cNvPr id="71" name="Shape 69"/>
          <p:cNvSpPr/>
          <p:nvPr/>
        </p:nvSpPr>
        <p:spPr>
          <a:xfrm>
            <a:off x="3716122" y="4050792"/>
            <a:ext cx="384048" cy="182880"/>
          </a:xfrm>
          <a:prstGeom prst="rect">
            <a:avLst/>
          </a:prstGeom>
          <a:solidFill>
            <a:srgbClr val="333333"/>
          </a:solidFill>
          <a:ln w="12700">
            <a:solidFill>
              <a:srgbClr val="333333"/>
            </a:solidFill>
            <a:prstDash val="solid"/>
          </a:ln>
        </p:spPr>
        <p:txBody>
          <a:bodyPr/>
          <a:lstStyle/>
          <a:p>
            <a:endParaRPr lang="en-US"/>
          </a:p>
        </p:txBody>
      </p:sp>
      <p:sp>
        <p:nvSpPr>
          <p:cNvPr id="72" name="Text 70"/>
          <p:cNvSpPr/>
          <p:nvPr/>
        </p:nvSpPr>
        <p:spPr>
          <a:xfrm>
            <a:off x="3716122" y="4050792"/>
            <a:ext cx="38404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SALES</a:t>
            </a:r>
            <a:endParaRPr lang="en-US" sz="700" dirty="0"/>
          </a:p>
        </p:txBody>
      </p:sp>
      <p:sp>
        <p:nvSpPr>
          <p:cNvPr id="73" name="Text 71"/>
          <p:cNvSpPr/>
          <p:nvPr/>
        </p:nvSpPr>
        <p:spPr>
          <a:xfrm>
            <a:off x="4136746" y="4023360"/>
            <a:ext cx="1503274" cy="320040"/>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Pricing rules in spreadsheets per SBG — reps can't self-serve accurate pricing</a:t>
            </a:r>
            <a:endParaRPr lang="en-US" sz="850" dirty="0"/>
          </a:p>
        </p:txBody>
      </p:sp>
      <p:sp>
        <p:nvSpPr>
          <p:cNvPr id="74" name="Shape 72"/>
          <p:cNvSpPr/>
          <p:nvPr/>
        </p:nvSpPr>
        <p:spPr>
          <a:xfrm>
            <a:off x="3716122" y="4507780"/>
            <a:ext cx="384048" cy="182880"/>
          </a:xfrm>
          <a:prstGeom prst="rect">
            <a:avLst/>
          </a:prstGeom>
          <a:solidFill>
            <a:srgbClr val="333333"/>
          </a:solidFill>
          <a:ln w="12700">
            <a:solidFill>
              <a:srgbClr val="333333"/>
            </a:solidFill>
            <a:prstDash val="solid"/>
          </a:ln>
        </p:spPr>
        <p:txBody>
          <a:bodyPr/>
          <a:lstStyle/>
          <a:p>
            <a:endParaRPr lang="en-US"/>
          </a:p>
        </p:txBody>
      </p:sp>
      <p:sp>
        <p:nvSpPr>
          <p:cNvPr id="75" name="Text 73"/>
          <p:cNvSpPr/>
          <p:nvPr/>
        </p:nvSpPr>
        <p:spPr>
          <a:xfrm>
            <a:off x="3716122" y="4507780"/>
            <a:ext cx="38404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MKT</a:t>
            </a:r>
            <a:endParaRPr lang="en-US" sz="700" dirty="0"/>
          </a:p>
        </p:txBody>
      </p:sp>
      <p:sp>
        <p:nvSpPr>
          <p:cNvPr id="76" name="Text 74"/>
          <p:cNvSpPr/>
          <p:nvPr/>
        </p:nvSpPr>
        <p:spPr>
          <a:xfrm>
            <a:off x="4136746" y="4480348"/>
            <a:ext cx="1503274" cy="320040"/>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Sales enablement content siloed by SBG — no cross-portfolio selling material</a:t>
            </a:r>
            <a:endParaRPr lang="en-US" sz="850" dirty="0"/>
          </a:p>
        </p:txBody>
      </p:sp>
      <p:sp>
        <p:nvSpPr>
          <p:cNvPr id="77" name="Shape 75"/>
          <p:cNvSpPr/>
          <p:nvPr/>
        </p:nvSpPr>
        <p:spPr>
          <a:xfrm>
            <a:off x="3624682" y="5051393"/>
            <a:ext cx="2070202" cy="1481328"/>
          </a:xfrm>
          <a:prstGeom prst="rect">
            <a:avLst/>
          </a:prstGeom>
          <a:solidFill>
            <a:srgbClr val="EBEBEB"/>
          </a:solidFill>
          <a:ln w="6350">
            <a:solidFill>
              <a:srgbClr val="D4D4D4"/>
            </a:solidFill>
            <a:prstDash val="solid"/>
          </a:ln>
        </p:spPr>
        <p:txBody>
          <a:bodyPr/>
          <a:lstStyle/>
          <a:p>
            <a:endParaRPr lang="en-US"/>
          </a:p>
        </p:txBody>
      </p:sp>
      <p:sp>
        <p:nvSpPr>
          <p:cNvPr id="78" name="Shape 76"/>
          <p:cNvSpPr/>
          <p:nvPr/>
        </p:nvSpPr>
        <p:spPr>
          <a:xfrm>
            <a:off x="3624682" y="5051393"/>
            <a:ext cx="36576" cy="1481328"/>
          </a:xfrm>
          <a:prstGeom prst="rect">
            <a:avLst/>
          </a:prstGeom>
          <a:solidFill>
            <a:srgbClr val="CC0000"/>
          </a:solidFill>
          <a:ln w="12700">
            <a:solidFill>
              <a:srgbClr val="CC0000"/>
            </a:solidFill>
            <a:prstDash val="solid"/>
          </a:ln>
        </p:spPr>
        <p:txBody>
          <a:bodyPr/>
          <a:lstStyle/>
          <a:p>
            <a:endParaRPr lang="en-US"/>
          </a:p>
        </p:txBody>
      </p:sp>
      <p:sp>
        <p:nvSpPr>
          <p:cNvPr id="79" name="Shape 77"/>
          <p:cNvSpPr/>
          <p:nvPr/>
        </p:nvSpPr>
        <p:spPr>
          <a:xfrm>
            <a:off x="3716122" y="5142833"/>
            <a:ext cx="1914754" cy="256032"/>
          </a:xfrm>
          <a:prstGeom prst="rect">
            <a:avLst/>
          </a:prstGeom>
          <a:solidFill>
            <a:srgbClr val="111111"/>
          </a:solidFill>
          <a:ln w="12700">
            <a:solidFill>
              <a:srgbClr val="111111"/>
            </a:solidFill>
            <a:prstDash val="solid"/>
          </a:ln>
        </p:spPr>
        <p:txBody>
          <a:bodyPr/>
          <a:lstStyle/>
          <a:p>
            <a:endParaRPr lang="en-US"/>
          </a:p>
        </p:txBody>
      </p:sp>
      <p:sp>
        <p:nvSpPr>
          <p:cNvPr id="80" name="Text 78"/>
          <p:cNvSpPr/>
          <p:nvPr/>
        </p:nvSpPr>
        <p:spPr>
          <a:xfrm>
            <a:off x="3743554" y="5142833"/>
            <a:ext cx="1887322"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No enterprise CPQ</a:t>
            </a:r>
            <a:endParaRPr lang="en-US" sz="850" dirty="0"/>
          </a:p>
        </p:txBody>
      </p:sp>
      <p:sp>
        <p:nvSpPr>
          <p:cNvPr id="81" name="Shape 79"/>
          <p:cNvSpPr/>
          <p:nvPr/>
        </p:nvSpPr>
        <p:spPr>
          <a:xfrm>
            <a:off x="3716122" y="5453729"/>
            <a:ext cx="1914754" cy="256032"/>
          </a:xfrm>
          <a:prstGeom prst="rect">
            <a:avLst/>
          </a:prstGeom>
          <a:solidFill>
            <a:srgbClr val="111111"/>
          </a:solidFill>
          <a:ln w="12700">
            <a:solidFill>
              <a:srgbClr val="111111"/>
            </a:solidFill>
            <a:prstDash val="solid"/>
          </a:ln>
        </p:spPr>
        <p:txBody>
          <a:bodyPr/>
          <a:lstStyle/>
          <a:p>
            <a:endParaRPr lang="en-US"/>
          </a:p>
        </p:txBody>
      </p:sp>
      <p:sp>
        <p:nvSpPr>
          <p:cNvPr id="82" name="Text 80"/>
          <p:cNvSpPr/>
          <p:nvPr/>
        </p:nvSpPr>
        <p:spPr>
          <a:xfrm>
            <a:off x="3743554" y="5453729"/>
            <a:ext cx="1887322"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Disconnected pricing tables</a:t>
            </a:r>
            <a:endParaRPr lang="en-US" sz="850" dirty="0"/>
          </a:p>
        </p:txBody>
      </p:sp>
      <p:sp>
        <p:nvSpPr>
          <p:cNvPr id="83" name="Shape 81"/>
          <p:cNvSpPr/>
          <p:nvPr/>
        </p:nvSpPr>
        <p:spPr>
          <a:xfrm>
            <a:off x="3716122" y="5764625"/>
            <a:ext cx="1914754" cy="256032"/>
          </a:xfrm>
          <a:prstGeom prst="rect">
            <a:avLst/>
          </a:prstGeom>
          <a:solidFill>
            <a:srgbClr val="111111"/>
          </a:solidFill>
          <a:ln w="12700">
            <a:solidFill>
              <a:srgbClr val="111111"/>
            </a:solidFill>
            <a:prstDash val="solid"/>
          </a:ln>
        </p:spPr>
        <p:txBody>
          <a:bodyPr/>
          <a:lstStyle/>
          <a:p>
            <a:endParaRPr lang="en-US"/>
          </a:p>
        </p:txBody>
      </p:sp>
      <p:sp>
        <p:nvSpPr>
          <p:cNvPr id="84" name="Text 82"/>
          <p:cNvSpPr/>
          <p:nvPr/>
        </p:nvSpPr>
        <p:spPr>
          <a:xfrm>
            <a:off x="3743554" y="5764625"/>
            <a:ext cx="1887322"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Manual compliance docs</a:t>
            </a:r>
            <a:endParaRPr lang="en-US" sz="850" dirty="0"/>
          </a:p>
        </p:txBody>
      </p:sp>
      <p:sp>
        <p:nvSpPr>
          <p:cNvPr id="85" name="Shape 83"/>
          <p:cNvSpPr/>
          <p:nvPr/>
        </p:nvSpPr>
        <p:spPr>
          <a:xfrm>
            <a:off x="3716122" y="6075521"/>
            <a:ext cx="1914754" cy="256032"/>
          </a:xfrm>
          <a:prstGeom prst="rect">
            <a:avLst/>
          </a:prstGeom>
          <a:solidFill>
            <a:srgbClr val="111111"/>
          </a:solidFill>
          <a:ln w="12700">
            <a:solidFill>
              <a:srgbClr val="111111"/>
            </a:solidFill>
            <a:prstDash val="solid"/>
          </a:ln>
        </p:spPr>
        <p:txBody>
          <a:bodyPr/>
          <a:lstStyle/>
          <a:p>
            <a:endParaRPr lang="en-US"/>
          </a:p>
        </p:txBody>
      </p:sp>
      <p:sp>
        <p:nvSpPr>
          <p:cNvPr id="86" name="Text 84"/>
          <p:cNvSpPr/>
          <p:nvPr/>
        </p:nvSpPr>
        <p:spPr>
          <a:xfrm>
            <a:off x="3743554" y="6075521"/>
            <a:ext cx="1887322"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No product configurator</a:t>
            </a:r>
            <a:endParaRPr lang="en-US" sz="850" dirty="0"/>
          </a:p>
        </p:txBody>
      </p:sp>
      <p:sp>
        <p:nvSpPr>
          <p:cNvPr id="87" name="Shape 85"/>
          <p:cNvSpPr/>
          <p:nvPr/>
        </p:nvSpPr>
        <p:spPr>
          <a:xfrm>
            <a:off x="5740603" y="969264"/>
            <a:ext cx="2070202" cy="658368"/>
          </a:xfrm>
          <a:prstGeom prst="rect">
            <a:avLst/>
          </a:prstGeom>
          <a:solidFill>
            <a:srgbClr val="111111"/>
          </a:solidFill>
          <a:ln w="12700">
            <a:solidFill>
              <a:srgbClr val="111111"/>
            </a:solidFill>
            <a:prstDash val="solid"/>
          </a:ln>
        </p:spPr>
        <p:txBody>
          <a:bodyPr/>
          <a:lstStyle/>
          <a:p>
            <a:endParaRPr lang="en-US"/>
          </a:p>
        </p:txBody>
      </p:sp>
      <p:sp>
        <p:nvSpPr>
          <p:cNvPr id="88" name="Text 86"/>
          <p:cNvSpPr/>
          <p:nvPr/>
        </p:nvSpPr>
        <p:spPr>
          <a:xfrm>
            <a:off x="5813755" y="996696"/>
            <a:ext cx="329184" cy="256032"/>
          </a:xfrm>
          <a:prstGeom prst="rect">
            <a:avLst/>
          </a:prstGeom>
          <a:noFill/>
          <a:ln/>
        </p:spPr>
        <p:txBody>
          <a:bodyPr wrap="square" lIns="0" tIns="0" rIns="0" bIns="0" rtlCol="0" anchor="ctr"/>
          <a:lstStyle/>
          <a:p>
            <a:pPr marL="0" indent="0">
              <a:buNone/>
            </a:pPr>
            <a:r>
              <a:rPr lang="en-US" sz="1200" b="1" dirty="0">
                <a:solidFill>
                  <a:schemeClr val="bg1">
                    <a:lumMod val="85000"/>
                  </a:schemeClr>
                </a:solidFill>
                <a:latin typeface="Calibri" pitchFamily="34" charset="0"/>
                <a:ea typeface="Calibri" pitchFamily="34" charset="-122"/>
                <a:cs typeface="Calibri" pitchFamily="34" charset="-120"/>
              </a:rPr>
              <a:t>03</a:t>
            </a:r>
            <a:endParaRPr lang="en-US" sz="1200" dirty="0">
              <a:solidFill>
                <a:schemeClr val="bg1">
                  <a:lumMod val="85000"/>
                </a:schemeClr>
              </a:solidFill>
            </a:endParaRPr>
          </a:p>
        </p:txBody>
      </p:sp>
      <p:sp>
        <p:nvSpPr>
          <p:cNvPr id="89" name="Text 87"/>
          <p:cNvSpPr/>
          <p:nvPr/>
        </p:nvSpPr>
        <p:spPr>
          <a:xfrm>
            <a:off x="5740603" y="1188720"/>
            <a:ext cx="2070202" cy="347472"/>
          </a:xfrm>
          <a:prstGeom prst="rect">
            <a:avLst/>
          </a:prstGeom>
          <a:noFill/>
          <a:ln/>
        </p:spPr>
        <p:txBody>
          <a:bodyPr wrap="square" lIns="0" tIns="0" rIns="0" bIns="0" rtlCol="0" anchor="ctr"/>
          <a:lstStyle/>
          <a:p>
            <a:pPr marL="0" indent="0" algn="ctr">
              <a:buNone/>
            </a:pPr>
            <a:r>
              <a:rPr lang="en-US" sz="1100" b="1" kern="0" spc="50" dirty="0">
                <a:solidFill>
                  <a:srgbClr val="FFFFFF"/>
                </a:solidFill>
                <a:latin typeface="Calibri" pitchFamily="34" charset="0"/>
                <a:ea typeface="Calibri" pitchFamily="34" charset="-122"/>
                <a:cs typeface="Calibri" pitchFamily="34" charset="-120"/>
              </a:rPr>
              <a:t>PRICE / QUOTE</a:t>
            </a:r>
            <a:endParaRPr lang="en-US" sz="1100" dirty="0"/>
          </a:p>
        </p:txBody>
      </p:sp>
      <p:sp>
        <p:nvSpPr>
          <p:cNvPr id="90" name="Shape 88"/>
          <p:cNvSpPr/>
          <p:nvPr/>
        </p:nvSpPr>
        <p:spPr>
          <a:xfrm>
            <a:off x="7810805" y="1153607"/>
            <a:ext cx="45720" cy="289682"/>
          </a:xfrm>
          <a:prstGeom prst="rect">
            <a:avLst/>
          </a:prstGeom>
          <a:solidFill>
            <a:srgbClr val="111111"/>
          </a:solidFill>
          <a:ln w="12700">
            <a:solidFill>
              <a:srgbClr val="111111"/>
            </a:solidFill>
            <a:prstDash val="solid"/>
          </a:ln>
        </p:spPr>
        <p:txBody>
          <a:bodyPr/>
          <a:lstStyle/>
          <a:p>
            <a:endParaRPr lang="en-US"/>
          </a:p>
        </p:txBody>
      </p:sp>
      <p:sp>
        <p:nvSpPr>
          <p:cNvPr id="91" name="Shape 89"/>
          <p:cNvSpPr/>
          <p:nvPr/>
        </p:nvSpPr>
        <p:spPr>
          <a:xfrm>
            <a:off x="5740603" y="1719072"/>
            <a:ext cx="2070202" cy="731520"/>
          </a:xfrm>
          <a:prstGeom prst="rect">
            <a:avLst/>
          </a:prstGeom>
          <a:solidFill>
            <a:srgbClr val="EBEBEB"/>
          </a:solidFill>
          <a:ln w="6350">
            <a:solidFill>
              <a:srgbClr val="D4D4D4"/>
            </a:solidFill>
            <a:prstDash val="solid"/>
          </a:ln>
        </p:spPr>
        <p:txBody>
          <a:bodyPr/>
          <a:lstStyle/>
          <a:p>
            <a:endParaRPr lang="en-US"/>
          </a:p>
        </p:txBody>
      </p:sp>
      <p:sp>
        <p:nvSpPr>
          <p:cNvPr id="92" name="Shape 90"/>
          <p:cNvSpPr/>
          <p:nvPr/>
        </p:nvSpPr>
        <p:spPr>
          <a:xfrm>
            <a:off x="5740603" y="1719072"/>
            <a:ext cx="36576" cy="731520"/>
          </a:xfrm>
          <a:prstGeom prst="rect">
            <a:avLst/>
          </a:prstGeom>
          <a:solidFill>
            <a:srgbClr val="A8A8A8"/>
          </a:solidFill>
          <a:ln w="12700">
            <a:solidFill>
              <a:srgbClr val="A8A8A8"/>
            </a:solidFill>
            <a:prstDash val="solid"/>
          </a:ln>
        </p:spPr>
        <p:txBody>
          <a:bodyPr/>
          <a:lstStyle/>
          <a:p>
            <a:endParaRPr lang="en-US"/>
          </a:p>
        </p:txBody>
      </p:sp>
      <p:sp>
        <p:nvSpPr>
          <p:cNvPr id="93" name="Text 91"/>
          <p:cNvSpPr/>
          <p:nvPr/>
        </p:nvSpPr>
        <p:spPr>
          <a:xfrm>
            <a:off x="5804611" y="1709928"/>
            <a:ext cx="164592" cy="256032"/>
          </a:xfrm>
          <a:prstGeom prst="rect">
            <a:avLst/>
          </a:prstGeom>
          <a:noFill/>
          <a:ln/>
        </p:spPr>
        <p:txBody>
          <a:bodyPr wrap="square" lIns="0" tIns="0" rIns="0" bIns="0" rtlCol="0" anchor="ctr"/>
          <a:lstStyle/>
          <a:p>
            <a:pPr marL="0" indent="0">
              <a:buNone/>
            </a:pPr>
            <a:r>
              <a:rPr lang="en-US" sz="1600" b="1" dirty="0">
                <a:solidFill>
                  <a:srgbClr val="777777"/>
                </a:solidFill>
                <a:latin typeface="Calibri" pitchFamily="34" charset="0"/>
                <a:ea typeface="Calibri" pitchFamily="34" charset="-122"/>
                <a:cs typeface="Calibri" pitchFamily="34" charset="-120"/>
              </a:rPr>
              <a:t>“</a:t>
            </a:r>
            <a:endParaRPr lang="en-US" sz="1600" dirty="0"/>
          </a:p>
        </p:txBody>
      </p:sp>
      <p:sp>
        <p:nvSpPr>
          <p:cNvPr id="94" name="Text 92"/>
          <p:cNvSpPr/>
          <p:nvPr/>
        </p:nvSpPr>
        <p:spPr>
          <a:xfrm>
            <a:off x="5822899" y="1847088"/>
            <a:ext cx="1942186" cy="576072"/>
          </a:xfrm>
          <a:prstGeom prst="rect">
            <a:avLst/>
          </a:prstGeom>
          <a:noFill/>
          <a:ln/>
        </p:spPr>
        <p:txBody>
          <a:bodyPr wrap="square" lIns="0" tIns="0" rIns="0" bIns="0" rtlCol="0" anchor="t"/>
          <a:lstStyle/>
          <a:p>
            <a:pPr marL="0" indent="0">
              <a:buNone/>
            </a:pPr>
            <a:r>
              <a:rPr lang="en-US" sz="1050" i="1" dirty="0">
                <a:solidFill>
                  <a:srgbClr val="333333"/>
                </a:solidFill>
                <a:latin typeface="Calibri" pitchFamily="34" charset="0"/>
                <a:ea typeface="Calibri" pitchFamily="34" charset="-122"/>
                <a:cs typeface="Calibri" pitchFamily="34" charset="-120"/>
              </a:rPr>
              <a:t>"I need an accurate quote fast — with my contract terms and lead times."</a:t>
            </a:r>
            <a:endParaRPr lang="en-US" sz="1050" dirty="0"/>
          </a:p>
        </p:txBody>
      </p:sp>
      <p:sp>
        <p:nvSpPr>
          <p:cNvPr id="95" name="Shape 93"/>
          <p:cNvSpPr/>
          <p:nvPr/>
        </p:nvSpPr>
        <p:spPr>
          <a:xfrm>
            <a:off x="5740603" y="2542032"/>
            <a:ext cx="2070202" cy="987552"/>
          </a:xfrm>
          <a:prstGeom prst="rect">
            <a:avLst/>
          </a:prstGeom>
          <a:solidFill>
            <a:srgbClr val="FFFFFF"/>
          </a:solidFill>
          <a:ln w="6350">
            <a:solidFill>
              <a:srgbClr val="D4D4D4"/>
            </a:solidFill>
            <a:prstDash val="solid"/>
          </a:ln>
        </p:spPr>
        <p:txBody>
          <a:bodyPr/>
          <a:lstStyle/>
          <a:p>
            <a:endParaRPr lang="en-US"/>
          </a:p>
        </p:txBody>
      </p:sp>
      <p:sp>
        <p:nvSpPr>
          <p:cNvPr id="96" name="Shape 94"/>
          <p:cNvSpPr/>
          <p:nvPr/>
        </p:nvSpPr>
        <p:spPr>
          <a:xfrm>
            <a:off x="5740603" y="2542032"/>
            <a:ext cx="50292" cy="987552"/>
          </a:xfrm>
          <a:prstGeom prst="rect">
            <a:avLst/>
          </a:prstGeom>
          <a:solidFill>
            <a:srgbClr val="CC0000"/>
          </a:solidFill>
          <a:ln w="12700">
            <a:solidFill>
              <a:srgbClr val="CC0000"/>
            </a:solidFill>
            <a:prstDash val="solid"/>
          </a:ln>
        </p:spPr>
        <p:txBody>
          <a:bodyPr/>
          <a:lstStyle/>
          <a:p>
            <a:endParaRPr lang="en-US"/>
          </a:p>
        </p:txBody>
      </p:sp>
      <p:sp>
        <p:nvSpPr>
          <p:cNvPr id="97" name="Text 95"/>
          <p:cNvSpPr/>
          <p:nvPr/>
        </p:nvSpPr>
        <p:spPr>
          <a:xfrm>
            <a:off x="5832043" y="2615184"/>
            <a:ext cx="1942186" cy="896112"/>
          </a:xfrm>
          <a:prstGeom prst="rect">
            <a:avLst/>
          </a:prstGeom>
          <a:noFill/>
          <a:ln/>
        </p:spPr>
        <p:txBody>
          <a:bodyPr wrap="square" lIns="0" tIns="0" rIns="0" bIns="0" rtlCol="0" anchor="t"/>
          <a:lstStyle/>
          <a:p>
            <a:pPr marL="0" indent="0">
              <a:buNone/>
            </a:pPr>
            <a:r>
              <a:rPr lang="en-US" sz="1000" dirty="0">
                <a:solidFill>
                  <a:srgbClr val="333333"/>
                </a:solidFill>
                <a:latin typeface="Calibri" pitchFamily="34" charset="0"/>
                <a:ea typeface="Calibri" pitchFamily="34" charset="-122"/>
                <a:cs typeface="Calibri" pitchFamily="34" charset="-120"/>
              </a:rPr>
              <a:t>Approval flows disconnected from ERP. </a:t>
            </a:r>
          </a:p>
          <a:p>
            <a:pPr marL="0" indent="0">
              <a:buNone/>
            </a:pPr>
            <a:r>
              <a:rPr lang="en-US" sz="1000" dirty="0">
                <a:solidFill>
                  <a:srgbClr val="333333"/>
                </a:solidFill>
                <a:latin typeface="Calibri" pitchFamily="34" charset="0"/>
                <a:ea typeface="Calibri" pitchFamily="34" charset="-122"/>
                <a:cs typeface="Calibri" pitchFamily="34" charset="-120"/>
              </a:rPr>
              <a:t>Credit limits not set which leads to order blocks. </a:t>
            </a:r>
          </a:p>
          <a:p>
            <a:pPr marL="0" indent="0">
              <a:buNone/>
            </a:pPr>
            <a:r>
              <a:rPr lang="en-US" sz="1000" dirty="0">
                <a:solidFill>
                  <a:srgbClr val="333333"/>
                </a:solidFill>
                <a:latin typeface="Calibri" pitchFamily="34" charset="0"/>
                <a:ea typeface="Calibri" pitchFamily="34" charset="-122"/>
                <a:cs typeface="Calibri" pitchFamily="34" charset="-120"/>
              </a:rPr>
              <a:t>No standard contracts.</a:t>
            </a:r>
            <a:endParaRPr lang="en-US" sz="1000" dirty="0"/>
          </a:p>
        </p:txBody>
      </p:sp>
      <p:sp>
        <p:nvSpPr>
          <p:cNvPr id="98" name="Shape 96"/>
          <p:cNvSpPr/>
          <p:nvPr/>
        </p:nvSpPr>
        <p:spPr>
          <a:xfrm>
            <a:off x="5740603" y="3547872"/>
            <a:ext cx="2115922" cy="50292"/>
          </a:xfrm>
          <a:prstGeom prst="rect">
            <a:avLst/>
          </a:prstGeom>
          <a:solidFill>
            <a:srgbClr val="111111"/>
          </a:solidFill>
          <a:ln w="12700">
            <a:solidFill>
              <a:srgbClr val="111111"/>
            </a:solidFill>
            <a:prstDash val="solid"/>
          </a:ln>
        </p:spPr>
        <p:txBody>
          <a:bodyPr/>
          <a:lstStyle/>
          <a:p>
            <a:endParaRPr lang="en-US"/>
          </a:p>
        </p:txBody>
      </p:sp>
      <p:sp>
        <p:nvSpPr>
          <p:cNvPr id="99" name="Shape 97"/>
          <p:cNvSpPr/>
          <p:nvPr/>
        </p:nvSpPr>
        <p:spPr>
          <a:xfrm>
            <a:off x="5740603" y="3621024"/>
            <a:ext cx="2070202" cy="1307592"/>
          </a:xfrm>
          <a:prstGeom prst="rect">
            <a:avLst/>
          </a:prstGeom>
          <a:solidFill>
            <a:srgbClr val="EBEBEB"/>
          </a:solidFill>
          <a:ln w="6350">
            <a:solidFill>
              <a:srgbClr val="D4D4D4"/>
            </a:solidFill>
            <a:prstDash val="solid"/>
          </a:ln>
        </p:spPr>
        <p:txBody>
          <a:bodyPr/>
          <a:lstStyle/>
          <a:p>
            <a:endParaRPr lang="en-US"/>
          </a:p>
        </p:txBody>
      </p:sp>
      <p:sp>
        <p:nvSpPr>
          <p:cNvPr id="100" name="Shape 98"/>
          <p:cNvSpPr/>
          <p:nvPr/>
        </p:nvSpPr>
        <p:spPr>
          <a:xfrm>
            <a:off x="5740603" y="3621024"/>
            <a:ext cx="45720" cy="1307592"/>
          </a:xfrm>
          <a:prstGeom prst="rect">
            <a:avLst/>
          </a:prstGeom>
          <a:solidFill>
            <a:srgbClr val="333333"/>
          </a:solidFill>
          <a:ln w="12700">
            <a:solidFill>
              <a:srgbClr val="333333"/>
            </a:solidFill>
            <a:prstDash val="solid"/>
          </a:ln>
        </p:spPr>
        <p:txBody>
          <a:bodyPr/>
          <a:lstStyle/>
          <a:p>
            <a:endParaRPr lang="en-US"/>
          </a:p>
        </p:txBody>
      </p:sp>
      <p:sp>
        <p:nvSpPr>
          <p:cNvPr id="101" name="Shape 99"/>
          <p:cNvSpPr/>
          <p:nvPr/>
        </p:nvSpPr>
        <p:spPr>
          <a:xfrm>
            <a:off x="5832043" y="3712464"/>
            <a:ext cx="384048" cy="182880"/>
          </a:xfrm>
          <a:prstGeom prst="rect">
            <a:avLst/>
          </a:prstGeom>
          <a:solidFill>
            <a:srgbClr val="333333"/>
          </a:solidFill>
          <a:ln w="12700">
            <a:solidFill>
              <a:srgbClr val="333333"/>
            </a:solidFill>
            <a:prstDash val="solid"/>
          </a:ln>
        </p:spPr>
        <p:txBody>
          <a:bodyPr/>
          <a:lstStyle/>
          <a:p>
            <a:endParaRPr lang="en-US"/>
          </a:p>
        </p:txBody>
      </p:sp>
      <p:sp>
        <p:nvSpPr>
          <p:cNvPr id="102" name="Text 100"/>
          <p:cNvSpPr/>
          <p:nvPr/>
        </p:nvSpPr>
        <p:spPr>
          <a:xfrm>
            <a:off x="5832043" y="3712464"/>
            <a:ext cx="38404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SALES</a:t>
            </a:r>
            <a:endParaRPr lang="en-US" sz="700" dirty="0"/>
          </a:p>
        </p:txBody>
      </p:sp>
      <p:sp>
        <p:nvSpPr>
          <p:cNvPr id="103" name="Text 101"/>
          <p:cNvSpPr/>
          <p:nvPr/>
        </p:nvSpPr>
        <p:spPr>
          <a:xfrm>
            <a:off x="6252667" y="3685032"/>
            <a:ext cx="1503274" cy="320040"/>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4–5 Salesforce instances — reps switch between orgs to see full customer picture</a:t>
            </a:r>
            <a:endParaRPr lang="en-US" sz="850" dirty="0"/>
          </a:p>
        </p:txBody>
      </p:sp>
      <p:sp>
        <p:nvSpPr>
          <p:cNvPr id="104" name="Shape 102"/>
          <p:cNvSpPr/>
          <p:nvPr/>
        </p:nvSpPr>
        <p:spPr>
          <a:xfrm>
            <a:off x="5832043" y="4050792"/>
            <a:ext cx="384048" cy="182880"/>
          </a:xfrm>
          <a:prstGeom prst="rect">
            <a:avLst/>
          </a:prstGeom>
          <a:solidFill>
            <a:srgbClr val="333333"/>
          </a:solidFill>
          <a:ln w="12700">
            <a:solidFill>
              <a:srgbClr val="333333"/>
            </a:solidFill>
            <a:prstDash val="solid"/>
          </a:ln>
        </p:spPr>
        <p:txBody>
          <a:bodyPr/>
          <a:lstStyle/>
          <a:p>
            <a:endParaRPr lang="en-US"/>
          </a:p>
        </p:txBody>
      </p:sp>
      <p:sp>
        <p:nvSpPr>
          <p:cNvPr id="105" name="Text 103"/>
          <p:cNvSpPr/>
          <p:nvPr/>
        </p:nvSpPr>
        <p:spPr>
          <a:xfrm>
            <a:off x="5832043" y="4050792"/>
            <a:ext cx="38404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SALES</a:t>
            </a:r>
            <a:endParaRPr lang="en-US" sz="700" dirty="0"/>
          </a:p>
        </p:txBody>
      </p:sp>
      <p:sp>
        <p:nvSpPr>
          <p:cNvPr id="106" name="Text 104"/>
          <p:cNvSpPr/>
          <p:nvPr/>
        </p:nvSpPr>
        <p:spPr>
          <a:xfrm>
            <a:off x="6252667" y="4121080"/>
            <a:ext cx="1503274" cy="320040"/>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Quote approvals routed by email — no visibility into status, cycle takes days</a:t>
            </a:r>
            <a:endParaRPr lang="en-US" sz="850" dirty="0"/>
          </a:p>
        </p:txBody>
      </p:sp>
      <p:sp>
        <p:nvSpPr>
          <p:cNvPr id="107" name="Shape 105"/>
          <p:cNvSpPr/>
          <p:nvPr/>
        </p:nvSpPr>
        <p:spPr>
          <a:xfrm>
            <a:off x="5832043" y="4535702"/>
            <a:ext cx="384048" cy="182880"/>
          </a:xfrm>
          <a:prstGeom prst="rect">
            <a:avLst/>
          </a:prstGeom>
          <a:solidFill>
            <a:srgbClr val="333333"/>
          </a:solidFill>
          <a:ln w="12700">
            <a:solidFill>
              <a:srgbClr val="333333"/>
            </a:solidFill>
            <a:prstDash val="solid"/>
          </a:ln>
        </p:spPr>
        <p:txBody>
          <a:bodyPr/>
          <a:lstStyle/>
          <a:p>
            <a:endParaRPr lang="en-US"/>
          </a:p>
        </p:txBody>
      </p:sp>
      <p:sp>
        <p:nvSpPr>
          <p:cNvPr id="108" name="Text 106"/>
          <p:cNvSpPr/>
          <p:nvPr/>
        </p:nvSpPr>
        <p:spPr>
          <a:xfrm>
            <a:off x="5832043" y="4563620"/>
            <a:ext cx="38404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CX</a:t>
            </a:r>
            <a:endParaRPr lang="en-US" sz="700" dirty="0"/>
          </a:p>
        </p:txBody>
      </p:sp>
      <p:sp>
        <p:nvSpPr>
          <p:cNvPr id="109" name="Text 107"/>
          <p:cNvSpPr/>
          <p:nvPr/>
        </p:nvSpPr>
        <p:spPr>
          <a:xfrm>
            <a:off x="6252667" y="4508270"/>
            <a:ext cx="1503274" cy="320040"/>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Credit limit issues surface at order stage — CX scrambles to resolve manually</a:t>
            </a:r>
            <a:endParaRPr lang="en-US" sz="850" dirty="0"/>
          </a:p>
        </p:txBody>
      </p:sp>
      <p:sp>
        <p:nvSpPr>
          <p:cNvPr id="110" name="Shape 108"/>
          <p:cNvSpPr/>
          <p:nvPr/>
        </p:nvSpPr>
        <p:spPr>
          <a:xfrm>
            <a:off x="5740603" y="5051393"/>
            <a:ext cx="2070202" cy="1481328"/>
          </a:xfrm>
          <a:prstGeom prst="rect">
            <a:avLst/>
          </a:prstGeom>
          <a:solidFill>
            <a:srgbClr val="FFFFFF"/>
          </a:solidFill>
          <a:ln w="6350">
            <a:solidFill>
              <a:srgbClr val="D4D4D4"/>
            </a:solidFill>
            <a:prstDash val="solid"/>
          </a:ln>
        </p:spPr>
        <p:txBody>
          <a:bodyPr/>
          <a:lstStyle/>
          <a:p>
            <a:endParaRPr lang="en-US"/>
          </a:p>
        </p:txBody>
      </p:sp>
      <p:sp>
        <p:nvSpPr>
          <p:cNvPr id="111" name="Shape 109"/>
          <p:cNvSpPr/>
          <p:nvPr/>
        </p:nvSpPr>
        <p:spPr>
          <a:xfrm>
            <a:off x="5740603" y="5051393"/>
            <a:ext cx="36576" cy="1481328"/>
          </a:xfrm>
          <a:prstGeom prst="rect">
            <a:avLst/>
          </a:prstGeom>
          <a:solidFill>
            <a:srgbClr val="CC0000"/>
          </a:solidFill>
          <a:ln w="12700">
            <a:solidFill>
              <a:srgbClr val="CC0000"/>
            </a:solidFill>
            <a:prstDash val="solid"/>
          </a:ln>
        </p:spPr>
        <p:txBody>
          <a:bodyPr/>
          <a:lstStyle/>
          <a:p>
            <a:endParaRPr lang="en-US"/>
          </a:p>
        </p:txBody>
      </p:sp>
      <p:sp>
        <p:nvSpPr>
          <p:cNvPr id="112" name="Shape 110"/>
          <p:cNvSpPr/>
          <p:nvPr/>
        </p:nvSpPr>
        <p:spPr>
          <a:xfrm>
            <a:off x="5832043" y="5142833"/>
            <a:ext cx="1914754" cy="256032"/>
          </a:xfrm>
          <a:prstGeom prst="rect">
            <a:avLst/>
          </a:prstGeom>
          <a:solidFill>
            <a:srgbClr val="111111"/>
          </a:solidFill>
          <a:ln w="12700">
            <a:solidFill>
              <a:srgbClr val="111111"/>
            </a:solidFill>
            <a:prstDash val="solid"/>
          </a:ln>
        </p:spPr>
        <p:txBody>
          <a:bodyPr/>
          <a:lstStyle/>
          <a:p>
            <a:endParaRPr lang="en-US"/>
          </a:p>
        </p:txBody>
      </p:sp>
      <p:sp>
        <p:nvSpPr>
          <p:cNvPr id="113" name="Text 111"/>
          <p:cNvSpPr/>
          <p:nvPr/>
        </p:nvSpPr>
        <p:spPr>
          <a:xfrm>
            <a:off x="5859475" y="5142833"/>
            <a:ext cx="1887322"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SFDC (4–5 instances)</a:t>
            </a:r>
            <a:endParaRPr lang="en-US" sz="850" dirty="0"/>
          </a:p>
        </p:txBody>
      </p:sp>
      <p:sp>
        <p:nvSpPr>
          <p:cNvPr id="114" name="Shape 112"/>
          <p:cNvSpPr/>
          <p:nvPr/>
        </p:nvSpPr>
        <p:spPr>
          <a:xfrm>
            <a:off x="5832043" y="5453729"/>
            <a:ext cx="1914754" cy="256032"/>
          </a:xfrm>
          <a:prstGeom prst="rect">
            <a:avLst/>
          </a:prstGeom>
          <a:solidFill>
            <a:srgbClr val="111111"/>
          </a:solidFill>
          <a:ln w="12700">
            <a:solidFill>
              <a:srgbClr val="111111"/>
            </a:solidFill>
            <a:prstDash val="solid"/>
          </a:ln>
        </p:spPr>
        <p:txBody>
          <a:bodyPr/>
          <a:lstStyle/>
          <a:p>
            <a:endParaRPr lang="en-US"/>
          </a:p>
        </p:txBody>
      </p:sp>
      <p:sp>
        <p:nvSpPr>
          <p:cNvPr id="115" name="Text 113"/>
          <p:cNvSpPr/>
          <p:nvPr/>
        </p:nvSpPr>
        <p:spPr>
          <a:xfrm>
            <a:off x="5859475" y="5453729"/>
            <a:ext cx="1887322"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Disconnected SAP ECC</a:t>
            </a:r>
            <a:endParaRPr lang="en-US" sz="850" dirty="0"/>
          </a:p>
        </p:txBody>
      </p:sp>
      <p:sp>
        <p:nvSpPr>
          <p:cNvPr id="116" name="Shape 114"/>
          <p:cNvSpPr/>
          <p:nvPr/>
        </p:nvSpPr>
        <p:spPr>
          <a:xfrm>
            <a:off x="5832043" y="5764625"/>
            <a:ext cx="1914754" cy="256032"/>
          </a:xfrm>
          <a:prstGeom prst="rect">
            <a:avLst/>
          </a:prstGeom>
          <a:solidFill>
            <a:srgbClr val="111111"/>
          </a:solidFill>
          <a:ln w="12700">
            <a:solidFill>
              <a:srgbClr val="111111"/>
            </a:solidFill>
            <a:prstDash val="solid"/>
          </a:ln>
        </p:spPr>
        <p:txBody>
          <a:bodyPr/>
          <a:lstStyle/>
          <a:p>
            <a:endParaRPr lang="en-US"/>
          </a:p>
        </p:txBody>
      </p:sp>
      <p:sp>
        <p:nvSpPr>
          <p:cNvPr id="117" name="Text 115"/>
          <p:cNvSpPr/>
          <p:nvPr/>
        </p:nvSpPr>
        <p:spPr>
          <a:xfrm>
            <a:off x="5859475" y="5764625"/>
            <a:ext cx="1887322"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Email-based approvals</a:t>
            </a:r>
            <a:endParaRPr lang="en-US" sz="850" dirty="0"/>
          </a:p>
        </p:txBody>
      </p:sp>
      <p:sp>
        <p:nvSpPr>
          <p:cNvPr id="118" name="Shape 116"/>
          <p:cNvSpPr/>
          <p:nvPr/>
        </p:nvSpPr>
        <p:spPr>
          <a:xfrm>
            <a:off x="5832043" y="6075521"/>
            <a:ext cx="1914754" cy="256032"/>
          </a:xfrm>
          <a:prstGeom prst="rect">
            <a:avLst/>
          </a:prstGeom>
          <a:solidFill>
            <a:srgbClr val="111111"/>
          </a:solidFill>
          <a:ln w="12700">
            <a:solidFill>
              <a:srgbClr val="111111"/>
            </a:solidFill>
            <a:prstDash val="solid"/>
          </a:ln>
        </p:spPr>
        <p:txBody>
          <a:bodyPr/>
          <a:lstStyle/>
          <a:p>
            <a:endParaRPr lang="en-US"/>
          </a:p>
        </p:txBody>
      </p:sp>
      <p:sp>
        <p:nvSpPr>
          <p:cNvPr id="119" name="Text 117"/>
          <p:cNvSpPr/>
          <p:nvPr/>
        </p:nvSpPr>
        <p:spPr>
          <a:xfrm>
            <a:off x="5859475" y="6075521"/>
            <a:ext cx="1887322"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No contract standard</a:t>
            </a:r>
            <a:endParaRPr lang="en-US" sz="850" dirty="0"/>
          </a:p>
        </p:txBody>
      </p:sp>
      <p:sp>
        <p:nvSpPr>
          <p:cNvPr id="120" name="Shape 118"/>
          <p:cNvSpPr/>
          <p:nvPr/>
        </p:nvSpPr>
        <p:spPr>
          <a:xfrm>
            <a:off x="7856525" y="969264"/>
            <a:ext cx="2070202" cy="658368"/>
          </a:xfrm>
          <a:prstGeom prst="rect">
            <a:avLst/>
          </a:prstGeom>
          <a:solidFill>
            <a:srgbClr val="111111"/>
          </a:solidFill>
          <a:ln w="12700">
            <a:solidFill>
              <a:srgbClr val="111111"/>
            </a:solidFill>
            <a:prstDash val="solid"/>
          </a:ln>
        </p:spPr>
        <p:txBody>
          <a:bodyPr/>
          <a:lstStyle/>
          <a:p>
            <a:endParaRPr lang="en-US"/>
          </a:p>
        </p:txBody>
      </p:sp>
      <p:sp>
        <p:nvSpPr>
          <p:cNvPr id="121" name="Text 119"/>
          <p:cNvSpPr/>
          <p:nvPr/>
        </p:nvSpPr>
        <p:spPr>
          <a:xfrm>
            <a:off x="7929677" y="996696"/>
            <a:ext cx="329184" cy="256032"/>
          </a:xfrm>
          <a:prstGeom prst="rect">
            <a:avLst/>
          </a:prstGeom>
          <a:noFill/>
          <a:ln/>
        </p:spPr>
        <p:txBody>
          <a:bodyPr wrap="square" lIns="0" tIns="0" rIns="0" bIns="0" rtlCol="0" anchor="ctr"/>
          <a:lstStyle/>
          <a:p>
            <a:pPr marL="0" indent="0">
              <a:buNone/>
            </a:pPr>
            <a:r>
              <a:rPr lang="en-US" sz="1200" b="1" dirty="0">
                <a:solidFill>
                  <a:schemeClr val="bg1">
                    <a:lumMod val="85000"/>
                  </a:schemeClr>
                </a:solidFill>
                <a:latin typeface="Calibri" pitchFamily="34" charset="0"/>
                <a:ea typeface="Calibri" pitchFamily="34" charset="-122"/>
                <a:cs typeface="Calibri" pitchFamily="34" charset="-120"/>
              </a:rPr>
              <a:t>04</a:t>
            </a:r>
            <a:endParaRPr lang="en-US" sz="1200" dirty="0">
              <a:solidFill>
                <a:schemeClr val="bg1">
                  <a:lumMod val="85000"/>
                </a:schemeClr>
              </a:solidFill>
            </a:endParaRPr>
          </a:p>
        </p:txBody>
      </p:sp>
      <p:sp>
        <p:nvSpPr>
          <p:cNvPr id="122" name="Text 120"/>
          <p:cNvSpPr/>
          <p:nvPr/>
        </p:nvSpPr>
        <p:spPr>
          <a:xfrm>
            <a:off x="7856525" y="1188720"/>
            <a:ext cx="2070202" cy="347472"/>
          </a:xfrm>
          <a:prstGeom prst="rect">
            <a:avLst/>
          </a:prstGeom>
          <a:noFill/>
          <a:ln/>
        </p:spPr>
        <p:txBody>
          <a:bodyPr wrap="square" lIns="0" tIns="0" rIns="0" bIns="0" rtlCol="0" anchor="ctr"/>
          <a:lstStyle/>
          <a:p>
            <a:pPr marL="0" indent="0" algn="ctr">
              <a:buNone/>
            </a:pPr>
            <a:r>
              <a:rPr lang="en-US" sz="1100" b="1" kern="0" spc="50" dirty="0">
                <a:solidFill>
                  <a:srgbClr val="FFFFFF"/>
                </a:solidFill>
                <a:latin typeface="Calibri" pitchFamily="34" charset="0"/>
                <a:ea typeface="Calibri" pitchFamily="34" charset="-122"/>
                <a:cs typeface="Calibri" pitchFamily="34" charset="-120"/>
              </a:rPr>
              <a:t>PURCHASE</a:t>
            </a:r>
            <a:endParaRPr lang="en-US" sz="1100" dirty="0"/>
          </a:p>
        </p:txBody>
      </p:sp>
      <p:sp>
        <p:nvSpPr>
          <p:cNvPr id="123" name="Shape 121"/>
          <p:cNvSpPr/>
          <p:nvPr/>
        </p:nvSpPr>
        <p:spPr>
          <a:xfrm>
            <a:off x="9926726" y="1153607"/>
            <a:ext cx="45720" cy="289682"/>
          </a:xfrm>
          <a:prstGeom prst="rect">
            <a:avLst/>
          </a:prstGeom>
          <a:solidFill>
            <a:srgbClr val="111111"/>
          </a:solidFill>
          <a:ln w="12700">
            <a:solidFill>
              <a:srgbClr val="111111"/>
            </a:solidFill>
            <a:prstDash val="solid"/>
          </a:ln>
        </p:spPr>
        <p:txBody>
          <a:bodyPr/>
          <a:lstStyle/>
          <a:p>
            <a:endParaRPr lang="en-US"/>
          </a:p>
        </p:txBody>
      </p:sp>
      <p:sp>
        <p:nvSpPr>
          <p:cNvPr id="124" name="Shape 122"/>
          <p:cNvSpPr/>
          <p:nvPr/>
        </p:nvSpPr>
        <p:spPr>
          <a:xfrm>
            <a:off x="7856525" y="1719072"/>
            <a:ext cx="2070202" cy="731520"/>
          </a:xfrm>
          <a:prstGeom prst="rect">
            <a:avLst/>
          </a:prstGeom>
          <a:solidFill>
            <a:srgbClr val="F4F4F4"/>
          </a:solidFill>
          <a:ln w="6350">
            <a:solidFill>
              <a:srgbClr val="D4D4D4"/>
            </a:solidFill>
            <a:prstDash val="solid"/>
          </a:ln>
        </p:spPr>
        <p:txBody>
          <a:bodyPr/>
          <a:lstStyle/>
          <a:p>
            <a:endParaRPr lang="en-US"/>
          </a:p>
        </p:txBody>
      </p:sp>
      <p:sp>
        <p:nvSpPr>
          <p:cNvPr id="125" name="Shape 123"/>
          <p:cNvSpPr/>
          <p:nvPr/>
        </p:nvSpPr>
        <p:spPr>
          <a:xfrm>
            <a:off x="7856525" y="1719072"/>
            <a:ext cx="36576" cy="731520"/>
          </a:xfrm>
          <a:prstGeom prst="rect">
            <a:avLst/>
          </a:prstGeom>
          <a:solidFill>
            <a:srgbClr val="A8A8A8"/>
          </a:solidFill>
          <a:ln w="12700">
            <a:solidFill>
              <a:srgbClr val="A8A8A8"/>
            </a:solidFill>
            <a:prstDash val="solid"/>
          </a:ln>
        </p:spPr>
        <p:txBody>
          <a:bodyPr/>
          <a:lstStyle/>
          <a:p>
            <a:endParaRPr lang="en-US"/>
          </a:p>
        </p:txBody>
      </p:sp>
      <p:sp>
        <p:nvSpPr>
          <p:cNvPr id="126" name="Text 124"/>
          <p:cNvSpPr/>
          <p:nvPr/>
        </p:nvSpPr>
        <p:spPr>
          <a:xfrm>
            <a:off x="7920533" y="1709928"/>
            <a:ext cx="164592" cy="256032"/>
          </a:xfrm>
          <a:prstGeom prst="rect">
            <a:avLst/>
          </a:prstGeom>
          <a:noFill/>
          <a:ln/>
        </p:spPr>
        <p:txBody>
          <a:bodyPr wrap="square" lIns="0" tIns="0" rIns="0" bIns="0" rtlCol="0" anchor="ctr"/>
          <a:lstStyle/>
          <a:p>
            <a:pPr marL="0" indent="0">
              <a:buNone/>
            </a:pPr>
            <a:r>
              <a:rPr lang="en-US" sz="1600" b="1" dirty="0">
                <a:solidFill>
                  <a:srgbClr val="777777"/>
                </a:solidFill>
                <a:latin typeface="Calibri" pitchFamily="34" charset="0"/>
                <a:ea typeface="Calibri" pitchFamily="34" charset="-122"/>
                <a:cs typeface="Calibri" pitchFamily="34" charset="-120"/>
              </a:rPr>
              <a:t>“</a:t>
            </a:r>
            <a:endParaRPr lang="en-US" sz="1600" dirty="0"/>
          </a:p>
        </p:txBody>
      </p:sp>
      <p:sp>
        <p:nvSpPr>
          <p:cNvPr id="127" name="Text 125"/>
          <p:cNvSpPr/>
          <p:nvPr/>
        </p:nvSpPr>
        <p:spPr>
          <a:xfrm>
            <a:off x="7938821" y="1847088"/>
            <a:ext cx="1942186" cy="576072"/>
          </a:xfrm>
          <a:prstGeom prst="rect">
            <a:avLst/>
          </a:prstGeom>
          <a:noFill/>
          <a:ln/>
        </p:spPr>
        <p:txBody>
          <a:bodyPr wrap="square" lIns="0" tIns="0" rIns="0" bIns="0" rtlCol="0" anchor="t"/>
          <a:lstStyle/>
          <a:p>
            <a:pPr marL="0" indent="0">
              <a:buNone/>
            </a:pPr>
            <a:r>
              <a:rPr lang="en-US" sz="1050" i="1" dirty="0">
                <a:solidFill>
                  <a:srgbClr val="333333"/>
                </a:solidFill>
                <a:latin typeface="Calibri" pitchFamily="34" charset="0"/>
                <a:ea typeface="Calibri" pitchFamily="34" charset="-122"/>
                <a:cs typeface="Calibri" pitchFamily="34" charset="-120"/>
              </a:rPr>
              <a:t>"Let me place my order without re-entering data or hitting unexpected holds."</a:t>
            </a:r>
            <a:endParaRPr lang="en-US" sz="1050" dirty="0"/>
          </a:p>
        </p:txBody>
      </p:sp>
      <p:sp>
        <p:nvSpPr>
          <p:cNvPr id="128" name="Shape 126"/>
          <p:cNvSpPr/>
          <p:nvPr/>
        </p:nvSpPr>
        <p:spPr>
          <a:xfrm>
            <a:off x="7856525" y="2542032"/>
            <a:ext cx="2070202" cy="987552"/>
          </a:xfrm>
          <a:prstGeom prst="rect">
            <a:avLst/>
          </a:prstGeom>
          <a:solidFill>
            <a:srgbClr val="F4F4F4"/>
          </a:solidFill>
          <a:ln w="6350">
            <a:solidFill>
              <a:srgbClr val="D4D4D4"/>
            </a:solidFill>
            <a:prstDash val="solid"/>
          </a:ln>
        </p:spPr>
        <p:txBody>
          <a:bodyPr/>
          <a:lstStyle/>
          <a:p>
            <a:endParaRPr lang="en-US"/>
          </a:p>
        </p:txBody>
      </p:sp>
      <p:sp>
        <p:nvSpPr>
          <p:cNvPr id="129" name="Shape 127"/>
          <p:cNvSpPr/>
          <p:nvPr/>
        </p:nvSpPr>
        <p:spPr>
          <a:xfrm>
            <a:off x="7856525" y="2542032"/>
            <a:ext cx="50292" cy="987552"/>
          </a:xfrm>
          <a:prstGeom prst="rect">
            <a:avLst/>
          </a:prstGeom>
          <a:solidFill>
            <a:srgbClr val="CC0000"/>
          </a:solidFill>
          <a:ln w="12700">
            <a:solidFill>
              <a:srgbClr val="CC0000"/>
            </a:solidFill>
            <a:prstDash val="solid"/>
          </a:ln>
        </p:spPr>
        <p:txBody>
          <a:bodyPr/>
          <a:lstStyle/>
          <a:p>
            <a:endParaRPr lang="en-US"/>
          </a:p>
        </p:txBody>
      </p:sp>
      <p:sp>
        <p:nvSpPr>
          <p:cNvPr id="130" name="Text 128"/>
          <p:cNvSpPr/>
          <p:nvPr/>
        </p:nvSpPr>
        <p:spPr>
          <a:xfrm>
            <a:off x="7947965" y="2615184"/>
            <a:ext cx="1942186" cy="896112"/>
          </a:xfrm>
          <a:prstGeom prst="rect">
            <a:avLst/>
          </a:prstGeom>
          <a:noFill/>
          <a:ln/>
        </p:spPr>
        <p:txBody>
          <a:bodyPr wrap="square" lIns="0" tIns="0" rIns="0" bIns="0" rtlCol="0" anchor="t"/>
          <a:lstStyle/>
          <a:p>
            <a:pPr marL="0" indent="0">
              <a:buNone/>
            </a:pPr>
            <a:r>
              <a:rPr lang="en-US" sz="1000" dirty="0">
                <a:solidFill>
                  <a:srgbClr val="333333"/>
                </a:solidFill>
                <a:latin typeface="Calibri" pitchFamily="34" charset="0"/>
                <a:ea typeface="Calibri" pitchFamily="34" charset="-122"/>
                <a:cs typeface="Calibri" pitchFamily="34" charset="-120"/>
              </a:rPr>
              <a:t>Manual order re-entry. </a:t>
            </a:r>
          </a:p>
          <a:p>
            <a:pPr marL="0" indent="0">
              <a:buNone/>
            </a:pPr>
            <a:r>
              <a:rPr lang="en-US" sz="1000" dirty="0">
                <a:solidFill>
                  <a:srgbClr val="333333"/>
                </a:solidFill>
                <a:latin typeface="Calibri" pitchFamily="34" charset="0"/>
                <a:ea typeface="Calibri" pitchFamily="34" charset="-122"/>
                <a:cs typeface="Calibri" pitchFamily="34" charset="-120"/>
              </a:rPr>
              <a:t>Account hierarchy not linked. </a:t>
            </a:r>
          </a:p>
          <a:p>
            <a:pPr marL="0" indent="0">
              <a:buNone/>
            </a:pPr>
            <a:r>
              <a:rPr lang="en-US" sz="1000" dirty="0">
                <a:solidFill>
                  <a:srgbClr val="333333"/>
                </a:solidFill>
                <a:latin typeface="Calibri" pitchFamily="34" charset="0"/>
                <a:ea typeface="Calibri" pitchFamily="34" charset="-122"/>
                <a:cs typeface="Calibri" pitchFamily="34" charset="-120"/>
              </a:rPr>
              <a:t>No touchless checkout. </a:t>
            </a:r>
          </a:p>
          <a:p>
            <a:pPr marL="0" indent="0">
              <a:buNone/>
            </a:pPr>
            <a:r>
              <a:rPr lang="en-US" sz="1000" dirty="0">
                <a:solidFill>
                  <a:srgbClr val="333333"/>
                </a:solidFill>
                <a:latin typeface="Calibri" pitchFamily="34" charset="0"/>
                <a:ea typeface="Calibri" pitchFamily="34" charset="-122"/>
                <a:cs typeface="Calibri" pitchFamily="34" charset="-120"/>
              </a:rPr>
              <a:t>Fragmented billing.</a:t>
            </a:r>
            <a:endParaRPr lang="en-US" sz="1000" dirty="0"/>
          </a:p>
        </p:txBody>
      </p:sp>
      <p:sp>
        <p:nvSpPr>
          <p:cNvPr id="131" name="Shape 129"/>
          <p:cNvSpPr/>
          <p:nvPr/>
        </p:nvSpPr>
        <p:spPr>
          <a:xfrm>
            <a:off x="7856525" y="3547872"/>
            <a:ext cx="2115922" cy="50292"/>
          </a:xfrm>
          <a:prstGeom prst="rect">
            <a:avLst/>
          </a:prstGeom>
          <a:solidFill>
            <a:srgbClr val="111111"/>
          </a:solidFill>
          <a:ln w="12700">
            <a:solidFill>
              <a:srgbClr val="111111"/>
            </a:solidFill>
            <a:prstDash val="solid"/>
          </a:ln>
        </p:spPr>
        <p:txBody>
          <a:bodyPr/>
          <a:lstStyle/>
          <a:p>
            <a:endParaRPr lang="en-US"/>
          </a:p>
        </p:txBody>
      </p:sp>
      <p:sp>
        <p:nvSpPr>
          <p:cNvPr id="132" name="Shape 130"/>
          <p:cNvSpPr/>
          <p:nvPr/>
        </p:nvSpPr>
        <p:spPr>
          <a:xfrm>
            <a:off x="7856525" y="3621024"/>
            <a:ext cx="2070202" cy="1307592"/>
          </a:xfrm>
          <a:prstGeom prst="rect">
            <a:avLst/>
          </a:prstGeom>
          <a:solidFill>
            <a:srgbClr val="F4F4F4"/>
          </a:solidFill>
          <a:ln w="6350">
            <a:solidFill>
              <a:srgbClr val="D4D4D4"/>
            </a:solidFill>
            <a:prstDash val="solid"/>
          </a:ln>
        </p:spPr>
        <p:txBody>
          <a:bodyPr/>
          <a:lstStyle/>
          <a:p>
            <a:endParaRPr lang="en-US"/>
          </a:p>
        </p:txBody>
      </p:sp>
      <p:sp>
        <p:nvSpPr>
          <p:cNvPr id="133" name="Shape 131"/>
          <p:cNvSpPr/>
          <p:nvPr/>
        </p:nvSpPr>
        <p:spPr>
          <a:xfrm>
            <a:off x="7856525" y="3621024"/>
            <a:ext cx="45720" cy="1307592"/>
          </a:xfrm>
          <a:prstGeom prst="rect">
            <a:avLst/>
          </a:prstGeom>
          <a:solidFill>
            <a:srgbClr val="333333"/>
          </a:solidFill>
          <a:ln w="12700">
            <a:solidFill>
              <a:srgbClr val="333333"/>
            </a:solidFill>
            <a:prstDash val="solid"/>
          </a:ln>
        </p:spPr>
        <p:txBody>
          <a:bodyPr/>
          <a:lstStyle/>
          <a:p>
            <a:endParaRPr lang="en-US"/>
          </a:p>
        </p:txBody>
      </p:sp>
      <p:sp>
        <p:nvSpPr>
          <p:cNvPr id="134" name="Shape 132"/>
          <p:cNvSpPr/>
          <p:nvPr/>
        </p:nvSpPr>
        <p:spPr>
          <a:xfrm>
            <a:off x="7947965" y="3712464"/>
            <a:ext cx="384048" cy="182880"/>
          </a:xfrm>
          <a:prstGeom prst="rect">
            <a:avLst/>
          </a:prstGeom>
          <a:solidFill>
            <a:srgbClr val="333333"/>
          </a:solidFill>
          <a:ln w="12700">
            <a:solidFill>
              <a:srgbClr val="333333"/>
            </a:solidFill>
            <a:prstDash val="solid"/>
          </a:ln>
        </p:spPr>
        <p:txBody>
          <a:bodyPr/>
          <a:lstStyle/>
          <a:p>
            <a:endParaRPr lang="en-US"/>
          </a:p>
        </p:txBody>
      </p:sp>
      <p:sp>
        <p:nvSpPr>
          <p:cNvPr id="135" name="Text 133"/>
          <p:cNvSpPr/>
          <p:nvPr/>
        </p:nvSpPr>
        <p:spPr>
          <a:xfrm>
            <a:off x="7947965" y="3712464"/>
            <a:ext cx="38404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CX</a:t>
            </a:r>
            <a:endParaRPr lang="en-US" sz="700" dirty="0"/>
          </a:p>
        </p:txBody>
      </p:sp>
      <p:sp>
        <p:nvSpPr>
          <p:cNvPr id="136" name="Text 134"/>
          <p:cNvSpPr/>
          <p:nvPr/>
        </p:nvSpPr>
        <p:spPr>
          <a:xfrm>
            <a:off x="8368589" y="3685032"/>
            <a:ext cx="1503274" cy="320040"/>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Swivel-chair between SAP, SFDC, and portal — order entry done in 3+ systems</a:t>
            </a:r>
            <a:endParaRPr lang="en-US" sz="850" dirty="0"/>
          </a:p>
        </p:txBody>
      </p:sp>
      <p:sp>
        <p:nvSpPr>
          <p:cNvPr id="137" name="Shape 135"/>
          <p:cNvSpPr/>
          <p:nvPr/>
        </p:nvSpPr>
        <p:spPr>
          <a:xfrm>
            <a:off x="7947965" y="4099652"/>
            <a:ext cx="384048" cy="182880"/>
          </a:xfrm>
          <a:prstGeom prst="rect">
            <a:avLst/>
          </a:prstGeom>
          <a:solidFill>
            <a:srgbClr val="333333"/>
          </a:solidFill>
          <a:ln w="12700">
            <a:solidFill>
              <a:srgbClr val="333333"/>
            </a:solidFill>
            <a:prstDash val="solid"/>
          </a:ln>
        </p:spPr>
        <p:txBody>
          <a:bodyPr/>
          <a:lstStyle/>
          <a:p>
            <a:endParaRPr lang="en-US"/>
          </a:p>
        </p:txBody>
      </p:sp>
      <p:sp>
        <p:nvSpPr>
          <p:cNvPr id="138" name="Text 136"/>
          <p:cNvSpPr/>
          <p:nvPr/>
        </p:nvSpPr>
        <p:spPr>
          <a:xfrm>
            <a:off x="7947965" y="4106632"/>
            <a:ext cx="38404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CX</a:t>
            </a:r>
            <a:endParaRPr lang="en-US" sz="700" dirty="0"/>
          </a:p>
        </p:txBody>
      </p:sp>
      <p:sp>
        <p:nvSpPr>
          <p:cNvPr id="139" name="Text 137"/>
          <p:cNvSpPr/>
          <p:nvPr/>
        </p:nvSpPr>
        <p:spPr>
          <a:xfrm>
            <a:off x="8368589" y="4072220"/>
            <a:ext cx="1503274" cy="320040"/>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Account hierarchy wrong → order assigned to wrong sold-to; manual correction</a:t>
            </a:r>
            <a:endParaRPr lang="en-US" sz="850" dirty="0"/>
          </a:p>
        </p:txBody>
      </p:sp>
      <p:sp>
        <p:nvSpPr>
          <p:cNvPr id="140" name="Shape 138"/>
          <p:cNvSpPr/>
          <p:nvPr/>
        </p:nvSpPr>
        <p:spPr>
          <a:xfrm>
            <a:off x="7947965" y="4521740"/>
            <a:ext cx="384048" cy="182880"/>
          </a:xfrm>
          <a:prstGeom prst="rect">
            <a:avLst/>
          </a:prstGeom>
          <a:solidFill>
            <a:srgbClr val="333333"/>
          </a:solidFill>
          <a:ln w="12700">
            <a:solidFill>
              <a:srgbClr val="333333"/>
            </a:solidFill>
            <a:prstDash val="solid"/>
          </a:ln>
        </p:spPr>
        <p:txBody>
          <a:bodyPr/>
          <a:lstStyle/>
          <a:p>
            <a:endParaRPr lang="en-US"/>
          </a:p>
        </p:txBody>
      </p:sp>
      <p:sp>
        <p:nvSpPr>
          <p:cNvPr id="141" name="Text 139"/>
          <p:cNvSpPr/>
          <p:nvPr/>
        </p:nvSpPr>
        <p:spPr>
          <a:xfrm>
            <a:off x="7947965" y="4528720"/>
            <a:ext cx="38404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SALES</a:t>
            </a:r>
            <a:endParaRPr lang="en-US" sz="700" dirty="0"/>
          </a:p>
        </p:txBody>
      </p:sp>
      <p:sp>
        <p:nvSpPr>
          <p:cNvPr id="142" name="Text 140"/>
          <p:cNvSpPr/>
          <p:nvPr/>
        </p:nvSpPr>
        <p:spPr>
          <a:xfrm>
            <a:off x="8368589" y="4501288"/>
            <a:ext cx="1503274" cy="320040"/>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No visibility into order status after handoff — reps call CX for updates</a:t>
            </a:r>
            <a:endParaRPr lang="en-US" sz="850" dirty="0"/>
          </a:p>
        </p:txBody>
      </p:sp>
      <p:sp>
        <p:nvSpPr>
          <p:cNvPr id="143" name="Shape 141"/>
          <p:cNvSpPr/>
          <p:nvPr/>
        </p:nvSpPr>
        <p:spPr>
          <a:xfrm>
            <a:off x="7856525" y="5051393"/>
            <a:ext cx="2070202" cy="1481328"/>
          </a:xfrm>
          <a:prstGeom prst="rect">
            <a:avLst/>
          </a:prstGeom>
          <a:solidFill>
            <a:srgbClr val="EBEBEB"/>
          </a:solidFill>
          <a:ln w="6350">
            <a:solidFill>
              <a:srgbClr val="D4D4D4"/>
            </a:solidFill>
            <a:prstDash val="solid"/>
          </a:ln>
        </p:spPr>
        <p:txBody>
          <a:bodyPr/>
          <a:lstStyle/>
          <a:p>
            <a:endParaRPr lang="en-US"/>
          </a:p>
        </p:txBody>
      </p:sp>
      <p:sp>
        <p:nvSpPr>
          <p:cNvPr id="144" name="Shape 142"/>
          <p:cNvSpPr/>
          <p:nvPr/>
        </p:nvSpPr>
        <p:spPr>
          <a:xfrm>
            <a:off x="7856525" y="5051393"/>
            <a:ext cx="36576" cy="1481328"/>
          </a:xfrm>
          <a:prstGeom prst="rect">
            <a:avLst/>
          </a:prstGeom>
          <a:solidFill>
            <a:srgbClr val="CC0000"/>
          </a:solidFill>
          <a:ln w="12700">
            <a:solidFill>
              <a:srgbClr val="CC0000"/>
            </a:solidFill>
            <a:prstDash val="solid"/>
          </a:ln>
        </p:spPr>
        <p:txBody>
          <a:bodyPr/>
          <a:lstStyle/>
          <a:p>
            <a:endParaRPr lang="en-US"/>
          </a:p>
        </p:txBody>
      </p:sp>
      <p:sp>
        <p:nvSpPr>
          <p:cNvPr id="145" name="Shape 143"/>
          <p:cNvSpPr/>
          <p:nvPr/>
        </p:nvSpPr>
        <p:spPr>
          <a:xfrm>
            <a:off x="7947965" y="5142833"/>
            <a:ext cx="1914754" cy="256032"/>
          </a:xfrm>
          <a:prstGeom prst="rect">
            <a:avLst/>
          </a:prstGeom>
          <a:solidFill>
            <a:srgbClr val="111111"/>
          </a:solidFill>
          <a:ln w="12700">
            <a:solidFill>
              <a:srgbClr val="111111"/>
            </a:solidFill>
            <a:prstDash val="solid"/>
          </a:ln>
        </p:spPr>
        <p:txBody>
          <a:bodyPr/>
          <a:lstStyle/>
          <a:p>
            <a:endParaRPr lang="en-US"/>
          </a:p>
        </p:txBody>
      </p:sp>
      <p:sp>
        <p:nvSpPr>
          <p:cNvPr id="146" name="Text 144"/>
          <p:cNvSpPr/>
          <p:nvPr/>
        </p:nvSpPr>
        <p:spPr>
          <a:xfrm>
            <a:off x="7975397" y="5142833"/>
            <a:ext cx="1887322"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SAP ECC (ERP)</a:t>
            </a:r>
            <a:endParaRPr lang="en-US" sz="850" dirty="0"/>
          </a:p>
        </p:txBody>
      </p:sp>
      <p:sp>
        <p:nvSpPr>
          <p:cNvPr id="147" name="Shape 145"/>
          <p:cNvSpPr/>
          <p:nvPr/>
        </p:nvSpPr>
        <p:spPr>
          <a:xfrm>
            <a:off x="7947965" y="5453729"/>
            <a:ext cx="1914754" cy="256032"/>
          </a:xfrm>
          <a:prstGeom prst="rect">
            <a:avLst/>
          </a:prstGeom>
          <a:solidFill>
            <a:srgbClr val="111111"/>
          </a:solidFill>
          <a:ln w="12700">
            <a:solidFill>
              <a:srgbClr val="111111"/>
            </a:solidFill>
            <a:prstDash val="solid"/>
          </a:ln>
        </p:spPr>
        <p:txBody>
          <a:bodyPr/>
          <a:lstStyle/>
          <a:p>
            <a:endParaRPr lang="en-US"/>
          </a:p>
        </p:txBody>
      </p:sp>
      <p:sp>
        <p:nvSpPr>
          <p:cNvPr id="148" name="Text 146"/>
          <p:cNvSpPr/>
          <p:nvPr/>
        </p:nvSpPr>
        <p:spPr>
          <a:xfrm>
            <a:off x="7975397" y="5453729"/>
            <a:ext cx="1887322"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Disconnected SFDC</a:t>
            </a:r>
            <a:endParaRPr lang="en-US" sz="850" dirty="0"/>
          </a:p>
        </p:txBody>
      </p:sp>
      <p:sp>
        <p:nvSpPr>
          <p:cNvPr id="149" name="Shape 147"/>
          <p:cNvSpPr/>
          <p:nvPr/>
        </p:nvSpPr>
        <p:spPr>
          <a:xfrm>
            <a:off x="7947965" y="5764625"/>
            <a:ext cx="1914754" cy="256032"/>
          </a:xfrm>
          <a:prstGeom prst="rect">
            <a:avLst/>
          </a:prstGeom>
          <a:solidFill>
            <a:srgbClr val="111111"/>
          </a:solidFill>
          <a:ln w="12700">
            <a:solidFill>
              <a:srgbClr val="111111"/>
            </a:solidFill>
            <a:prstDash val="solid"/>
          </a:ln>
        </p:spPr>
        <p:txBody>
          <a:bodyPr/>
          <a:lstStyle/>
          <a:p>
            <a:endParaRPr lang="en-US"/>
          </a:p>
        </p:txBody>
      </p:sp>
      <p:sp>
        <p:nvSpPr>
          <p:cNvPr id="150" name="Text 148"/>
          <p:cNvSpPr/>
          <p:nvPr/>
        </p:nvSpPr>
        <p:spPr>
          <a:xfrm>
            <a:off x="7975397" y="5764625"/>
            <a:ext cx="1887322"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Manual A/R &amp; billing</a:t>
            </a:r>
            <a:endParaRPr lang="en-US" sz="850" dirty="0"/>
          </a:p>
        </p:txBody>
      </p:sp>
      <p:sp>
        <p:nvSpPr>
          <p:cNvPr id="151" name="Shape 149"/>
          <p:cNvSpPr/>
          <p:nvPr/>
        </p:nvSpPr>
        <p:spPr>
          <a:xfrm>
            <a:off x="7947965" y="6075521"/>
            <a:ext cx="1914754" cy="256032"/>
          </a:xfrm>
          <a:prstGeom prst="rect">
            <a:avLst/>
          </a:prstGeom>
          <a:solidFill>
            <a:srgbClr val="111111"/>
          </a:solidFill>
          <a:ln w="12700">
            <a:solidFill>
              <a:srgbClr val="111111"/>
            </a:solidFill>
            <a:prstDash val="solid"/>
          </a:ln>
        </p:spPr>
        <p:txBody>
          <a:bodyPr/>
          <a:lstStyle/>
          <a:p>
            <a:endParaRPr lang="en-US"/>
          </a:p>
        </p:txBody>
      </p:sp>
      <p:sp>
        <p:nvSpPr>
          <p:cNvPr id="152" name="Text 150"/>
          <p:cNvSpPr/>
          <p:nvPr/>
        </p:nvSpPr>
        <p:spPr>
          <a:xfrm>
            <a:off x="7975397" y="6075521"/>
            <a:ext cx="1887322"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Zuora → Brim transition</a:t>
            </a:r>
            <a:endParaRPr lang="en-US" sz="850" dirty="0"/>
          </a:p>
        </p:txBody>
      </p:sp>
      <p:sp>
        <p:nvSpPr>
          <p:cNvPr id="153" name="Shape 151"/>
          <p:cNvSpPr/>
          <p:nvPr/>
        </p:nvSpPr>
        <p:spPr>
          <a:xfrm>
            <a:off x="9972446" y="969264"/>
            <a:ext cx="2070202" cy="658368"/>
          </a:xfrm>
          <a:prstGeom prst="rect">
            <a:avLst/>
          </a:prstGeom>
          <a:solidFill>
            <a:srgbClr val="111111"/>
          </a:solidFill>
          <a:ln w="12700">
            <a:solidFill>
              <a:srgbClr val="111111"/>
            </a:solidFill>
            <a:prstDash val="solid"/>
          </a:ln>
        </p:spPr>
        <p:txBody>
          <a:bodyPr/>
          <a:lstStyle/>
          <a:p>
            <a:endParaRPr lang="en-US"/>
          </a:p>
        </p:txBody>
      </p:sp>
      <p:sp>
        <p:nvSpPr>
          <p:cNvPr id="154" name="Text 152"/>
          <p:cNvSpPr/>
          <p:nvPr/>
        </p:nvSpPr>
        <p:spPr>
          <a:xfrm>
            <a:off x="10045598" y="996696"/>
            <a:ext cx="329184" cy="256032"/>
          </a:xfrm>
          <a:prstGeom prst="rect">
            <a:avLst/>
          </a:prstGeom>
          <a:noFill/>
          <a:ln/>
        </p:spPr>
        <p:txBody>
          <a:bodyPr wrap="square" lIns="0" tIns="0" rIns="0" bIns="0" rtlCol="0" anchor="ctr"/>
          <a:lstStyle/>
          <a:p>
            <a:pPr marL="0" indent="0">
              <a:buNone/>
            </a:pPr>
            <a:r>
              <a:rPr lang="en-US" sz="1200" b="1" dirty="0">
                <a:solidFill>
                  <a:schemeClr val="bg1">
                    <a:lumMod val="85000"/>
                  </a:schemeClr>
                </a:solidFill>
                <a:latin typeface="Calibri" pitchFamily="34" charset="0"/>
                <a:ea typeface="Calibri" pitchFamily="34" charset="-122"/>
                <a:cs typeface="Calibri" pitchFamily="34" charset="-120"/>
              </a:rPr>
              <a:t>05</a:t>
            </a:r>
            <a:endParaRPr lang="en-US" sz="1200" dirty="0">
              <a:solidFill>
                <a:schemeClr val="bg1">
                  <a:lumMod val="85000"/>
                </a:schemeClr>
              </a:solidFill>
            </a:endParaRPr>
          </a:p>
        </p:txBody>
      </p:sp>
      <p:sp>
        <p:nvSpPr>
          <p:cNvPr id="155" name="Text 153"/>
          <p:cNvSpPr/>
          <p:nvPr/>
        </p:nvSpPr>
        <p:spPr>
          <a:xfrm>
            <a:off x="9972446" y="1188720"/>
            <a:ext cx="2070202" cy="347472"/>
          </a:xfrm>
          <a:prstGeom prst="rect">
            <a:avLst/>
          </a:prstGeom>
          <a:noFill/>
          <a:ln/>
        </p:spPr>
        <p:txBody>
          <a:bodyPr wrap="square" lIns="0" tIns="0" rIns="0" bIns="0" rtlCol="0" anchor="ctr"/>
          <a:lstStyle/>
          <a:p>
            <a:pPr marL="0" indent="0" algn="ctr">
              <a:buNone/>
            </a:pPr>
            <a:r>
              <a:rPr lang="en-US" sz="1100" b="1" kern="0" spc="50" dirty="0">
                <a:solidFill>
                  <a:srgbClr val="FFFFFF"/>
                </a:solidFill>
                <a:latin typeface="Calibri" pitchFamily="34" charset="0"/>
                <a:ea typeface="Calibri" pitchFamily="34" charset="-122"/>
                <a:cs typeface="Calibri" pitchFamily="34" charset="-120"/>
              </a:rPr>
              <a:t>POST PURCHASE</a:t>
            </a:r>
            <a:endParaRPr lang="en-US" sz="1100" dirty="0"/>
          </a:p>
        </p:txBody>
      </p:sp>
      <p:sp>
        <p:nvSpPr>
          <p:cNvPr id="156" name="Shape 154"/>
          <p:cNvSpPr/>
          <p:nvPr/>
        </p:nvSpPr>
        <p:spPr>
          <a:xfrm>
            <a:off x="9972446" y="1719072"/>
            <a:ext cx="2070202" cy="731520"/>
          </a:xfrm>
          <a:prstGeom prst="rect">
            <a:avLst/>
          </a:prstGeom>
          <a:solidFill>
            <a:srgbClr val="EBEBEB"/>
          </a:solidFill>
          <a:ln w="6350">
            <a:solidFill>
              <a:srgbClr val="D4D4D4"/>
            </a:solidFill>
            <a:prstDash val="solid"/>
          </a:ln>
        </p:spPr>
        <p:txBody>
          <a:bodyPr/>
          <a:lstStyle/>
          <a:p>
            <a:endParaRPr lang="en-US"/>
          </a:p>
        </p:txBody>
      </p:sp>
      <p:sp>
        <p:nvSpPr>
          <p:cNvPr id="157" name="Shape 155"/>
          <p:cNvSpPr/>
          <p:nvPr/>
        </p:nvSpPr>
        <p:spPr>
          <a:xfrm>
            <a:off x="9972446" y="1719072"/>
            <a:ext cx="36576" cy="731520"/>
          </a:xfrm>
          <a:prstGeom prst="rect">
            <a:avLst/>
          </a:prstGeom>
          <a:solidFill>
            <a:srgbClr val="A8A8A8"/>
          </a:solidFill>
          <a:ln w="12700">
            <a:solidFill>
              <a:srgbClr val="A8A8A8"/>
            </a:solidFill>
            <a:prstDash val="solid"/>
          </a:ln>
        </p:spPr>
        <p:txBody>
          <a:bodyPr/>
          <a:lstStyle/>
          <a:p>
            <a:endParaRPr lang="en-US"/>
          </a:p>
        </p:txBody>
      </p:sp>
      <p:sp>
        <p:nvSpPr>
          <p:cNvPr id="158" name="Text 156"/>
          <p:cNvSpPr/>
          <p:nvPr/>
        </p:nvSpPr>
        <p:spPr>
          <a:xfrm>
            <a:off x="10036454" y="1709928"/>
            <a:ext cx="164592" cy="256032"/>
          </a:xfrm>
          <a:prstGeom prst="rect">
            <a:avLst/>
          </a:prstGeom>
          <a:noFill/>
          <a:ln/>
        </p:spPr>
        <p:txBody>
          <a:bodyPr wrap="square" lIns="0" tIns="0" rIns="0" bIns="0" rtlCol="0" anchor="ctr"/>
          <a:lstStyle/>
          <a:p>
            <a:pPr marL="0" indent="0">
              <a:buNone/>
            </a:pPr>
            <a:r>
              <a:rPr lang="en-US" sz="1600" b="1" dirty="0">
                <a:solidFill>
                  <a:srgbClr val="777777"/>
                </a:solidFill>
                <a:latin typeface="Calibri" pitchFamily="34" charset="0"/>
                <a:ea typeface="Calibri" pitchFamily="34" charset="-122"/>
                <a:cs typeface="Calibri" pitchFamily="34" charset="-120"/>
              </a:rPr>
              <a:t>“</a:t>
            </a:r>
            <a:endParaRPr lang="en-US" sz="1600" dirty="0"/>
          </a:p>
        </p:txBody>
      </p:sp>
      <p:sp>
        <p:nvSpPr>
          <p:cNvPr id="159" name="Text 157"/>
          <p:cNvSpPr/>
          <p:nvPr/>
        </p:nvSpPr>
        <p:spPr>
          <a:xfrm>
            <a:off x="10054742" y="1847088"/>
            <a:ext cx="1942186" cy="576072"/>
          </a:xfrm>
          <a:prstGeom prst="rect">
            <a:avLst/>
          </a:prstGeom>
          <a:noFill/>
          <a:ln/>
        </p:spPr>
        <p:txBody>
          <a:bodyPr wrap="square" lIns="0" tIns="0" rIns="0" bIns="0" rtlCol="0" anchor="t"/>
          <a:lstStyle/>
          <a:p>
            <a:pPr marL="0" indent="0">
              <a:buNone/>
            </a:pPr>
            <a:r>
              <a:rPr lang="en-US" sz="1050" i="1" dirty="0">
                <a:solidFill>
                  <a:srgbClr val="333333"/>
                </a:solidFill>
                <a:latin typeface="Calibri" pitchFamily="34" charset="0"/>
                <a:ea typeface="Calibri" pitchFamily="34" charset="-122"/>
                <a:cs typeface="Calibri" pitchFamily="34" charset="-120"/>
              </a:rPr>
              <a:t>"Where is my order? Resolve my issue and help me get more value."</a:t>
            </a:r>
            <a:endParaRPr lang="en-US" sz="1050" dirty="0"/>
          </a:p>
        </p:txBody>
      </p:sp>
      <p:sp>
        <p:nvSpPr>
          <p:cNvPr id="160" name="Shape 158"/>
          <p:cNvSpPr/>
          <p:nvPr/>
        </p:nvSpPr>
        <p:spPr>
          <a:xfrm>
            <a:off x="9972446" y="2542032"/>
            <a:ext cx="2070202" cy="987552"/>
          </a:xfrm>
          <a:prstGeom prst="rect">
            <a:avLst/>
          </a:prstGeom>
          <a:solidFill>
            <a:srgbClr val="FFFFFF"/>
          </a:solidFill>
          <a:ln w="6350">
            <a:solidFill>
              <a:srgbClr val="D4D4D4"/>
            </a:solidFill>
            <a:prstDash val="solid"/>
          </a:ln>
        </p:spPr>
        <p:txBody>
          <a:bodyPr/>
          <a:lstStyle/>
          <a:p>
            <a:endParaRPr lang="en-US"/>
          </a:p>
        </p:txBody>
      </p:sp>
      <p:sp>
        <p:nvSpPr>
          <p:cNvPr id="161" name="Shape 159"/>
          <p:cNvSpPr/>
          <p:nvPr/>
        </p:nvSpPr>
        <p:spPr>
          <a:xfrm>
            <a:off x="9972446" y="2542032"/>
            <a:ext cx="50292" cy="987552"/>
          </a:xfrm>
          <a:prstGeom prst="rect">
            <a:avLst/>
          </a:prstGeom>
          <a:solidFill>
            <a:srgbClr val="CC0000"/>
          </a:solidFill>
          <a:ln w="12700">
            <a:solidFill>
              <a:srgbClr val="CC0000"/>
            </a:solidFill>
            <a:prstDash val="solid"/>
          </a:ln>
        </p:spPr>
        <p:txBody>
          <a:bodyPr/>
          <a:lstStyle/>
          <a:p>
            <a:endParaRPr lang="en-US"/>
          </a:p>
        </p:txBody>
      </p:sp>
      <p:sp>
        <p:nvSpPr>
          <p:cNvPr id="162" name="Text 160"/>
          <p:cNvSpPr/>
          <p:nvPr/>
        </p:nvSpPr>
        <p:spPr>
          <a:xfrm>
            <a:off x="10063886" y="2615184"/>
            <a:ext cx="1942186" cy="896112"/>
          </a:xfrm>
          <a:prstGeom prst="rect">
            <a:avLst/>
          </a:prstGeom>
          <a:noFill/>
          <a:ln/>
        </p:spPr>
        <p:txBody>
          <a:bodyPr wrap="square" lIns="0" tIns="0" rIns="0" bIns="0" rtlCol="0" anchor="t"/>
          <a:lstStyle/>
          <a:p>
            <a:pPr marL="0" indent="0">
              <a:buNone/>
            </a:pPr>
            <a:r>
              <a:rPr lang="en-US" sz="1000" dirty="0">
                <a:solidFill>
                  <a:srgbClr val="333333"/>
                </a:solidFill>
                <a:latin typeface="Calibri" pitchFamily="34" charset="0"/>
                <a:ea typeface="Calibri" pitchFamily="34" charset="-122"/>
                <a:cs typeface="Calibri" pitchFamily="34" charset="-120"/>
              </a:rPr>
              <a:t>Reactive-only support. </a:t>
            </a:r>
          </a:p>
          <a:p>
            <a:pPr marL="0" indent="0">
              <a:buNone/>
            </a:pPr>
            <a:r>
              <a:rPr lang="en-US" sz="1000" dirty="0">
                <a:solidFill>
                  <a:srgbClr val="333333"/>
                </a:solidFill>
                <a:latin typeface="Calibri" pitchFamily="34" charset="0"/>
                <a:ea typeface="Calibri" pitchFamily="34" charset="-122"/>
                <a:cs typeface="Calibri" pitchFamily="34" charset="-120"/>
              </a:rPr>
              <a:t>No 360° cross-SBG view. </a:t>
            </a:r>
          </a:p>
          <a:p>
            <a:pPr marL="0" indent="0">
              <a:buNone/>
            </a:pPr>
            <a:r>
              <a:rPr lang="en-US" sz="1000" dirty="0">
                <a:solidFill>
                  <a:srgbClr val="333333"/>
                </a:solidFill>
                <a:latin typeface="Calibri" pitchFamily="34" charset="0"/>
                <a:ea typeface="Calibri" pitchFamily="34" charset="-122"/>
                <a:cs typeface="Calibri" pitchFamily="34" charset="-120"/>
              </a:rPr>
              <a:t>Manual warranty. </a:t>
            </a:r>
          </a:p>
          <a:p>
            <a:pPr marL="0" indent="0">
              <a:buNone/>
            </a:pPr>
            <a:r>
              <a:rPr lang="en-US" sz="1000" dirty="0">
                <a:solidFill>
                  <a:srgbClr val="333333"/>
                </a:solidFill>
                <a:latin typeface="Calibri" pitchFamily="34" charset="0"/>
                <a:ea typeface="Calibri" pitchFamily="34" charset="-122"/>
                <a:cs typeface="Calibri" pitchFamily="34" charset="-120"/>
              </a:rPr>
              <a:t>No NPS or CLV tracking.</a:t>
            </a:r>
            <a:endParaRPr lang="en-US" sz="1000" dirty="0"/>
          </a:p>
        </p:txBody>
      </p:sp>
      <p:sp>
        <p:nvSpPr>
          <p:cNvPr id="163" name="Shape 161"/>
          <p:cNvSpPr/>
          <p:nvPr/>
        </p:nvSpPr>
        <p:spPr>
          <a:xfrm>
            <a:off x="9972446" y="3547872"/>
            <a:ext cx="2115922" cy="50292"/>
          </a:xfrm>
          <a:prstGeom prst="rect">
            <a:avLst/>
          </a:prstGeom>
          <a:solidFill>
            <a:srgbClr val="111111"/>
          </a:solidFill>
          <a:ln w="12700">
            <a:solidFill>
              <a:srgbClr val="111111"/>
            </a:solidFill>
            <a:prstDash val="solid"/>
          </a:ln>
        </p:spPr>
        <p:txBody>
          <a:bodyPr/>
          <a:lstStyle/>
          <a:p>
            <a:endParaRPr lang="en-US"/>
          </a:p>
        </p:txBody>
      </p:sp>
      <p:sp>
        <p:nvSpPr>
          <p:cNvPr id="164" name="Shape 162"/>
          <p:cNvSpPr/>
          <p:nvPr/>
        </p:nvSpPr>
        <p:spPr>
          <a:xfrm>
            <a:off x="9972446" y="3621024"/>
            <a:ext cx="2070202" cy="1307592"/>
          </a:xfrm>
          <a:prstGeom prst="rect">
            <a:avLst/>
          </a:prstGeom>
          <a:solidFill>
            <a:srgbClr val="EBEBEB"/>
          </a:solidFill>
          <a:ln w="6350">
            <a:solidFill>
              <a:srgbClr val="D4D4D4"/>
            </a:solidFill>
            <a:prstDash val="solid"/>
          </a:ln>
        </p:spPr>
        <p:txBody>
          <a:bodyPr/>
          <a:lstStyle/>
          <a:p>
            <a:endParaRPr lang="en-US"/>
          </a:p>
        </p:txBody>
      </p:sp>
      <p:sp>
        <p:nvSpPr>
          <p:cNvPr id="165" name="Shape 163"/>
          <p:cNvSpPr/>
          <p:nvPr/>
        </p:nvSpPr>
        <p:spPr>
          <a:xfrm>
            <a:off x="9972446" y="3621024"/>
            <a:ext cx="45720" cy="1307592"/>
          </a:xfrm>
          <a:prstGeom prst="rect">
            <a:avLst/>
          </a:prstGeom>
          <a:solidFill>
            <a:srgbClr val="333333"/>
          </a:solidFill>
          <a:ln w="12700">
            <a:solidFill>
              <a:srgbClr val="333333"/>
            </a:solidFill>
            <a:prstDash val="solid"/>
          </a:ln>
        </p:spPr>
        <p:txBody>
          <a:bodyPr/>
          <a:lstStyle/>
          <a:p>
            <a:endParaRPr lang="en-US"/>
          </a:p>
        </p:txBody>
      </p:sp>
      <p:sp>
        <p:nvSpPr>
          <p:cNvPr id="166" name="Shape 164"/>
          <p:cNvSpPr/>
          <p:nvPr/>
        </p:nvSpPr>
        <p:spPr>
          <a:xfrm>
            <a:off x="10063886" y="3712464"/>
            <a:ext cx="384048" cy="182880"/>
          </a:xfrm>
          <a:prstGeom prst="rect">
            <a:avLst/>
          </a:prstGeom>
          <a:solidFill>
            <a:srgbClr val="333333"/>
          </a:solidFill>
          <a:ln w="12700">
            <a:solidFill>
              <a:srgbClr val="333333"/>
            </a:solidFill>
            <a:prstDash val="solid"/>
          </a:ln>
        </p:spPr>
        <p:txBody>
          <a:bodyPr/>
          <a:lstStyle/>
          <a:p>
            <a:endParaRPr lang="en-US"/>
          </a:p>
        </p:txBody>
      </p:sp>
      <p:sp>
        <p:nvSpPr>
          <p:cNvPr id="167" name="Text 165"/>
          <p:cNvSpPr/>
          <p:nvPr/>
        </p:nvSpPr>
        <p:spPr>
          <a:xfrm>
            <a:off x="10063886" y="3712464"/>
            <a:ext cx="38404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CX</a:t>
            </a:r>
            <a:endParaRPr lang="en-US" sz="700" dirty="0"/>
          </a:p>
        </p:txBody>
      </p:sp>
      <p:sp>
        <p:nvSpPr>
          <p:cNvPr id="168" name="Text 166"/>
          <p:cNvSpPr/>
          <p:nvPr/>
        </p:nvSpPr>
        <p:spPr>
          <a:xfrm>
            <a:off x="10484510" y="3685032"/>
            <a:ext cx="1503274" cy="320040"/>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No single customer record — agents open 3 tabs to answer one question</a:t>
            </a:r>
            <a:endParaRPr lang="en-US" sz="850" dirty="0"/>
          </a:p>
        </p:txBody>
      </p:sp>
      <p:sp>
        <p:nvSpPr>
          <p:cNvPr id="169" name="Shape 167"/>
          <p:cNvSpPr/>
          <p:nvPr/>
        </p:nvSpPr>
        <p:spPr>
          <a:xfrm>
            <a:off x="10063886" y="4134552"/>
            <a:ext cx="384048" cy="182880"/>
          </a:xfrm>
          <a:prstGeom prst="rect">
            <a:avLst/>
          </a:prstGeom>
          <a:solidFill>
            <a:srgbClr val="333333"/>
          </a:solidFill>
          <a:ln w="12700">
            <a:solidFill>
              <a:srgbClr val="333333"/>
            </a:solidFill>
            <a:prstDash val="solid"/>
          </a:ln>
        </p:spPr>
        <p:txBody>
          <a:bodyPr/>
          <a:lstStyle/>
          <a:p>
            <a:endParaRPr lang="en-US"/>
          </a:p>
        </p:txBody>
      </p:sp>
      <p:sp>
        <p:nvSpPr>
          <p:cNvPr id="170" name="Text 168"/>
          <p:cNvSpPr/>
          <p:nvPr/>
        </p:nvSpPr>
        <p:spPr>
          <a:xfrm>
            <a:off x="10063886" y="4134552"/>
            <a:ext cx="38404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CX</a:t>
            </a:r>
            <a:endParaRPr lang="en-US" sz="700" dirty="0"/>
          </a:p>
        </p:txBody>
      </p:sp>
      <p:sp>
        <p:nvSpPr>
          <p:cNvPr id="171" name="Text 169"/>
          <p:cNvSpPr/>
          <p:nvPr/>
        </p:nvSpPr>
        <p:spPr>
          <a:xfrm>
            <a:off x="10484510" y="4107120"/>
            <a:ext cx="1503274" cy="320040"/>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Returns and warranty fully manual — no case tracking, no SLA visibility</a:t>
            </a:r>
            <a:endParaRPr lang="en-US" sz="850" dirty="0"/>
          </a:p>
        </p:txBody>
      </p:sp>
      <p:sp>
        <p:nvSpPr>
          <p:cNvPr id="172" name="Shape 170"/>
          <p:cNvSpPr/>
          <p:nvPr/>
        </p:nvSpPr>
        <p:spPr>
          <a:xfrm>
            <a:off x="10063886" y="4521743"/>
            <a:ext cx="384048" cy="182880"/>
          </a:xfrm>
          <a:prstGeom prst="rect">
            <a:avLst/>
          </a:prstGeom>
          <a:solidFill>
            <a:srgbClr val="333333"/>
          </a:solidFill>
          <a:ln w="12700">
            <a:solidFill>
              <a:srgbClr val="333333"/>
            </a:solidFill>
            <a:prstDash val="solid"/>
          </a:ln>
        </p:spPr>
        <p:txBody>
          <a:bodyPr/>
          <a:lstStyle/>
          <a:p>
            <a:endParaRPr lang="en-US"/>
          </a:p>
        </p:txBody>
      </p:sp>
      <p:sp>
        <p:nvSpPr>
          <p:cNvPr id="173" name="Text 171"/>
          <p:cNvSpPr/>
          <p:nvPr/>
        </p:nvSpPr>
        <p:spPr>
          <a:xfrm>
            <a:off x="10063886" y="4521743"/>
            <a:ext cx="38404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SALES</a:t>
            </a:r>
            <a:endParaRPr lang="en-US" sz="700" dirty="0"/>
          </a:p>
        </p:txBody>
      </p:sp>
      <p:sp>
        <p:nvSpPr>
          <p:cNvPr id="174" name="Text 172"/>
          <p:cNvSpPr/>
          <p:nvPr/>
        </p:nvSpPr>
        <p:spPr>
          <a:xfrm>
            <a:off x="10484510" y="4494311"/>
            <a:ext cx="1503274" cy="320040"/>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No renewal or expansion triggers — reps miss upsell moments across SBG portfolio</a:t>
            </a:r>
            <a:endParaRPr lang="en-US" sz="850" dirty="0"/>
          </a:p>
        </p:txBody>
      </p:sp>
      <p:sp>
        <p:nvSpPr>
          <p:cNvPr id="175" name="Shape 173"/>
          <p:cNvSpPr/>
          <p:nvPr/>
        </p:nvSpPr>
        <p:spPr>
          <a:xfrm>
            <a:off x="9972446" y="5051393"/>
            <a:ext cx="2070202" cy="1481328"/>
          </a:xfrm>
          <a:prstGeom prst="rect">
            <a:avLst/>
          </a:prstGeom>
          <a:solidFill>
            <a:srgbClr val="FFFFFF"/>
          </a:solidFill>
          <a:ln w="6350">
            <a:solidFill>
              <a:srgbClr val="D4D4D4"/>
            </a:solidFill>
            <a:prstDash val="solid"/>
          </a:ln>
        </p:spPr>
        <p:txBody>
          <a:bodyPr/>
          <a:lstStyle/>
          <a:p>
            <a:endParaRPr lang="en-US"/>
          </a:p>
        </p:txBody>
      </p:sp>
      <p:sp>
        <p:nvSpPr>
          <p:cNvPr id="176" name="Shape 174"/>
          <p:cNvSpPr/>
          <p:nvPr/>
        </p:nvSpPr>
        <p:spPr>
          <a:xfrm>
            <a:off x="9972446" y="5051393"/>
            <a:ext cx="36576" cy="1481328"/>
          </a:xfrm>
          <a:prstGeom prst="rect">
            <a:avLst/>
          </a:prstGeom>
          <a:solidFill>
            <a:srgbClr val="CC0000"/>
          </a:solidFill>
          <a:ln w="12700">
            <a:solidFill>
              <a:srgbClr val="CC0000"/>
            </a:solidFill>
            <a:prstDash val="solid"/>
          </a:ln>
        </p:spPr>
        <p:txBody>
          <a:bodyPr/>
          <a:lstStyle/>
          <a:p>
            <a:endParaRPr lang="en-US"/>
          </a:p>
        </p:txBody>
      </p:sp>
      <p:sp>
        <p:nvSpPr>
          <p:cNvPr id="177" name="Shape 175"/>
          <p:cNvSpPr/>
          <p:nvPr/>
        </p:nvSpPr>
        <p:spPr>
          <a:xfrm>
            <a:off x="10063886" y="5142833"/>
            <a:ext cx="1914754" cy="256032"/>
          </a:xfrm>
          <a:prstGeom prst="rect">
            <a:avLst/>
          </a:prstGeom>
          <a:solidFill>
            <a:srgbClr val="111111"/>
          </a:solidFill>
          <a:ln w="12700">
            <a:solidFill>
              <a:srgbClr val="111111"/>
            </a:solidFill>
            <a:prstDash val="solid"/>
          </a:ln>
        </p:spPr>
        <p:txBody>
          <a:bodyPr/>
          <a:lstStyle/>
          <a:p>
            <a:endParaRPr lang="en-US"/>
          </a:p>
        </p:txBody>
      </p:sp>
      <p:sp>
        <p:nvSpPr>
          <p:cNvPr id="178" name="Text 176"/>
          <p:cNvSpPr/>
          <p:nvPr/>
        </p:nvSpPr>
        <p:spPr>
          <a:xfrm>
            <a:off x="10091318" y="5142833"/>
            <a:ext cx="1887322"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No CS platform</a:t>
            </a:r>
            <a:endParaRPr lang="en-US" sz="850" dirty="0"/>
          </a:p>
        </p:txBody>
      </p:sp>
      <p:sp>
        <p:nvSpPr>
          <p:cNvPr id="179" name="Shape 177"/>
          <p:cNvSpPr/>
          <p:nvPr/>
        </p:nvSpPr>
        <p:spPr>
          <a:xfrm>
            <a:off x="10063886" y="5453729"/>
            <a:ext cx="1914754" cy="256032"/>
          </a:xfrm>
          <a:prstGeom prst="rect">
            <a:avLst/>
          </a:prstGeom>
          <a:solidFill>
            <a:srgbClr val="111111"/>
          </a:solidFill>
          <a:ln w="12700">
            <a:solidFill>
              <a:srgbClr val="111111"/>
            </a:solidFill>
            <a:prstDash val="solid"/>
          </a:ln>
        </p:spPr>
        <p:txBody>
          <a:bodyPr/>
          <a:lstStyle/>
          <a:p>
            <a:endParaRPr lang="en-US"/>
          </a:p>
        </p:txBody>
      </p:sp>
      <p:sp>
        <p:nvSpPr>
          <p:cNvPr id="180" name="Text 178"/>
          <p:cNvSpPr/>
          <p:nvPr/>
        </p:nvSpPr>
        <p:spPr>
          <a:xfrm>
            <a:off x="10091318" y="5453729"/>
            <a:ext cx="1887322"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Fragmented case mgmt</a:t>
            </a:r>
            <a:endParaRPr lang="en-US" sz="850" dirty="0"/>
          </a:p>
        </p:txBody>
      </p:sp>
      <p:sp>
        <p:nvSpPr>
          <p:cNvPr id="181" name="Shape 179"/>
          <p:cNvSpPr/>
          <p:nvPr/>
        </p:nvSpPr>
        <p:spPr>
          <a:xfrm>
            <a:off x="10063886" y="5764625"/>
            <a:ext cx="1914754" cy="256032"/>
          </a:xfrm>
          <a:prstGeom prst="rect">
            <a:avLst/>
          </a:prstGeom>
          <a:solidFill>
            <a:srgbClr val="111111"/>
          </a:solidFill>
          <a:ln w="12700">
            <a:solidFill>
              <a:srgbClr val="111111"/>
            </a:solidFill>
            <a:prstDash val="solid"/>
          </a:ln>
        </p:spPr>
        <p:txBody>
          <a:bodyPr/>
          <a:lstStyle/>
          <a:p>
            <a:endParaRPr lang="en-US"/>
          </a:p>
        </p:txBody>
      </p:sp>
      <p:sp>
        <p:nvSpPr>
          <p:cNvPr id="182" name="Text 180"/>
          <p:cNvSpPr/>
          <p:nvPr/>
        </p:nvSpPr>
        <p:spPr>
          <a:xfrm>
            <a:off x="10091318" y="5764625"/>
            <a:ext cx="1887322"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Manual returns process</a:t>
            </a:r>
            <a:endParaRPr lang="en-US" sz="850" dirty="0"/>
          </a:p>
        </p:txBody>
      </p:sp>
      <p:sp>
        <p:nvSpPr>
          <p:cNvPr id="183" name="Shape 181"/>
          <p:cNvSpPr/>
          <p:nvPr/>
        </p:nvSpPr>
        <p:spPr>
          <a:xfrm>
            <a:off x="10063886" y="6075521"/>
            <a:ext cx="1914754" cy="256032"/>
          </a:xfrm>
          <a:prstGeom prst="rect">
            <a:avLst/>
          </a:prstGeom>
          <a:solidFill>
            <a:srgbClr val="111111"/>
          </a:solidFill>
          <a:ln w="12700">
            <a:solidFill>
              <a:srgbClr val="111111"/>
            </a:solidFill>
            <a:prstDash val="solid"/>
          </a:ln>
        </p:spPr>
        <p:txBody>
          <a:bodyPr/>
          <a:lstStyle/>
          <a:p>
            <a:endParaRPr lang="en-US"/>
          </a:p>
        </p:txBody>
      </p:sp>
      <p:sp>
        <p:nvSpPr>
          <p:cNvPr id="184" name="Text 182"/>
          <p:cNvSpPr/>
          <p:nvPr/>
        </p:nvSpPr>
        <p:spPr>
          <a:xfrm>
            <a:off x="10091318" y="6075521"/>
            <a:ext cx="1887322" cy="25603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No CLV / NPS tool</a:t>
            </a:r>
            <a:endParaRPr lang="en-US" sz="850" dirty="0"/>
          </a:p>
        </p:txBody>
      </p:sp>
      <p:sp>
        <p:nvSpPr>
          <p:cNvPr id="185" name="Shape 183"/>
          <p:cNvSpPr/>
          <p:nvPr/>
        </p:nvSpPr>
        <p:spPr>
          <a:xfrm>
            <a:off x="0" y="6675120"/>
            <a:ext cx="12161520" cy="182880"/>
          </a:xfrm>
          <a:prstGeom prst="rect">
            <a:avLst/>
          </a:prstGeom>
          <a:solidFill>
            <a:srgbClr val="F4F4F4"/>
          </a:solidFill>
          <a:ln w="12700">
            <a:solidFill>
              <a:srgbClr val="D4D4D4"/>
            </a:solidFill>
            <a:prstDash val="solid"/>
          </a:ln>
        </p:spPr>
        <p:txBody>
          <a:bodyPr/>
          <a:lstStyle/>
          <a:p>
            <a:endParaRPr lang="en-US"/>
          </a:p>
        </p:txBody>
      </p:sp>
      <p:sp>
        <p:nvSpPr>
          <p:cNvPr id="186" name="Shape 184"/>
          <p:cNvSpPr/>
          <p:nvPr/>
        </p:nvSpPr>
        <p:spPr>
          <a:xfrm>
            <a:off x="0" y="6675120"/>
            <a:ext cx="164592" cy="182880"/>
          </a:xfrm>
          <a:prstGeom prst="rect">
            <a:avLst/>
          </a:prstGeom>
          <a:solidFill>
            <a:srgbClr val="CC0000"/>
          </a:solidFill>
          <a:ln w="12700">
            <a:solidFill>
              <a:srgbClr val="CC0000"/>
            </a:solidFill>
            <a:prstDash val="solid"/>
          </a:ln>
        </p:spPr>
        <p:txBody>
          <a:bodyPr/>
          <a:lstStyle/>
          <a:p>
            <a:endParaRPr lang="en-US"/>
          </a:p>
        </p:txBody>
      </p:sp>
      <p:sp>
        <p:nvSpPr>
          <p:cNvPr id="187" name="Text 185"/>
          <p:cNvSpPr/>
          <p:nvPr/>
        </p:nvSpPr>
        <p:spPr>
          <a:xfrm>
            <a:off x="329184" y="6684264"/>
            <a:ext cx="11704320" cy="164592"/>
          </a:xfrm>
          <a:prstGeom prst="rect">
            <a:avLst/>
          </a:prstGeom>
          <a:noFill/>
          <a:ln/>
        </p:spPr>
        <p:txBody>
          <a:bodyPr wrap="square" lIns="0" tIns="0" rIns="0" bIns="0" rtlCol="0" anchor="ctr"/>
          <a:lstStyle/>
          <a:p>
            <a:pPr marL="0" indent="0">
              <a:buNone/>
            </a:pPr>
            <a:r>
              <a:rPr lang="en-US" sz="850" i="1" dirty="0">
                <a:solidFill>
                  <a:srgbClr val="777777"/>
                </a:solidFill>
                <a:latin typeface="Calibri" pitchFamily="34" charset="0"/>
                <a:ea typeface="Calibri" pitchFamily="34" charset="-122"/>
                <a:cs typeface="Calibri" pitchFamily="34" charset="-120"/>
              </a:rPr>
              <a:t>52+ friction points identified in value stream mapping (IA)  ·  Swivel-chair activities across SAP, SFDC, AEM, and manual processes compound both customer and internal pain simultaneously</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CC0000"/>
          </a:solidFill>
          <a:ln w="12700">
            <a:solidFill>
              <a:srgbClr val="CC0000"/>
            </a:solidFill>
            <a:prstDash val="solid"/>
          </a:ln>
        </p:spPr>
        <p:txBody>
          <a:bodyPr/>
          <a:lstStyle/>
          <a:p>
            <a:endParaRPr lang="en-US"/>
          </a:p>
        </p:txBody>
      </p:sp>
      <p:sp>
        <p:nvSpPr>
          <p:cNvPr id="3" name="Shape 1"/>
          <p:cNvSpPr/>
          <p:nvPr/>
        </p:nvSpPr>
        <p:spPr>
          <a:xfrm>
            <a:off x="0" y="54864"/>
            <a:ext cx="164592" cy="6803136"/>
          </a:xfrm>
          <a:prstGeom prst="rect">
            <a:avLst/>
          </a:prstGeom>
          <a:solidFill>
            <a:srgbClr val="111111"/>
          </a:solidFill>
          <a:ln w="12700">
            <a:solidFill>
              <a:srgbClr val="111111"/>
            </a:solidFill>
            <a:prstDash val="solid"/>
          </a:ln>
        </p:spPr>
        <p:txBody>
          <a:bodyPr/>
          <a:lstStyle/>
          <a:p>
            <a:endParaRPr lang="en-US"/>
          </a:p>
        </p:txBody>
      </p:sp>
      <p:sp>
        <p:nvSpPr>
          <p:cNvPr id="4" name="Text 2"/>
          <p:cNvSpPr/>
          <p:nvPr/>
        </p:nvSpPr>
        <p:spPr>
          <a:xfrm>
            <a:off x="329184" y="137160"/>
            <a:ext cx="10058400" cy="246888"/>
          </a:xfrm>
          <a:prstGeom prst="rect">
            <a:avLst/>
          </a:prstGeom>
          <a:noFill/>
          <a:ln/>
        </p:spPr>
        <p:txBody>
          <a:bodyPr wrap="square" lIns="0" tIns="0" rIns="0" bIns="0" rtlCol="0" anchor="ctr"/>
          <a:lstStyle/>
          <a:p>
            <a:pPr marL="0" indent="0">
              <a:buNone/>
            </a:pPr>
            <a:r>
              <a:rPr lang="en-US" sz="900" b="1" kern="0" spc="300" dirty="0">
                <a:solidFill>
                  <a:srgbClr val="CC0000"/>
                </a:solidFill>
                <a:latin typeface="Calibri" pitchFamily="34" charset="0"/>
                <a:ea typeface="Calibri" pitchFamily="34" charset="-122"/>
                <a:cs typeface="Calibri" pitchFamily="34" charset="-120"/>
              </a:rPr>
              <a:t>LEAD-TO-CASH OPTIMIZATION</a:t>
            </a:r>
            <a:endParaRPr lang="en-US" sz="900" dirty="0"/>
          </a:p>
        </p:txBody>
      </p:sp>
      <p:sp>
        <p:nvSpPr>
          <p:cNvPr id="5" name="Text 3"/>
          <p:cNvSpPr/>
          <p:nvPr/>
        </p:nvSpPr>
        <p:spPr>
          <a:xfrm>
            <a:off x="329184" y="402336"/>
            <a:ext cx="10515600" cy="457200"/>
          </a:xfrm>
          <a:prstGeom prst="rect">
            <a:avLst/>
          </a:prstGeom>
          <a:noFill/>
          <a:ln/>
        </p:spPr>
        <p:txBody>
          <a:bodyPr wrap="square" lIns="0" tIns="0" rIns="0" bIns="0" rtlCol="0" anchor="ctr"/>
          <a:lstStyle/>
          <a:p>
            <a:pPr marL="0" indent="0">
              <a:buNone/>
            </a:pPr>
            <a:r>
              <a:rPr lang="en-US" sz="2000" b="1" dirty="0">
                <a:solidFill>
                  <a:srgbClr val="1F1F1F"/>
                </a:solidFill>
                <a:latin typeface="Calibri" pitchFamily="34" charset="0"/>
                <a:ea typeface="Calibri" pitchFamily="34" charset="-122"/>
                <a:cs typeface="Calibri" pitchFamily="34" charset="-120"/>
              </a:rPr>
              <a:t>Where to act, what to build, and what good looks like</a:t>
            </a:r>
            <a:endParaRPr lang="en-US" sz="2000" dirty="0"/>
          </a:p>
        </p:txBody>
      </p:sp>
      <p:sp>
        <p:nvSpPr>
          <p:cNvPr id="6" name="Shape 4"/>
          <p:cNvSpPr/>
          <p:nvPr/>
        </p:nvSpPr>
        <p:spPr>
          <a:xfrm>
            <a:off x="329184" y="877824"/>
            <a:ext cx="11667744" cy="20117"/>
          </a:xfrm>
          <a:prstGeom prst="rect">
            <a:avLst/>
          </a:prstGeom>
          <a:solidFill>
            <a:srgbClr val="D4D4D4"/>
          </a:solidFill>
          <a:ln w="12700">
            <a:solidFill>
              <a:srgbClr val="D4D4D4"/>
            </a:solidFill>
            <a:prstDash val="solid"/>
          </a:ln>
        </p:spPr>
        <p:txBody>
          <a:bodyPr/>
          <a:lstStyle/>
          <a:p>
            <a:endParaRPr lang="en-US"/>
          </a:p>
        </p:txBody>
      </p:sp>
      <p:sp>
        <p:nvSpPr>
          <p:cNvPr id="7" name="Text 5"/>
          <p:cNvSpPr/>
          <p:nvPr/>
        </p:nvSpPr>
        <p:spPr>
          <a:xfrm>
            <a:off x="11475720" y="109728"/>
            <a:ext cx="640080" cy="475488"/>
          </a:xfrm>
          <a:prstGeom prst="rect">
            <a:avLst/>
          </a:prstGeom>
          <a:noFill/>
          <a:ln/>
        </p:spPr>
        <p:txBody>
          <a:bodyPr wrap="square" lIns="0" tIns="0" rIns="0" bIns="0" rtlCol="0" anchor="ctr"/>
          <a:lstStyle/>
          <a:p>
            <a:pPr marL="0" indent="0" algn="r">
              <a:buNone/>
            </a:pPr>
            <a:r>
              <a:rPr lang="en-US" sz="2200" b="1" dirty="0">
                <a:solidFill>
                  <a:srgbClr val="CC0000"/>
                </a:solidFill>
                <a:latin typeface="Calibri" pitchFamily="34" charset="0"/>
                <a:ea typeface="Calibri" pitchFamily="34" charset="-122"/>
                <a:cs typeface="Calibri" pitchFamily="34" charset="-120"/>
              </a:rPr>
              <a:t>06</a:t>
            </a:r>
            <a:endParaRPr lang="en-US" sz="2200" dirty="0"/>
          </a:p>
        </p:txBody>
      </p:sp>
      <p:sp>
        <p:nvSpPr>
          <p:cNvPr id="8" name="Shape 6"/>
          <p:cNvSpPr/>
          <p:nvPr/>
        </p:nvSpPr>
        <p:spPr>
          <a:xfrm>
            <a:off x="219456" y="969264"/>
            <a:ext cx="1371600" cy="347472"/>
          </a:xfrm>
          <a:prstGeom prst="rect">
            <a:avLst/>
          </a:prstGeom>
          <a:solidFill>
            <a:srgbClr val="111111"/>
          </a:solidFill>
          <a:ln w="12700">
            <a:solidFill>
              <a:srgbClr val="111111"/>
            </a:solidFill>
            <a:prstDash val="solid"/>
          </a:ln>
        </p:spPr>
        <p:txBody>
          <a:bodyPr/>
          <a:lstStyle/>
          <a:p>
            <a:endParaRPr lang="en-US"/>
          </a:p>
        </p:txBody>
      </p:sp>
      <p:sp>
        <p:nvSpPr>
          <p:cNvPr id="9" name="Text 7"/>
          <p:cNvSpPr/>
          <p:nvPr/>
        </p:nvSpPr>
        <p:spPr>
          <a:xfrm>
            <a:off x="292608" y="969264"/>
            <a:ext cx="1280160" cy="347472"/>
          </a:xfrm>
          <a:prstGeom prst="rect">
            <a:avLst/>
          </a:prstGeom>
          <a:noFill/>
          <a:ln/>
        </p:spPr>
        <p:txBody>
          <a:bodyPr wrap="square" lIns="0" tIns="0" rIns="0" bIns="0" rtlCol="0" anchor="ctr"/>
          <a:lstStyle/>
          <a:p>
            <a:pPr marL="0" indent="0">
              <a:buNone/>
            </a:pPr>
            <a:r>
              <a:rPr lang="en-US" sz="900" b="1" kern="0" spc="40" dirty="0">
                <a:solidFill>
                  <a:srgbClr val="FFFFFF"/>
                </a:solidFill>
                <a:latin typeface="Calibri" pitchFamily="34" charset="0"/>
                <a:ea typeface="Calibri" pitchFamily="34" charset="-122"/>
                <a:cs typeface="Calibri" pitchFamily="34" charset="-120"/>
              </a:rPr>
              <a:t>LTC PROCESS</a:t>
            </a:r>
            <a:endParaRPr lang="en-US" sz="900" dirty="0"/>
          </a:p>
        </p:txBody>
      </p:sp>
      <p:sp>
        <p:nvSpPr>
          <p:cNvPr id="10" name="Shape 8"/>
          <p:cNvSpPr/>
          <p:nvPr/>
        </p:nvSpPr>
        <p:spPr>
          <a:xfrm>
            <a:off x="1645920" y="969264"/>
            <a:ext cx="2212848" cy="347472"/>
          </a:xfrm>
          <a:prstGeom prst="rect">
            <a:avLst/>
          </a:prstGeom>
          <a:solidFill>
            <a:srgbClr val="333333"/>
          </a:solidFill>
          <a:ln w="12700">
            <a:solidFill>
              <a:srgbClr val="333333"/>
            </a:solidFill>
            <a:prstDash val="solid"/>
          </a:ln>
        </p:spPr>
        <p:txBody>
          <a:bodyPr/>
          <a:lstStyle/>
          <a:p>
            <a:endParaRPr lang="en-US"/>
          </a:p>
        </p:txBody>
      </p:sp>
      <p:sp>
        <p:nvSpPr>
          <p:cNvPr id="11" name="Text 9"/>
          <p:cNvSpPr/>
          <p:nvPr/>
        </p:nvSpPr>
        <p:spPr>
          <a:xfrm>
            <a:off x="1719072" y="969264"/>
            <a:ext cx="2121408" cy="347472"/>
          </a:xfrm>
          <a:prstGeom prst="rect">
            <a:avLst/>
          </a:prstGeom>
          <a:noFill/>
          <a:ln/>
        </p:spPr>
        <p:txBody>
          <a:bodyPr wrap="square" lIns="0" tIns="0" rIns="0" bIns="0" rtlCol="0" anchor="ctr"/>
          <a:lstStyle/>
          <a:p>
            <a:pPr marL="0" indent="0">
              <a:buNone/>
            </a:pPr>
            <a:r>
              <a:rPr lang="en-US" sz="900" b="1" kern="0" spc="40" dirty="0">
                <a:solidFill>
                  <a:srgbClr val="FFFFFF"/>
                </a:solidFill>
                <a:latin typeface="Calibri" pitchFamily="34" charset="0"/>
                <a:ea typeface="Calibri" pitchFamily="34" charset="-122"/>
                <a:cs typeface="Calibri" pitchFamily="34" charset="-120"/>
              </a:rPr>
              <a:t>TODAY  —  PAIN STATE</a:t>
            </a:r>
            <a:endParaRPr lang="en-US" sz="900" dirty="0"/>
          </a:p>
        </p:txBody>
      </p:sp>
      <p:sp>
        <p:nvSpPr>
          <p:cNvPr id="12" name="Shape 10"/>
          <p:cNvSpPr/>
          <p:nvPr/>
        </p:nvSpPr>
        <p:spPr>
          <a:xfrm>
            <a:off x="3931920" y="969264"/>
            <a:ext cx="4005072" cy="347472"/>
          </a:xfrm>
          <a:prstGeom prst="rect">
            <a:avLst/>
          </a:prstGeom>
          <a:solidFill>
            <a:srgbClr val="111111"/>
          </a:solidFill>
          <a:ln w="12700">
            <a:solidFill>
              <a:srgbClr val="111111"/>
            </a:solidFill>
            <a:prstDash val="solid"/>
          </a:ln>
        </p:spPr>
        <p:txBody>
          <a:bodyPr/>
          <a:lstStyle/>
          <a:p>
            <a:endParaRPr lang="en-US"/>
          </a:p>
        </p:txBody>
      </p:sp>
      <p:sp>
        <p:nvSpPr>
          <p:cNvPr id="13" name="Text 11"/>
          <p:cNvSpPr/>
          <p:nvPr/>
        </p:nvSpPr>
        <p:spPr>
          <a:xfrm>
            <a:off x="4005072" y="969264"/>
            <a:ext cx="3913632" cy="347472"/>
          </a:xfrm>
          <a:prstGeom prst="rect">
            <a:avLst/>
          </a:prstGeom>
          <a:noFill/>
          <a:ln/>
        </p:spPr>
        <p:txBody>
          <a:bodyPr wrap="square" lIns="0" tIns="0" rIns="0" bIns="0" rtlCol="0" anchor="ctr"/>
          <a:lstStyle/>
          <a:p>
            <a:pPr marL="0" indent="0">
              <a:buNone/>
            </a:pPr>
            <a:r>
              <a:rPr lang="en-US" sz="900" b="1" kern="0" spc="40" dirty="0">
                <a:solidFill>
                  <a:srgbClr val="FFFFFF"/>
                </a:solidFill>
                <a:latin typeface="Calibri" pitchFamily="34" charset="0"/>
                <a:ea typeface="Calibri" pitchFamily="34" charset="-122"/>
                <a:cs typeface="Calibri" pitchFamily="34" charset="-120"/>
              </a:rPr>
              <a:t>OPTIMIZE NOW  —  0–18 MONTHS</a:t>
            </a:r>
            <a:endParaRPr lang="en-US" sz="900" dirty="0"/>
          </a:p>
        </p:txBody>
      </p:sp>
      <p:sp>
        <p:nvSpPr>
          <p:cNvPr id="14" name="Shape 12"/>
          <p:cNvSpPr/>
          <p:nvPr/>
        </p:nvSpPr>
        <p:spPr>
          <a:xfrm>
            <a:off x="8010144" y="969264"/>
            <a:ext cx="3986784" cy="347472"/>
          </a:xfrm>
          <a:prstGeom prst="rect">
            <a:avLst/>
          </a:prstGeom>
          <a:solidFill>
            <a:srgbClr val="CC0000"/>
          </a:solidFill>
          <a:ln w="12700">
            <a:solidFill>
              <a:srgbClr val="CC0000"/>
            </a:solidFill>
            <a:prstDash val="solid"/>
          </a:ln>
        </p:spPr>
        <p:txBody>
          <a:bodyPr/>
          <a:lstStyle/>
          <a:p>
            <a:endParaRPr lang="en-US"/>
          </a:p>
        </p:txBody>
      </p:sp>
      <p:sp>
        <p:nvSpPr>
          <p:cNvPr id="15" name="Text 13"/>
          <p:cNvSpPr/>
          <p:nvPr/>
        </p:nvSpPr>
        <p:spPr>
          <a:xfrm>
            <a:off x="8083296" y="969264"/>
            <a:ext cx="3895344" cy="347472"/>
          </a:xfrm>
          <a:prstGeom prst="rect">
            <a:avLst/>
          </a:prstGeom>
          <a:noFill/>
          <a:ln/>
        </p:spPr>
        <p:txBody>
          <a:bodyPr wrap="square" lIns="0" tIns="0" rIns="0" bIns="0" rtlCol="0" anchor="ctr"/>
          <a:lstStyle/>
          <a:p>
            <a:pPr marL="0" indent="0">
              <a:buNone/>
            </a:pPr>
            <a:r>
              <a:rPr lang="en-US" sz="900" b="1" kern="0" spc="40" dirty="0">
                <a:solidFill>
                  <a:srgbClr val="FFFFFF"/>
                </a:solidFill>
                <a:latin typeface="Calibri" pitchFamily="34" charset="0"/>
                <a:ea typeface="Calibri" pitchFamily="34" charset="-122"/>
                <a:cs typeface="Calibri" pitchFamily="34" charset="-120"/>
              </a:rPr>
              <a:t>FUTURE STATE  —  AGENTIC VISION</a:t>
            </a:r>
            <a:endParaRPr lang="en-US" sz="900" dirty="0"/>
          </a:p>
        </p:txBody>
      </p:sp>
      <p:sp>
        <p:nvSpPr>
          <p:cNvPr id="16" name="Shape 14"/>
          <p:cNvSpPr/>
          <p:nvPr/>
        </p:nvSpPr>
        <p:spPr>
          <a:xfrm>
            <a:off x="219456" y="1353312"/>
            <a:ext cx="1371600" cy="1078992"/>
          </a:xfrm>
          <a:prstGeom prst="rect">
            <a:avLst/>
          </a:prstGeom>
          <a:solidFill>
            <a:srgbClr val="FFFFFF"/>
          </a:solidFill>
          <a:ln w="6350">
            <a:solidFill>
              <a:srgbClr val="D4D4D4"/>
            </a:solidFill>
            <a:prstDash val="solid"/>
          </a:ln>
        </p:spPr>
        <p:txBody>
          <a:bodyPr/>
          <a:lstStyle/>
          <a:p>
            <a:endParaRPr lang="en-US"/>
          </a:p>
        </p:txBody>
      </p:sp>
      <p:sp>
        <p:nvSpPr>
          <p:cNvPr id="17" name="Shape 15"/>
          <p:cNvSpPr/>
          <p:nvPr/>
        </p:nvSpPr>
        <p:spPr>
          <a:xfrm>
            <a:off x="1645920" y="1353312"/>
            <a:ext cx="2212848" cy="1078992"/>
          </a:xfrm>
          <a:prstGeom prst="rect">
            <a:avLst/>
          </a:prstGeom>
          <a:solidFill>
            <a:srgbClr val="FFFFFF"/>
          </a:solidFill>
          <a:ln w="6350">
            <a:solidFill>
              <a:srgbClr val="D4D4D4"/>
            </a:solidFill>
            <a:prstDash val="solid"/>
          </a:ln>
        </p:spPr>
        <p:txBody>
          <a:bodyPr/>
          <a:lstStyle/>
          <a:p>
            <a:endParaRPr lang="en-US"/>
          </a:p>
        </p:txBody>
      </p:sp>
      <p:sp>
        <p:nvSpPr>
          <p:cNvPr id="18" name="Shape 16"/>
          <p:cNvSpPr/>
          <p:nvPr/>
        </p:nvSpPr>
        <p:spPr>
          <a:xfrm>
            <a:off x="3931920" y="1353312"/>
            <a:ext cx="4005072" cy="1078992"/>
          </a:xfrm>
          <a:prstGeom prst="rect">
            <a:avLst/>
          </a:prstGeom>
          <a:solidFill>
            <a:srgbClr val="FFFFFF"/>
          </a:solidFill>
          <a:ln w="6350">
            <a:solidFill>
              <a:srgbClr val="D4D4D4"/>
            </a:solidFill>
            <a:prstDash val="solid"/>
          </a:ln>
        </p:spPr>
        <p:txBody>
          <a:bodyPr/>
          <a:lstStyle/>
          <a:p>
            <a:endParaRPr lang="en-US"/>
          </a:p>
        </p:txBody>
      </p:sp>
      <p:sp>
        <p:nvSpPr>
          <p:cNvPr id="19" name="Shape 17"/>
          <p:cNvSpPr/>
          <p:nvPr/>
        </p:nvSpPr>
        <p:spPr>
          <a:xfrm>
            <a:off x="8010144" y="1353312"/>
            <a:ext cx="3986784" cy="1078992"/>
          </a:xfrm>
          <a:prstGeom prst="rect">
            <a:avLst/>
          </a:prstGeom>
          <a:solidFill>
            <a:srgbClr val="FFFFFF"/>
          </a:solidFill>
          <a:ln w="6350">
            <a:solidFill>
              <a:srgbClr val="D4D4D4"/>
            </a:solidFill>
            <a:prstDash val="solid"/>
          </a:ln>
        </p:spPr>
        <p:txBody>
          <a:bodyPr/>
          <a:lstStyle/>
          <a:p>
            <a:endParaRPr lang="en-US"/>
          </a:p>
        </p:txBody>
      </p:sp>
      <p:sp>
        <p:nvSpPr>
          <p:cNvPr id="20" name="Shape 18"/>
          <p:cNvSpPr/>
          <p:nvPr/>
        </p:nvSpPr>
        <p:spPr>
          <a:xfrm>
            <a:off x="219456" y="1353312"/>
            <a:ext cx="50292" cy="1078992"/>
          </a:xfrm>
          <a:prstGeom prst="rect">
            <a:avLst/>
          </a:prstGeom>
          <a:solidFill>
            <a:srgbClr val="CC0000"/>
          </a:solidFill>
          <a:ln w="12700">
            <a:solidFill>
              <a:srgbClr val="CC0000"/>
            </a:solidFill>
            <a:prstDash val="solid"/>
          </a:ln>
        </p:spPr>
        <p:txBody>
          <a:bodyPr/>
          <a:lstStyle/>
          <a:p>
            <a:endParaRPr lang="en-US"/>
          </a:p>
        </p:txBody>
      </p:sp>
      <p:sp>
        <p:nvSpPr>
          <p:cNvPr id="21" name="Text 19"/>
          <p:cNvSpPr/>
          <p:nvPr/>
        </p:nvSpPr>
        <p:spPr>
          <a:xfrm>
            <a:off x="310896" y="1353312"/>
            <a:ext cx="1243584" cy="1078992"/>
          </a:xfrm>
          <a:prstGeom prst="rect">
            <a:avLst/>
          </a:prstGeom>
          <a:noFill/>
          <a:ln/>
        </p:spPr>
        <p:txBody>
          <a:bodyPr wrap="square" lIns="0" tIns="0" rIns="0" bIns="0" rtlCol="0" anchor="ctr"/>
          <a:lstStyle/>
          <a:p>
            <a:pPr marL="0" indent="0" algn="ctr">
              <a:buNone/>
            </a:pPr>
            <a:r>
              <a:rPr lang="en-US" sz="1100" b="1" dirty="0">
                <a:solidFill>
                  <a:srgbClr val="1F1F1F"/>
                </a:solidFill>
                <a:latin typeface="Calibri" pitchFamily="34" charset="0"/>
                <a:ea typeface="Calibri" pitchFamily="34" charset="-122"/>
                <a:cs typeface="Calibri" pitchFamily="34" charset="-120"/>
              </a:rPr>
              <a:t>Lead</a:t>
            </a:r>
            <a:endParaRPr lang="en-US" sz="1100" dirty="0"/>
          </a:p>
          <a:p>
            <a:pPr marL="0" indent="0" algn="ctr">
              <a:buNone/>
            </a:pPr>
            <a:r>
              <a:rPr lang="en-US" sz="1100" b="1" dirty="0">
                <a:solidFill>
                  <a:srgbClr val="1F1F1F"/>
                </a:solidFill>
                <a:latin typeface="Calibri" pitchFamily="34" charset="0"/>
                <a:ea typeface="Calibri" pitchFamily="34" charset="-122"/>
                <a:cs typeface="Calibri" pitchFamily="34" charset="-120"/>
              </a:rPr>
              <a:t>to</a:t>
            </a:r>
            <a:endParaRPr lang="en-US" sz="1100" dirty="0"/>
          </a:p>
          <a:p>
            <a:pPr marL="0" indent="0" algn="ctr">
              <a:buNone/>
            </a:pPr>
            <a:r>
              <a:rPr lang="en-US" sz="1100" b="1" dirty="0">
                <a:solidFill>
                  <a:srgbClr val="1F1F1F"/>
                </a:solidFill>
                <a:latin typeface="Calibri" pitchFamily="34" charset="0"/>
                <a:ea typeface="Calibri" pitchFamily="34" charset="-122"/>
                <a:cs typeface="Calibri" pitchFamily="34" charset="-120"/>
              </a:rPr>
              <a:t>Quote</a:t>
            </a:r>
            <a:endParaRPr lang="en-US" sz="1100" dirty="0"/>
          </a:p>
        </p:txBody>
      </p:sp>
      <p:sp>
        <p:nvSpPr>
          <p:cNvPr id="22" name="Shape 20"/>
          <p:cNvSpPr/>
          <p:nvPr/>
        </p:nvSpPr>
        <p:spPr>
          <a:xfrm>
            <a:off x="1645920" y="1353312"/>
            <a:ext cx="50292" cy="1078992"/>
          </a:xfrm>
          <a:prstGeom prst="rect">
            <a:avLst/>
          </a:prstGeom>
          <a:solidFill>
            <a:srgbClr val="333333"/>
          </a:solidFill>
          <a:ln w="12700">
            <a:solidFill>
              <a:srgbClr val="333333"/>
            </a:solidFill>
            <a:prstDash val="solid"/>
          </a:ln>
        </p:spPr>
        <p:txBody>
          <a:bodyPr/>
          <a:lstStyle/>
          <a:p>
            <a:endParaRPr lang="en-US"/>
          </a:p>
        </p:txBody>
      </p:sp>
      <p:sp>
        <p:nvSpPr>
          <p:cNvPr id="23" name="Text 21"/>
          <p:cNvSpPr/>
          <p:nvPr/>
        </p:nvSpPr>
        <p:spPr>
          <a:xfrm>
            <a:off x="1737360" y="1408176"/>
            <a:ext cx="2066544" cy="987552"/>
          </a:xfrm>
          <a:prstGeom prst="rect">
            <a:avLst/>
          </a:prstGeom>
          <a:noFill/>
          <a:ln/>
        </p:spPr>
        <p:txBody>
          <a:bodyPr wrap="square" lIns="0" tIns="0" rIns="0" bIns="0" rtlCol="0" anchor="t"/>
          <a:lstStyle/>
          <a:p>
            <a:pPr marL="0" indent="0">
              <a:buNone/>
            </a:pPr>
            <a:r>
              <a:rPr lang="en-US" sz="900" dirty="0">
                <a:solidFill>
                  <a:srgbClr val="555555"/>
                </a:solidFill>
                <a:latin typeface="Calibri" pitchFamily="34" charset="0"/>
                <a:ea typeface="Calibri" pitchFamily="34" charset="-122"/>
                <a:cs typeface="Calibri" pitchFamily="34" charset="-120"/>
              </a:rPr>
              <a:t>Siloed SBG campaigns</a:t>
            </a:r>
            <a:endParaRPr lang="en-US" sz="900" dirty="0"/>
          </a:p>
          <a:p>
            <a:pPr marL="0" indent="0">
              <a:buNone/>
            </a:pPr>
            <a:r>
              <a:rPr lang="en-US" sz="900" dirty="0">
                <a:solidFill>
                  <a:srgbClr val="555555"/>
                </a:solidFill>
                <a:latin typeface="Calibri" pitchFamily="34" charset="0"/>
                <a:ea typeface="Calibri" pitchFamily="34" charset="-122"/>
                <a:cs typeface="Calibri" pitchFamily="34" charset="-120"/>
              </a:rPr>
              <a:t>Local pricing rules</a:t>
            </a:r>
            <a:endParaRPr lang="en-US" sz="900" dirty="0"/>
          </a:p>
          <a:p>
            <a:pPr marL="0" indent="0">
              <a:buNone/>
            </a:pPr>
            <a:r>
              <a:rPr lang="en-US" sz="900" dirty="0">
                <a:solidFill>
                  <a:srgbClr val="555555"/>
                </a:solidFill>
                <a:latin typeface="Calibri" pitchFamily="34" charset="0"/>
                <a:ea typeface="Calibri" pitchFamily="34" charset="-122"/>
                <a:cs typeface="Calibri" pitchFamily="34" charset="-120"/>
              </a:rPr>
              <a:t>No cross-SBG funnel</a:t>
            </a:r>
            <a:endParaRPr lang="en-US" sz="900" dirty="0"/>
          </a:p>
          <a:p>
            <a:pPr marL="0" indent="0">
              <a:buNone/>
            </a:pPr>
            <a:r>
              <a:rPr lang="en-US" sz="900" dirty="0">
                <a:solidFill>
                  <a:srgbClr val="555555"/>
                </a:solidFill>
                <a:latin typeface="Calibri" pitchFamily="34" charset="0"/>
                <a:ea typeface="Calibri" pitchFamily="34" charset="-122"/>
                <a:cs typeface="Calibri" pitchFamily="34" charset="-120"/>
              </a:rPr>
              <a:t>Manual lead handoffs</a:t>
            </a:r>
            <a:endParaRPr lang="en-US" sz="900" dirty="0"/>
          </a:p>
        </p:txBody>
      </p:sp>
      <p:sp>
        <p:nvSpPr>
          <p:cNvPr id="24" name="Shape 22"/>
          <p:cNvSpPr/>
          <p:nvPr/>
        </p:nvSpPr>
        <p:spPr>
          <a:xfrm>
            <a:off x="3931920" y="1353312"/>
            <a:ext cx="50292" cy="1078992"/>
          </a:xfrm>
          <a:prstGeom prst="rect">
            <a:avLst/>
          </a:prstGeom>
          <a:solidFill>
            <a:srgbClr val="333333"/>
          </a:solidFill>
          <a:ln w="12700">
            <a:solidFill>
              <a:srgbClr val="333333"/>
            </a:solidFill>
            <a:prstDash val="solid"/>
          </a:ln>
        </p:spPr>
        <p:txBody>
          <a:bodyPr/>
          <a:lstStyle/>
          <a:p>
            <a:endParaRPr lang="en-US"/>
          </a:p>
        </p:txBody>
      </p:sp>
      <p:sp>
        <p:nvSpPr>
          <p:cNvPr id="25" name="Shape 23"/>
          <p:cNvSpPr/>
          <p:nvPr/>
        </p:nvSpPr>
        <p:spPr>
          <a:xfrm>
            <a:off x="4059936" y="1490984"/>
            <a:ext cx="50292" cy="50292"/>
          </a:xfrm>
          <a:prstGeom prst="ellipse">
            <a:avLst/>
          </a:prstGeom>
          <a:solidFill>
            <a:srgbClr val="333333"/>
          </a:solidFill>
          <a:ln w="12700">
            <a:solidFill>
              <a:srgbClr val="333333"/>
            </a:solidFill>
            <a:prstDash val="solid"/>
          </a:ln>
        </p:spPr>
        <p:txBody>
          <a:bodyPr/>
          <a:lstStyle/>
          <a:p>
            <a:endParaRPr lang="en-US"/>
          </a:p>
        </p:txBody>
      </p:sp>
      <p:sp>
        <p:nvSpPr>
          <p:cNvPr id="26" name="Text 24"/>
          <p:cNvSpPr/>
          <p:nvPr/>
        </p:nvSpPr>
        <p:spPr>
          <a:xfrm>
            <a:off x="4151376" y="1426464"/>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Salesforce Sales Cloud — unified pipeline, shared forecasting across SBGs</a:t>
            </a:r>
            <a:endParaRPr lang="en-US" sz="850" dirty="0"/>
          </a:p>
        </p:txBody>
      </p:sp>
      <p:sp>
        <p:nvSpPr>
          <p:cNvPr id="27" name="Shape 25"/>
          <p:cNvSpPr/>
          <p:nvPr/>
        </p:nvSpPr>
        <p:spPr>
          <a:xfrm>
            <a:off x="4059936" y="1684837"/>
            <a:ext cx="50292" cy="50292"/>
          </a:xfrm>
          <a:prstGeom prst="ellipse">
            <a:avLst/>
          </a:prstGeom>
          <a:solidFill>
            <a:srgbClr val="333333"/>
          </a:solidFill>
          <a:ln w="12700">
            <a:solidFill>
              <a:srgbClr val="333333"/>
            </a:solidFill>
            <a:prstDash val="solid"/>
          </a:ln>
        </p:spPr>
        <p:txBody>
          <a:bodyPr/>
          <a:lstStyle/>
          <a:p>
            <a:endParaRPr lang="en-US"/>
          </a:p>
        </p:txBody>
      </p:sp>
      <p:sp>
        <p:nvSpPr>
          <p:cNvPr id="28" name="Text 26"/>
          <p:cNvSpPr/>
          <p:nvPr/>
        </p:nvSpPr>
        <p:spPr>
          <a:xfrm>
            <a:off x="4151376" y="1620317"/>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Marketo Engage consolidation — single instance, common lead scoring &amp; MQL routing</a:t>
            </a:r>
            <a:endParaRPr lang="en-US" sz="850" dirty="0"/>
          </a:p>
        </p:txBody>
      </p:sp>
      <p:sp>
        <p:nvSpPr>
          <p:cNvPr id="29" name="Shape 27"/>
          <p:cNvSpPr/>
          <p:nvPr/>
        </p:nvSpPr>
        <p:spPr>
          <a:xfrm>
            <a:off x="4059936" y="1878690"/>
            <a:ext cx="50292" cy="50292"/>
          </a:xfrm>
          <a:prstGeom prst="ellipse">
            <a:avLst/>
          </a:prstGeom>
          <a:solidFill>
            <a:srgbClr val="333333"/>
          </a:solidFill>
          <a:ln w="12700">
            <a:solidFill>
              <a:srgbClr val="333333"/>
            </a:solidFill>
            <a:prstDash val="solid"/>
          </a:ln>
        </p:spPr>
        <p:txBody>
          <a:bodyPr/>
          <a:lstStyle/>
          <a:p>
            <a:endParaRPr lang="en-US"/>
          </a:p>
        </p:txBody>
      </p:sp>
      <p:sp>
        <p:nvSpPr>
          <p:cNvPr id="30" name="Text 28"/>
          <p:cNvSpPr/>
          <p:nvPr/>
        </p:nvSpPr>
        <p:spPr>
          <a:xfrm>
            <a:off x="4151376" y="1814170"/>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Adobe Analytics (fixed) — hit-level tracking, person-centric attribution</a:t>
            </a:r>
            <a:endParaRPr lang="en-US" sz="850" dirty="0"/>
          </a:p>
        </p:txBody>
      </p:sp>
      <p:sp>
        <p:nvSpPr>
          <p:cNvPr id="31" name="Shape 29"/>
          <p:cNvSpPr/>
          <p:nvPr/>
        </p:nvSpPr>
        <p:spPr>
          <a:xfrm>
            <a:off x="4059936" y="2072542"/>
            <a:ext cx="50292" cy="50292"/>
          </a:xfrm>
          <a:prstGeom prst="ellipse">
            <a:avLst/>
          </a:prstGeom>
          <a:solidFill>
            <a:srgbClr val="333333"/>
          </a:solidFill>
          <a:ln w="12700">
            <a:solidFill>
              <a:srgbClr val="333333"/>
            </a:solidFill>
            <a:prstDash val="solid"/>
          </a:ln>
        </p:spPr>
        <p:txBody>
          <a:bodyPr/>
          <a:lstStyle/>
          <a:p>
            <a:endParaRPr lang="en-US"/>
          </a:p>
        </p:txBody>
      </p:sp>
      <p:sp>
        <p:nvSpPr>
          <p:cNvPr id="32" name="Text 30"/>
          <p:cNvSpPr/>
          <p:nvPr/>
        </p:nvSpPr>
        <p:spPr>
          <a:xfrm>
            <a:off x="4151376" y="2008022"/>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Demandbase ABM — account intent signals for targeted outreach</a:t>
            </a:r>
            <a:endParaRPr lang="en-US" sz="850" dirty="0"/>
          </a:p>
        </p:txBody>
      </p:sp>
      <p:sp>
        <p:nvSpPr>
          <p:cNvPr id="33" name="Shape 31"/>
          <p:cNvSpPr/>
          <p:nvPr/>
        </p:nvSpPr>
        <p:spPr>
          <a:xfrm>
            <a:off x="4059936" y="2266395"/>
            <a:ext cx="50292" cy="50292"/>
          </a:xfrm>
          <a:prstGeom prst="ellipse">
            <a:avLst/>
          </a:prstGeom>
          <a:solidFill>
            <a:srgbClr val="333333"/>
          </a:solidFill>
          <a:ln w="12700">
            <a:solidFill>
              <a:srgbClr val="333333"/>
            </a:solidFill>
            <a:prstDash val="solid"/>
          </a:ln>
        </p:spPr>
        <p:txBody>
          <a:bodyPr/>
          <a:lstStyle/>
          <a:p>
            <a:endParaRPr lang="en-US"/>
          </a:p>
        </p:txBody>
      </p:sp>
      <p:sp>
        <p:nvSpPr>
          <p:cNvPr id="34" name="Text 32"/>
          <p:cNvSpPr/>
          <p:nvPr/>
        </p:nvSpPr>
        <p:spPr>
          <a:xfrm>
            <a:off x="4151376" y="2201875"/>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Standard pricing playbook &amp; CPQ lite for consistent quoting rules</a:t>
            </a:r>
            <a:endParaRPr lang="en-US" sz="850" dirty="0"/>
          </a:p>
        </p:txBody>
      </p:sp>
      <p:sp>
        <p:nvSpPr>
          <p:cNvPr id="35" name="Shape 33"/>
          <p:cNvSpPr/>
          <p:nvPr/>
        </p:nvSpPr>
        <p:spPr>
          <a:xfrm>
            <a:off x="8010144" y="1353312"/>
            <a:ext cx="50292" cy="1078992"/>
          </a:xfrm>
          <a:prstGeom prst="rect">
            <a:avLst/>
          </a:prstGeom>
          <a:solidFill>
            <a:srgbClr val="CC0000"/>
          </a:solidFill>
          <a:ln w="12700">
            <a:solidFill>
              <a:srgbClr val="CC0000"/>
            </a:solidFill>
            <a:prstDash val="solid"/>
          </a:ln>
        </p:spPr>
        <p:txBody>
          <a:bodyPr/>
          <a:lstStyle/>
          <a:p>
            <a:endParaRPr lang="en-US"/>
          </a:p>
        </p:txBody>
      </p:sp>
      <p:sp>
        <p:nvSpPr>
          <p:cNvPr id="36" name="Shape 34"/>
          <p:cNvSpPr/>
          <p:nvPr/>
        </p:nvSpPr>
        <p:spPr>
          <a:xfrm>
            <a:off x="8138160" y="1490984"/>
            <a:ext cx="50292" cy="50292"/>
          </a:xfrm>
          <a:prstGeom prst="ellipse">
            <a:avLst/>
          </a:prstGeom>
          <a:solidFill>
            <a:srgbClr val="CC0000"/>
          </a:solidFill>
          <a:ln w="12700">
            <a:solidFill>
              <a:srgbClr val="CC0000"/>
            </a:solidFill>
            <a:prstDash val="solid"/>
          </a:ln>
        </p:spPr>
        <p:txBody>
          <a:bodyPr/>
          <a:lstStyle/>
          <a:p>
            <a:endParaRPr lang="en-US"/>
          </a:p>
        </p:txBody>
      </p:sp>
      <p:sp>
        <p:nvSpPr>
          <p:cNvPr id="37" name="Text 35"/>
          <p:cNvSpPr/>
          <p:nvPr/>
        </p:nvSpPr>
        <p:spPr>
          <a:xfrm>
            <a:off x="8229600" y="1426464"/>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Salesforce Einstein / AI Sales Coach — AI-guided next best action for reps</a:t>
            </a:r>
            <a:endParaRPr lang="en-US" sz="850" dirty="0"/>
          </a:p>
        </p:txBody>
      </p:sp>
      <p:sp>
        <p:nvSpPr>
          <p:cNvPr id="38" name="Shape 36"/>
          <p:cNvSpPr/>
          <p:nvPr/>
        </p:nvSpPr>
        <p:spPr>
          <a:xfrm>
            <a:off x="8138160" y="1684837"/>
            <a:ext cx="50292" cy="50292"/>
          </a:xfrm>
          <a:prstGeom prst="ellipse">
            <a:avLst/>
          </a:prstGeom>
          <a:solidFill>
            <a:srgbClr val="CC0000"/>
          </a:solidFill>
          <a:ln w="12700">
            <a:solidFill>
              <a:srgbClr val="CC0000"/>
            </a:solidFill>
            <a:prstDash val="solid"/>
          </a:ln>
        </p:spPr>
        <p:txBody>
          <a:bodyPr/>
          <a:lstStyle/>
          <a:p>
            <a:endParaRPr lang="en-US"/>
          </a:p>
        </p:txBody>
      </p:sp>
      <p:sp>
        <p:nvSpPr>
          <p:cNvPr id="39" name="Text 37"/>
          <p:cNvSpPr/>
          <p:nvPr/>
        </p:nvSpPr>
        <p:spPr>
          <a:xfrm>
            <a:off x="8229600" y="1620317"/>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Adobe AEP + Real-Time CDP — unified customer profile, predictive segmentation</a:t>
            </a:r>
            <a:endParaRPr lang="en-US" sz="850" dirty="0"/>
          </a:p>
        </p:txBody>
      </p:sp>
      <p:sp>
        <p:nvSpPr>
          <p:cNvPr id="40" name="Shape 38"/>
          <p:cNvSpPr/>
          <p:nvPr/>
        </p:nvSpPr>
        <p:spPr>
          <a:xfrm>
            <a:off x="8138160" y="1878690"/>
            <a:ext cx="50292" cy="50292"/>
          </a:xfrm>
          <a:prstGeom prst="ellipse">
            <a:avLst/>
          </a:prstGeom>
          <a:solidFill>
            <a:srgbClr val="CC0000"/>
          </a:solidFill>
          <a:ln w="12700">
            <a:solidFill>
              <a:srgbClr val="CC0000"/>
            </a:solidFill>
            <a:prstDash val="solid"/>
          </a:ln>
        </p:spPr>
        <p:txBody>
          <a:bodyPr/>
          <a:lstStyle/>
          <a:p>
            <a:endParaRPr lang="en-US"/>
          </a:p>
        </p:txBody>
      </p:sp>
      <p:sp>
        <p:nvSpPr>
          <p:cNvPr id="41" name="Text 39"/>
          <p:cNvSpPr/>
          <p:nvPr/>
        </p:nvSpPr>
        <p:spPr>
          <a:xfrm>
            <a:off x="8229600" y="1814170"/>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Dynamic pricing engine — AI-driven offers and bundled cross-SBG proposals</a:t>
            </a:r>
            <a:endParaRPr lang="en-US" sz="850" dirty="0"/>
          </a:p>
        </p:txBody>
      </p:sp>
      <p:sp>
        <p:nvSpPr>
          <p:cNvPr id="42" name="Shape 40"/>
          <p:cNvSpPr/>
          <p:nvPr/>
        </p:nvSpPr>
        <p:spPr>
          <a:xfrm>
            <a:off x="8138160" y="2072542"/>
            <a:ext cx="50292" cy="50292"/>
          </a:xfrm>
          <a:prstGeom prst="ellipse">
            <a:avLst/>
          </a:prstGeom>
          <a:solidFill>
            <a:srgbClr val="CC0000"/>
          </a:solidFill>
          <a:ln w="12700">
            <a:solidFill>
              <a:srgbClr val="CC0000"/>
            </a:solidFill>
            <a:prstDash val="solid"/>
          </a:ln>
        </p:spPr>
        <p:txBody>
          <a:bodyPr/>
          <a:lstStyle/>
          <a:p>
            <a:endParaRPr lang="en-US"/>
          </a:p>
        </p:txBody>
      </p:sp>
      <p:sp>
        <p:nvSpPr>
          <p:cNvPr id="43" name="Text 41"/>
          <p:cNvSpPr/>
          <p:nvPr/>
        </p:nvSpPr>
        <p:spPr>
          <a:xfrm>
            <a:off x="8229600" y="2008022"/>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Agentic lead qualification — automated enrichment, routing, and MQL scoring</a:t>
            </a:r>
            <a:endParaRPr lang="en-US" sz="850" dirty="0"/>
          </a:p>
        </p:txBody>
      </p:sp>
      <p:sp>
        <p:nvSpPr>
          <p:cNvPr id="44" name="Shape 42"/>
          <p:cNvSpPr/>
          <p:nvPr/>
        </p:nvSpPr>
        <p:spPr>
          <a:xfrm>
            <a:off x="8138160" y="2266395"/>
            <a:ext cx="50292" cy="50292"/>
          </a:xfrm>
          <a:prstGeom prst="ellipse">
            <a:avLst/>
          </a:prstGeom>
          <a:solidFill>
            <a:srgbClr val="CC0000"/>
          </a:solidFill>
          <a:ln w="12700">
            <a:solidFill>
              <a:srgbClr val="CC0000"/>
            </a:solidFill>
            <a:prstDash val="solid"/>
          </a:ln>
        </p:spPr>
        <p:txBody>
          <a:bodyPr/>
          <a:lstStyle/>
          <a:p>
            <a:endParaRPr lang="en-US"/>
          </a:p>
        </p:txBody>
      </p:sp>
      <p:sp>
        <p:nvSpPr>
          <p:cNvPr id="45" name="Text 43"/>
          <p:cNvSpPr/>
          <p:nvPr/>
        </p:nvSpPr>
        <p:spPr>
          <a:xfrm>
            <a:off x="8229600" y="2201875"/>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Self-serve partner portal with guided selling and dynamic catalog access</a:t>
            </a:r>
            <a:endParaRPr lang="en-US" sz="850" dirty="0"/>
          </a:p>
        </p:txBody>
      </p:sp>
      <p:sp>
        <p:nvSpPr>
          <p:cNvPr id="46" name="Shape 44"/>
          <p:cNvSpPr/>
          <p:nvPr/>
        </p:nvSpPr>
        <p:spPr>
          <a:xfrm>
            <a:off x="219456" y="2432304"/>
            <a:ext cx="1371600" cy="1078992"/>
          </a:xfrm>
          <a:prstGeom prst="rect">
            <a:avLst/>
          </a:prstGeom>
          <a:solidFill>
            <a:srgbClr val="F4F4F4"/>
          </a:solidFill>
          <a:ln w="6350">
            <a:solidFill>
              <a:srgbClr val="D4D4D4"/>
            </a:solidFill>
            <a:prstDash val="solid"/>
          </a:ln>
        </p:spPr>
        <p:txBody>
          <a:bodyPr/>
          <a:lstStyle/>
          <a:p>
            <a:endParaRPr lang="en-US"/>
          </a:p>
        </p:txBody>
      </p:sp>
      <p:sp>
        <p:nvSpPr>
          <p:cNvPr id="47" name="Shape 45"/>
          <p:cNvSpPr/>
          <p:nvPr/>
        </p:nvSpPr>
        <p:spPr>
          <a:xfrm>
            <a:off x="1645920" y="2432304"/>
            <a:ext cx="2212848" cy="1078992"/>
          </a:xfrm>
          <a:prstGeom prst="rect">
            <a:avLst/>
          </a:prstGeom>
          <a:solidFill>
            <a:srgbClr val="F4F4F4"/>
          </a:solidFill>
          <a:ln w="6350">
            <a:solidFill>
              <a:srgbClr val="D4D4D4"/>
            </a:solidFill>
            <a:prstDash val="solid"/>
          </a:ln>
        </p:spPr>
        <p:txBody>
          <a:bodyPr/>
          <a:lstStyle/>
          <a:p>
            <a:endParaRPr lang="en-US"/>
          </a:p>
        </p:txBody>
      </p:sp>
      <p:sp>
        <p:nvSpPr>
          <p:cNvPr id="48" name="Shape 46"/>
          <p:cNvSpPr/>
          <p:nvPr/>
        </p:nvSpPr>
        <p:spPr>
          <a:xfrm>
            <a:off x="3931920" y="2432304"/>
            <a:ext cx="4005072" cy="1078992"/>
          </a:xfrm>
          <a:prstGeom prst="rect">
            <a:avLst/>
          </a:prstGeom>
          <a:solidFill>
            <a:srgbClr val="F4F4F4"/>
          </a:solidFill>
          <a:ln w="6350">
            <a:solidFill>
              <a:srgbClr val="D4D4D4"/>
            </a:solidFill>
            <a:prstDash val="solid"/>
          </a:ln>
        </p:spPr>
        <p:txBody>
          <a:bodyPr/>
          <a:lstStyle/>
          <a:p>
            <a:endParaRPr lang="en-US"/>
          </a:p>
        </p:txBody>
      </p:sp>
      <p:sp>
        <p:nvSpPr>
          <p:cNvPr id="49" name="Shape 47"/>
          <p:cNvSpPr/>
          <p:nvPr/>
        </p:nvSpPr>
        <p:spPr>
          <a:xfrm>
            <a:off x="8010144" y="2432304"/>
            <a:ext cx="3986784" cy="1078992"/>
          </a:xfrm>
          <a:prstGeom prst="rect">
            <a:avLst/>
          </a:prstGeom>
          <a:solidFill>
            <a:srgbClr val="F4F4F4"/>
          </a:solidFill>
          <a:ln w="6350">
            <a:solidFill>
              <a:srgbClr val="D4D4D4"/>
            </a:solidFill>
            <a:prstDash val="solid"/>
          </a:ln>
        </p:spPr>
        <p:txBody>
          <a:bodyPr/>
          <a:lstStyle/>
          <a:p>
            <a:endParaRPr lang="en-US"/>
          </a:p>
        </p:txBody>
      </p:sp>
      <p:sp>
        <p:nvSpPr>
          <p:cNvPr id="50" name="Shape 48"/>
          <p:cNvSpPr/>
          <p:nvPr/>
        </p:nvSpPr>
        <p:spPr>
          <a:xfrm>
            <a:off x="219456" y="2432304"/>
            <a:ext cx="50292" cy="1078992"/>
          </a:xfrm>
          <a:prstGeom prst="rect">
            <a:avLst/>
          </a:prstGeom>
          <a:solidFill>
            <a:srgbClr val="CC0000"/>
          </a:solidFill>
          <a:ln w="12700">
            <a:solidFill>
              <a:srgbClr val="CC0000"/>
            </a:solidFill>
            <a:prstDash val="solid"/>
          </a:ln>
        </p:spPr>
        <p:txBody>
          <a:bodyPr/>
          <a:lstStyle/>
          <a:p>
            <a:endParaRPr lang="en-US"/>
          </a:p>
        </p:txBody>
      </p:sp>
      <p:sp>
        <p:nvSpPr>
          <p:cNvPr id="51" name="Text 49"/>
          <p:cNvSpPr/>
          <p:nvPr/>
        </p:nvSpPr>
        <p:spPr>
          <a:xfrm>
            <a:off x="310896" y="2432304"/>
            <a:ext cx="1243584" cy="1078992"/>
          </a:xfrm>
          <a:prstGeom prst="rect">
            <a:avLst/>
          </a:prstGeom>
          <a:noFill/>
          <a:ln/>
        </p:spPr>
        <p:txBody>
          <a:bodyPr wrap="square" lIns="0" tIns="0" rIns="0" bIns="0" rtlCol="0" anchor="ctr"/>
          <a:lstStyle/>
          <a:p>
            <a:pPr marL="0" indent="0" algn="ctr">
              <a:buNone/>
            </a:pPr>
            <a:r>
              <a:rPr lang="en-US" sz="1100" b="1" dirty="0">
                <a:solidFill>
                  <a:srgbClr val="1F1F1F"/>
                </a:solidFill>
                <a:latin typeface="Calibri" pitchFamily="34" charset="0"/>
                <a:ea typeface="Calibri" pitchFamily="34" charset="-122"/>
                <a:cs typeface="Calibri" pitchFamily="34" charset="-120"/>
              </a:rPr>
              <a:t>Contract</a:t>
            </a:r>
            <a:endParaRPr lang="en-US" sz="1100" dirty="0"/>
          </a:p>
          <a:p>
            <a:pPr marL="0" indent="0" algn="ctr">
              <a:buNone/>
            </a:pPr>
            <a:r>
              <a:rPr lang="en-US" sz="1100" b="1" dirty="0">
                <a:solidFill>
                  <a:srgbClr val="1F1F1F"/>
                </a:solidFill>
                <a:latin typeface="Calibri" pitchFamily="34" charset="0"/>
                <a:ea typeface="Calibri" pitchFamily="34" charset="-122"/>
                <a:cs typeface="Calibri" pitchFamily="34" charset="-120"/>
              </a:rPr>
              <a:t>to</a:t>
            </a:r>
            <a:endParaRPr lang="en-US" sz="1100" dirty="0"/>
          </a:p>
          <a:p>
            <a:pPr marL="0" indent="0" algn="ctr">
              <a:buNone/>
            </a:pPr>
            <a:r>
              <a:rPr lang="en-US" sz="1100" b="1" dirty="0">
                <a:solidFill>
                  <a:srgbClr val="1F1F1F"/>
                </a:solidFill>
                <a:latin typeface="Calibri" pitchFamily="34" charset="0"/>
                <a:ea typeface="Calibri" pitchFamily="34" charset="-122"/>
                <a:cs typeface="Calibri" pitchFamily="34" charset="-120"/>
              </a:rPr>
              <a:t>Order</a:t>
            </a:r>
            <a:endParaRPr lang="en-US" sz="1100" dirty="0"/>
          </a:p>
        </p:txBody>
      </p:sp>
      <p:sp>
        <p:nvSpPr>
          <p:cNvPr id="52" name="Shape 50"/>
          <p:cNvSpPr/>
          <p:nvPr/>
        </p:nvSpPr>
        <p:spPr>
          <a:xfrm>
            <a:off x="1645920" y="2432304"/>
            <a:ext cx="50292" cy="1078992"/>
          </a:xfrm>
          <a:prstGeom prst="rect">
            <a:avLst/>
          </a:prstGeom>
          <a:solidFill>
            <a:srgbClr val="333333"/>
          </a:solidFill>
          <a:ln w="12700">
            <a:solidFill>
              <a:srgbClr val="333333"/>
            </a:solidFill>
            <a:prstDash val="solid"/>
          </a:ln>
        </p:spPr>
        <p:txBody>
          <a:bodyPr/>
          <a:lstStyle/>
          <a:p>
            <a:endParaRPr lang="en-US"/>
          </a:p>
        </p:txBody>
      </p:sp>
      <p:sp>
        <p:nvSpPr>
          <p:cNvPr id="53" name="Text 51"/>
          <p:cNvSpPr/>
          <p:nvPr/>
        </p:nvSpPr>
        <p:spPr>
          <a:xfrm>
            <a:off x="1737360" y="2487168"/>
            <a:ext cx="2066544" cy="987552"/>
          </a:xfrm>
          <a:prstGeom prst="rect">
            <a:avLst/>
          </a:prstGeom>
          <a:noFill/>
          <a:ln/>
        </p:spPr>
        <p:txBody>
          <a:bodyPr wrap="square" lIns="0" tIns="0" rIns="0" bIns="0" rtlCol="0" anchor="t"/>
          <a:lstStyle/>
          <a:p>
            <a:pPr marL="0" indent="0">
              <a:buNone/>
            </a:pPr>
            <a:r>
              <a:rPr lang="en-US" sz="900" dirty="0">
                <a:solidFill>
                  <a:srgbClr val="555555"/>
                </a:solidFill>
                <a:latin typeface="Calibri" pitchFamily="34" charset="0"/>
                <a:ea typeface="Calibri" pitchFamily="34" charset="-122"/>
                <a:cs typeface="Calibri" pitchFamily="34" charset="-120"/>
              </a:rPr>
              <a:t>Disconnected order tools</a:t>
            </a:r>
            <a:endParaRPr lang="en-US" sz="900" dirty="0"/>
          </a:p>
          <a:p>
            <a:pPr marL="0" indent="0">
              <a:buNone/>
            </a:pPr>
            <a:r>
              <a:rPr lang="en-US" sz="900" dirty="0">
                <a:solidFill>
                  <a:srgbClr val="555555"/>
                </a:solidFill>
                <a:latin typeface="Calibri" pitchFamily="34" charset="0"/>
                <a:ea typeface="Calibri" pitchFamily="34" charset="-122"/>
                <a:cs typeface="Calibri" pitchFamily="34" charset="-120"/>
              </a:rPr>
              <a:t>No standard contracts</a:t>
            </a:r>
            <a:endParaRPr lang="en-US" sz="900" dirty="0"/>
          </a:p>
          <a:p>
            <a:pPr marL="0" indent="0">
              <a:buNone/>
            </a:pPr>
            <a:r>
              <a:rPr lang="en-US" sz="900" dirty="0">
                <a:solidFill>
                  <a:srgbClr val="555555"/>
                </a:solidFill>
                <a:latin typeface="Calibri" pitchFamily="34" charset="0"/>
                <a:ea typeface="Calibri" pitchFamily="34" charset="-122"/>
                <a:cs typeface="Calibri" pitchFamily="34" charset="-120"/>
              </a:rPr>
              <a:t>Margin managed ad hoc</a:t>
            </a:r>
            <a:endParaRPr lang="en-US" sz="900" dirty="0"/>
          </a:p>
          <a:p>
            <a:pPr marL="0" indent="0">
              <a:buNone/>
            </a:pPr>
            <a:r>
              <a:rPr lang="en-US" sz="900" dirty="0">
                <a:solidFill>
                  <a:srgbClr val="555555"/>
                </a:solidFill>
                <a:latin typeface="Calibri" pitchFamily="34" charset="0"/>
                <a:ea typeface="Calibri" pitchFamily="34" charset="-122"/>
                <a:cs typeface="Calibri" pitchFamily="34" charset="-120"/>
              </a:rPr>
              <a:t>Credit set-up failures</a:t>
            </a:r>
            <a:endParaRPr lang="en-US" sz="900" dirty="0"/>
          </a:p>
        </p:txBody>
      </p:sp>
      <p:sp>
        <p:nvSpPr>
          <p:cNvPr id="54" name="Shape 52"/>
          <p:cNvSpPr/>
          <p:nvPr/>
        </p:nvSpPr>
        <p:spPr>
          <a:xfrm>
            <a:off x="3931920" y="2432304"/>
            <a:ext cx="50292" cy="1078992"/>
          </a:xfrm>
          <a:prstGeom prst="rect">
            <a:avLst/>
          </a:prstGeom>
          <a:solidFill>
            <a:srgbClr val="333333"/>
          </a:solidFill>
          <a:ln w="12700">
            <a:solidFill>
              <a:srgbClr val="333333"/>
            </a:solidFill>
            <a:prstDash val="solid"/>
          </a:ln>
        </p:spPr>
        <p:txBody>
          <a:bodyPr/>
          <a:lstStyle/>
          <a:p>
            <a:endParaRPr lang="en-US"/>
          </a:p>
        </p:txBody>
      </p:sp>
      <p:sp>
        <p:nvSpPr>
          <p:cNvPr id="55" name="Shape 53"/>
          <p:cNvSpPr/>
          <p:nvPr/>
        </p:nvSpPr>
        <p:spPr>
          <a:xfrm>
            <a:off x="4059936" y="2569976"/>
            <a:ext cx="50292" cy="50292"/>
          </a:xfrm>
          <a:prstGeom prst="ellipse">
            <a:avLst/>
          </a:prstGeom>
          <a:solidFill>
            <a:srgbClr val="333333"/>
          </a:solidFill>
          <a:ln w="12700">
            <a:solidFill>
              <a:srgbClr val="333333"/>
            </a:solidFill>
            <a:prstDash val="solid"/>
          </a:ln>
        </p:spPr>
        <p:txBody>
          <a:bodyPr/>
          <a:lstStyle/>
          <a:p>
            <a:endParaRPr lang="en-US"/>
          </a:p>
        </p:txBody>
      </p:sp>
      <p:sp>
        <p:nvSpPr>
          <p:cNvPr id="56" name="Text 54"/>
          <p:cNvSpPr/>
          <p:nvPr/>
        </p:nvSpPr>
        <p:spPr>
          <a:xfrm>
            <a:off x="4151376" y="2505456"/>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Salesforce CPQ — guided configure-price-quote replacing Excel-based quoting</a:t>
            </a:r>
            <a:endParaRPr lang="en-US" sz="850" dirty="0"/>
          </a:p>
        </p:txBody>
      </p:sp>
      <p:sp>
        <p:nvSpPr>
          <p:cNvPr id="57" name="Shape 55"/>
          <p:cNvSpPr/>
          <p:nvPr/>
        </p:nvSpPr>
        <p:spPr>
          <a:xfrm>
            <a:off x="4059936" y="2763829"/>
            <a:ext cx="50292" cy="50292"/>
          </a:xfrm>
          <a:prstGeom prst="ellipse">
            <a:avLst/>
          </a:prstGeom>
          <a:solidFill>
            <a:srgbClr val="333333"/>
          </a:solidFill>
          <a:ln w="12700">
            <a:solidFill>
              <a:srgbClr val="333333"/>
            </a:solidFill>
            <a:prstDash val="solid"/>
          </a:ln>
        </p:spPr>
        <p:txBody>
          <a:bodyPr/>
          <a:lstStyle/>
          <a:p>
            <a:endParaRPr lang="en-US"/>
          </a:p>
        </p:txBody>
      </p:sp>
      <p:sp>
        <p:nvSpPr>
          <p:cNvPr id="58" name="Text 56"/>
          <p:cNvSpPr/>
          <p:nvPr/>
        </p:nvSpPr>
        <p:spPr>
          <a:xfrm>
            <a:off x="4151376" y="2699309"/>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DocuSign CLM — standardized contract templates with approval workflows</a:t>
            </a:r>
            <a:endParaRPr lang="en-US" sz="850" dirty="0"/>
          </a:p>
        </p:txBody>
      </p:sp>
      <p:sp>
        <p:nvSpPr>
          <p:cNvPr id="59" name="Shape 57"/>
          <p:cNvSpPr/>
          <p:nvPr/>
        </p:nvSpPr>
        <p:spPr>
          <a:xfrm>
            <a:off x="4059936" y="2957682"/>
            <a:ext cx="50292" cy="50292"/>
          </a:xfrm>
          <a:prstGeom prst="ellipse">
            <a:avLst/>
          </a:prstGeom>
          <a:solidFill>
            <a:srgbClr val="333333"/>
          </a:solidFill>
          <a:ln w="12700">
            <a:solidFill>
              <a:srgbClr val="333333"/>
            </a:solidFill>
            <a:prstDash val="solid"/>
          </a:ln>
        </p:spPr>
        <p:txBody>
          <a:bodyPr/>
          <a:lstStyle/>
          <a:p>
            <a:endParaRPr lang="en-US"/>
          </a:p>
        </p:txBody>
      </p:sp>
      <p:sp>
        <p:nvSpPr>
          <p:cNvPr id="60" name="Text 58"/>
          <p:cNvSpPr/>
          <p:nvPr/>
        </p:nvSpPr>
        <p:spPr>
          <a:xfrm>
            <a:off x="4151376" y="2893162"/>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SAP Credit Management — automated credit limit checks at account creation</a:t>
            </a:r>
            <a:endParaRPr lang="en-US" sz="850" dirty="0"/>
          </a:p>
        </p:txBody>
      </p:sp>
      <p:sp>
        <p:nvSpPr>
          <p:cNvPr id="61" name="Shape 59"/>
          <p:cNvSpPr/>
          <p:nvPr/>
        </p:nvSpPr>
        <p:spPr>
          <a:xfrm>
            <a:off x="4059936" y="3151534"/>
            <a:ext cx="50292" cy="50292"/>
          </a:xfrm>
          <a:prstGeom prst="ellipse">
            <a:avLst/>
          </a:prstGeom>
          <a:solidFill>
            <a:srgbClr val="333333"/>
          </a:solidFill>
          <a:ln w="12700">
            <a:solidFill>
              <a:srgbClr val="333333"/>
            </a:solidFill>
            <a:prstDash val="solid"/>
          </a:ln>
        </p:spPr>
        <p:txBody>
          <a:bodyPr/>
          <a:lstStyle/>
          <a:p>
            <a:endParaRPr lang="en-US"/>
          </a:p>
        </p:txBody>
      </p:sp>
      <p:sp>
        <p:nvSpPr>
          <p:cNvPr id="62" name="Text 60"/>
          <p:cNvSpPr/>
          <p:nvPr/>
        </p:nvSpPr>
        <p:spPr>
          <a:xfrm>
            <a:off x="4151376" y="3087014"/>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MuleSoft / Apigee API layer — SFDC ↔ SAP ECC order sync, eliminate re-entry</a:t>
            </a:r>
            <a:endParaRPr lang="en-US" sz="850" dirty="0"/>
          </a:p>
        </p:txBody>
      </p:sp>
      <p:sp>
        <p:nvSpPr>
          <p:cNvPr id="63" name="Shape 61"/>
          <p:cNvSpPr/>
          <p:nvPr/>
        </p:nvSpPr>
        <p:spPr>
          <a:xfrm>
            <a:off x="4059936" y="3345387"/>
            <a:ext cx="50292" cy="50292"/>
          </a:xfrm>
          <a:prstGeom prst="ellipse">
            <a:avLst/>
          </a:prstGeom>
          <a:solidFill>
            <a:srgbClr val="333333"/>
          </a:solidFill>
          <a:ln w="12700">
            <a:solidFill>
              <a:srgbClr val="333333"/>
            </a:solidFill>
            <a:prstDash val="solid"/>
          </a:ln>
        </p:spPr>
        <p:txBody>
          <a:bodyPr/>
          <a:lstStyle/>
          <a:p>
            <a:endParaRPr lang="en-US"/>
          </a:p>
        </p:txBody>
      </p:sp>
      <p:sp>
        <p:nvSpPr>
          <p:cNvPr id="64" name="Text 62"/>
          <p:cNvSpPr/>
          <p:nvPr/>
        </p:nvSpPr>
        <p:spPr>
          <a:xfrm>
            <a:off x="4151376" y="3280867"/>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Standard order booking rules across all SBGs (products, projects, software)</a:t>
            </a:r>
            <a:endParaRPr lang="en-US" sz="850" dirty="0"/>
          </a:p>
        </p:txBody>
      </p:sp>
      <p:sp>
        <p:nvSpPr>
          <p:cNvPr id="65" name="Shape 63"/>
          <p:cNvSpPr/>
          <p:nvPr/>
        </p:nvSpPr>
        <p:spPr>
          <a:xfrm>
            <a:off x="8010144" y="2432304"/>
            <a:ext cx="50292" cy="1078992"/>
          </a:xfrm>
          <a:prstGeom prst="rect">
            <a:avLst/>
          </a:prstGeom>
          <a:solidFill>
            <a:srgbClr val="CC0000"/>
          </a:solidFill>
          <a:ln w="12700">
            <a:solidFill>
              <a:srgbClr val="CC0000"/>
            </a:solidFill>
            <a:prstDash val="solid"/>
          </a:ln>
        </p:spPr>
        <p:txBody>
          <a:bodyPr/>
          <a:lstStyle/>
          <a:p>
            <a:endParaRPr lang="en-US"/>
          </a:p>
        </p:txBody>
      </p:sp>
      <p:sp>
        <p:nvSpPr>
          <p:cNvPr id="66" name="Shape 64"/>
          <p:cNvSpPr/>
          <p:nvPr/>
        </p:nvSpPr>
        <p:spPr>
          <a:xfrm>
            <a:off x="8138160" y="2569976"/>
            <a:ext cx="50292" cy="50292"/>
          </a:xfrm>
          <a:prstGeom prst="ellipse">
            <a:avLst/>
          </a:prstGeom>
          <a:solidFill>
            <a:srgbClr val="CC0000"/>
          </a:solidFill>
          <a:ln w="12700">
            <a:solidFill>
              <a:srgbClr val="CC0000"/>
            </a:solidFill>
            <a:prstDash val="solid"/>
          </a:ln>
        </p:spPr>
        <p:txBody>
          <a:bodyPr/>
          <a:lstStyle/>
          <a:p>
            <a:endParaRPr lang="en-US"/>
          </a:p>
        </p:txBody>
      </p:sp>
      <p:sp>
        <p:nvSpPr>
          <p:cNvPr id="67" name="Text 65"/>
          <p:cNvSpPr/>
          <p:nvPr/>
        </p:nvSpPr>
        <p:spPr>
          <a:xfrm>
            <a:off x="8229600" y="2505456"/>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SAP S/4HANA Order Management — near-touchless order orchestration at scale</a:t>
            </a:r>
            <a:endParaRPr lang="en-US" sz="850" dirty="0"/>
          </a:p>
        </p:txBody>
      </p:sp>
      <p:sp>
        <p:nvSpPr>
          <p:cNvPr id="68" name="Shape 66"/>
          <p:cNvSpPr/>
          <p:nvPr/>
        </p:nvSpPr>
        <p:spPr>
          <a:xfrm>
            <a:off x="8138160" y="2763829"/>
            <a:ext cx="50292" cy="50292"/>
          </a:xfrm>
          <a:prstGeom prst="ellipse">
            <a:avLst/>
          </a:prstGeom>
          <a:solidFill>
            <a:srgbClr val="CC0000"/>
          </a:solidFill>
          <a:ln w="12700">
            <a:solidFill>
              <a:srgbClr val="CC0000"/>
            </a:solidFill>
            <a:prstDash val="solid"/>
          </a:ln>
        </p:spPr>
        <p:txBody>
          <a:bodyPr/>
          <a:lstStyle/>
          <a:p>
            <a:endParaRPr lang="en-US"/>
          </a:p>
        </p:txBody>
      </p:sp>
      <p:sp>
        <p:nvSpPr>
          <p:cNvPr id="69" name="Text 67"/>
          <p:cNvSpPr/>
          <p:nvPr/>
        </p:nvSpPr>
        <p:spPr>
          <a:xfrm>
            <a:off x="8229600" y="2699309"/>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AI contract analysis — clause risk flagging, automated approval routing</a:t>
            </a:r>
            <a:endParaRPr lang="en-US" sz="850" dirty="0"/>
          </a:p>
        </p:txBody>
      </p:sp>
      <p:sp>
        <p:nvSpPr>
          <p:cNvPr id="70" name="Shape 68"/>
          <p:cNvSpPr/>
          <p:nvPr/>
        </p:nvSpPr>
        <p:spPr>
          <a:xfrm>
            <a:off x="8138160" y="2957682"/>
            <a:ext cx="50292" cy="50292"/>
          </a:xfrm>
          <a:prstGeom prst="ellipse">
            <a:avLst/>
          </a:prstGeom>
          <a:solidFill>
            <a:srgbClr val="CC0000"/>
          </a:solidFill>
          <a:ln w="12700">
            <a:solidFill>
              <a:srgbClr val="CC0000"/>
            </a:solidFill>
            <a:prstDash val="solid"/>
          </a:ln>
        </p:spPr>
        <p:txBody>
          <a:bodyPr/>
          <a:lstStyle/>
          <a:p>
            <a:endParaRPr lang="en-US"/>
          </a:p>
        </p:txBody>
      </p:sp>
      <p:sp>
        <p:nvSpPr>
          <p:cNvPr id="71" name="Text 69"/>
          <p:cNvSpPr/>
          <p:nvPr/>
        </p:nvSpPr>
        <p:spPr>
          <a:xfrm>
            <a:off x="8229600" y="2893162"/>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Outcome-based agreements — flexible billing structures for XaaS and projects</a:t>
            </a:r>
            <a:endParaRPr lang="en-US" sz="850" dirty="0"/>
          </a:p>
        </p:txBody>
      </p:sp>
      <p:sp>
        <p:nvSpPr>
          <p:cNvPr id="72" name="Shape 70"/>
          <p:cNvSpPr/>
          <p:nvPr/>
        </p:nvSpPr>
        <p:spPr>
          <a:xfrm>
            <a:off x="8138160" y="3151534"/>
            <a:ext cx="50292" cy="50292"/>
          </a:xfrm>
          <a:prstGeom prst="ellipse">
            <a:avLst/>
          </a:prstGeom>
          <a:solidFill>
            <a:srgbClr val="CC0000"/>
          </a:solidFill>
          <a:ln w="12700">
            <a:solidFill>
              <a:srgbClr val="CC0000"/>
            </a:solidFill>
            <a:prstDash val="solid"/>
          </a:ln>
        </p:spPr>
        <p:txBody>
          <a:bodyPr/>
          <a:lstStyle/>
          <a:p>
            <a:endParaRPr lang="en-US"/>
          </a:p>
        </p:txBody>
      </p:sp>
      <p:sp>
        <p:nvSpPr>
          <p:cNvPr id="73" name="Text 71"/>
          <p:cNvSpPr/>
          <p:nvPr/>
        </p:nvSpPr>
        <p:spPr>
          <a:xfrm>
            <a:off x="8229600" y="3087014"/>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Agentic order agent — validates, books, and confirms orders without human touch</a:t>
            </a:r>
            <a:endParaRPr lang="en-US" sz="850" dirty="0"/>
          </a:p>
        </p:txBody>
      </p:sp>
      <p:sp>
        <p:nvSpPr>
          <p:cNvPr id="74" name="Shape 72"/>
          <p:cNvSpPr/>
          <p:nvPr/>
        </p:nvSpPr>
        <p:spPr>
          <a:xfrm>
            <a:off x="8138160" y="3345387"/>
            <a:ext cx="50292" cy="50292"/>
          </a:xfrm>
          <a:prstGeom prst="ellipse">
            <a:avLst/>
          </a:prstGeom>
          <a:solidFill>
            <a:srgbClr val="CC0000"/>
          </a:solidFill>
          <a:ln w="12700">
            <a:solidFill>
              <a:srgbClr val="CC0000"/>
            </a:solidFill>
            <a:prstDash val="solid"/>
          </a:ln>
        </p:spPr>
        <p:txBody>
          <a:bodyPr/>
          <a:lstStyle/>
          <a:p>
            <a:endParaRPr lang="en-US"/>
          </a:p>
        </p:txBody>
      </p:sp>
      <p:sp>
        <p:nvSpPr>
          <p:cNvPr id="75" name="Text 73"/>
          <p:cNvSpPr/>
          <p:nvPr/>
        </p:nvSpPr>
        <p:spPr>
          <a:xfrm>
            <a:off x="8229600" y="3280867"/>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Embedded compliance checks — automated trade compliance, sanctions screening</a:t>
            </a:r>
            <a:endParaRPr lang="en-US" sz="850" dirty="0"/>
          </a:p>
        </p:txBody>
      </p:sp>
      <p:sp>
        <p:nvSpPr>
          <p:cNvPr id="76" name="Shape 74"/>
          <p:cNvSpPr/>
          <p:nvPr/>
        </p:nvSpPr>
        <p:spPr>
          <a:xfrm>
            <a:off x="219456" y="3511296"/>
            <a:ext cx="1371600" cy="1078992"/>
          </a:xfrm>
          <a:prstGeom prst="rect">
            <a:avLst/>
          </a:prstGeom>
          <a:solidFill>
            <a:srgbClr val="FFFFFF"/>
          </a:solidFill>
          <a:ln w="6350">
            <a:solidFill>
              <a:srgbClr val="D4D4D4"/>
            </a:solidFill>
            <a:prstDash val="solid"/>
          </a:ln>
        </p:spPr>
        <p:txBody>
          <a:bodyPr/>
          <a:lstStyle/>
          <a:p>
            <a:endParaRPr lang="en-US"/>
          </a:p>
        </p:txBody>
      </p:sp>
      <p:sp>
        <p:nvSpPr>
          <p:cNvPr id="77" name="Shape 75"/>
          <p:cNvSpPr/>
          <p:nvPr/>
        </p:nvSpPr>
        <p:spPr>
          <a:xfrm>
            <a:off x="1645920" y="3511296"/>
            <a:ext cx="2212848" cy="1078992"/>
          </a:xfrm>
          <a:prstGeom prst="rect">
            <a:avLst/>
          </a:prstGeom>
          <a:solidFill>
            <a:srgbClr val="FFFFFF"/>
          </a:solidFill>
          <a:ln w="6350">
            <a:solidFill>
              <a:srgbClr val="D4D4D4"/>
            </a:solidFill>
            <a:prstDash val="solid"/>
          </a:ln>
        </p:spPr>
        <p:txBody>
          <a:bodyPr/>
          <a:lstStyle/>
          <a:p>
            <a:endParaRPr lang="en-US"/>
          </a:p>
        </p:txBody>
      </p:sp>
      <p:sp>
        <p:nvSpPr>
          <p:cNvPr id="78" name="Shape 76"/>
          <p:cNvSpPr/>
          <p:nvPr/>
        </p:nvSpPr>
        <p:spPr>
          <a:xfrm>
            <a:off x="3931920" y="3511296"/>
            <a:ext cx="4005072" cy="1078992"/>
          </a:xfrm>
          <a:prstGeom prst="rect">
            <a:avLst/>
          </a:prstGeom>
          <a:solidFill>
            <a:srgbClr val="FFFFFF"/>
          </a:solidFill>
          <a:ln w="6350">
            <a:solidFill>
              <a:srgbClr val="D4D4D4"/>
            </a:solidFill>
            <a:prstDash val="solid"/>
          </a:ln>
        </p:spPr>
        <p:txBody>
          <a:bodyPr/>
          <a:lstStyle/>
          <a:p>
            <a:endParaRPr lang="en-US"/>
          </a:p>
        </p:txBody>
      </p:sp>
      <p:sp>
        <p:nvSpPr>
          <p:cNvPr id="79" name="Shape 77"/>
          <p:cNvSpPr/>
          <p:nvPr/>
        </p:nvSpPr>
        <p:spPr>
          <a:xfrm>
            <a:off x="8010144" y="3511296"/>
            <a:ext cx="3986784" cy="1078992"/>
          </a:xfrm>
          <a:prstGeom prst="rect">
            <a:avLst/>
          </a:prstGeom>
          <a:solidFill>
            <a:srgbClr val="FFFFFF"/>
          </a:solidFill>
          <a:ln w="6350">
            <a:solidFill>
              <a:srgbClr val="D4D4D4"/>
            </a:solidFill>
            <a:prstDash val="solid"/>
          </a:ln>
        </p:spPr>
        <p:txBody>
          <a:bodyPr/>
          <a:lstStyle/>
          <a:p>
            <a:endParaRPr lang="en-US"/>
          </a:p>
        </p:txBody>
      </p:sp>
      <p:sp>
        <p:nvSpPr>
          <p:cNvPr id="80" name="Shape 78"/>
          <p:cNvSpPr/>
          <p:nvPr/>
        </p:nvSpPr>
        <p:spPr>
          <a:xfrm>
            <a:off x="219456" y="3511296"/>
            <a:ext cx="50292" cy="1078992"/>
          </a:xfrm>
          <a:prstGeom prst="rect">
            <a:avLst/>
          </a:prstGeom>
          <a:solidFill>
            <a:srgbClr val="CC0000"/>
          </a:solidFill>
          <a:ln w="12700">
            <a:solidFill>
              <a:srgbClr val="CC0000"/>
            </a:solidFill>
            <a:prstDash val="solid"/>
          </a:ln>
        </p:spPr>
        <p:txBody>
          <a:bodyPr/>
          <a:lstStyle/>
          <a:p>
            <a:endParaRPr lang="en-US"/>
          </a:p>
        </p:txBody>
      </p:sp>
      <p:sp>
        <p:nvSpPr>
          <p:cNvPr id="81" name="Text 79"/>
          <p:cNvSpPr/>
          <p:nvPr/>
        </p:nvSpPr>
        <p:spPr>
          <a:xfrm>
            <a:off x="310896" y="3511296"/>
            <a:ext cx="1243584" cy="1078992"/>
          </a:xfrm>
          <a:prstGeom prst="rect">
            <a:avLst/>
          </a:prstGeom>
          <a:noFill/>
          <a:ln/>
        </p:spPr>
        <p:txBody>
          <a:bodyPr wrap="square" lIns="0" tIns="0" rIns="0" bIns="0" rtlCol="0" anchor="ctr"/>
          <a:lstStyle/>
          <a:p>
            <a:pPr marL="0" indent="0" algn="ctr">
              <a:buNone/>
            </a:pPr>
            <a:r>
              <a:rPr lang="en-US" sz="1100" b="1" dirty="0">
                <a:solidFill>
                  <a:srgbClr val="1F1F1F"/>
                </a:solidFill>
                <a:latin typeface="Calibri" pitchFamily="34" charset="0"/>
                <a:ea typeface="Calibri" pitchFamily="34" charset="-122"/>
                <a:cs typeface="Calibri" pitchFamily="34" charset="-120"/>
              </a:rPr>
              <a:t>Planning</a:t>
            </a:r>
            <a:endParaRPr lang="en-US" sz="1100" dirty="0"/>
          </a:p>
          <a:p>
            <a:pPr marL="0" indent="0" algn="ctr">
              <a:buNone/>
            </a:pPr>
            <a:r>
              <a:rPr lang="en-US" sz="1100" b="1" dirty="0">
                <a:solidFill>
                  <a:srgbClr val="1F1F1F"/>
                </a:solidFill>
                <a:latin typeface="Calibri" pitchFamily="34" charset="0"/>
                <a:ea typeface="Calibri" pitchFamily="34" charset="-122"/>
                <a:cs typeface="Calibri" pitchFamily="34" charset="-120"/>
              </a:rPr>
              <a:t>&amp;</a:t>
            </a:r>
            <a:endParaRPr lang="en-US" sz="1100" dirty="0"/>
          </a:p>
          <a:p>
            <a:pPr marL="0" indent="0" algn="ctr">
              <a:buNone/>
            </a:pPr>
            <a:r>
              <a:rPr lang="en-US" sz="1100" b="1" dirty="0">
                <a:solidFill>
                  <a:srgbClr val="1F1F1F"/>
                </a:solidFill>
                <a:latin typeface="Calibri" pitchFamily="34" charset="0"/>
                <a:ea typeface="Calibri" pitchFamily="34" charset="-122"/>
                <a:cs typeface="Calibri" pitchFamily="34" charset="-120"/>
              </a:rPr>
              <a:t>Execution</a:t>
            </a:r>
            <a:endParaRPr lang="en-US" sz="1100" dirty="0"/>
          </a:p>
        </p:txBody>
      </p:sp>
      <p:sp>
        <p:nvSpPr>
          <p:cNvPr id="82" name="Shape 80"/>
          <p:cNvSpPr/>
          <p:nvPr/>
        </p:nvSpPr>
        <p:spPr>
          <a:xfrm>
            <a:off x="1645920" y="3511296"/>
            <a:ext cx="50292" cy="1078992"/>
          </a:xfrm>
          <a:prstGeom prst="rect">
            <a:avLst/>
          </a:prstGeom>
          <a:solidFill>
            <a:srgbClr val="333333"/>
          </a:solidFill>
          <a:ln w="12700">
            <a:solidFill>
              <a:srgbClr val="333333"/>
            </a:solidFill>
            <a:prstDash val="solid"/>
          </a:ln>
        </p:spPr>
        <p:txBody>
          <a:bodyPr/>
          <a:lstStyle/>
          <a:p>
            <a:endParaRPr lang="en-US"/>
          </a:p>
        </p:txBody>
      </p:sp>
      <p:sp>
        <p:nvSpPr>
          <p:cNvPr id="83" name="Text 81"/>
          <p:cNvSpPr/>
          <p:nvPr/>
        </p:nvSpPr>
        <p:spPr>
          <a:xfrm>
            <a:off x="1737360" y="3566160"/>
            <a:ext cx="2066544" cy="987552"/>
          </a:xfrm>
          <a:prstGeom prst="rect">
            <a:avLst/>
          </a:prstGeom>
          <a:noFill/>
          <a:ln/>
        </p:spPr>
        <p:txBody>
          <a:bodyPr wrap="square" lIns="0" tIns="0" rIns="0" bIns="0" rtlCol="0" anchor="t"/>
          <a:lstStyle/>
          <a:p>
            <a:pPr marL="0" indent="0">
              <a:buNone/>
            </a:pPr>
            <a:r>
              <a:rPr lang="en-US" sz="900" dirty="0">
                <a:solidFill>
                  <a:srgbClr val="555555"/>
                </a:solidFill>
                <a:latin typeface="Calibri" pitchFamily="34" charset="0"/>
                <a:ea typeface="Calibri" pitchFamily="34" charset="-122"/>
                <a:cs typeface="Calibri" pitchFamily="34" charset="-120"/>
              </a:rPr>
              <a:t>Reactive local planning</a:t>
            </a:r>
            <a:endParaRPr lang="en-US" sz="900" dirty="0"/>
          </a:p>
          <a:p>
            <a:pPr marL="0" indent="0">
              <a:buNone/>
            </a:pPr>
            <a:r>
              <a:rPr lang="en-US" sz="900" dirty="0">
                <a:solidFill>
                  <a:srgbClr val="555555"/>
                </a:solidFill>
                <a:latin typeface="Calibri" pitchFamily="34" charset="0"/>
                <a:ea typeface="Calibri" pitchFamily="34" charset="-122"/>
                <a:cs typeface="Calibri" pitchFamily="34" charset="-120"/>
              </a:rPr>
              <a:t>No capacity visibility</a:t>
            </a:r>
            <a:endParaRPr lang="en-US" sz="900" dirty="0"/>
          </a:p>
          <a:p>
            <a:pPr marL="0" indent="0">
              <a:buNone/>
            </a:pPr>
            <a:r>
              <a:rPr lang="en-US" sz="900" dirty="0">
                <a:solidFill>
                  <a:srgbClr val="555555"/>
                </a:solidFill>
                <a:latin typeface="Calibri" pitchFamily="34" charset="0"/>
                <a:ea typeface="Calibri" pitchFamily="34" charset="-122"/>
                <a:cs typeface="Calibri" pitchFamily="34" charset="-120"/>
              </a:rPr>
              <a:t>Disconnected from margin</a:t>
            </a:r>
            <a:endParaRPr lang="en-US" sz="900" dirty="0"/>
          </a:p>
          <a:p>
            <a:pPr marL="0" indent="0">
              <a:buNone/>
            </a:pPr>
            <a:r>
              <a:rPr lang="en-US" sz="900" dirty="0">
                <a:solidFill>
                  <a:srgbClr val="555555"/>
                </a:solidFill>
                <a:latin typeface="Calibri" pitchFamily="34" charset="0"/>
                <a:ea typeface="Calibri" pitchFamily="34" charset="-122"/>
                <a:cs typeface="Calibri" pitchFamily="34" charset="-120"/>
              </a:rPr>
              <a:t>Siloed project delivery</a:t>
            </a:r>
            <a:endParaRPr lang="en-US" sz="900" dirty="0"/>
          </a:p>
        </p:txBody>
      </p:sp>
      <p:sp>
        <p:nvSpPr>
          <p:cNvPr id="84" name="Shape 82"/>
          <p:cNvSpPr/>
          <p:nvPr/>
        </p:nvSpPr>
        <p:spPr>
          <a:xfrm>
            <a:off x="3931920" y="3511296"/>
            <a:ext cx="50292" cy="1078992"/>
          </a:xfrm>
          <a:prstGeom prst="rect">
            <a:avLst/>
          </a:prstGeom>
          <a:solidFill>
            <a:srgbClr val="333333"/>
          </a:solidFill>
          <a:ln w="12700">
            <a:solidFill>
              <a:srgbClr val="333333"/>
            </a:solidFill>
            <a:prstDash val="solid"/>
          </a:ln>
        </p:spPr>
        <p:txBody>
          <a:bodyPr/>
          <a:lstStyle/>
          <a:p>
            <a:endParaRPr lang="en-US"/>
          </a:p>
        </p:txBody>
      </p:sp>
      <p:sp>
        <p:nvSpPr>
          <p:cNvPr id="85" name="Shape 83"/>
          <p:cNvSpPr/>
          <p:nvPr/>
        </p:nvSpPr>
        <p:spPr>
          <a:xfrm>
            <a:off x="4059936" y="3648968"/>
            <a:ext cx="50292" cy="50292"/>
          </a:xfrm>
          <a:prstGeom prst="ellipse">
            <a:avLst/>
          </a:prstGeom>
          <a:solidFill>
            <a:srgbClr val="333333"/>
          </a:solidFill>
          <a:ln w="12700">
            <a:solidFill>
              <a:srgbClr val="333333"/>
            </a:solidFill>
            <a:prstDash val="solid"/>
          </a:ln>
        </p:spPr>
        <p:txBody>
          <a:bodyPr/>
          <a:lstStyle/>
          <a:p>
            <a:endParaRPr lang="en-US"/>
          </a:p>
        </p:txBody>
      </p:sp>
      <p:sp>
        <p:nvSpPr>
          <p:cNvPr id="86" name="Text 84"/>
          <p:cNvSpPr/>
          <p:nvPr/>
        </p:nvSpPr>
        <p:spPr>
          <a:xfrm>
            <a:off x="4151376" y="3584448"/>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Salesforce PSA / FinancialForce — integrated project planning, resource mgmt</a:t>
            </a:r>
            <a:endParaRPr lang="en-US" sz="850" dirty="0"/>
          </a:p>
        </p:txBody>
      </p:sp>
      <p:sp>
        <p:nvSpPr>
          <p:cNvPr id="87" name="Shape 85"/>
          <p:cNvSpPr/>
          <p:nvPr/>
        </p:nvSpPr>
        <p:spPr>
          <a:xfrm>
            <a:off x="4059936" y="3842821"/>
            <a:ext cx="50292" cy="50292"/>
          </a:xfrm>
          <a:prstGeom prst="ellipse">
            <a:avLst/>
          </a:prstGeom>
          <a:solidFill>
            <a:srgbClr val="333333"/>
          </a:solidFill>
          <a:ln w="12700">
            <a:solidFill>
              <a:srgbClr val="333333"/>
            </a:solidFill>
            <a:prstDash val="solid"/>
          </a:ln>
        </p:spPr>
        <p:txBody>
          <a:bodyPr/>
          <a:lstStyle/>
          <a:p>
            <a:endParaRPr lang="en-US"/>
          </a:p>
        </p:txBody>
      </p:sp>
      <p:sp>
        <p:nvSpPr>
          <p:cNvPr id="88" name="Text 86"/>
          <p:cNvSpPr/>
          <p:nvPr/>
        </p:nvSpPr>
        <p:spPr>
          <a:xfrm>
            <a:off x="4151376" y="3778301"/>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SAP PS (Project System) — scope-schedule-cost plans linked to ERP actuals</a:t>
            </a:r>
            <a:endParaRPr lang="en-US" sz="850" dirty="0"/>
          </a:p>
        </p:txBody>
      </p:sp>
      <p:sp>
        <p:nvSpPr>
          <p:cNvPr id="89" name="Shape 87"/>
          <p:cNvSpPr/>
          <p:nvPr/>
        </p:nvSpPr>
        <p:spPr>
          <a:xfrm>
            <a:off x="4059936" y="4036674"/>
            <a:ext cx="50292" cy="50292"/>
          </a:xfrm>
          <a:prstGeom prst="ellipse">
            <a:avLst/>
          </a:prstGeom>
          <a:solidFill>
            <a:srgbClr val="333333"/>
          </a:solidFill>
          <a:ln w="12700">
            <a:solidFill>
              <a:srgbClr val="333333"/>
            </a:solidFill>
            <a:prstDash val="solid"/>
          </a:ln>
        </p:spPr>
        <p:txBody>
          <a:bodyPr/>
          <a:lstStyle/>
          <a:p>
            <a:endParaRPr lang="en-US"/>
          </a:p>
        </p:txBody>
      </p:sp>
      <p:sp>
        <p:nvSpPr>
          <p:cNvPr id="90" name="Text 88"/>
          <p:cNvSpPr/>
          <p:nvPr/>
        </p:nvSpPr>
        <p:spPr>
          <a:xfrm>
            <a:off x="4151376" y="3972154"/>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Common milestone governance framework across ESS, IA, BA delivery teams</a:t>
            </a:r>
            <a:endParaRPr lang="en-US" sz="850" dirty="0"/>
          </a:p>
        </p:txBody>
      </p:sp>
      <p:sp>
        <p:nvSpPr>
          <p:cNvPr id="91" name="Shape 89"/>
          <p:cNvSpPr/>
          <p:nvPr/>
        </p:nvSpPr>
        <p:spPr>
          <a:xfrm>
            <a:off x="4059936" y="4230526"/>
            <a:ext cx="50292" cy="50292"/>
          </a:xfrm>
          <a:prstGeom prst="ellipse">
            <a:avLst/>
          </a:prstGeom>
          <a:solidFill>
            <a:srgbClr val="333333"/>
          </a:solidFill>
          <a:ln w="12700">
            <a:solidFill>
              <a:srgbClr val="333333"/>
            </a:solidFill>
            <a:prstDash val="solid"/>
          </a:ln>
        </p:spPr>
        <p:txBody>
          <a:bodyPr/>
          <a:lstStyle/>
          <a:p>
            <a:endParaRPr lang="en-US"/>
          </a:p>
        </p:txBody>
      </p:sp>
      <p:sp>
        <p:nvSpPr>
          <p:cNvPr id="92" name="Text 90"/>
          <p:cNvSpPr/>
          <p:nvPr/>
        </p:nvSpPr>
        <p:spPr>
          <a:xfrm>
            <a:off x="4151376" y="4166006"/>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Connected ISC demand signals — link sales pipeline to supply and capacity plans</a:t>
            </a:r>
            <a:endParaRPr lang="en-US" sz="850" dirty="0"/>
          </a:p>
        </p:txBody>
      </p:sp>
      <p:sp>
        <p:nvSpPr>
          <p:cNvPr id="93" name="Shape 91"/>
          <p:cNvSpPr/>
          <p:nvPr/>
        </p:nvSpPr>
        <p:spPr>
          <a:xfrm>
            <a:off x="4059936" y="4424379"/>
            <a:ext cx="50292" cy="50292"/>
          </a:xfrm>
          <a:prstGeom prst="ellipse">
            <a:avLst/>
          </a:prstGeom>
          <a:solidFill>
            <a:srgbClr val="333333"/>
          </a:solidFill>
          <a:ln w="12700">
            <a:solidFill>
              <a:srgbClr val="333333"/>
            </a:solidFill>
            <a:prstDash val="solid"/>
          </a:ln>
        </p:spPr>
        <p:txBody>
          <a:bodyPr/>
          <a:lstStyle/>
          <a:p>
            <a:endParaRPr lang="en-US"/>
          </a:p>
        </p:txBody>
      </p:sp>
      <p:sp>
        <p:nvSpPr>
          <p:cNvPr id="94" name="Text 92"/>
          <p:cNvSpPr/>
          <p:nvPr/>
        </p:nvSpPr>
        <p:spPr>
          <a:xfrm>
            <a:off x="4151376" y="4359859"/>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Standardized delivery playbooks and reusable templates by business model</a:t>
            </a:r>
            <a:endParaRPr lang="en-US" sz="850" dirty="0"/>
          </a:p>
        </p:txBody>
      </p:sp>
      <p:sp>
        <p:nvSpPr>
          <p:cNvPr id="95" name="Shape 93"/>
          <p:cNvSpPr/>
          <p:nvPr/>
        </p:nvSpPr>
        <p:spPr>
          <a:xfrm>
            <a:off x="8010144" y="3511296"/>
            <a:ext cx="50292" cy="1078992"/>
          </a:xfrm>
          <a:prstGeom prst="rect">
            <a:avLst/>
          </a:prstGeom>
          <a:solidFill>
            <a:srgbClr val="CC0000"/>
          </a:solidFill>
          <a:ln w="12700">
            <a:solidFill>
              <a:srgbClr val="CC0000"/>
            </a:solidFill>
            <a:prstDash val="solid"/>
          </a:ln>
        </p:spPr>
        <p:txBody>
          <a:bodyPr/>
          <a:lstStyle/>
          <a:p>
            <a:endParaRPr lang="en-US"/>
          </a:p>
        </p:txBody>
      </p:sp>
      <p:sp>
        <p:nvSpPr>
          <p:cNvPr id="96" name="Shape 94"/>
          <p:cNvSpPr/>
          <p:nvPr/>
        </p:nvSpPr>
        <p:spPr>
          <a:xfrm>
            <a:off x="8138160" y="3648968"/>
            <a:ext cx="50292" cy="50292"/>
          </a:xfrm>
          <a:prstGeom prst="ellipse">
            <a:avLst/>
          </a:prstGeom>
          <a:solidFill>
            <a:srgbClr val="CC0000"/>
          </a:solidFill>
          <a:ln w="12700">
            <a:solidFill>
              <a:srgbClr val="CC0000"/>
            </a:solidFill>
            <a:prstDash val="solid"/>
          </a:ln>
        </p:spPr>
        <p:txBody>
          <a:bodyPr/>
          <a:lstStyle/>
          <a:p>
            <a:endParaRPr lang="en-US"/>
          </a:p>
        </p:txBody>
      </p:sp>
      <p:sp>
        <p:nvSpPr>
          <p:cNvPr id="97" name="Text 95"/>
          <p:cNvSpPr/>
          <p:nvPr/>
        </p:nvSpPr>
        <p:spPr>
          <a:xfrm>
            <a:off x="8229600" y="3584448"/>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SAP S/4HANA + SAP IBP — real-time integrated business planning, supply sync</a:t>
            </a:r>
            <a:endParaRPr lang="en-US" sz="850" dirty="0"/>
          </a:p>
        </p:txBody>
      </p:sp>
      <p:sp>
        <p:nvSpPr>
          <p:cNvPr id="98" name="Shape 96"/>
          <p:cNvSpPr/>
          <p:nvPr/>
        </p:nvSpPr>
        <p:spPr>
          <a:xfrm>
            <a:off x="8138160" y="3842821"/>
            <a:ext cx="50292" cy="50292"/>
          </a:xfrm>
          <a:prstGeom prst="ellipse">
            <a:avLst/>
          </a:prstGeom>
          <a:solidFill>
            <a:srgbClr val="CC0000"/>
          </a:solidFill>
          <a:ln w="12700">
            <a:solidFill>
              <a:srgbClr val="CC0000"/>
            </a:solidFill>
            <a:prstDash val="solid"/>
          </a:ln>
        </p:spPr>
        <p:txBody>
          <a:bodyPr/>
          <a:lstStyle/>
          <a:p>
            <a:endParaRPr lang="en-US"/>
          </a:p>
        </p:txBody>
      </p:sp>
      <p:sp>
        <p:nvSpPr>
          <p:cNvPr id="99" name="Text 97"/>
          <p:cNvSpPr/>
          <p:nvPr/>
        </p:nvSpPr>
        <p:spPr>
          <a:xfrm>
            <a:off x="8229600" y="3778301"/>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AI resource optimizer — match skills, availability, and margin targets automatically</a:t>
            </a:r>
            <a:endParaRPr lang="en-US" sz="850" dirty="0"/>
          </a:p>
        </p:txBody>
      </p:sp>
      <p:sp>
        <p:nvSpPr>
          <p:cNvPr id="100" name="Shape 98"/>
          <p:cNvSpPr/>
          <p:nvPr/>
        </p:nvSpPr>
        <p:spPr>
          <a:xfrm>
            <a:off x="8138160" y="4036674"/>
            <a:ext cx="50292" cy="50292"/>
          </a:xfrm>
          <a:prstGeom prst="ellipse">
            <a:avLst/>
          </a:prstGeom>
          <a:solidFill>
            <a:srgbClr val="CC0000"/>
          </a:solidFill>
          <a:ln w="12700">
            <a:solidFill>
              <a:srgbClr val="CC0000"/>
            </a:solidFill>
            <a:prstDash val="solid"/>
          </a:ln>
        </p:spPr>
        <p:txBody>
          <a:bodyPr/>
          <a:lstStyle/>
          <a:p>
            <a:endParaRPr lang="en-US"/>
          </a:p>
        </p:txBody>
      </p:sp>
      <p:sp>
        <p:nvSpPr>
          <p:cNvPr id="101" name="Text 99"/>
          <p:cNvSpPr/>
          <p:nvPr/>
        </p:nvSpPr>
        <p:spPr>
          <a:xfrm>
            <a:off x="8229600" y="3972154"/>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Digital project twin — live performance dashboard with EAC and risk alerts</a:t>
            </a:r>
            <a:endParaRPr lang="en-US" sz="850" dirty="0"/>
          </a:p>
        </p:txBody>
      </p:sp>
      <p:sp>
        <p:nvSpPr>
          <p:cNvPr id="102" name="Shape 100"/>
          <p:cNvSpPr/>
          <p:nvPr/>
        </p:nvSpPr>
        <p:spPr>
          <a:xfrm>
            <a:off x="8138160" y="4230526"/>
            <a:ext cx="50292" cy="50292"/>
          </a:xfrm>
          <a:prstGeom prst="ellipse">
            <a:avLst/>
          </a:prstGeom>
          <a:solidFill>
            <a:srgbClr val="CC0000"/>
          </a:solidFill>
          <a:ln w="12700">
            <a:solidFill>
              <a:srgbClr val="CC0000"/>
            </a:solidFill>
            <a:prstDash val="solid"/>
          </a:ln>
        </p:spPr>
        <p:txBody>
          <a:bodyPr/>
          <a:lstStyle/>
          <a:p>
            <a:endParaRPr lang="en-US"/>
          </a:p>
        </p:txBody>
      </p:sp>
      <p:sp>
        <p:nvSpPr>
          <p:cNvPr id="103" name="Text 101"/>
          <p:cNvSpPr/>
          <p:nvPr/>
        </p:nvSpPr>
        <p:spPr>
          <a:xfrm>
            <a:off x="8229600" y="4166006"/>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Predictive delay alerts — ML models flag schedule and cost risk weeks in advance</a:t>
            </a:r>
            <a:endParaRPr lang="en-US" sz="850" dirty="0"/>
          </a:p>
        </p:txBody>
      </p:sp>
      <p:sp>
        <p:nvSpPr>
          <p:cNvPr id="104" name="Shape 102"/>
          <p:cNvSpPr/>
          <p:nvPr/>
        </p:nvSpPr>
        <p:spPr>
          <a:xfrm>
            <a:off x="8138160" y="4424379"/>
            <a:ext cx="50292" cy="50292"/>
          </a:xfrm>
          <a:prstGeom prst="ellipse">
            <a:avLst/>
          </a:prstGeom>
          <a:solidFill>
            <a:srgbClr val="CC0000"/>
          </a:solidFill>
          <a:ln w="12700">
            <a:solidFill>
              <a:srgbClr val="CC0000"/>
            </a:solidFill>
            <a:prstDash val="solid"/>
          </a:ln>
        </p:spPr>
        <p:txBody>
          <a:bodyPr/>
          <a:lstStyle/>
          <a:p>
            <a:endParaRPr lang="en-US"/>
          </a:p>
        </p:txBody>
      </p:sp>
      <p:sp>
        <p:nvSpPr>
          <p:cNvPr id="105" name="Text 103"/>
          <p:cNvSpPr/>
          <p:nvPr/>
        </p:nvSpPr>
        <p:spPr>
          <a:xfrm>
            <a:off x="8229600" y="4359859"/>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Agentic PM co-pilot — automates status reporting, milestone tracking, escalations</a:t>
            </a:r>
            <a:endParaRPr lang="en-US" sz="850" dirty="0"/>
          </a:p>
        </p:txBody>
      </p:sp>
      <p:sp>
        <p:nvSpPr>
          <p:cNvPr id="106" name="Shape 104"/>
          <p:cNvSpPr/>
          <p:nvPr/>
        </p:nvSpPr>
        <p:spPr>
          <a:xfrm>
            <a:off x="219456" y="4590288"/>
            <a:ext cx="1371600" cy="1078992"/>
          </a:xfrm>
          <a:prstGeom prst="rect">
            <a:avLst/>
          </a:prstGeom>
          <a:solidFill>
            <a:srgbClr val="F4F4F4"/>
          </a:solidFill>
          <a:ln w="6350">
            <a:solidFill>
              <a:srgbClr val="D4D4D4"/>
            </a:solidFill>
            <a:prstDash val="solid"/>
          </a:ln>
        </p:spPr>
        <p:txBody>
          <a:bodyPr/>
          <a:lstStyle/>
          <a:p>
            <a:endParaRPr lang="en-US"/>
          </a:p>
        </p:txBody>
      </p:sp>
      <p:sp>
        <p:nvSpPr>
          <p:cNvPr id="107" name="Shape 105"/>
          <p:cNvSpPr/>
          <p:nvPr/>
        </p:nvSpPr>
        <p:spPr>
          <a:xfrm>
            <a:off x="1645920" y="4590288"/>
            <a:ext cx="2212848" cy="1078992"/>
          </a:xfrm>
          <a:prstGeom prst="rect">
            <a:avLst/>
          </a:prstGeom>
          <a:solidFill>
            <a:srgbClr val="F4F4F4"/>
          </a:solidFill>
          <a:ln w="6350">
            <a:solidFill>
              <a:srgbClr val="D4D4D4"/>
            </a:solidFill>
            <a:prstDash val="solid"/>
          </a:ln>
        </p:spPr>
        <p:txBody>
          <a:bodyPr/>
          <a:lstStyle/>
          <a:p>
            <a:endParaRPr lang="en-US"/>
          </a:p>
        </p:txBody>
      </p:sp>
      <p:sp>
        <p:nvSpPr>
          <p:cNvPr id="108" name="Shape 106"/>
          <p:cNvSpPr/>
          <p:nvPr/>
        </p:nvSpPr>
        <p:spPr>
          <a:xfrm>
            <a:off x="3931920" y="4590288"/>
            <a:ext cx="4005072" cy="1078992"/>
          </a:xfrm>
          <a:prstGeom prst="rect">
            <a:avLst/>
          </a:prstGeom>
          <a:solidFill>
            <a:srgbClr val="F4F4F4"/>
          </a:solidFill>
          <a:ln w="6350">
            <a:solidFill>
              <a:srgbClr val="D4D4D4"/>
            </a:solidFill>
            <a:prstDash val="solid"/>
          </a:ln>
        </p:spPr>
        <p:txBody>
          <a:bodyPr/>
          <a:lstStyle/>
          <a:p>
            <a:endParaRPr lang="en-US"/>
          </a:p>
        </p:txBody>
      </p:sp>
      <p:sp>
        <p:nvSpPr>
          <p:cNvPr id="109" name="Shape 107"/>
          <p:cNvSpPr/>
          <p:nvPr/>
        </p:nvSpPr>
        <p:spPr>
          <a:xfrm>
            <a:off x="8010144" y="4590288"/>
            <a:ext cx="3986784" cy="1078992"/>
          </a:xfrm>
          <a:prstGeom prst="rect">
            <a:avLst/>
          </a:prstGeom>
          <a:solidFill>
            <a:srgbClr val="F4F4F4"/>
          </a:solidFill>
          <a:ln w="6350">
            <a:solidFill>
              <a:srgbClr val="D4D4D4"/>
            </a:solidFill>
            <a:prstDash val="solid"/>
          </a:ln>
        </p:spPr>
        <p:txBody>
          <a:bodyPr/>
          <a:lstStyle/>
          <a:p>
            <a:endParaRPr lang="en-US"/>
          </a:p>
        </p:txBody>
      </p:sp>
      <p:sp>
        <p:nvSpPr>
          <p:cNvPr id="110" name="Shape 108"/>
          <p:cNvSpPr/>
          <p:nvPr/>
        </p:nvSpPr>
        <p:spPr>
          <a:xfrm>
            <a:off x="219456" y="4590288"/>
            <a:ext cx="50292" cy="1078992"/>
          </a:xfrm>
          <a:prstGeom prst="rect">
            <a:avLst/>
          </a:prstGeom>
          <a:solidFill>
            <a:srgbClr val="CC0000"/>
          </a:solidFill>
          <a:ln w="12700">
            <a:solidFill>
              <a:srgbClr val="CC0000"/>
            </a:solidFill>
            <a:prstDash val="solid"/>
          </a:ln>
        </p:spPr>
        <p:txBody>
          <a:bodyPr/>
          <a:lstStyle/>
          <a:p>
            <a:endParaRPr lang="en-US"/>
          </a:p>
        </p:txBody>
      </p:sp>
      <p:sp>
        <p:nvSpPr>
          <p:cNvPr id="111" name="Text 109"/>
          <p:cNvSpPr/>
          <p:nvPr/>
        </p:nvSpPr>
        <p:spPr>
          <a:xfrm>
            <a:off x="310896" y="4590288"/>
            <a:ext cx="1243584" cy="1078992"/>
          </a:xfrm>
          <a:prstGeom prst="rect">
            <a:avLst/>
          </a:prstGeom>
          <a:noFill/>
          <a:ln/>
        </p:spPr>
        <p:txBody>
          <a:bodyPr wrap="square" lIns="0" tIns="0" rIns="0" bIns="0" rtlCol="0" anchor="ctr"/>
          <a:lstStyle/>
          <a:p>
            <a:pPr marL="0" indent="0" algn="ctr">
              <a:buNone/>
            </a:pPr>
            <a:r>
              <a:rPr lang="en-US" sz="1100" b="1" dirty="0">
                <a:solidFill>
                  <a:srgbClr val="1F1F1F"/>
                </a:solidFill>
                <a:latin typeface="Calibri" pitchFamily="34" charset="0"/>
                <a:ea typeface="Calibri" pitchFamily="34" charset="-122"/>
                <a:cs typeface="Calibri" pitchFamily="34" charset="-120"/>
              </a:rPr>
              <a:t>Invoice</a:t>
            </a:r>
            <a:endParaRPr lang="en-US" sz="1100" dirty="0"/>
          </a:p>
          <a:p>
            <a:pPr marL="0" indent="0" algn="ctr">
              <a:buNone/>
            </a:pPr>
            <a:r>
              <a:rPr lang="en-US" sz="1100" b="1" dirty="0">
                <a:solidFill>
                  <a:srgbClr val="1F1F1F"/>
                </a:solidFill>
                <a:latin typeface="Calibri" pitchFamily="34" charset="0"/>
                <a:ea typeface="Calibri" pitchFamily="34" charset="-122"/>
                <a:cs typeface="Calibri" pitchFamily="34" charset="-120"/>
              </a:rPr>
              <a:t>to</a:t>
            </a:r>
            <a:endParaRPr lang="en-US" sz="1100" dirty="0"/>
          </a:p>
          <a:p>
            <a:pPr marL="0" indent="0" algn="ctr">
              <a:buNone/>
            </a:pPr>
            <a:r>
              <a:rPr lang="en-US" sz="1100" b="1" dirty="0">
                <a:solidFill>
                  <a:srgbClr val="1F1F1F"/>
                </a:solidFill>
                <a:latin typeface="Calibri" pitchFamily="34" charset="0"/>
                <a:ea typeface="Calibri" pitchFamily="34" charset="-122"/>
                <a:cs typeface="Calibri" pitchFamily="34" charset="-120"/>
              </a:rPr>
              <a:t>Cash</a:t>
            </a:r>
            <a:endParaRPr lang="en-US" sz="1100" dirty="0"/>
          </a:p>
        </p:txBody>
      </p:sp>
      <p:sp>
        <p:nvSpPr>
          <p:cNvPr id="112" name="Shape 110"/>
          <p:cNvSpPr/>
          <p:nvPr/>
        </p:nvSpPr>
        <p:spPr>
          <a:xfrm>
            <a:off x="1645920" y="4590288"/>
            <a:ext cx="50292" cy="1078992"/>
          </a:xfrm>
          <a:prstGeom prst="rect">
            <a:avLst/>
          </a:prstGeom>
          <a:solidFill>
            <a:srgbClr val="333333"/>
          </a:solidFill>
          <a:ln w="12700">
            <a:solidFill>
              <a:srgbClr val="333333"/>
            </a:solidFill>
            <a:prstDash val="solid"/>
          </a:ln>
        </p:spPr>
        <p:txBody>
          <a:bodyPr/>
          <a:lstStyle/>
          <a:p>
            <a:endParaRPr lang="en-US"/>
          </a:p>
        </p:txBody>
      </p:sp>
      <p:sp>
        <p:nvSpPr>
          <p:cNvPr id="113" name="Text 111"/>
          <p:cNvSpPr/>
          <p:nvPr/>
        </p:nvSpPr>
        <p:spPr>
          <a:xfrm>
            <a:off x="1737360" y="4645152"/>
            <a:ext cx="2066544" cy="987552"/>
          </a:xfrm>
          <a:prstGeom prst="rect">
            <a:avLst/>
          </a:prstGeom>
          <a:noFill/>
          <a:ln/>
        </p:spPr>
        <p:txBody>
          <a:bodyPr wrap="square" lIns="0" tIns="0" rIns="0" bIns="0" rtlCol="0" anchor="t"/>
          <a:lstStyle/>
          <a:p>
            <a:pPr marL="0" indent="0">
              <a:buNone/>
            </a:pPr>
            <a:r>
              <a:rPr lang="en-US" sz="900" dirty="0">
                <a:solidFill>
                  <a:srgbClr val="555555"/>
                </a:solidFill>
                <a:latin typeface="Calibri" pitchFamily="34" charset="0"/>
                <a:ea typeface="Calibri" pitchFamily="34" charset="-122"/>
                <a:cs typeface="Calibri" pitchFamily="34" charset="-120"/>
              </a:rPr>
              <a:t>Manual billing &amp; posting</a:t>
            </a:r>
            <a:endParaRPr lang="en-US" sz="900" dirty="0"/>
          </a:p>
          <a:p>
            <a:pPr marL="0" indent="0">
              <a:buNone/>
            </a:pPr>
            <a:r>
              <a:rPr lang="en-US" sz="900" dirty="0">
                <a:solidFill>
                  <a:srgbClr val="555555"/>
                </a:solidFill>
                <a:latin typeface="Calibri" pitchFamily="34" charset="0"/>
                <a:ea typeface="Calibri" pitchFamily="34" charset="-122"/>
                <a:cs typeface="Calibri" pitchFamily="34" charset="-120"/>
              </a:rPr>
              <a:t>Fragmented collections</a:t>
            </a:r>
            <a:endParaRPr lang="en-US" sz="900" dirty="0"/>
          </a:p>
          <a:p>
            <a:pPr marL="0" indent="0">
              <a:buNone/>
            </a:pPr>
            <a:r>
              <a:rPr lang="en-US" sz="900" dirty="0">
                <a:solidFill>
                  <a:srgbClr val="555555"/>
                </a:solidFill>
                <a:latin typeface="Calibri" pitchFamily="34" charset="0"/>
                <a:ea typeface="Calibri" pitchFamily="34" charset="-122"/>
                <a:cs typeface="Calibri" pitchFamily="34" charset="-120"/>
              </a:rPr>
              <a:t>Inconsistent terms</a:t>
            </a:r>
            <a:endParaRPr lang="en-US" sz="900" dirty="0"/>
          </a:p>
          <a:p>
            <a:pPr marL="0" indent="0">
              <a:buNone/>
            </a:pPr>
            <a:r>
              <a:rPr lang="en-US" sz="900" dirty="0">
                <a:solidFill>
                  <a:srgbClr val="555555"/>
                </a:solidFill>
                <a:latin typeface="Calibri" pitchFamily="34" charset="0"/>
                <a:ea typeface="Calibri" pitchFamily="34" charset="-122"/>
                <a:cs typeface="Calibri" pitchFamily="34" charset="-120"/>
              </a:rPr>
              <a:t>Limited DSO visibility</a:t>
            </a:r>
            <a:endParaRPr lang="en-US" sz="900" dirty="0"/>
          </a:p>
        </p:txBody>
      </p:sp>
      <p:sp>
        <p:nvSpPr>
          <p:cNvPr id="114" name="Shape 112"/>
          <p:cNvSpPr/>
          <p:nvPr/>
        </p:nvSpPr>
        <p:spPr>
          <a:xfrm>
            <a:off x="3931920" y="4590288"/>
            <a:ext cx="50292" cy="1078992"/>
          </a:xfrm>
          <a:prstGeom prst="rect">
            <a:avLst/>
          </a:prstGeom>
          <a:solidFill>
            <a:srgbClr val="333333"/>
          </a:solidFill>
          <a:ln w="12700">
            <a:solidFill>
              <a:srgbClr val="333333"/>
            </a:solidFill>
            <a:prstDash val="solid"/>
          </a:ln>
        </p:spPr>
        <p:txBody>
          <a:bodyPr/>
          <a:lstStyle/>
          <a:p>
            <a:endParaRPr lang="en-US"/>
          </a:p>
        </p:txBody>
      </p:sp>
      <p:sp>
        <p:nvSpPr>
          <p:cNvPr id="115" name="Shape 113"/>
          <p:cNvSpPr/>
          <p:nvPr/>
        </p:nvSpPr>
        <p:spPr>
          <a:xfrm>
            <a:off x="4059936" y="4727960"/>
            <a:ext cx="50292" cy="50292"/>
          </a:xfrm>
          <a:prstGeom prst="ellipse">
            <a:avLst/>
          </a:prstGeom>
          <a:solidFill>
            <a:srgbClr val="333333"/>
          </a:solidFill>
          <a:ln w="12700">
            <a:solidFill>
              <a:srgbClr val="333333"/>
            </a:solidFill>
            <a:prstDash val="solid"/>
          </a:ln>
        </p:spPr>
        <p:txBody>
          <a:bodyPr/>
          <a:lstStyle/>
          <a:p>
            <a:endParaRPr lang="en-US"/>
          </a:p>
        </p:txBody>
      </p:sp>
      <p:sp>
        <p:nvSpPr>
          <p:cNvPr id="116" name="Text 114"/>
          <p:cNvSpPr/>
          <p:nvPr/>
        </p:nvSpPr>
        <p:spPr>
          <a:xfrm>
            <a:off x="4151376" y="4663440"/>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SAP BRIM / Subscription Billing — replace Zuora, unify recurring and project billing</a:t>
            </a:r>
            <a:endParaRPr lang="en-US" sz="850" dirty="0"/>
          </a:p>
        </p:txBody>
      </p:sp>
      <p:sp>
        <p:nvSpPr>
          <p:cNvPr id="117" name="Shape 115"/>
          <p:cNvSpPr/>
          <p:nvPr/>
        </p:nvSpPr>
        <p:spPr>
          <a:xfrm>
            <a:off x="4059936" y="4921813"/>
            <a:ext cx="50292" cy="50292"/>
          </a:xfrm>
          <a:prstGeom prst="ellipse">
            <a:avLst/>
          </a:prstGeom>
          <a:solidFill>
            <a:srgbClr val="333333"/>
          </a:solidFill>
          <a:ln w="12700">
            <a:solidFill>
              <a:srgbClr val="333333"/>
            </a:solidFill>
            <a:prstDash val="solid"/>
          </a:ln>
        </p:spPr>
        <p:txBody>
          <a:bodyPr/>
          <a:lstStyle/>
          <a:p>
            <a:endParaRPr lang="en-US"/>
          </a:p>
        </p:txBody>
      </p:sp>
      <p:sp>
        <p:nvSpPr>
          <p:cNvPr id="118" name="Text 116"/>
          <p:cNvSpPr/>
          <p:nvPr/>
        </p:nvSpPr>
        <p:spPr>
          <a:xfrm>
            <a:off x="4151376" y="4857293"/>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GetPaid / HighRadius — AI-assisted collections, dispute management, cash app</a:t>
            </a:r>
            <a:endParaRPr lang="en-US" sz="850" dirty="0"/>
          </a:p>
        </p:txBody>
      </p:sp>
      <p:sp>
        <p:nvSpPr>
          <p:cNvPr id="119" name="Shape 117"/>
          <p:cNvSpPr/>
          <p:nvPr/>
        </p:nvSpPr>
        <p:spPr>
          <a:xfrm>
            <a:off x="4059936" y="5115666"/>
            <a:ext cx="50292" cy="50292"/>
          </a:xfrm>
          <a:prstGeom prst="ellipse">
            <a:avLst/>
          </a:prstGeom>
          <a:solidFill>
            <a:srgbClr val="333333"/>
          </a:solidFill>
          <a:ln w="12700">
            <a:solidFill>
              <a:srgbClr val="333333"/>
            </a:solidFill>
            <a:prstDash val="solid"/>
          </a:ln>
        </p:spPr>
        <p:txBody>
          <a:bodyPr/>
          <a:lstStyle/>
          <a:p>
            <a:endParaRPr lang="en-US"/>
          </a:p>
        </p:txBody>
      </p:sp>
      <p:sp>
        <p:nvSpPr>
          <p:cNvPr id="120" name="Text 118"/>
          <p:cNvSpPr/>
          <p:nvPr/>
        </p:nvSpPr>
        <p:spPr>
          <a:xfrm>
            <a:off x="4151376" y="5051146"/>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Standard payment terms policy across all SBGs with defined exceptions process</a:t>
            </a:r>
            <a:endParaRPr lang="en-US" sz="850" dirty="0"/>
          </a:p>
        </p:txBody>
      </p:sp>
      <p:sp>
        <p:nvSpPr>
          <p:cNvPr id="121" name="Shape 119"/>
          <p:cNvSpPr/>
          <p:nvPr/>
        </p:nvSpPr>
        <p:spPr>
          <a:xfrm>
            <a:off x="4059936" y="5309518"/>
            <a:ext cx="50292" cy="50292"/>
          </a:xfrm>
          <a:prstGeom prst="ellipse">
            <a:avLst/>
          </a:prstGeom>
          <a:solidFill>
            <a:srgbClr val="333333"/>
          </a:solidFill>
          <a:ln w="12700">
            <a:solidFill>
              <a:srgbClr val="333333"/>
            </a:solidFill>
            <a:prstDash val="solid"/>
          </a:ln>
        </p:spPr>
        <p:txBody>
          <a:bodyPr/>
          <a:lstStyle/>
          <a:p>
            <a:endParaRPr lang="en-US"/>
          </a:p>
        </p:txBody>
      </p:sp>
      <p:sp>
        <p:nvSpPr>
          <p:cNvPr id="122" name="Text 120"/>
          <p:cNvSpPr/>
          <p:nvPr/>
        </p:nvSpPr>
        <p:spPr>
          <a:xfrm>
            <a:off x="4151376" y="5244998"/>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Automated dunning workflows — segmented by customer tier and invoice age</a:t>
            </a:r>
            <a:endParaRPr lang="en-US" sz="850" dirty="0"/>
          </a:p>
        </p:txBody>
      </p:sp>
      <p:sp>
        <p:nvSpPr>
          <p:cNvPr id="123" name="Shape 121"/>
          <p:cNvSpPr/>
          <p:nvPr/>
        </p:nvSpPr>
        <p:spPr>
          <a:xfrm>
            <a:off x="4059936" y="5503371"/>
            <a:ext cx="50292" cy="50292"/>
          </a:xfrm>
          <a:prstGeom prst="ellipse">
            <a:avLst/>
          </a:prstGeom>
          <a:solidFill>
            <a:srgbClr val="333333"/>
          </a:solidFill>
          <a:ln w="12700">
            <a:solidFill>
              <a:srgbClr val="333333"/>
            </a:solidFill>
            <a:prstDash val="solid"/>
          </a:ln>
        </p:spPr>
        <p:txBody>
          <a:bodyPr/>
          <a:lstStyle/>
          <a:p>
            <a:endParaRPr lang="en-US"/>
          </a:p>
        </p:txBody>
      </p:sp>
      <p:sp>
        <p:nvSpPr>
          <p:cNvPr id="124" name="Text 122"/>
          <p:cNvSpPr/>
          <p:nvPr/>
        </p:nvSpPr>
        <p:spPr>
          <a:xfrm>
            <a:off x="4151376" y="5438851"/>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Consolidated billing portal — single invoice experience across all Honeywell SBGs</a:t>
            </a:r>
            <a:endParaRPr lang="en-US" sz="850" dirty="0"/>
          </a:p>
        </p:txBody>
      </p:sp>
      <p:sp>
        <p:nvSpPr>
          <p:cNvPr id="125" name="Shape 123"/>
          <p:cNvSpPr/>
          <p:nvPr/>
        </p:nvSpPr>
        <p:spPr>
          <a:xfrm>
            <a:off x="8010144" y="4590288"/>
            <a:ext cx="50292" cy="1078992"/>
          </a:xfrm>
          <a:prstGeom prst="rect">
            <a:avLst/>
          </a:prstGeom>
          <a:solidFill>
            <a:srgbClr val="CC0000"/>
          </a:solidFill>
          <a:ln w="12700">
            <a:solidFill>
              <a:srgbClr val="CC0000"/>
            </a:solidFill>
            <a:prstDash val="solid"/>
          </a:ln>
        </p:spPr>
        <p:txBody>
          <a:bodyPr/>
          <a:lstStyle/>
          <a:p>
            <a:endParaRPr lang="en-US"/>
          </a:p>
        </p:txBody>
      </p:sp>
      <p:sp>
        <p:nvSpPr>
          <p:cNvPr id="126" name="Shape 124"/>
          <p:cNvSpPr/>
          <p:nvPr/>
        </p:nvSpPr>
        <p:spPr>
          <a:xfrm>
            <a:off x="8138160" y="4727960"/>
            <a:ext cx="50292" cy="50292"/>
          </a:xfrm>
          <a:prstGeom prst="ellipse">
            <a:avLst/>
          </a:prstGeom>
          <a:solidFill>
            <a:srgbClr val="CC0000"/>
          </a:solidFill>
          <a:ln w="12700">
            <a:solidFill>
              <a:srgbClr val="CC0000"/>
            </a:solidFill>
            <a:prstDash val="solid"/>
          </a:ln>
        </p:spPr>
        <p:txBody>
          <a:bodyPr/>
          <a:lstStyle/>
          <a:p>
            <a:endParaRPr lang="en-US"/>
          </a:p>
        </p:txBody>
      </p:sp>
      <p:sp>
        <p:nvSpPr>
          <p:cNvPr id="127" name="Text 125"/>
          <p:cNvSpPr/>
          <p:nvPr/>
        </p:nvSpPr>
        <p:spPr>
          <a:xfrm>
            <a:off x="8229600" y="4663440"/>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SAP S/4HANA Finance — predictive cash flow, working capital optimization</a:t>
            </a:r>
            <a:endParaRPr lang="en-US" sz="850" dirty="0"/>
          </a:p>
        </p:txBody>
      </p:sp>
      <p:sp>
        <p:nvSpPr>
          <p:cNvPr id="128" name="Shape 126"/>
          <p:cNvSpPr/>
          <p:nvPr/>
        </p:nvSpPr>
        <p:spPr>
          <a:xfrm>
            <a:off x="8138160" y="4921813"/>
            <a:ext cx="50292" cy="50292"/>
          </a:xfrm>
          <a:prstGeom prst="ellipse">
            <a:avLst/>
          </a:prstGeom>
          <a:solidFill>
            <a:srgbClr val="CC0000"/>
          </a:solidFill>
          <a:ln w="12700">
            <a:solidFill>
              <a:srgbClr val="CC0000"/>
            </a:solidFill>
            <a:prstDash val="solid"/>
          </a:ln>
        </p:spPr>
        <p:txBody>
          <a:bodyPr/>
          <a:lstStyle/>
          <a:p>
            <a:endParaRPr lang="en-US"/>
          </a:p>
        </p:txBody>
      </p:sp>
      <p:sp>
        <p:nvSpPr>
          <p:cNvPr id="129" name="Text 127"/>
          <p:cNvSpPr/>
          <p:nvPr/>
        </p:nvSpPr>
        <p:spPr>
          <a:xfrm>
            <a:off x="8229600" y="4857293"/>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AI cash application — auto-match remittances, reduce unapplied cash to near-zero</a:t>
            </a:r>
            <a:endParaRPr lang="en-US" sz="850" dirty="0"/>
          </a:p>
        </p:txBody>
      </p:sp>
      <p:sp>
        <p:nvSpPr>
          <p:cNvPr id="130" name="Shape 128"/>
          <p:cNvSpPr/>
          <p:nvPr/>
        </p:nvSpPr>
        <p:spPr>
          <a:xfrm>
            <a:off x="8138160" y="5115666"/>
            <a:ext cx="50292" cy="50292"/>
          </a:xfrm>
          <a:prstGeom prst="ellipse">
            <a:avLst/>
          </a:prstGeom>
          <a:solidFill>
            <a:srgbClr val="CC0000"/>
          </a:solidFill>
          <a:ln w="12700">
            <a:solidFill>
              <a:srgbClr val="CC0000"/>
            </a:solidFill>
            <a:prstDash val="solid"/>
          </a:ln>
        </p:spPr>
        <p:txBody>
          <a:bodyPr/>
          <a:lstStyle/>
          <a:p>
            <a:endParaRPr lang="en-US"/>
          </a:p>
        </p:txBody>
      </p:sp>
      <p:sp>
        <p:nvSpPr>
          <p:cNvPr id="131" name="Text 129"/>
          <p:cNvSpPr/>
          <p:nvPr/>
        </p:nvSpPr>
        <p:spPr>
          <a:xfrm>
            <a:off x="8229600" y="5051146"/>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Dynamic terms engine — risk-based payment terms tied to customer credit profile</a:t>
            </a:r>
            <a:endParaRPr lang="en-US" sz="850" dirty="0"/>
          </a:p>
        </p:txBody>
      </p:sp>
      <p:sp>
        <p:nvSpPr>
          <p:cNvPr id="132" name="Shape 130"/>
          <p:cNvSpPr/>
          <p:nvPr/>
        </p:nvSpPr>
        <p:spPr>
          <a:xfrm>
            <a:off x="8138160" y="5309518"/>
            <a:ext cx="50292" cy="50292"/>
          </a:xfrm>
          <a:prstGeom prst="ellipse">
            <a:avLst/>
          </a:prstGeom>
          <a:solidFill>
            <a:srgbClr val="CC0000"/>
          </a:solidFill>
          <a:ln w="12700">
            <a:solidFill>
              <a:srgbClr val="CC0000"/>
            </a:solidFill>
            <a:prstDash val="solid"/>
          </a:ln>
        </p:spPr>
        <p:txBody>
          <a:bodyPr/>
          <a:lstStyle/>
          <a:p>
            <a:endParaRPr lang="en-US"/>
          </a:p>
        </p:txBody>
      </p:sp>
      <p:sp>
        <p:nvSpPr>
          <p:cNvPr id="133" name="Text 131"/>
          <p:cNvSpPr/>
          <p:nvPr/>
        </p:nvSpPr>
        <p:spPr>
          <a:xfrm>
            <a:off x="8229600" y="5244998"/>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Frictionless B2B checkout — embedded payment, PO-to-pay automation for buyers</a:t>
            </a:r>
            <a:endParaRPr lang="en-US" sz="850" dirty="0"/>
          </a:p>
        </p:txBody>
      </p:sp>
      <p:sp>
        <p:nvSpPr>
          <p:cNvPr id="134" name="Shape 132"/>
          <p:cNvSpPr/>
          <p:nvPr/>
        </p:nvSpPr>
        <p:spPr>
          <a:xfrm>
            <a:off x="8138160" y="5503371"/>
            <a:ext cx="50292" cy="50292"/>
          </a:xfrm>
          <a:prstGeom prst="ellipse">
            <a:avLst/>
          </a:prstGeom>
          <a:solidFill>
            <a:srgbClr val="CC0000"/>
          </a:solidFill>
          <a:ln w="12700">
            <a:solidFill>
              <a:srgbClr val="CC0000"/>
            </a:solidFill>
            <a:prstDash val="solid"/>
          </a:ln>
        </p:spPr>
        <p:txBody>
          <a:bodyPr/>
          <a:lstStyle/>
          <a:p>
            <a:endParaRPr lang="en-US"/>
          </a:p>
        </p:txBody>
      </p:sp>
      <p:sp>
        <p:nvSpPr>
          <p:cNvPr id="135" name="Text 133"/>
          <p:cNvSpPr/>
          <p:nvPr/>
        </p:nvSpPr>
        <p:spPr>
          <a:xfrm>
            <a:off x="8229600" y="5438851"/>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Agentic A/R agent — proactive dispute resolution, auto-escalation, cash posting</a:t>
            </a:r>
            <a:endParaRPr lang="en-US" sz="850" dirty="0"/>
          </a:p>
        </p:txBody>
      </p:sp>
      <p:sp>
        <p:nvSpPr>
          <p:cNvPr id="136" name="Shape 134"/>
          <p:cNvSpPr/>
          <p:nvPr/>
        </p:nvSpPr>
        <p:spPr>
          <a:xfrm>
            <a:off x="219456" y="5669280"/>
            <a:ext cx="1371600" cy="1078992"/>
          </a:xfrm>
          <a:prstGeom prst="rect">
            <a:avLst/>
          </a:prstGeom>
          <a:solidFill>
            <a:srgbClr val="FFFFFF"/>
          </a:solidFill>
          <a:ln w="6350">
            <a:solidFill>
              <a:srgbClr val="D4D4D4"/>
            </a:solidFill>
            <a:prstDash val="solid"/>
          </a:ln>
        </p:spPr>
        <p:txBody>
          <a:bodyPr/>
          <a:lstStyle/>
          <a:p>
            <a:endParaRPr lang="en-US"/>
          </a:p>
        </p:txBody>
      </p:sp>
      <p:sp>
        <p:nvSpPr>
          <p:cNvPr id="137" name="Shape 135"/>
          <p:cNvSpPr/>
          <p:nvPr/>
        </p:nvSpPr>
        <p:spPr>
          <a:xfrm>
            <a:off x="1645920" y="5669280"/>
            <a:ext cx="2212848" cy="1078992"/>
          </a:xfrm>
          <a:prstGeom prst="rect">
            <a:avLst/>
          </a:prstGeom>
          <a:solidFill>
            <a:srgbClr val="FFFFFF"/>
          </a:solidFill>
          <a:ln w="6350">
            <a:solidFill>
              <a:srgbClr val="D4D4D4"/>
            </a:solidFill>
            <a:prstDash val="solid"/>
          </a:ln>
        </p:spPr>
        <p:txBody>
          <a:bodyPr/>
          <a:lstStyle/>
          <a:p>
            <a:endParaRPr lang="en-US"/>
          </a:p>
        </p:txBody>
      </p:sp>
      <p:sp>
        <p:nvSpPr>
          <p:cNvPr id="138" name="Shape 136"/>
          <p:cNvSpPr/>
          <p:nvPr/>
        </p:nvSpPr>
        <p:spPr>
          <a:xfrm>
            <a:off x="3931920" y="5669280"/>
            <a:ext cx="4005072" cy="1078992"/>
          </a:xfrm>
          <a:prstGeom prst="rect">
            <a:avLst/>
          </a:prstGeom>
          <a:solidFill>
            <a:srgbClr val="FFFFFF"/>
          </a:solidFill>
          <a:ln w="6350">
            <a:solidFill>
              <a:srgbClr val="D4D4D4"/>
            </a:solidFill>
            <a:prstDash val="solid"/>
          </a:ln>
        </p:spPr>
        <p:txBody>
          <a:bodyPr/>
          <a:lstStyle/>
          <a:p>
            <a:endParaRPr lang="en-US"/>
          </a:p>
        </p:txBody>
      </p:sp>
      <p:sp>
        <p:nvSpPr>
          <p:cNvPr id="139" name="Shape 137"/>
          <p:cNvSpPr/>
          <p:nvPr/>
        </p:nvSpPr>
        <p:spPr>
          <a:xfrm>
            <a:off x="8010144" y="5669280"/>
            <a:ext cx="3986784" cy="1078992"/>
          </a:xfrm>
          <a:prstGeom prst="rect">
            <a:avLst/>
          </a:prstGeom>
          <a:solidFill>
            <a:srgbClr val="FFFFFF"/>
          </a:solidFill>
          <a:ln w="6350">
            <a:solidFill>
              <a:srgbClr val="D4D4D4"/>
            </a:solidFill>
            <a:prstDash val="solid"/>
          </a:ln>
        </p:spPr>
        <p:txBody>
          <a:bodyPr/>
          <a:lstStyle/>
          <a:p>
            <a:endParaRPr lang="en-US"/>
          </a:p>
        </p:txBody>
      </p:sp>
      <p:sp>
        <p:nvSpPr>
          <p:cNvPr id="140" name="Shape 138"/>
          <p:cNvSpPr/>
          <p:nvPr/>
        </p:nvSpPr>
        <p:spPr>
          <a:xfrm>
            <a:off x="219456" y="5669280"/>
            <a:ext cx="50292" cy="1078992"/>
          </a:xfrm>
          <a:prstGeom prst="rect">
            <a:avLst/>
          </a:prstGeom>
          <a:solidFill>
            <a:srgbClr val="CC0000"/>
          </a:solidFill>
          <a:ln w="12700">
            <a:solidFill>
              <a:srgbClr val="CC0000"/>
            </a:solidFill>
            <a:prstDash val="solid"/>
          </a:ln>
        </p:spPr>
        <p:txBody>
          <a:bodyPr/>
          <a:lstStyle/>
          <a:p>
            <a:endParaRPr lang="en-US"/>
          </a:p>
        </p:txBody>
      </p:sp>
      <p:sp>
        <p:nvSpPr>
          <p:cNvPr id="141" name="Text 139"/>
          <p:cNvSpPr/>
          <p:nvPr/>
        </p:nvSpPr>
        <p:spPr>
          <a:xfrm>
            <a:off x="310896" y="5669280"/>
            <a:ext cx="1243584" cy="1078992"/>
          </a:xfrm>
          <a:prstGeom prst="rect">
            <a:avLst/>
          </a:prstGeom>
          <a:noFill/>
          <a:ln/>
        </p:spPr>
        <p:txBody>
          <a:bodyPr wrap="square" lIns="0" tIns="0" rIns="0" bIns="0" rtlCol="0" anchor="ctr"/>
          <a:lstStyle/>
          <a:p>
            <a:pPr marL="0" indent="0" algn="ctr">
              <a:buNone/>
            </a:pPr>
            <a:r>
              <a:rPr lang="en-US" sz="1100" b="1" dirty="0">
                <a:solidFill>
                  <a:srgbClr val="1F1F1F"/>
                </a:solidFill>
                <a:latin typeface="Calibri" pitchFamily="34" charset="0"/>
                <a:ea typeface="Calibri" pitchFamily="34" charset="-122"/>
                <a:cs typeface="Calibri" pitchFamily="34" charset="-120"/>
              </a:rPr>
              <a:t>Support</a:t>
            </a:r>
            <a:endParaRPr lang="en-US" sz="1100" dirty="0"/>
          </a:p>
          <a:p>
            <a:pPr marL="0" indent="0" algn="ctr">
              <a:buNone/>
            </a:pPr>
            <a:r>
              <a:rPr lang="en-US" sz="1100" b="1" dirty="0">
                <a:solidFill>
                  <a:srgbClr val="1F1F1F"/>
                </a:solidFill>
                <a:latin typeface="Calibri" pitchFamily="34" charset="0"/>
                <a:ea typeface="Calibri" pitchFamily="34" charset="-122"/>
                <a:cs typeface="Calibri" pitchFamily="34" charset="-120"/>
              </a:rPr>
              <a:t>&amp;</a:t>
            </a:r>
            <a:endParaRPr lang="en-US" sz="1100" dirty="0"/>
          </a:p>
          <a:p>
            <a:pPr marL="0" indent="0" algn="ctr">
              <a:buNone/>
            </a:pPr>
            <a:r>
              <a:rPr lang="en-US" sz="1100" b="1" dirty="0">
                <a:solidFill>
                  <a:srgbClr val="1F1F1F"/>
                </a:solidFill>
                <a:latin typeface="Calibri" pitchFamily="34" charset="0"/>
                <a:ea typeface="Calibri" pitchFamily="34" charset="-122"/>
                <a:cs typeface="Calibri" pitchFamily="34" charset="-120"/>
              </a:rPr>
              <a:t>Success</a:t>
            </a:r>
            <a:endParaRPr lang="en-US" sz="1100" dirty="0"/>
          </a:p>
        </p:txBody>
      </p:sp>
      <p:sp>
        <p:nvSpPr>
          <p:cNvPr id="142" name="Shape 140"/>
          <p:cNvSpPr/>
          <p:nvPr/>
        </p:nvSpPr>
        <p:spPr>
          <a:xfrm>
            <a:off x="1645920" y="5669280"/>
            <a:ext cx="50292" cy="1078992"/>
          </a:xfrm>
          <a:prstGeom prst="rect">
            <a:avLst/>
          </a:prstGeom>
          <a:solidFill>
            <a:srgbClr val="333333"/>
          </a:solidFill>
          <a:ln w="12700">
            <a:solidFill>
              <a:srgbClr val="333333"/>
            </a:solidFill>
            <a:prstDash val="solid"/>
          </a:ln>
        </p:spPr>
        <p:txBody>
          <a:bodyPr/>
          <a:lstStyle/>
          <a:p>
            <a:endParaRPr lang="en-US"/>
          </a:p>
        </p:txBody>
      </p:sp>
      <p:sp>
        <p:nvSpPr>
          <p:cNvPr id="143" name="Text 141"/>
          <p:cNvSpPr/>
          <p:nvPr/>
        </p:nvSpPr>
        <p:spPr>
          <a:xfrm>
            <a:off x="1737360" y="5724144"/>
            <a:ext cx="2066544" cy="987552"/>
          </a:xfrm>
          <a:prstGeom prst="rect">
            <a:avLst/>
          </a:prstGeom>
          <a:noFill/>
          <a:ln/>
        </p:spPr>
        <p:txBody>
          <a:bodyPr wrap="square" lIns="0" tIns="0" rIns="0" bIns="0" rtlCol="0" anchor="t"/>
          <a:lstStyle/>
          <a:p>
            <a:pPr marL="0" indent="0">
              <a:buNone/>
            </a:pPr>
            <a:r>
              <a:rPr lang="en-US" sz="900" dirty="0">
                <a:solidFill>
                  <a:srgbClr val="555555"/>
                </a:solidFill>
                <a:latin typeface="Calibri" pitchFamily="34" charset="0"/>
                <a:ea typeface="Calibri" pitchFamily="34" charset="-122"/>
                <a:cs typeface="Calibri" pitchFamily="34" charset="-120"/>
              </a:rPr>
              <a:t>Reactive case handling</a:t>
            </a:r>
            <a:endParaRPr lang="en-US" sz="900" dirty="0"/>
          </a:p>
          <a:p>
            <a:pPr marL="0" indent="0">
              <a:buNone/>
            </a:pPr>
            <a:r>
              <a:rPr lang="en-US" sz="900" dirty="0">
                <a:solidFill>
                  <a:srgbClr val="555555"/>
                </a:solidFill>
                <a:latin typeface="Calibri" pitchFamily="34" charset="0"/>
                <a:ea typeface="Calibri" pitchFamily="34" charset="-122"/>
                <a:cs typeface="Calibri" pitchFamily="34" charset="-120"/>
              </a:rPr>
              <a:t>No installed base view</a:t>
            </a:r>
            <a:endParaRPr lang="en-US" sz="900" dirty="0"/>
          </a:p>
          <a:p>
            <a:pPr marL="0" indent="0">
              <a:buNone/>
            </a:pPr>
            <a:r>
              <a:rPr lang="en-US" sz="900" dirty="0">
                <a:solidFill>
                  <a:srgbClr val="555555"/>
                </a:solidFill>
                <a:latin typeface="Calibri" pitchFamily="34" charset="0"/>
                <a:ea typeface="Calibri" pitchFamily="34" charset="-122"/>
                <a:cs typeface="Calibri" pitchFamily="34" charset="-120"/>
              </a:rPr>
              <a:t>Manual warranty &amp; returns</a:t>
            </a:r>
            <a:endParaRPr lang="en-US" sz="900" dirty="0"/>
          </a:p>
          <a:p>
            <a:pPr marL="0" indent="0">
              <a:buNone/>
            </a:pPr>
            <a:r>
              <a:rPr lang="en-US" sz="900" dirty="0">
                <a:solidFill>
                  <a:srgbClr val="555555"/>
                </a:solidFill>
                <a:latin typeface="Calibri" pitchFamily="34" charset="0"/>
                <a:ea typeface="Calibri" pitchFamily="34" charset="-122"/>
                <a:cs typeface="Calibri" pitchFamily="34" charset="-120"/>
              </a:rPr>
              <a:t>No CLV or NPS data</a:t>
            </a:r>
            <a:endParaRPr lang="en-US" sz="900" dirty="0"/>
          </a:p>
        </p:txBody>
      </p:sp>
      <p:sp>
        <p:nvSpPr>
          <p:cNvPr id="144" name="Shape 142"/>
          <p:cNvSpPr/>
          <p:nvPr/>
        </p:nvSpPr>
        <p:spPr>
          <a:xfrm>
            <a:off x="3931920" y="5669280"/>
            <a:ext cx="50292" cy="1078992"/>
          </a:xfrm>
          <a:prstGeom prst="rect">
            <a:avLst/>
          </a:prstGeom>
          <a:solidFill>
            <a:srgbClr val="333333"/>
          </a:solidFill>
          <a:ln w="12700">
            <a:solidFill>
              <a:srgbClr val="333333"/>
            </a:solidFill>
            <a:prstDash val="solid"/>
          </a:ln>
        </p:spPr>
        <p:txBody>
          <a:bodyPr/>
          <a:lstStyle/>
          <a:p>
            <a:endParaRPr lang="en-US"/>
          </a:p>
        </p:txBody>
      </p:sp>
      <p:sp>
        <p:nvSpPr>
          <p:cNvPr id="145" name="Shape 143"/>
          <p:cNvSpPr/>
          <p:nvPr/>
        </p:nvSpPr>
        <p:spPr>
          <a:xfrm>
            <a:off x="4059936" y="5806952"/>
            <a:ext cx="50292" cy="50292"/>
          </a:xfrm>
          <a:prstGeom prst="ellipse">
            <a:avLst/>
          </a:prstGeom>
          <a:solidFill>
            <a:srgbClr val="333333"/>
          </a:solidFill>
          <a:ln w="12700">
            <a:solidFill>
              <a:srgbClr val="333333"/>
            </a:solidFill>
            <a:prstDash val="solid"/>
          </a:ln>
        </p:spPr>
        <p:txBody>
          <a:bodyPr/>
          <a:lstStyle/>
          <a:p>
            <a:endParaRPr lang="en-US"/>
          </a:p>
        </p:txBody>
      </p:sp>
      <p:sp>
        <p:nvSpPr>
          <p:cNvPr id="146" name="Text 144"/>
          <p:cNvSpPr/>
          <p:nvPr/>
        </p:nvSpPr>
        <p:spPr>
          <a:xfrm>
            <a:off x="4151376" y="5742432"/>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Salesforce Service Cloud — unified case management across all SBGs</a:t>
            </a:r>
            <a:endParaRPr lang="en-US" sz="850" dirty="0"/>
          </a:p>
        </p:txBody>
      </p:sp>
      <p:sp>
        <p:nvSpPr>
          <p:cNvPr id="147" name="Shape 145"/>
          <p:cNvSpPr/>
          <p:nvPr/>
        </p:nvSpPr>
        <p:spPr>
          <a:xfrm>
            <a:off x="4059936" y="6000805"/>
            <a:ext cx="50292" cy="50292"/>
          </a:xfrm>
          <a:prstGeom prst="ellipse">
            <a:avLst/>
          </a:prstGeom>
          <a:solidFill>
            <a:srgbClr val="333333"/>
          </a:solidFill>
          <a:ln w="12700">
            <a:solidFill>
              <a:srgbClr val="333333"/>
            </a:solidFill>
            <a:prstDash val="solid"/>
          </a:ln>
        </p:spPr>
        <p:txBody>
          <a:bodyPr/>
          <a:lstStyle/>
          <a:p>
            <a:endParaRPr lang="en-US"/>
          </a:p>
        </p:txBody>
      </p:sp>
      <p:sp>
        <p:nvSpPr>
          <p:cNvPr id="148" name="Text 146"/>
          <p:cNvSpPr/>
          <p:nvPr/>
        </p:nvSpPr>
        <p:spPr>
          <a:xfrm>
            <a:off x="4151376" y="5936285"/>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ServiceMax — field service, warranty, and installed base tracking</a:t>
            </a:r>
            <a:endParaRPr lang="en-US" sz="850" dirty="0"/>
          </a:p>
        </p:txBody>
      </p:sp>
      <p:sp>
        <p:nvSpPr>
          <p:cNvPr id="149" name="Shape 147"/>
          <p:cNvSpPr/>
          <p:nvPr/>
        </p:nvSpPr>
        <p:spPr>
          <a:xfrm>
            <a:off x="4059936" y="6194658"/>
            <a:ext cx="50292" cy="50292"/>
          </a:xfrm>
          <a:prstGeom prst="ellipse">
            <a:avLst/>
          </a:prstGeom>
          <a:solidFill>
            <a:srgbClr val="333333"/>
          </a:solidFill>
          <a:ln w="12700">
            <a:solidFill>
              <a:srgbClr val="333333"/>
            </a:solidFill>
            <a:prstDash val="solid"/>
          </a:ln>
        </p:spPr>
        <p:txBody>
          <a:bodyPr/>
          <a:lstStyle/>
          <a:p>
            <a:endParaRPr lang="en-US"/>
          </a:p>
        </p:txBody>
      </p:sp>
      <p:sp>
        <p:nvSpPr>
          <p:cNvPr id="150" name="Text 148"/>
          <p:cNvSpPr/>
          <p:nvPr/>
        </p:nvSpPr>
        <p:spPr>
          <a:xfrm>
            <a:off x="4151376" y="6130138"/>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Gainsight CS — customer health scores, renewal triggers, expansion alerts</a:t>
            </a:r>
            <a:endParaRPr lang="en-US" sz="850" dirty="0"/>
          </a:p>
        </p:txBody>
      </p:sp>
      <p:sp>
        <p:nvSpPr>
          <p:cNvPr id="151" name="Shape 149"/>
          <p:cNvSpPr/>
          <p:nvPr/>
        </p:nvSpPr>
        <p:spPr>
          <a:xfrm>
            <a:off x="4059936" y="6388510"/>
            <a:ext cx="50292" cy="50292"/>
          </a:xfrm>
          <a:prstGeom prst="ellipse">
            <a:avLst/>
          </a:prstGeom>
          <a:solidFill>
            <a:srgbClr val="333333"/>
          </a:solidFill>
          <a:ln w="12700">
            <a:solidFill>
              <a:srgbClr val="333333"/>
            </a:solidFill>
            <a:prstDash val="solid"/>
          </a:ln>
        </p:spPr>
        <p:txBody>
          <a:bodyPr/>
          <a:lstStyle/>
          <a:p>
            <a:endParaRPr lang="en-US"/>
          </a:p>
        </p:txBody>
      </p:sp>
      <p:sp>
        <p:nvSpPr>
          <p:cNvPr id="152" name="Text 150"/>
          <p:cNvSpPr/>
          <p:nvPr/>
        </p:nvSpPr>
        <p:spPr>
          <a:xfrm>
            <a:off x="4151376" y="6323990"/>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Salesforce Knowledge — shared knowledge base, deflection for common issues</a:t>
            </a:r>
            <a:endParaRPr lang="en-US" sz="850" dirty="0"/>
          </a:p>
        </p:txBody>
      </p:sp>
      <p:sp>
        <p:nvSpPr>
          <p:cNvPr id="153" name="Shape 151"/>
          <p:cNvSpPr/>
          <p:nvPr/>
        </p:nvSpPr>
        <p:spPr>
          <a:xfrm>
            <a:off x="4059936" y="6582363"/>
            <a:ext cx="50292" cy="50292"/>
          </a:xfrm>
          <a:prstGeom prst="ellipse">
            <a:avLst/>
          </a:prstGeom>
          <a:solidFill>
            <a:srgbClr val="333333"/>
          </a:solidFill>
          <a:ln w="12700">
            <a:solidFill>
              <a:srgbClr val="333333"/>
            </a:solidFill>
            <a:prstDash val="solid"/>
          </a:ln>
        </p:spPr>
        <p:txBody>
          <a:bodyPr/>
          <a:lstStyle/>
          <a:p>
            <a:endParaRPr lang="en-US"/>
          </a:p>
        </p:txBody>
      </p:sp>
      <p:sp>
        <p:nvSpPr>
          <p:cNvPr id="154" name="Text 152"/>
          <p:cNvSpPr/>
          <p:nvPr/>
        </p:nvSpPr>
        <p:spPr>
          <a:xfrm>
            <a:off x="4151376" y="6517843"/>
            <a:ext cx="3730752"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NPS and CSAT measurement embedded in post-case and post-delivery workflows</a:t>
            </a:r>
            <a:endParaRPr lang="en-US" sz="850" dirty="0"/>
          </a:p>
        </p:txBody>
      </p:sp>
      <p:sp>
        <p:nvSpPr>
          <p:cNvPr id="155" name="Shape 153"/>
          <p:cNvSpPr/>
          <p:nvPr/>
        </p:nvSpPr>
        <p:spPr>
          <a:xfrm>
            <a:off x="8010144" y="5669280"/>
            <a:ext cx="50292" cy="1078992"/>
          </a:xfrm>
          <a:prstGeom prst="rect">
            <a:avLst/>
          </a:prstGeom>
          <a:solidFill>
            <a:srgbClr val="CC0000"/>
          </a:solidFill>
          <a:ln w="12700">
            <a:solidFill>
              <a:srgbClr val="CC0000"/>
            </a:solidFill>
            <a:prstDash val="solid"/>
          </a:ln>
        </p:spPr>
        <p:txBody>
          <a:bodyPr/>
          <a:lstStyle/>
          <a:p>
            <a:endParaRPr lang="en-US"/>
          </a:p>
        </p:txBody>
      </p:sp>
      <p:sp>
        <p:nvSpPr>
          <p:cNvPr id="156" name="Shape 154"/>
          <p:cNvSpPr/>
          <p:nvPr/>
        </p:nvSpPr>
        <p:spPr>
          <a:xfrm>
            <a:off x="8138160" y="5806952"/>
            <a:ext cx="50292" cy="50292"/>
          </a:xfrm>
          <a:prstGeom prst="ellipse">
            <a:avLst/>
          </a:prstGeom>
          <a:solidFill>
            <a:srgbClr val="CC0000"/>
          </a:solidFill>
          <a:ln w="12700">
            <a:solidFill>
              <a:srgbClr val="CC0000"/>
            </a:solidFill>
            <a:prstDash val="solid"/>
          </a:ln>
        </p:spPr>
        <p:txBody>
          <a:bodyPr/>
          <a:lstStyle/>
          <a:p>
            <a:endParaRPr lang="en-US"/>
          </a:p>
        </p:txBody>
      </p:sp>
      <p:sp>
        <p:nvSpPr>
          <p:cNvPr id="157" name="Text 155"/>
          <p:cNvSpPr/>
          <p:nvPr/>
        </p:nvSpPr>
        <p:spPr>
          <a:xfrm>
            <a:off x="8229600" y="5742432"/>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AEP + Connected Assets — usage data and telemetry to predict issues before they occur</a:t>
            </a:r>
            <a:endParaRPr lang="en-US" sz="850" dirty="0"/>
          </a:p>
        </p:txBody>
      </p:sp>
      <p:sp>
        <p:nvSpPr>
          <p:cNvPr id="158" name="Shape 156"/>
          <p:cNvSpPr/>
          <p:nvPr/>
        </p:nvSpPr>
        <p:spPr>
          <a:xfrm>
            <a:off x="8138160" y="6000805"/>
            <a:ext cx="50292" cy="50292"/>
          </a:xfrm>
          <a:prstGeom prst="ellipse">
            <a:avLst/>
          </a:prstGeom>
          <a:solidFill>
            <a:srgbClr val="CC0000"/>
          </a:solidFill>
          <a:ln w="12700">
            <a:solidFill>
              <a:srgbClr val="CC0000"/>
            </a:solidFill>
            <a:prstDash val="solid"/>
          </a:ln>
        </p:spPr>
        <p:txBody>
          <a:bodyPr/>
          <a:lstStyle/>
          <a:p>
            <a:endParaRPr lang="en-US"/>
          </a:p>
        </p:txBody>
      </p:sp>
      <p:sp>
        <p:nvSpPr>
          <p:cNvPr id="159" name="Text 157"/>
          <p:cNvSpPr/>
          <p:nvPr/>
        </p:nvSpPr>
        <p:spPr>
          <a:xfrm>
            <a:off x="8229600" y="5936285"/>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Einstein for Service — AI case classification, auto-resolution, agent assist</a:t>
            </a:r>
            <a:endParaRPr lang="en-US" sz="850" dirty="0"/>
          </a:p>
        </p:txBody>
      </p:sp>
      <p:sp>
        <p:nvSpPr>
          <p:cNvPr id="160" name="Shape 158"/>
          <p:cNvSpPr/>
          <p:nvPr/>
        </p:nvSpPr>
        <p:spPr>
          <a:xfrm>
            <a:off x="8138160" y="6194658"/>
            <a:ext cx="50292" cy="50292"/>
          </a:xfrm>
          <a:prstGeom prst="ellipse">
            <a:avLst/>
          </a:prstGeom>
          <a:solidFill>
            <a:srgbClr val="CC0000"/>
          </a:solidFill>
          <a:ln w="12700">
            <a:solidFill>
              <a:srgbClr val="CC0000"/>
            </a:solidFill>
            <a:prstDash val="solid"/>
          </a:ln>
        </p:spPr>
        <p:txBody>
          <a:bodyPr/>
          <a:lstStyle/>
          <a:p>
            <a:endParaRPr lang="en-US"/>
          </a:p>
        </p:txBody>
      </p:sp>
      <p:sp>
        <p:nvSpPr>
          <p:cNvPr id="161" name="Text 159"/>
          <p:cNvSpPr/>
          <p:nvPr/>
        </p:nvSpPr>
        <p:spPr>
          <a:xfrm>
            <a:off x="8229600" y="6130138"/>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Agentic support bot — resolves tier-1 cases without human agent involvement</a:t>
            </a:r>
            <a:endParaRPr lang="en-US" sz="850" dirty="0"/>
          </a:p>
        </p:txBody>
      </p:sp>
      <p:sp>
        <p:nvSpPr>
          <p:cNvPr id="162" name="Shape 160"/>
          <p:cNvSpPr/>
          <p:nvPr/>
        </p:nvSpPr>
        <p:spPr>
          <a:xfrm>
            <a:off x="8138160" y="6388510"/>
            <a:ext cx="50292" cy="50292"/>
          </a:xfrm>
          <a:prstGeom prst="ellipse">
            <a:avLst/>
          </a:prstGeom>
          <a:solidFill>
            <a:srgbClr val="CC0000"/>
          </a:solidFill>
          <a:ln w="12700">
            <a:solidFill>
              <a:srgbClr val="CC0000"/>
            </a:solidFill>
            <a:prstDash val="solid"/>
          </a:ln>
        </p:spPr>
        <p:txBody>
          <a:bodyPr/>
          <a:lstStyle/>
          <a:p>
            <a:endParaRPr lang="en-US"/>
          </a:p>
        </p:txBody>
      </p:sp>
      <p:sp>
        <p:nvSpPr>
          <p:cNvPr id="163" name="Text 161"/>
          <p:cNvSpPr/>
          <p:nvPr/>
        </p:nvSpPr>
        <p:spPr>
          <a:xfrm>
            <a:off x="8229600" y="6323990"/>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Proactive lifecycle alerts — AI flags renewal risk, upsell moments, churn signals</a:t>
            </a:r>
            <a:endParaRPr lang="en-US" sz="850" dirty="0"/>
          </a:p>
        </p:txBody>
      </p:sp>
      <p:sp>
        <p:nvSpPr>
          <p:cNvPr id="164" name="Shape 162"/>
          <p:cNvSpPr/>
          <p:nvPr/>
        </p:nvSpPr>
        <p:spPr>
          <a:xfrm>
            <a:off x="8138160" y="6582363"/>
            <a:ext cx="50292" cy="50292"/>
          </a:xfrm>
          <a:prstGeom prst="ellipse">
            <a:avLst/>
          </a:prstGeom>
          <a:solidFill>
            <a:srgbClr val="CC0000"/>
          </a:solidFill>
          <a:ln w="12700">
            <a:solidFill>
              <a:srgbClr val="CC0000"/>
            </a:solidFill>
            <a:prstDash val="solid"/>
          </a:ln>
        </p:spPr>
        <p:txBody>
          <a:bodyPr/>
          <a:lstStyle/>
          <a:p>
            <a:endParaRPr lang="en-US"/>
          </a:p>
        </p:txBody>
      </p:sp>
      <p:sp>
        <p:nvSpPr>
          <p:cNvPr id="165" name="Text 163"/>
          <p:cNvSpPr/>
          <p:nvPr/>
        </p:nvSpPr>
        <p:spPr>
          <a:xfrm>
            <a:off x="8229600" y="6517843"/>
            <a:ext cx="3712464" cy="193853"/>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Cross-SBG 360 view — single pane of glass: all orders, cases, and value delivered</a:t>
            </a:r>
            <a:endParaRPr lang="en-US" sz="850" dirty="0"/>
          </a:p>
        </p:txBody>
      </p:sp>
      <p:sp>
        <p:nvSpPr>
          <p:cNvPr id="166" name="Shape 164"/>
          <p:cNvSpPr/>
          <p:nvPr/>
        </p:nvSpPr>
        <p:spPr>
          <a:xfrm>
            <a:off x="0" y="6675120"/>
            <a:ext cx="12161520" cy="182880"/>
          </a:xfrm>
          <a:prstGeom prst="rect">
            <a:avLst/>
          </a:prstGeom>
          <a:solidFill>
            <a:srgbClr val="F4F4F4"/>
          </a:solidFill>
          <a:ln w="12700">
            <a:solidFill>
              <a:srgbClr val="D4D4D4"/>
            </a:solidFill>
            <a:prstDash val="solid"/>
          </a:ln>
        </p:spPr>
        <p:txBody>
          <a:bodyPr/>
          <a:lstStyle/>
          <a:p>
            <a:endParaRPr lang="en-US"/>
          </a:p>
        </p:txBody>
      </p:sp>
      <p:sp>
        <p:nvSpPr>
          <p:cNvPr id="167" name="Shape 165"/>
          <p:cNvSpPr/>
          <p:nvPr/>
        </p:nvSpPr>
        <p:spPr>
          <a:xfrm>
            <a:off x="0" y="6675120"/>
            <a:ext cx="164592" cy="182880"/>
          </a:xfrm>
          <a:prstGeom prst="rect">
            <a:avLst/>
          </a:prstGeom>
          <a:solidFill>
            <a:srgbClr val="111111"/>
          </a:solidFill>
          <a:ln w="12700">
            <a:solidFill>
              <a:srgbClr val="111111"/>
            </a:solidFill>
            <a:prstDash val="solid"/>
          </a:ln>
        </p:spPr>
        <p:txBody>
          <a:bodyPr/>
          <a:lstStyle/>
          <a:p>
            <a:endParaRPr lang="en-US"/>
          </a:p>
        </p:txBody>
      </p:sp>
      <p:sp>
        <p:nvSpPr>
          <p:cNvPr id="168" name="Text 166"/>
          <p:cNvSpPr/>
          <p:nvPr/>
        </p:nvSpPr>
        <p:spPr>
          <a:xfrm>
            <a:off x="329184" y="6684264"/>
            <a:ext cx="11704320" cy="164592"/>
          </a:xfrm>
          <a:prstGeom prst="rect">
            <a:avLst/>
          </a:prstGeom>
          <a:noFill/>
          <a:ln/>
        </p:spPr>
        <p:txBody>
          <a:bodyPr wrap="square" lIns="0" tIns="0" rIns="0" bIns="0" rtlCol="0" anchor="ctr"/>
          <a:lstStyle/>
          <a:p>
            <a:pPr marL="0" indent="0">
              <a:buNone/>
            </a:pPr>
            <a:r>
              <a:rPr lang="en-US" sz="800" i="1" dirty="0">
                <a:solidFill>
                  <a:srgbClr val="777777"/>
                </a:solidFill>
                <a:latin typeface="Calibri" pitchFamily="34" charset="0"/>
                <a:ea typeface="Calibri" pitchFamily="34" charset="-122"/>
                <a:cs typeface="Calibri" pitchFamily="34" charset="-120"/>
              </a:rPr>
              <a:t>Technology recommendations are directional and subject to Honeywell's vendor landscape, S/4 program scope, and architecture governance decisions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CC0000"/>
          </a:solidFill>
          <a:ln w="12700">
            <a:solidFill>
              <a:srgbClr val="CC0000"/>
            </a:solidFill>
            <a:prstDash val="solid"/>
          </a:ln>
        </p:spPr>
        <p:txBody>
          <a:bodyPr/>
          <a:lstStyle/>
          <a:p>
            <a:endParaRPr lang="en-US"/>
          </a:p>
        </p:txBody>
      </p:sp>
      <p:sp>
        <p:nvSpPr>
          <p:cNvPr id="3" name="Shape 1"/>
          <p:cNvSpPr/>
          <p:nvPr/>
        </p:nvSpPr>
        <p:spPr>
          <a:xfrm>
            <a:off x="0" y="54864"/>
            <a:ext cx="164592" cy="6803136"/>
          </a:xfrm>
          <a:prstGeom prst="rect">
            <a:avLst/>
          </a:prstGeom>
          <a:solidFill>
            <a:srgbClr val="111111"/>
          </a:solidFill>
          <a:ln w="12700">
            <a:solidFill>
              <a:srgbClr val="111111"/>
            </a:solidFill>
            <a:prstDash val="solid"/>
          </a:ln>
        </p:spPr>
        <p:txBody>
          <a:bodyPr/>
          <a:lstStyle/>
          <a:p>
            <a:endParaRPr lang="en-US"/>
          </a:p>
        </p:txBody>
      </p:sp>
      <p:sp>
        <p:nvSpPr>
          <p:cNvPr id="4" name="Text 2"/>
          <p:cNvSpPr/>
          <p:nvPr/>
        </p:nvSpPr>
        <p:spPr>
          <a:xfrm>
            <a:off x="329184" y="146304"/>
            <a:ext cx="10058400" cy="256032"/>
          </a:xfrm>
          <a:prstGeom prst="rect">
            <a:avLst/>
          </a:prstGeom>
          <a:noFill/>
          <a:ln/>
        </p:spPr>
        <p:txBody>
          <a:bodyPr wrap="square" lIns="0" tIns="0" rIns="0" bIns="0" rtlCol="0" anchor="ctr"/>
          <a:lstStyle/>
          <a:p>
            <a:pPr marL="0" indent="0">
              <a:buNone/>
            </a:pPr>
            <a:r>
              <a:rPr lang="en-US" sz="900" b="1" kern="0" spc="300">
                <a:solidFill>
                  <a:srgbClr val="CC0000"/>
                </a:solidFill>
                <a:latin typeface="Calibri"/>
                <a:ea typeface="Calibri"/>
                <a:cs typeface="Calibri"/>
              </a:rPr>
              <a:t>ARCHITECTURAL DECISION POINTS(DRAFT)</a:t>
            </a:r>
            <a:endParaRPr lang="en-US" sz="900" dirty="0"/>
          </a:p>
        </p:txBody>
      </p:sp>
      <p:sp>
        <p:nvSpPr>
          <p:cNvPr id="5" name="Text 3"/>
          <p:cNvSpPr/>
          <p:nvPr/>
        </p:nvSpPr>
        <p:spPr>
          <a:xfrm>
            <a:off x="329184" y="420624"/>
            <a:ext cx="10515600" cy="530352"/>
          </a:xfrm>
          <a:prstGeom prst="rect">
            <a:avLst/>
          </a:prstGeom>
          <a:noFill/>
          <a:ln/>
        </p:spPr>
        <p:txBody>
          <a:bodyPr wrap="square" lIns="0" tIns="0" rIns="0" bIns="0" rtlCol="0" anchor="ctr"/>
          <a:lstStyle/>
          <a:p>
            <a:pPr marL="0" indent="0">
              <a:buNone/>
            </a:pPr>
            <a:r>
              <a:rPr lang="en-US" sz="2300" b="1" dirty="0">
                <a:solidFill>
                  <a:srgbClr val="1F1F1F"/>
                </a:solidFill>
                <a:latin typeface="Calibri" pitchFamily="34" charset="0"/>
                <a:ea typeface="Calibri" pitchFamily="34" charset="-122"/>
                <a:cs typeface="Calibri" pitchFamily="34" charset="-120"/>
              </a:rPr>
              <a:t>Three critical choices that will define the next 5 years</a:t>
            </a:r>
            <a:endParaRPr lang="en-US" sz="2300" dirty="0"/>
          </a:p>
        </p:txBody>
      </p:sp>
      <p:sp>
        <p:nvSpPr>
          <p:cNvPr id="6" name="Shape 4"/>
          <p:cNvSpPr/>
          <p:nvPr/>
        </p:nvSpPr>
        <p:spPr>
          <a:xfrm>
            <a:off x="329184" y="969264"/>
            <a:ext cx="11667744" cy="20117"/>
          </a:xfrm>
          <a:prstGeom prst="rect">
            <a:avLst/>
          </a:prstGeom>
          <a:solidFill>
            <a:srgbClr val="D4D4D4"/>
          </a:solidFill>
          <a:ln w="12700">
            <a:solidFill>
              <a:srgbClr val="D4D4D4"/>
            </a:solidFill>
            <a:prstDash val="solid"/>
          </a:ln>
        </p:spPr>
        <p:txBody>
          <a:bodyPr/>
          <a:lstStyle/>
          <a:p>
            <a:endParaRPr lang="en-US"/>
          </a:p>
        </p:txBody>
      </p:sp>
      <p:sp>
        <p:nvSpPr>
          <p:cNvPr id="7" name="Text 5"/>
          <p:cNvSpPr/>
          <p:nvPr/>
        </p:nvSpPr>
        <p:spPr>
          <a:xfrm>
            <a:off x="11475720" y="109728"/>
            <a:ext cx="640080" cy="502920"/>
          </a:xfrm>
          <a:prstGeom prst="rect">
            <a:avLst/>
          </a:prstGeom>
          <a:noFill/>
          <a:ln/>
        </p:spPr>
        <p:txBody>
          <a:bodyPr wrap="square" lIns="0" tIns="0" rIns="0" bIns="0" rtlCol="0" anchor="ctr"/>
          <a:lstStyle/>
          <a:p>
            <a:pPr marL="0" indent="0" algn="r">
              <a:buNone/>
            </a:pPr>
            <a:r>
              <a:rPr lang="en-US" sz="2200" b="1" dirty="0">
                <a:solidFill>
                  <a:srgbClr val="CC0000"/>
                </a:solidFill>
                <a:latin typeface="Calibri" pitchFamily="34" charset="0"/>
                <a:ea typeface="Calibri" pitchFamily="34" charset="-122"/>
                <a:cs typeface="Calibri" pitchFamily="34" charset="-120"/>
              </a:rPr>
              <a:t>07</a:t>
            </a:r>
            <a:endParaRPr lang="en-US" sz="2200" dirty="0"/>
          </a:p>
        </p:txBody>
      </p:sp>
      <p:sp>
        <p:nvSpPr>
          <p:cNvPr id="9" name="Shape 7"/>
          <p:cNvSpPr/>
          <p:nvPr/>
        </p:nvSpPr>
        <p:spPr>
          <a:xfrm>
            <a:off x="0" y="6675120"/>
            <a:ext cx="164592" cy="182880"/>
          </a:xfrm>
          <a:prstGeom prst="rect">
            <a:avLst/>
          </a:prstGeom>
          <a:solidFill>
            <a:srgbClr val="111111"/>
          </a:solidFill>
          <a:ln w="12700">
            <a:solidFill>
              <a:srgbClr val="111111"/>
            </a:solidFill>
            <a:prstDash val="solid"/>
          </a:ln>
        </p:spPr>
        <p:txBody>
          <a:bodyPr/>
          <a:lstStyle/>
          <a:p>
            <a:endParaRPr lang="en-US"/>
          </a:p>
        </p:txBody>
      </p:sp>
      <p:sp>
        <p:nvSpPr>
          <p:cNvPr id="11" name="Shape 9"/>
          <p:cNvSpPr/>
          <p:nvPr/>
        </p:nvSpPr>
        <p:spPr>
          <a:xfrm>
            <a:off x="329184" y="1133856"/>
            <a:ext cx="3767328" cy="5532120"/>
          </a:xfrm>
          <a:prstGeom prst="rect">
            <a:avLst/>
          </a:prstGeom>
          <a:solidFill>
            <a:srgbClr val="FFFFFF"/>
          </a:solidFill>
          <a:ln w="10160">
            <a:solidFill>
              <a:srgbClr val="D4D4D4"/>
            </a:solidFill>
            <a:prstDash val="solid"/>
          </a:ln>
          <a:effectLst>
            <a:outerShdw blurRad="63500" dist="25400" dir="8100000" algn="bl" rotWithShape="0">
              <a:srgbClr val="000000">
                <a:alpha val="7000"/>
              </a:srgbClr>
            </a:outerShdw>
          </a:effectLst>
        </p:spPr>
        <p:txBody>
          <a:bodyPr/>
          <a:lstStyle/>
          <a:p>
            <a:endParaRPr lang="en-US"/>
          </a:p>
        </p:txBody>
      </p:sp>
      <p:sp>
        <p:nvSpPr>
          <p:cNvPr id="12" name="Shape 10"/>
          <p:cNvSpPr/>
          <p:nvPr/>
        </p:nvSpPr>
        <p:spPr>
          <a:xfrm>
            <a:off x="329184" y="1133856"/>
            <a:ext cx="3767328" cy="50292"/>
          </a:xfrm>
          <a:prstGeom prst="rect">
            <a:avLst/>
          </a:prstGeom>
          <a:solidFill>
            <a:srgbClr val="111111"/>
          </a:solidFill>
          <a:ln w="12700">
            <a:solidFill>
              <a:srgbClr val="111111"/>
            </a:solidFill>
            <a:prstDash val="solid"/>
          </a:ln>
        </p:spPr>
        <p:txBody>
          <a:bodyPr/>
          <a:lstStyle/>
          <a:p>
            <a:endParaRPr lang="en-US"/>
          </a:p>
        </p:txBody>
      </p:sp>
      <p:sp>
        <p:nvSpPr>
          <p:cNvPr id="13" name="Shape 11"/>
          <p:cNvSpPr/>
          <p:nvPr/>
        </p:nvSpPr>
        <p:spPr>
          <a:xfrm>
            <a:off x="512064" y="1225296"/>
            <a:ext cx="457200" cy="457200"/>
          </a:xfrm>
          <a:prstGeom prst="rect">
            <a:avLst/>
          </a:prstGeom>
          <a:solidFill>
            <a:srgbClr val="CC0000"/>
          </a:solidFill>
          <a:ln w="12700">
            <a:solidFill>
              <a:srgbClr val="CC0000"/>
            </a:solidFill>
            <a:prstDash val="solid"/>
          </a:ln>
        </p:spPr>
        <p:txBody>
          <a:bodyPr/>
          <a:lstStyle/>
          <a:p>
            <a:endParaRPr lang="en-US"/>
          </a:p>
        </p:txBody>
      </p:sp>
      <p:sp>
        <p:nvSpPr>
          <p:cNvPr id="14" name="Text 12"/>
          <p:cNvSpPr/>
          <p:nvPr/>
        </p:nvSpPr>
        <p:spPr>
          <a:xfrm>
            <a:off x="512064" y="122529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15" name="Text 13"/>
          <p:cNvSpPr/>
          <p:nvPr/>
        </p:nvSpPr>
        <p:spPr>
          <a:xfrm>
            <a:off x="1078992" y="1225296"/>
            <a:ext cx="2926080" cy="274320"/>
          </a:xfrm>
          <a:prstGeom prst="rect">
            <a:avLst/>
          </a:prstGeom>
          <a:noFill/>
          <a:ln/>
        </p:spPr>
        <p:txBody>
          <a:bodyPr wrap="square" lIns="0" tIns="0" rIns="0" bIns="0" rtlCol="0" anchor="ctr"/>
          <a:lstStyle/>
          <a:p>
            <a:pPr marL="0" indent="0">
              <a:buNone/>
            </a:pPr>
            <a:r>
              <a:rPr lang="en-US" sz="1400" b="1" dirty="0">
                <a:solidFill>
                  <a:srgbClr val="1F1F1F"/>
                </a:solidFill>
                <a:latin typeface="Calibri" pitchFamily="34" charset="0"/>
                <a:ea typeface="Calibri" pitchFamily="34" charset="-122"/>
                <a:cs typeface="Calibri" pitchFamily="34" charset="-120"/>
              </a:rPr>
              <a:t>Customer Data Architecture</a:t>
            </a:r>
            <a:endParaRPr lang="en-US" sz="1400" dirty="0"/>
          </a:p>
        </p:txBody>
      </p:sp>
      <p:sp>
        <p:nvSpPr>
          <p:cNvPr id="16" name="Text 14"/>
          <p:cNvSpPr/>
          <p:nvPr/>
        </p:nvSpPr>
        <p:spPr>
          <a:xfrm>
            <a:off x="1078992" y="1499616"/>
            <a:ext cx="2926080" cy="219456"/>
          </a:xfrm>
          <a:prstGeom prst="rect">
            <a:avLst/>
          </a:prstGeom>
          <a:noFill/>
          <a:ln/>
        </p:spPr>
        <p:txBody>
          <a:bodyPr wrap="square" lIns="0" tIns="0" rIns="0" bIns="0" rtlCol="0" anchor="ctr"/>
          <a:lstStyle/>
          <a:p>
            <a:pPr marL="0" indent="0">
              <a:buNone/>
            </a:pPr>
            <a:r>
              <a:rPr lang="en-US" sz="1050" i="1" dirty="0">
                <a:solidFill>
                  <a:srgbClr val="777777"/>
                </a:solidFill>
                <a:latin typeface="Calibri" pitchFamily="34" charset="0"/>
                <a:ea typeface="Calibri" pitchFamily="34" charset="-122"/>
                <a:cs typeface="Calibri" pitchFamily="34" charset="-120"/>
              </a:rPr>
              <a:t>CDP vs. Fragmented Salesforce</a:t>
            </a:r>
            <a:endParaRPr lang="en-US" sz="1050" dirty="0"/>
          </a:p>
        </p:txBody>
      </p:sp>
      <p:sp>
        <p:nvSpPr>
          <p:cNvPr id="17" name="Shape 15"/>
          <p:cNvSpPr/>
          <p:nvPr/>
        </p:nvSpPr>
        <p:spPr>
          <a:xfrm>
            <a:off x="512064" y="1773936"/>
            <a:ext cx="3401568" cy="20117"/>
          </a:xfrm>
          <a:prstGeom prst="rect">
            <a:avLst/>
          </a:prstGeom>
          <a:solidFill>
            <a:srgbClr val="D4D4D4"/>
          </a:solidFill>
          <a:ln w="12700">
            <a:solidFill>
              <a:srgbClr val="D4D4D4"/>
            </a:solidFill>
            <a:prstDash val="solid"/>
          </a:ln>
        </p:spPr>
        <p:txBody>
          <a:bodyPr/>
          <a:lstStyle/>
          <a:p>
            <a:endParaRPr lang="en-US"/>
          </a:p>
        </p:txBody>
      </p:sp>
      <p:sp>
        <p:nvSpPr>
          <p:cNvPr id="18" name="Text 16"/>
          <p:cNvSpPr/>
          <p:nvPr/>
        </p:nvSpPr>
        <p:spPr>
          <a:xfrm>
            <a:off x="512064" y="1828800"/>
            <a:ext cx="3401568" cy="457200"/>
          </a:xfrm>
          <a:prstGeom prst="rect">
            <a:avLst/>
          </a:prstGeom>
          <a:noFill/>
          <a:ln/>
        </p:spPr>
        <p:txBody>
          <a:bodyPr wrap="square" lIns="0" tIns="0" rIns="0" bIns="0" rtlCol="0" anchor="ctr"/>
          <a:lstStyle/>
          <a:p>
            <a:pPr marL="0" indent="0">
              <a:buNone/>
            </a:pPr>
            <a:r>
              <a:rPr lang="en-US" sz="1100" i="1" dirty="0">
                <a:solidFill>
                  <a:srgbClr val="333333"/>
                </a:solidFill>
                <a:latin typeface="Calibri" pitchFamily="34" charset="0"/>
                <a:ea typeface="Calibri" pitchFamily="34" charset="-122"/>
                <a:cs typeface="Calibri" pitchFamily="34" charset="-120"/>
              </a:rPr>
              <a:t>How do we unify customer identity across 4–5 Salesforce instances?</a:t>
            </a:r>
            <a:endParaRPr lang="en-US" sz="1100" dirty="0"/>
          </a:p>
        </p:txBody>
      </p:sp>
      <p:sp>
        <p:nvSpPr>
          <p:cNvPr id="19" name="Shape 17"/>
          <p:cNvSpPr/>
          <p:nvPr/>
        </p:nvSpPr>
        <p:spPr>
          <a:xfrm>
            <a:off x="512064" y="2359152"/>
            <a:ext cx="3401568" cy="1536192"/>
          </a:xfrm>
          <a:prstGeom prst="rect">
            <a:avLst/>
          </a:prstGeom>
          <a:solidFill>
            <a:srgbClr val="F4F4F4"/>
          </a:solidFill>
          <a:ln w="12700">
            <a:solidFill>
              <a:srgbClr val="D4D4D4"/>
            </a:solidFill>
            <a:prstDash val="solid"/>
          </a:ln>
        </p:spPr>
        <p:txBody>
          <a:bodyPr/>
          <a:lstStyle/>
          <a:p>
            <a:endParaRPr lang="en-US"/>
          </a:p>
        </p:txBody>
      </p:sp>
      <p:sp>
        <p:nvSpPr>
          <p:cNvPr id="20" name="Shape 18"/>
          <p:cNvSpPr/>
          <p:nvPr/>
        </p:nvSpPr>
        <p:spPr>
          <a:xfrm>
            <a:off x="512064" y="2359152"/>
            <a:ext cx="50292" cy="1536192"/>
          </a:xfrm>
          <a:prstGeom prst="rect">
            <a:avLst/>
          </a:prstGeom>
          <a:solidFill>
            <a:srgbClr val="CC0000"/>
          </a:solidFill>
          <a:ln w="12700">
            <a:solidFill>
              <a:srgbClr val="CC0000"/>
            </a:solidFill>
            <a:prstDash val="solid"/>
          </a:ln>
        </p:spPr>
        <p:txBody>
          <a:bodyPr/>
          <a:lstStyle/>
          <a:p>
            <a:endParaRPr lang="en-US"/>
          </a:p>
        </p:txBody>
      </p:sp>
      <p:sp>
        <p:nvSpPr>
          <p:cNvPr id="21" name="Text 19"/>
          <p:cNvSpPr/>
          <p:nvPr/>
        </p:nvSpPr>
        <p:spPr>
          <a:xfrm>
            <a:off x="621792" y="2423160"/>
            <a:ext cx="3218688" cy="310896"/>
          </a:xfrm>
          <a:prstGeom prst="rect">
            <a:avLst/>
          </a:prstGeom>
          <a:noFill/>
          <a:ln/>
        </p:spPr>
        <p:txBody>
          <a:bodyPr wrap="square" lIns="0" tIns="0" rIns="0" bIns="0" rtlCol="0" anchor="ctr"/>
          <a:lstStyle/>
          <a:p>
            <a:pPr marL="0" indent="0">
              <a:buNone/>
            </a:pPr>
            <a:r>
              <a:rPr lang="en-US" sz="1050" b="1" dirty="0">
                <a:solidFill>
                  <a:srgbClr val="1F1F1F"/>
                </a:solidFill>
                <a:latin typeface="Calibri" pitchFamily="34" charset="0"/>
                <a:ea typeface="Calibri" pitchFamily="34" charset="-122"/>
                <a:cs typeface="Calibri" pitchFamily="34" charset="-120"/>
              </a:rPr>
              <a:t>Option A — CDP as Central Hub  (Recommended)</a:t>
            </a:r>
            <a:endParaRPr lang="en-US" sz="1050" dirty="0"/>
          </a:p>
        </p:txBody>
      </p:sp>
      <p:sp>
        <p:nvSpPr>
          <p:cNvPr id="22" name="Text 20"/>
          <p:cNvSpPr/>
          <p:nvPr/>
        </p:nvSpPr>
        <p:spPr>
          <a:xfrm>
            <a:off x="621792" y="2743200"/>
            <a:ext cx="3218688" cy="1078992"/>
          </a:xfrm>
          <a:prstGeom prst="rect">
            <a:avLst/>
          </a:prstGeom>
          <a:noFill/>
          <a:ln/>
        </p:spPr>
        <p:txBody>
          <a:bodyPr wrap="square" lIns="0" tIns="0" rIns="0" bIns="0" rtlCol="0" anchor="t"/>
          <a:lstStyle/>
          <a:p>
            <a:pPr marL="0" indent="0">
              <a:buNone/>
            </a:pPr>
            <a:r>
              <a:rPr lang="en-US" sz="1000" dirty="0">
                <a:solidFill>
                  <a:srgbClr val="555555"/>
                </a:solidFill>
                <a:latin typeface="Calibri" pitchFamily="34" charset="0"/>
                <a:ea typeface="Calibri" pitchFamily="34" charset="-122"/>
                <a:cs typeface="Calibri" pitchFamily="34" charset="-120"/>
              </a:rPr>
              <a:t>Single source of truth for customer data. Enables unified e-commerce, personalization, and segmentation without forcing Salesforce consolidation. Delivers unification benefits without blocking on S/4 timeline.</a:t>
            </a:r>
            <a:endParaRPr lang="en-US" sz="1000" dirty="0"/>
          </a:p>
        </p:txBody>
      </p:sp>
      <p:sp>
        <p:nvSpPr>
          <p:cNvPr id="23" name="Shape 21"/>
          <p:cNvSpPr/>
          <p:nvPr/>
        </p:nvSpPr>
        <p:spPr>
          <a:xfrm>
            <a:off x="512064" y="3986784"/>
            <a:ext cx="3401568" cy="1417320"/>
          </a:xfrm>
          <a:prstGeom prst="rect">
            <a:avLst/>
          </a:prstGeom>
          <a:solidFill>
            <a:srgbClr val="EBEBEB"/>
          </a:solidFill>
          <a:ln w="12700">
            <a:solidFill>
              <a:srgbClr val="D4D4D4"/>
            </a:solidFill>
            <a:prstDash val="solid"/>
          </a:ln>
        </p:spPr>
        <p:txBody>
          <a:bodyPr/>
          <a:lstStyle/>
          <a:p>
            <a:endParaRPr lang="en-US"/>
          </a:p>
        </p:txBody>
      </p:sp>
      <p:sp>
        <p:nvSpPr>
          <p:cNvPr id="24" name="Shape 22"/>
          <p:cNvSpPr/>
          <p:nvPr/>
        </p:nvSpPr>
        <p:spPr>
          <a:xfrm>
            <a:off x="512064" y="3986784"/>
            <a:ext cx="50292" cy="1417320"/>
          </a:xfrm>
          <a:prstGeom prst="rect">
            <a:avLst/>
          </a:prstGeom>
          <a:solidFill>
            <a:srgbClr val="A8A8A8"/>
          </a:solidFill>
          <a:ln w="12700">
            <a:solidFill>
              <a:srgbClr val="A8A8A8"/>
            </a:solidFill>
            <a:prstDash val="solid"/>
          </a:ln>
        </p:spPr>
        <p:txBody>
          <a:bodyPr/>
          <a:lstStyle/>
          <a:p>
            <a:endParaRPr lang="en-US"/>
          </a:p>
        </p:txBody>
      </p:sp>
      <p:sp>
        <p:nvSpPr>
          <p:cNvPr id="25" name="Text 23"/>
          <p:cNvSpPr/>
          <p:nvPr/>
        </p:nvSpPr>
        <p:spPr>
          <a:xfrm>
            <a:off x="621792" y="4050792"/>
            <a:ext cx="3218688" cy="310896"/>
          </a:xfrm>
          <a:prstGeom prst="rect">
            <a:avLst/>
          </a:prstGeom>
          <a:noFill/>
          <a:ln/>
        </p:spPr>
        <p:txBody>
          <a:bodyPr wrap="square" lIns="0" tIns="0" rIns="0" bIns="0" rtlCol="0" anchor="ctr"/>
          <a:lstStyle/>
          <a:p>
            <a:pPr marL="0" indent="0">
              <a:buNone/>
            </a:pPr>
            <a:r>
              <a:rPr lang="en-US" sz="1050" b="1" dirty="0">
                <a:solidFill>
                  <a:srgbClr val="333333"/>
                </a:solidFill>
                <a:latin typeface="Calibri" pitchFamily="34" charset="0"/>
                <a:ea typeface="Calibri" pitchFamily="34" charset="-122"/>
                <a:cs typeface="Calibri" pitchFamily="34" charset="-120"/>
              </a:rPr>
              <a:t>Option B — Salesforce Consolidation First</a:t>
            </a:r>
            <a:endParaRPr lang="en-US" sz="1050" dirty="0"/>
          </a:p>
        </p:txBody>
      </p:sp>
      <p:sp>
        <p:nvSpPr>
          <p:cNvPr id="26" name="Text 24"/>
          <p:cNvSpPr/>
          <p:nvPr/>
        </p:nvSpPr>
        <p:spPr>
          <a:xfrm>
            <a:off x="621792" y="4370832"/>
            <a:ext cx="3218688" cy="960120"/>
          </a:xfrm>
          <a:prstGeom prst="rect">
            <a:avLst/>
          </a:prstGeom>
          <a:noFill/>
          <a:ln/>
        </p:spPr>
        <p:txBody>
          <a:bodyPr wrap="square" lIns="0" tIns="0" rIns="0" bIns="0" rtlCol="0" anchor="t"/>
          <a:lstStyle/>
          <a:p>
            <a:pPr marL="0" indent="0">
              <a:buNone/>
            </a:pPr>
            <a:r>
              <a:rPr lang="en-US" sz="1000" dirty="0">
                <a:solidFill>
                  <a:srgbClr val="555555"/>
                </a:solidFill>
                <a:latin typeface="Calibri" pitchFamily="34" charset="0"/>
                <a:ea typeface="Calibri" pitchFamily="34" charset="-122"/>
                <a:cs typeface="Calibri" pitchFamily="34" charset="-120"/>
              </a:rPr>
              <a:t>Long-horizon, high-risk consolidation of all SBG instances. Blocked until business processes harmonize. Not feasible during S/4 window per Sheila Jordan's direction.</a:t>
            </a:r>
            <a:endParaRPr lang="en-US" sz="1000" dirty="0"/>
          </a:p>
        </p:txBody>
      </p:sp>
      <p:sp>
        <p:nvSpPr>
          <p:cNvPr id="27" name="Shape 25"/>
          <p:cNvSpPr/>
          <p:nvPr/>
        </p:nvSpPr>
        <p:spPr>
          <a:xfrm>
            <a:off x="512064" y="5486400"/>
            <a:ext cx="3401568" cy="914400"/>
          </a:xfrm>
          <a:prstGeom prst="rect">
            <a:avLst/>
          </a:prstGeom>
          <a:solidFill>
            <a:srgbClr val="111111"/>
          </a:solidFill>
          <a:ln w="12700">
            <a:solidFill>
              <a:srgbClr val="111111"/>
            </a:solidFill>
            <a:prstDash val="solid"/>
          </a:ln>
        </p:spPr>
        <p:txBody>
          <a:bodyPr/>
          <a:lstStyle/>
          <a:p>
            <a:endParaRPr lang="en-US"/>
          </a:p>
        </p:txBody>
      </p:sp>
      <p:sp>
        <p:nvSpPr>
          <p:cNvPr id="28" name="Shape 26"/>
          <p:cNvSpPr/>
          <p:nvPr/>
        </p:nvSpPr>
        <p:spPr>
          <a:xfrm>
            <a:off x="512064" y="5486400"/>
            <a:ext cx="50292" cy="914400"/>
          </a:xfrm>
          <a:prstGeom prst="rect">
            <a:avLst/>
          </a:prstGeom>
          <a:solidFill>
            <a:srgbClr val="CC0000"/>
          </a:solidFill>
          <a:ln w="12700">
            <a:solidFill>
              <a:srgbClr val="CC0000"/>
            </a:solidFill>
            <a:prstDash val="solid"/>
          </a:ln>
        </p:spPr>
        <p:txBody>
          <a:bodyPr/>
          <a:lstStyle/>
          <a:p>
            <a:endParaRPr lang="en-US"/>
          </a:p>
        </p:txBody>
      </p:sp>
      <p:sp>
        <p:nvSpPr>
          <p:cNvPr id="29" name="Text 27"/>
          <p:cNvSpPr/>
          <p:nvPr/>
        </p:nvSpPr>
        <p:spPr>
          <a:xfrm>
            <a:off x="621792" y="5541264"/>
            <a:ext cx="3218688" cy="804672"/>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  CDP as near-term hub — unification without S/4 dependency</a:t>
            </a:r>
            <a:endParaRPr lang="en-US" sz="1000" dirty="0"/>
          </a:p>
        </p:txBody>
      </p:sp>
      <p:sp>
        <p:nvSpPr>
          <p:cNvPr id="30" name="Shape 28"/>
          <p:cNvSpPr/>
          <p:nvPr/>
        </p:nvSpPr>
        <p:spPr>
          <a:xfrm>
            <a:off x="4242816" y="1133856"/>
            <a:ext cx="3767328" cy="5532120"/>
          </a:xfrm>
          <a:prstGeom prst="rect">
            <a:avLst/>
          </a:prstGeom>
          <a:solidFill>
            <a:srgbClr val="FFFFFF"/>
          </a:solidFill>
          <a:ln w="10160">
            <a:solidFill>
              <a:srgbClr val="D4D4D4"/>
            </a:solidFill>
            <a:prstDash val="solid"/>
          </a:ln>
          <a:effectLst>
            <a:outerShdw blurRad="63500" dist="25400" dir="8100000" algn="bl" rotWithShape="0">
              <a:srgbClr val="000000">
                <a:alpha val="7000"/>
              </a:srgbClr>
            </a:outerShdw>
          </a:effectLst>
        </p:spPr>
        <p:txBody>
          <a:bodyPr/>
          <a:lstStyle/>
          <a:p>
            <a:endParaRPr lang="en-US"/>
          </a:p>
        </p:txBody>
      </p:sp>
      <p:sp>
        <p:nvSpPr>
          <p:cNvPr id="31" name="Shape 29"/>
          <p:cNvSpPr/>
          <p:nvPr/>
        </p:nvSpPr>
        <p:spPr>
          <a:xfrm>
            <a:off x="4242816" y="1133856"/>
            <a:ext cx="3767328" cy="50292"/>
          </a:xfrm>
          <a:prstGeom prst="rect">
            <a:avLst/>
          </a:prstGeom>
          <a:solidFill>
            <a:srgbClr val="111111"/>
          </a:solidFill>
          <a:ln w="12700">
            <a:solidFill>
              <a:srgbClr val="111111"/>
            </a:solidFill>
            <a:prstDash val="solid"/>
          </a:ln>
        </p:spPr>
        <p:txBody>
          <a:bodyPr/>
          <a:lstStyle/>
          <a:p>
            <a:endParaRPr lang="en-US"/>
          </a:p>
        </p:txBody>
      </p:sp>
      <p:sp>
        <p:nvSpPr>
          <p:cNvPr id="32" name="Shape 30"/>
          <p:cNvSpPr/>
          <p:nvPr/>
        </p:nvSpPr>
        <p:spPr>
          <a:xfrm>
            <a:off x="4425696" y="1225296"/>
            <a:ext cx="457200" cy="457200"/>
          </a:xfrm>
          <a:prstGeom prst="rect">
            <a:avLst/>
          </a:prstGeom>
          <a:solidFill>
            <a:srgbClr val="CC0000"/>
          </a:solidFill>
          <a:ln w="12700">
            <a:solidFill>
              <a:srgbClr val="CC0000"/>
            </a:solidFill>
            <a:prstDash val="solid"/>
          </a:ln>
        </p:spPr>
        <p:txBody>
          <a:bodyPr/>
          <a:lstStyle/>
          <a:p>
            <a:endParaRPr lang="en-US"/>
          </a:p>
        </p:txBody>
      </p:sp>
      <p:sp>
        <p:nvSpPr>
          <p:cNvPr id="33" name="Text 31"/>
          <p:cNvSpPr/>
          <p:nvPr/>
        </p:nvSpPr>
        <p:spPr>
          <a:xfrm>
            <a:off x="4425696" y="122529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34" name="Text 32"/>
          <p:cNvSpPr/>
          <p:nvPr/>
        </p:nvSpPr>
        <p:spPr>
          <a:xfrm>
            <a:off x="4992624" y="1225296"/>
            <a:ext cx="2926080" cy="274320"/>
          </a:xfrm>
          <a:prstGeom prst="rect">
            <a:avLst/>
          </a:prstGeom>
          <a:noFill/>
          <a:ln/>
        </p:spPr>
        <p:txBody>
          <a:bodyPr wrap="square" lIns="0" tIns="0" rIns="0" bIns="0" rtlCol="0" anchor="ctr"/>
          <a:lstStyle/>
          <a:p>
            <a:pPr marL="0" indent="0">
              <a:buNone/>
            </a:pPr>
            <a:r>
              <a:rPr lang="en-US" sz="1400" b="1" dirty="0">
                <a:solidFill>
                  <a:srgbClr val="1F1F1F"/>
                </a:solidFill>
                <a:latin typeface="Calibri" pitchFamily="34" charset="0"/>
                <a:ea typeface="Calibri" pitchFamily="34" charset="-122"/>
                <a:cs typeface="Calibri" pitchFamily="34" charset="-120"/>
              </a:rPr>
              <a:t>Adobe Stack Migration</a:t>
            </a:r>
            <a:endParaRPr lang="en-US" sz="1400" dirty="0"/>
          </a:p>
        </p:txBody>
      </p:sp>
      <p:sp>
        <p:nvSpPr>
          <p:cNvPr id="35" name="Text 33"/>
          <p:cNvSpPr/>
          <p:nvPr/>
        </p:nvSpPr>
        <p:spPr>
          <a:xfrm>
            <a:off x="4992624" y="1499616"/>
            <a:ext cx="2926080" cy="219456"/>
          </a:xfrm>
          <a:prstGeom prst="rect">
            <a:avLst/>
          </a:prstGeom>
          <a:noFill/>
          <a:ln/>
        </p:spPr>
        <p:txBody>
          <a:bodyPr wrap="square" lIns="0" tIns="0" rIns="0" bIns="0" rtlCol="0" anchor="ctr"/>
          <a:lstStyle/>
          <a:p>
            <a:pPr marL="0" indent="0">
              <a:buNone/>
            </a:pPr>
            <a:r>
              <a:rPr lang="en-US" sz="1050" i="1" dirty="0">
                <a:solidFill>
                  <a:srgbClr val="777777"/>
                </a:solidFill>
                <a:latin typeface="Calibri" pitchFamily="34" charset="0"/>
                <a:ea typeface="Calibri" pitchFamily="34" charset="-122"/>
                <a:cs typeface="Calibri" pitchFamily="34" charset="-120"/>
              </a:rPr>
              <a:t>Web SDK &amp; AEP Enablement</a:t>
            </a:r>
            <a:endParaRPr lang="en-US" sz="1050" dirty="0"/>
          </a:p>
        </p:txBody>
      </p:sp>
      <p:sp>
        <p:nvSpPr>
          <p:cNvPr id="36" name="Shape 34"/>
          <p:cNvSpPr/>
          <p:nvPr/>
        </p:nvSpPr>
        <p:spPr>
          <a:xfrm>
            <a:off x="4425696" y="1773936"/>
            <a:ext cx="3401568" cy="20117"/>
          </a:xfrm>
          <a:prstGeom prst="rect">
            <a:avLst/>
          </a:prstGeom>
          <a:solidFill>
            <a:srgbClr val="D4D4D4"/>
          </a:solidFill>
          <a:ln w="12700">
            <a:solidFill>
              <a:srgbClr val="D4D4D4"/>
            </a:solidFill>
            <a:prstDash val="solid"/>
          </a:ln>
        </p:spPr>
        <p:txBody>
          <a:bodyPr/>
          <a:lstStyle/>
          <a:p>
            <a:endParaRPr lang="en-US"/>
          </a:p>
        </p:txBody>
      </p:sp>
      <p:sp>
        <p:nvSpPr>
          <p:cNvPr id="37" name="Text 35"/>
          <p:cNvSpPr/>
          <p:nvPr/>
        </p:nvSpPr>
        <p:spPr>
          <a:xfrm>
            <a:off x="4425696" y="1828800"/>
            <a:ext cx="3401568" cy="457200"/>
          </a:xfrm>
          <a:prstGeom prst="rect">
            <a:avLst/>
          </a:prstGeom>
          <a:noFill/>
          <a:ln/>
        </p:spPr>
        <p:txBody>
          <a:bodyPr wrap="square" lIns="0" tIns="0" rIns="0" bIns="0" rtlCol="0" anchor="ctr"/>
          <a:lstStyle/>
          <a:p>
            <a:pPr marL="0" indent="0">
              <a:buNone/>
            </a:pPr>
            <a:r>
              <a:rPr lang="en-US" sz="1100" i="1" dirty="0">
                <a:solidFill>
                  <a:srgbClr val="333333"/>
                </a:solidFill>
                <a:latin typeface="Calibri" pitchFamily="34" charset="0"/>
                <a:ea typeface="Calibri" pitchFamily="34" charset="-122"/>
                <a:cs typeface="Calibri" pitchFamily="34" charset="-120"/>
              </a:rPr>
              <a:t>When and how do we migrate to Web SDK and enable Adobe Experience Platform?</a:t>
            </a:r>
            <a:endParaRPr lang="en-US" sz="1100" dirty="0"/>
          </a:p>
        </p:txBody>
      </p:sp>
      <p:sp>
        <p:nvSpPr>
          <p:cNvPr id="38" name="Shape 36"/>
          <p:cNvSpPr/>
          <p:nvPr/>
        </p:nvSpPr>
        <p:spPr>
          <a:xfrm>
            <a:off x="4425696" y="2359152"/>
            <a:ext cx="3401568" cy="1536192"/>
          </a:xfrm>
          <a:prstGeom prst="rect">
            <a:avLst/>
          </a:prstGeom>
          <a:solidFill>
            <a:srgbClr val="F4F4F4"/>
          </a:solidFill>
          <a:ln w="12700">
            <a:solidFill>
              <a:srgbClr val="D4D4D4"/>
            </a:solidFill>
            <a:prstDash val="solid"/>
          </a:ln>
        </p:spPr>
        <p:txBody>
          <a:bodyPr/>
          <a:lstStyle/>
          <a:p>
            <a:endParaRPr lang="en-US"/>
          </a:p>
        </p:txBody>
      </p:sp>
      <p:sp>
        <p:nvSpPr>
          <p:cNvPr id="39" name="Shape 37"/>
          <p:cNvSpPr/>
          <p:nvPr/>
        </p:nvSpPr>
        <p:spPr>
          <a:xfrm>
            <a:off x="4425696" y="2359152"/>
            <a:ext cx="50292" cy="1536192"/>
          </a:xfrm>
          <a:prstGeom prst="rect">
            <a:avLst/>
          </a:prstGeom>
          <a:solidFill>
            <a:srgbClr val="CC0000"/>
          </a:solidFill>
          <a:ln w="12700">
            <a:solidFill>
              <a:srgbClr val="CC0000"/>
            </a:solidFill>
            <a:prstDash val="solid"/>
          </a:ln>
        </p:spPr>
        <p:txBody>
          <a:bodyPr/>
          <a:lstStyle/>
          <a:p>
            <a:endParaRPr lang="en-US"/>
          </a:p>
        </p:txBody>
      </p:sp>
      <p:sp>
        <p:nvSpPr>
          <p:cNvPr id="40" name="Text 38"/>
          <p:cNvSpPr/>
          <p:nvPr/>
        </p:nvSpPr>
        <p:spPr>
          <a:xfrm>
            <a:off x="4535424" y="2423160"/>
            <a:ext cx="3218688" cy="310896"/>
          </a:xfrm>
          <a:prstGeom prst="rect">
            <a:avLst/>
          </a:prstGeom>
          <a:noFill/>
          <a:ln/>
        </p:spPr>
        <p:txBody>
          <a:bodyPr wrap="square" lIns="0" tIns="0" rIns="0" bIns="0" rtlCol="0" anchor="ctr"/>
          <a:lstStyle/>
          <a:p>
            <a:pPr marL="0" indent="0">
              <a:buNone/>
            </a:pPr>
            <a:r>
              <a:rPr lang="en-US" sz="1050" b="1" dirty="0">
                <a:solidFill>
                  <a:srgbClr val="1F1F1F"/>
                </a:solidFill>
                <a:latin typeface="Calibri" pitchFamily="34" charset="0"/>
                <a:ea typeface="Calibri" pitchFamily="34" charset="-122"/>
                <a:cs typeface="Calibri" pitchFamily="34" charset="-120"/>
              </a:rPr>
              <a:t>Option A — Fix &amp; Stabilize First  (Required)</a:t>
            </a:r>
            <a:endParaRPr lang="en-US" sz="1050" dirty="0"/>
          </a:p>
        </p:txBody>
      </p:sp>
      <p:sp>
        <p:nvSpPr>
          <p:cNvPr id="41" name="Text 39"/>
          <p:cNvSpPr/>
          <p:nvPr/>
        </p:nvSpPr>
        <p:spPr>
          <a:xfrm>
            <a:off x="4535424" y="2743200"/>
            <a:ext cx="3218688" cy="1078992"/>
          </a:xfrm>
          <a:prstGeom prst="rect">
            <a:avLst/>
          </a:prstGeom>
          <a:noFill/>
          <a:ln/>
        </p:spPr>
        <p:txBody>
          <a:bodyPr wrap="square" lIns="0" tIns="0" rIns="0" bIns="0" rtlCol="0" anchor="t"/>
          <a:lstStyle/>
          <a:p>
            <a:pPr marL="0" indent="0">
              <a:buNone/>
            </a:pPr>
            <a:r>
              <a:rPr lang="en-US" sz="1000" dirty="0">
                <a:solidFill>
                  <a:srgbClr val="555555"/>
                </a:solidFill>
                <a:latin typeface="Calibri" pitchFamily="34" charset="0"/>
                <a:ea typeface="Calibri" pitchFamily="34" charset="-122"/>
                <a:cs typeface="Calibri" pitchFamily="34" charset="-120"/>
              </a:rPr>
              <a:t>Web SDK is strict — malformed data is dropped entirely. Must audit and remediate Adobe Tags, rules, and server calls before any migration. Non-optional foundational work, ~3–4 months.</a:t>
            </a:r>
            <a:endParaRPr lang="en-US" sz="1000" dirty="0"/>
          </a:p>
        </p:txBody>
      </p:sp>
      <p:sp>
        <p:nvSpPr>
          <p:cNvPr id="42" name="Shape 40"/>
          <p:cNvSpPr/>
          <p:nvPr/>
        </p:nvSpPr>
        <p:spPr>
          <a:xfrm>
            <a:off x="4425696" y="3986784"/>
            <a:ext cx="3401568" cy="1417320"/>
          </a:xfrm>
          <a:prstGeom prst="rect">
            <a:avLst/>
          </a:prstGeom>
          <a:solidFill>
            <a:srgbClr val="EBEBEB"/>
          </a:solidFill>
          <a:ln w="12700">
            <a:solidFill>
              <a:srgbClr val="D4D4D4"/>
            </a:solidFill>
            <a:prstDash val="solid"/>
          </a:ln>
        </p:spPr>
        <p:txBody>
          <a:bodyPr/>
          <a:lstStyle/>
          <a:p>
            <a:endParaRPr lang="en-US"/>
          </a:p>
        </p:txBody>
      </p:sp>
      <p:sp>
        <p:nvSpPr>
          <p:cNvPr id="43" name="Shape 41"/>
          <p:cNvSpPr/>
          <p:nvPr/>
        </p:nvSpPr>
        <p:spPr>
          <a:xfrm>
            <a:off x="4425696" y="3986784"/>
            <a:ext cx="50292" cy="1417320"/>
          </a:xfrm>
          <a:prstGeom prst="rect">
            <a:avLst/>
          </a:prstGeom>
          <a:solidFill>
            <a:srgbClr val="A8A8A8"/>
          </a:solidFill>
          <a:ln w="12700">
            <a:solidFill>
              <a:srgbClr val="A8A8A8"/>
            </a:solidFill>
            <a:prstDash val="solid"/>
          </a:ln>
        </p:spPr>
        <p:txBody>
          <a:bodyPr/>
          <a:lstStyle/>
          <a:p>
            <a:endParaRPr lang="en-US"/>
          </a:p>
        </p:txBody>
      </p:sp>
      <p:sp>
        <p:nvSpPr>
          <p:cNvPr id="44" name="Text 42"/>
          <p:cNvSpPr/>
          <p:nvPr/>
        </p:nvSpPr>
        <p:spPr>
          <a:xfrm>
            <a:off x="4535424" y="4050792"/>
            <a:ext cx="3218688" cy="310896"/>
          </a:xfrm>
          <a:prstGeom prst="rect">
            <a:avLst/>
          </a:prstGeom>
          <a:noFill/>
          <a:ln/>
        </p:spPr>
        <p:txBody>
          <a:bodyPr wrap="square" lIns="0" tIns="0" rIns="0" bIns="0" rtlCol="0" anchor="ctr"/>
          <a:lstStyle/>
          <a:p>
            <a:pPr marL="0" indent="0">
              <a:buNone/>
            </a:pPr>
            <a:r>
              <a:rPr lang="en-US" sz="1050" b="1" dirty="0">
                <a:solidFill>
                  <a:srgbClr val="333333"/>
                </a:solidFill>
                <a:latin typeface="Calibri" pitchFamily="34" charset="0"/>
                <a:ea typeface="Calibri" pitchFamily="34" charset="-122"/>
                <a:cs typeface="Calibri" pitchFamily="34" charset="-120"/>
              </a:rPr>
              <a:t>Option B — AEP + Privacy Shield (Phase 2)</a:t>
            </a:r>
            <a:endParaRPr lang="en-US" sz="1050" dirty="0"/>
          </a:p>
        </p:txBody>
      </p:sp>
      <p:sp>
        <p:nvSpPr>
          <p:cNvPr id="45" name="Text 43"/>
          <p:cNvSpPr/>
          <p:nvPr/>
        </p:nvSpPr>
        <p:spPr>
          <a:xfrm>
            <a:off x="4535424" y="4370832"/>
            <a:ext cx="3218688" cy="960120"/>
          </a:xfrm>
          <a:prstGeom prst="rect">
            <a:avLst/>
          </a:prstGeom>
          <a:noFill/>
          <a:ln/>
        </p:spPr>
        <p:txBody>
          <a:bodyPr wrap="square" lIns="0" tIns="0" rIns="0" bIns="0" rtlCol="0" anchor="t"/>
          <a:lstStyle/>
          <a:p>
            <a:pPr marL="0" indent="0">
              <a:buNone/>
            </a:pPr>
            <a:r>
              <a:rPr lang="en-US" sz="1000" dirty="0">
                <a:solidFill>
                  <a:srgbClr val="555555"/>
                </a:solidFill>
                <a:latin typeface="Calibri" pitchFamily="34" charset="0"/>
                <a:ea typeface="Calibri" pitchFamily="34" charset="-122"/>
                <a:cs typeface="Calibri" pitchFamily="34" charset="-120"/>
              </a:rPr>
              <a:t>Identity graph, OneTrust UCPM, Marketo integration — person-centric analytics and audience activation. Requires Fix &amp; Stabilize as prerequisite before beginning.</a:t>
            </a:r>
            <a:endParaRPr lang="en-US" sz="1000" dirty="0"/>
          </a:p>
        </p:txBody>
      </p:sp>
      <p:sp>
        <p:nvSpPr>
          <p:cNvPr id="46" name="Shape 44"/>
          <p:cNvSpPr/>
          <p:nvPr/>
        </p:nvSpPr>
        <p:spPr>
          <a:xfrm>
            <a:off x="4425696" y="5486400"/>
            <a:ext cx="3401568" cy="914400"/>
          </a:xfrm>
          <a:prstGeom prst="rect">
            <a:avLst/>
          </a:prstGeom>
          <a:solidFill>
            <a:srgbClr val="111111"/>
          </a:solidFill>
          <a:ln w="12700">
            <a:solidFill>
              <a:srgbClr val="111111"/>
            </a:solidFill>
            <a:prstDash val="solid"/>
          </a:ln>
        </p:spPr>
        <p:txBody>
          <a:bodyPr/>
          <a:lstStyle/>
          <a:p>
            <a:endParaRPr lang="en-US"/>
          </a:p>
        </p:txBody>
      </p:sp>
      <p:sp>
        <p:nvSpPr>
          <p:cNvPr id="47" name="Shape 45"/>
          <p:cNvSpPr/>
          <p:nvPr/>
        </p:nvSpPr>
        <p:spPr>
          <a:xfrm>
            <a:off x="4425696" y="5486400"/>
            <a:ext cx="50292" cy="914400"/>
          </a:xfrm>
          <a:prstGeom prst="rect">
            <a:avLst/>
          </a:prstGeom>
          <a:solidFill>
            <a:srgbClr val="CC0000"/>
          </a:solidFill>
          <a:ln w="12700">
            <a:solidFill>
              <a:srgbClr val="CC0000"/>
            </a:solidFill>
            <a:prstDash val="solid"/>
          </a:ln>
        </p:spPr>
        <p:txBody>
          <a:bodyPr/>
          <a:lstStyle/>
          <a:p>
            <a:endParaRPr lang="en-US"/>
          </a:p>
        </p:txBody>
      </p:sp>
      <p:sp>
        <p:nvSpPr>
          <p:cNvPr id="48" name="Text 46"/>
          <p:cNvSpPr/>
          <p:nvPr/>
        </p:nvSpPr>
        <p:spPr>
          <a:xfrm>
            <a:off x="4535424" y="5541264"/>
            <a:ext cx="3218688" cy="804672"/>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  Approve Fix &amp; Stabilize immediately — required regardless of future-state</a:t>
            </a:r>
            <a:endParaRPr lang="en-US" sz="1000" dirty="0"/>
          </a:p>
        </p:txBody>
      </p:sp>
      <p:sp>
        <p:nvSpPr>
          <p:cNvPr id="49" name="Shape 47"/>
          <p:cNvSpPr/>
          <p:nvPr/>
        </p:nvSpPr>
        <p:spPr>
          <a:xfrm>
            <a:off x="8156448" y="1133856"/>
            <a:ext cx="3767328" cy="5532120"/>
          </a:xfrm>
          <a:prstGeom prst="rect">
            <a:avLst/>
          </a:prstGeom>
          <a:solidFill>
            <a:srgbClr val="FFFFFF"/>
          </a:solidFill>
          <a:ln w="10160">
            <a:solidFill>
              <a:srgbClr val="D4D4D4"/>
            </a:solidFill>
            <a:prstDash val="solid"/>
          </a:ln>
          <a:effectLst>
            <a:outerShdw blurRad="63500" dist="25400" dir="8100000" algn="bl" rotWithShape="0">
              <a:srgbClr val="000000">
                <a:alpha val="7000"/>
              </a:srgbClr>
            </a:outerShdw>
          </a:effectLst>
        </p:spPr>
        <p:txBody>
          <a:bodyPr/>
          <a:lstStyle/>
          <a:p>
            <a:endParaRPr lang="en-US"/>
          </a:p>
        </p:txBody>
      </p:sp>
      <p:sp>
        <p:nvSpPr>
          <p:cNvPr id="50" name="Shape 48"/>
          <p:cNvSpPr/>
          <p:nvPr/>
        </p:nvSpPr>
        <p:spPr>
          <a:xfrm>
            <a:off x="8156448" y="1133856"/>
            <a:ext cx="3767328" cy="50292"/>
          </a:xfrm>
          <a:prstGeom prst="rect">
            <a:avLst/>
          </a:prstGeom>
          <a:solidFill>
            <a:srgbClr val="111111"/>
          </a:solidFill>
          <a:ln w="12700">
            <a:solidFill>
              <a:srgbClr val="111111"/>
            </a:solidFill>
            <a:prstDash val="solid"/>
          </a:ln>
        </p:spPr>
        <p:txBody>
          <a:bodyPr/>
          <a:lstStyle/>
          <a:p>
            <a:endParaRPr lang="en-US"/>
          </a:p>
        </p:txBody>
      </p:sp>
      <p:sp>
        <p:nvSpPr>
          <p:cNvPr id="51" name="Shape 49"/>
          <p:cNvSpPr/>
          <p:nvPr/>
        </p:nvSpPr>
        <p:spPr>
          <a:xfrm>
            <a:off x="8339328" y="1225296"/>
            <a:ext cx="457200" cy="457200"/>
          </a:xfrm>
          <a:prstGeom prst="rect">
            <a:avLst/>
          </a:prstGeom>
          <a:solidFill>
            <a:srgbClr val="CC0000"/>
          </a:solidFill>
          <a:ln w="12700">
            <a:solidFill>
              <a:srgbClr val="CC0000"/>
            </a:solidFill>
            <a:prstDash val="solid"/>
          </a:ln>
        </p:spPr>
        <p:txBody>
          <a:bodyPr/>
          <a:lstStyle/>
          <a:p>
            <a:endParaRPr lang="en-US"/>
          </a:p>
        </p:txBody>
      </p:sp>
      <p:sp>
        <p:nvSpPr>
          <p:cNvPr id="52" name="Text 50"/>
          <p:cNvSpPr/>
          <p:nvPr/>
        </p:nvSpPr>
        <p:spPr>
          <a:xfrm>
            <a:off x="8339328" y="122529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53" name="Text 51"/>
          <p:cNvSpPr/>
          <p:nvPr/>
        </p:nvSpPr>
        <p:spPr>
          <a:xfrm>
            <a:off x="8906256" y="1225296"/>
            <a:ext cx="2926080" cy="274320"/>
          </a:xfrm>
          <a:prstGeom prst="rect">
            <a:avLst/>
          </a:prstGeom>
          <a:noFill/>
          <a:ln/>
        </p:spPr>
        <p:txBody>
          <a:bodyPr wrap="square" lIns="0" tIns="0" rIns="0" bIns="0" rtlCol="0" anchor="ctr"/>
          <a:lstStyle/>
          <a:p>
            <a:pPr marL="0" indent="0">
              <a:buNone/>
            </a:pPr>
            <a:r>
              <a:rPr lang="en-US" sz="1400" b="1" dirty="0">
                <a:solidFill>
                  <a:srgbClr val="1F1F1F"/>
                </a:solidFill>
                <a:latin typeface="Calibri" pitchFamily="34" charset="0"/>
                <a:ea typeface="Calibri" pitchFamily="34" charset="-122"/>
                <a:cs typeface="Calibri" pitchFamily="34" charset="-120"/>
              </a:rPr>
              <a:t>S/4HANA Integration Strategy</a:t>
            </a:r>
            <a:endParaRPr lang="en-US" sz="1400" dirty="0"/>
          </a:p>
        </p:txBody>
      </p:sp>
      <p:sp>
        <p:nvSpPr>
          <p:cNvPr id="54" name="Text 52"/>
          <p:cNvSpPr/>
          <p:nvPr/>
        </p:nvSpPr>
        <p:spPr>
          <a:xfrm>
            <a:off x="8906256" y="1499616"/>
            <a:ext cx="2926080" cy="219456"/>
          </a:xfrm>
          <a:prstGeom prst="rect">
            <a:avLst/>
          </a:prstGeom>
          <a:noFill/>
          <a:ln/>
        </p:spPr>
        <p:txBody>
          <a:bodyPr wrap="square" lIns="0" tIns="0" rIns="0" bIns="0" rtlCol="0" anchor="ctr"/>
          <a:lstStyle/>
          <a:p>
            <a:pPr marL="0" indent="0">
              <a:buNone/>
            </a:pPr>
            <a:r>
              <a:rPr lang="en-US" sz="1050" i="1" dirty="0">
                <a:solidFill>
                  <a:srgbClr val="777777"/>
                </a:solidFill>
                <a:latin typeface="Calibri" pitchFamily="34" charset="0"/>
                <a:ea typeface="Calibri" pitchFamily="34" charset="-122"/>
                <a:cs typeface="Calibri" pitchFamily="34" charset="-120"/>
              </a:rPr>
              <a:t>Re-architect vs. Rebuild</a:t>
            </a:r>
            <a:endParaRPr lang="en-US" sz="1050" dirty="0"/>
          </a:p>
        </p:txBody>
      </p:sp>
      <p:sp>
        <p:nvSpPr>
          <p:cNvPr id="55" name="Shape 53"/>
          <p:cNvSpPr/>
          <p:nvPr/>
        </p:nvSpPr>
        <p:spPr>
          <a:xfrm>
            <a:off x="8339328" y="1773936"/>
            <a:ext cx="3401568" cy="20117"/>
          </a:xfrm>
          <a:prstGeom prst="rect">
            <a:avLst/>
          </a:prstGeom>
          <a:solidFill>
            <a:srgbClr val="D4D4D4"/>
          </a:solidFill>
          <a:ln w="12700">
            <a:solidFill>
              <a:srgbClr val="D4D4D4"/>
            </a:solidFill>
            <a:prstDash val="solid"/>
          </a:ln>
        </p:spPr>
        <p:txBody>
          <a:bodyPr/>
          <a:lstStyle/>
          <a:p>
            <a:endParaRPr lang="en-US"/>
          </a:p>
        </p:txBody>
      </p:sp>
      <p:sp>
        <p:nvSpPr>
          <p:cNvPr id="56" name="Text 54"/>
          <p:cNvSpPr/>
          <p:nvPr/>
        </p:nvSpPr>
        <p:spPr>
          <a:xfrm>
            <a:off x="8339328" y="1828800"/>
            <a:ext cx="3401568" cy="457200"/>
          </a:xfrm>
          <a:prstGeom prst="rect">
            <a:avLst/>
          </a:prstGeom>
          <a:noFill/>
          <a:ln/>
        </p:spPr>
        <p:txBody>
          <a:bodyPr wrap="square" lIns="0" tIns="0" rIns="0" bIns="0" rtlCol="0" anchor="ctr"/>
          <a:lstStyle/>
          <a:p>
            <a:pPr marL="0" indent="0">
              <a:buNone/>
            </a:pPr>
            <a:r>
              <a:rPr lang="en-US" sz="1100" i="1" dirty="0">
                <a:solidFill>
                  <a:srgbClr val="333333"/>
                </a:solidFill>
                <a:latin typeface="Calibri" pitchFamily="34" charset="0"/>
                <a:ea typeface="Calibri" pitchFamily="34" charset="-122"/>
                <a:cs typeface="Calibri" pitchFamily="34" charset="-120"/>
              </a:rPr>
              <a:t>How are 38 cataloged integrations treated in the ECC → S/4 migration?</a:t>
            </a:r>
            <a:endParaRPr lang="en-US" sz="1100" dirty="0"/>
          </a:p>
        </p:txBody>
      </p:sp>
      <p:sp>
        <p:nvSpPr>
          <p:cNvPr id="57" name="Shape 55"/>
          <p:cNvSpPr/>
          <p:nvPr/>
        </p:nvSpPr>
        <p:spPr>
          <a:xfrm>
            <a:off x="8339328" y="2359152"/>
            <a:ext cx="3401568" cy="1536192"/>
          </a:xfrm>
          <a:prstGeom prst="rect">
            <a:avLst/>
          </a:prstGeom>
          <a:solidFill>
            <a:srgbClr val="F4F4F4"/>
          </a:solidFill>
          <a:ln w="12700">
            <a:solidFill>
              <a:srgbClr val="D4D4D4"/>
            </a:solidFill>
            <a:prstDash val="solid"/>
          </a:ln>
        </p:spPr>
        <p:txBody>
          <a:bodyPr/>
          <a:lstStyle/>
          <a:p>
            <a:endParaRPr lang="en-US"/>
          </a:p>
        </p:txBody>
      </p:sp>
      <p:sp>
        <p:nvSpPr>
          <p:cNvPr id="58" name="Shape 56"/>
          <p:cNvSpPr/>
          <p:nvPr/>
        </p:nvSpPr>
        <p:spPr>
          <a:xfrm>
            <a:off x="8339328" y="2359152"/>
            <a:ext cx="50292" cy="1536192"/>
          </a:xfrm>
          <a:prstGeom prst="rect">
            <a:avLst/>
          </a:prstGeom>
          <a:solidFill>
            <a:srgbClr val="CC0000"/>
          </a:solidFill>
          <a:ln w="12700">
            <a:solidFill>
              <a:srgbClr val="CC0000"/>
            </a:solidFill>
            <a:prstDash val="solid"/>
          </a:ln>
        </p:spPr>
        <p:txBody>
          <a:bodyPr/>
          <a:lstStyle/>
          <a:p>
            <a:endParaRPr lang="en-US"/>
          </a:p>
        </p:txBody>
      </p:sp>
      <p:sp>
        <p:nvSpPr>
          <p:cNvPr id="59" name="Text 57"/>
          <p:cNvSpPr/>
          <p:nvPr/>
        </p:nvSpPr>
        <p:spPr>
          <a:xfrm>
            <a:off x="8449056" y="2423160"/>
            <a:ext cx="3218688" cy="310896"/>
          </a:xfrm>
          <a:prstGeom prst="rect">
            <a:avLst/>
          </a:prstGeom>
          <a:noFill/>
          <a:ln/>
        </p:spPr>
        <p:txBody>
          <a:bodyPr wrap="square" lIns="0" tIns="0" rIns="0" bIns="0" rtlCol="0" anchor="ctr"/>
          <a:lstStyle/>
          <a:p>
            <a:pPr marL="0" indent="0">
              <a:buNone/>
            </a:pPr>
            <a:r>
              <a:rPr lang="en-US" sz="1050" b="1" dirty="0">
                <a:solidFill>
                  <a:srgbClr val="1F1F1F"/>
                </a:solidFill>
                <a:latin typeface="Calibri" pitchFamily="34" charset="0"/>
                <a:ea typeface="Calibri" pitchFamily="34" charset="-122"/>
                <a:cs typeface="Calibri" pitchFamily="34" charset="-120"/>
              </a:rPr>
              <a:t>Option A — Re-architect &amp; Consolidate  (Recommended)</a:t>
            </a:r>
            <a:endParaRPr lang="en-US" sz="1050" dirty="0"/>
          </a:p>
        </p:txBody>
      </p:sp>
      <p:sp>
        <p:nvSpPr>
          <p:cNvPr id="60" name="Text 58"/>
          <p:cNvSpPr/>
          <p:nvPr/>
        </p:nvSpPr>
        <p:spPr>
          <a:xfrm>
            <a:off x="8449056" y="2743200"/>
            <a:ext cx="3218688" cy="1078992"/>
          </a:xfrm>
          <a:prstGeom prst="rect">
            <a:avLst/>
          </a:prstGeom>
          <a:noFill/>
          <a:ln/>
        </p:spPr>
        <p:txBody>
          <a:bodyPr wrap="square" lIns="0" tIns="0" rIns="0" bIns="0" rtlCol="0" anchor="t"/>
          <a:lstStyle/>
          <a:p>
            <a:pPr marL="0" indent="0">
              <a:buNone/>
            </a:pPr>
            <a:r>
              <a:rPr lang="en-US" sz="1000" dirty="0">
                <a:solidFill>
                  <a:srgbClr val="555555"/>
                </a:solidFill>
                <a:latin typeface="Calibri" pitchFamily="34" charset="0"/>
                <a:ea typeface="Calibri" pitchFamily="34" charset="-122"/>
                <a:cs typeface="Calibri" pitchFamily="34" charset="-120"/>
              </a:rPr>
              <a:t>Rationalize overlapping integrations into a unified API layer. Align to business partner model. Design integration patterns for all SBGs — not just PT. High effort, lasting benefit.</a:t>
            </a:r>
            <a:endParaRPr lang="en-US" sz="1000" dirty="0"/>
          </a:p>
        </p:txBody>
      </p:sp>
      <p:sp>
        <p:nvSpPr>
          <p:cNvPr id="61" name="Shape 59"/>
          <p:cNvSpPr/>
          <p:nvPr/>
        </p:nvSpPr>
        <p:spPr>
          <a:xfrm>
            <a:off x="8339328" y="3986784"/>
            <a:ext cx="3401568" cy="1417320"/>
          </a:xfrm>
          <a:prstGeom prst="rect">
            <a:avLst/>
          </a:prstGeom>
          <a:solidFill>
            <a:srgbClr val="EBEBEB"/>
          </a:solidFill>
          <a:ln w="12700">
            <a:solidFill>
              <a:srgbClr val="D4D4D4"/>
            </a:solidFill>
            <a:prstDash val="solid"/>
          </a:ln>
        </p:spPr>
        <p:txBody>
          <a:bodyPr/>
          <a:lstStyle/>
          <a:p>
            <a:endParaRPr lang="en-US"/>
          </a:p>
        </p:txBody>
      </p:sp>
      <p:sp>
        <p:nvSpPr>
          <p:cNvPr id="62" name="Shape 60"/>
          <p:cNvSpPr/>
          <p:nvPr/>
        </p:nvSpPr>
        <p:spPr>
          <a:xfrm>
            <a:off x="8339328" y="3986784"/>
            <a:ext cx="50292" cy="1417320"/>
          </a:xfrm>
          <a:prstGeom prst="rect">
            <a:avLst/>
          </a:prstGeom>
          <a:solidFill>
            <a:srgbClr val="A8A8A8"/>
          </a:solidFill>
          <a:ln w="12700">
            <a:solidFill>
              <a:srgbClr val="A8A8A8"/>
            </a:solidFill>
            <a:prstDash val="solid"/>
          </a:ln>
        </p:spPr>
        <p:txBody>
          <a:bodyPr/>
          <a:lstStyle/>
          <a:p>
            <a:endParaRPr lang="en-US"/>
          </a:p>
        </p:txBody>
      </p:sp>
      <p:sp>
        <p:nvSpPr>
          <p:cNvPr id="63" name="Text 61"/>
          <p:cNvSpPr/>
          <p:nvPr/>
        </p:nvSpPr>
        <p:spPr>
          <a:xfrm>
            <a:off x="8449056" y="4050792"/>
            <a:ext cx="3218688" cy="310896"/>
          </a:xfrm>
          <a:prstGeom prst="rect">
            <a:avLst/>
          </a:prstGeom>
          <a:noFill/>
          <a:ln/>
        </p:spPr>
        <p:txBody>
          <a:bodyPr wrap="square" lIns="0" tIns="0" rIns="0" bIns="0" rtlCol="0" anchor="ctr"/>
          <a:lstStyle/>
          <a:p>
            <a:pPr marL="0" indent="0">
              <a:buNone/>
            </a:pPr>
            <a:r>
              <a:rPr lang="en-US" sz="1050" b="1" dirty="0">
                <a:solidFill>
                  <a:srgbClr val="333333"/>
                </a:solidFill>
                <a:latin typeface="Calibri" pitchFamily="34" charset="0"/>
                <a:ea typeface="Calibri" pitchFamily="34" charset="-122"/>
                <a:cs typeface="Calibri" pitchFamily="34" charset="-120"/>
              </a:rPr>
              <a:t>Option B — Point-to-Point Rebuild</a:t>
            </a:r>
            <a:endParaRPr lang="en-US" sz="1050" dirty="0"/>
          </a:p>
        </p:txBody>
      </p:sp>
      <p:sp>
        <p:nvSpPr>
          <p:cNvPr id="64" name="Text 62"/>
          <p:cNvSpPr/>
          <p:nvPr/>
        </p:nvSpPr>
        <p:spPr>
          <a:xfrm>
            <a:off x="8449056" y="4370832"/>
            <a:ext cx="3218688" cy="960120"/>
          </a:xfrm>
          <a:prstGeom prst="rect">
            <a:avLst/>
          </a:prstGeom>
          <a:noFill/>
          <a:ln/>
        </p:spPr>
        <p:txBody>
          <a:bodyPr wrap="square" lIns="0" tIns="0" rIns="0" bIns="0" rtlCol="0" anchor="t"/>
          <a:lstStyle/>
          <a:p>
            <a:pPr marL="0" indent="0">
              <a:buNone/>
            </a:pPr>
            <a:r>
              <a:rPr lang="en-US" sz="1000" dirty="0">
                <a:solidFill>
                  <a:srgbClr val="555555"/>
                </a:solidFill>
                <a:latin typeface="Calibri" pitchFamily="34" charset="0"/>
                <a:ea typeface="Calibri" pitchFamily="34" charset="-122"/>
                <a:cs typeface="Calibri" pitchFamily="34" charset="-120"/>
              </a:rPr>
              <a:t>Replicates existing logic in new S/4 data model. Faster short-term but perpetuates fragmentation. Will require full rework when other SBGs follow PT into S/4.</a:t>
            </a:r>
            <a:endParaRPr lang="en-US" sz="1000" dirty="0"/>
          </a:p>
        </p:txBody>
      </p:sp>
      <p:sp>
        <p:nvSpPr>
          <p:cNvPr id="65" name="Shape 63"/>
          <p:cNvSpPr/>
          <p:nvPr/>
        </p:nvSpPr>
        <p:spPr>
          <a:xfrm>
            <a:off x="8339328" y="5486400"/>
            <a:ext cx="3401568" cy="914400"/>
          </a:xfrm>
          <a:prstGeom prst="rect">
            <a:avLst/>
          </a:prstGeom>
          <a:solidFill>
            <a:srgbClr val="111111"/>
          </a:solidFill>
          <a:ln w="12700">
            <a:solidFill>
              <a:srgbClr val="111111"/>
            </a:solidFill>
            <a:prstDash val="solid"/>
          </a:ln>
        </p:spPr>
        <p:txBody>
          <a:bodyPr/>
          <a:lstStyle/>
          <a:p>
            <a:endParaRPr lang="en-US"/>
          </a:p>
        </p:txBody>
      </p:sp>
      <p:sp>
        <p:nvSpPr>
          <p:cNvPr id="66" name="Shape 64"/>
          <p:cNvSpPr/>
          <p:nvPr/>
        </p:nvSpPr>
        <p:spPr>
          <a:xfrm>
            <a:off x="8339328" y="5486400"/>
            <a:ext cx="50292" cy="914400"/>
          </a:xfrm>
          <a:prstGeom prst="rect">
            <a:avLst/>
          </a:prstGeom>
          <a:solidFill>
            <a:srgbClr val="CC0000"/>
          </a:solidFill>
          <a:ln w="12700">
            <a:solidFill>
              <a:srgbClr val="CC0000"/>
            </a:solidFill>
            <a:prstDash val="solid"/>
          </a:ln>
        </p:spPr>
        <p:txBody>
          <a:bodyPr/>
          <a:lstStyle/>
          <a:p>
            <a:endParaRPr lang="en-US"/>
          </a:p>
        </p:txBody>
      </p:sp>
      <p:sp>
        <p:nvSpPr>
          <p:cNvPr id="67" name="Text 65"/>
          <p:cNvSpPr/>
          <p:nvPr/>
        </p:nvSpPr>
        <p:spPr>
          <a:xfrm>
            <a:off x="8449056" y="5541264"/>
            <a:ext cx="3218688" cy="804672"/>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  Re-architect now — PT is first, but design must scale to all SBGs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CC0000"/>
          </a:solidFill>
          <a:ln w="12700">
            <a:solidFill>
              <a:srgbClr val="CC0000"/>
            </a:solidFill>
            <a:prstDash val="solid"/>
          </a:ln>
        </p:spPr>
        <p:txBody>
          <a:bodyPr/>
          <a:lstStyle/>
          <a:p>
            <a:endParaRPr lang="en-US"/>
          </a:p>
        </p:txBody>
      </p:sp>
      <p:sp>
        <p:nvSpPr>
          <p:cNvPr id="3" name="Shape 1"/>
          <p:cNvSpPr/>
          <p:nvPr/>
        </p:nvSpPr>
        <p:spPr>
          <a:xfrm>
            <a:off x="0" y="54864"/>
            <a:ext cx="164592" cy="6803136"/>
          </a:xfrm>
          <a:prstGeom prst="rect">
            <a:avLst/>
          </a:prstGeom>
          <a:solidFill>
            <a:srgbClr val="111111"/>
          </a:solidFill>
          <a:ln w="12700">
            <a:solidFill>
              <a:srgbClr val="111111"/>
            </a:solidFill>
            <a:prstDash val="solid"/>
          </a:ln>
        </p:spPr>
        <p:txBody>
          <a:bodyPr/>
          <a:lstStyle/>
          <a:p>
            <a:endParaRPr lang="en-US"/>
          </a:p>
        </p:txBody>
      </p:sp>
      <p:sp>
        <p:nvSpPr>
          <p:cNvPr id="4" name="Text 2"/>
          <p:cNvSpPr/>
          <p:nvPr/>
        </p:nvSpPr>
        <p:spPr>
          <a:xfrm>
            <a:off x="329184" y="118872"/>
            <a:ext cx="9601200" cy="246888"/>
          </a:xfrm>
          <a:prstGeom prst="rect">
            <a:avLst/>
          </a:prstGeom>
          <a:noFill/>
          <a:ln/>
        </p:spPr>
        <p:txBody>
          <a:bodyPr wrap="square" lIns="0" tIns="0" rIns="0" bIns="0" rtlCol="0" anchor="ctr"/>
          <a:lstStyle/>
          <a:p>
            <a:pPr marL="0" indent="0">
              <a:buNone/>
            </a:pPr>
            <a:r>
              <a:rPr lang="en-US" sz="900" b="1" kern="0" spc="300" dirty="0">
                <a:solidFill>
                  <a:srgbClr val="CC0000"/>
                </a:solidFill>
                <a:latin typeface="Calibri" pitchFamily="34" charset="0"/>
                <a:ea typeface="Calibri" pitchFamily="34" charset="-122"/>
                <a:cs typeface="Calibri" pitchFamily="34" charset="-120"/>
              </a:rPr>
              <a:t>FUTURE STATE AGENTIC FRONT OFFICE JOURNEY</a:t>
            </a:r>
            <a:endParaRPr lang="en-US" sz="900" dirty="0"/>
          </a:p>
        </p:txBody>
      </p:sp>
      <p:sp>
        <p:nvSpPr>
          <p:cNvPr id="5" name="Text 3"/>
          <p:cNvSpPr/>
          <p:nvPr/>
        </p:nvSpPr>
        <p:spPr>
          <a:xfrm>
            <a:off x="329184" y="365760"/>
            <a:ext cx="9326880" cy="420624"/>
          </a:xfrm>
          <a:prstGeom prst="rect">
            <a:avLst/>
          </a:prstGeom>
          <a:noFill/>
          <a:ln/>
        </p:spPr>
        <p:txBody>
          <a:bodyPr wrap="square" lIns="0" tIns="0" rIns="0" bIns="0" rtlCol="0" anchor="ctr"/>
          <a:lstStyle/>
          <a:p>
            <a:pPr marL="0" indent="0">
              <a:buNone/>
            </a:pPr>
            <a:r>
              <a:rPr lang="en-US" sz="2000" b="1" dirty="0">
                <a:solidFill>
                  <a:srgbClr val="1F1F1F"/>
                </a:solidFill>
                <a:latin typeface="Calibri" pitchFamily="34" charset="0"/>
                <a:ea typeface="Calibri" pitchFamily="34" charset="-122"/>
                <a:cs typeface="Calibri" pitchFamily="34" charset="-120"/>
              </a:rPr>
              <a:t>The Future State Agentic Front Office Journey</a:t>
            </a:r>
            <a:endParaRPr lang="en-US" sz="2000" dirty="0"/>
          </a:p>
        </p:txBody>
      </p:sp>
      <p:sp>
        <p:nvSpPr>
          <p:cNvPr id="6" name="Text 4"/>
          <p:cNvSpPr/>
          <p:nvPr/>
        </p:nvSpPr>
        <p:spPr>
          <a:xfrm>
            <a:off x="11475720" y="91440"/>
            <a:ext cx="640080" cy="475488"/>
          </a:xfrm>
          <a:prstGeom prst="rect">
            <a:avLst/>
          </a:prstGeom>
          <a:noFill/>
          <a:ln/>
        </p:spPr>
        <p:txBody>
          <a:bodyPr wrap="square" lIns="0" tIns="0" rIns="0" bIns="0" rtlCol="0" anchor="ctr"/>
          <a:lstStyle/>
          <a:p>
            <a:pPr marL="0" indent="0" algn="r">
              <a:buNone/>
            </a:pPr>
            <a:r>
              <a:rPr lang="en-US" sz="2200" b="1" dirty="0">
                <a:solidFill>
                  <a:srgbClr val="CC0000"/>
                </a:solidFill>
                <a:latin typeface="Calibri" pitchFamily="34" charset="0"/>
                <a:ea typeface="Calibri" pitchFamily="34" charset="-122"/>
                <a:cs typeface="Calibri" pitchFamily="34" charset="-120"/>
              </a:rPr>
              <a:t>08</a:t>
            </a:r>
            <a:endParaRPr lang="en-US" sz="2200" dirty="0"/>
          </a:p>
        </p:txBody>
      </p:sp>
      <p:sp>
        <p:nvSpPr>
          <p:cNvPr id="7" name="Shape 5"/>
          <p:cNvSpPr/>
          <p:nvPr/>
        </p:nvSpPr>
        <p:spPr>
          <a:xfrm>
            <a:off x="9820656" y="475488"/>
            <a:ext cx="2148840" cy="274320"/>
          </a:xfrm>
          <a:prstGeom prst="rect">
            <a:avLst/>
          </a:prstGeom>
          <a:solidFill>
            <a:srgbClr val="F4F4F4"/>
          </a:solidFill>
          <a:ln w="12700">
            <a:solidFill>
              <a:srgbClr val="D4D4D4"/>
            </a:solidFill>
            <a:prstDash val="solid"/>
          </a:ln>
        </p:spPr>
        <p:txBody>
          <a:bodyPr/>
          <a:lstStyle/>
          <a:p>
            <a:endParaRPr lang="en-US"/>
          </a:p>
        </p:txBody>
      </p:sp>
      <p:sp>
        <p:nvSpPr>
          <p:cNvPr id="8" name="Text 6"/>
          <p:cNvSpPr/>
          <p:nvPr/>
        </p:nvSpPr>
        <p:spPr>
          <a:xfrm>
            <a:off x="9820656" y="448056"/>
            <a:ext cx="2148840" cy="274320"/>
          </a:xfrm>
          <a:prstGeom prst="rect">
            <a:avLst/>
          </a:prstGeom>
          <a:noFill/>
          <a:ln/>
        </p:spPr>
        <p:txBody>
          <a:bodyPr wrap="square" lIns="0" tIns="0" rIns="0" bIns="0" rtlCol="0" anchor="ctr"/>
          <a:lstStyle/>
          <a:p>
            <a:pPr marL="0" indent="0" algn="ctr">
              <a:buNone/>
            </a:pPr>
            <a:r>
              <a:rPr lang="en-US" sz="800" b="1" dirty="0">
                <a:solidFill>
                  <a:srgbClr val="CC0000"/>
                </a:solidFill>
                <a:latin typeface="Calibri" pitchFamily="34" charset="0"/>
                <a:ea typeface="Calibri" pitchFamily="34" charset="-122"/>
                <a:cs typeface="Calibri" pitchFamily="34" charset="-120"/>
              </a:rPr>
              <a:t>⚡  32 ACTIVITIES MAPPED</a:t>
            </a:r>
            <a:endParaRPr lang="en-US" sz="800" dirty="0"/>
          </a:p>
        </p:txBody>
      </p:sp>
      <p:sp>
        <p:nvSpPr>
          <p:cNvPr id="9" name="Shape 7"/>
          <p:cNvSpPr/>
          <p:nvPr/>
        </p:nvSpPr>
        <p:spPr>
          <a:xfrm>
            <a:off x="329184" y="822960"/>
            <a:ext cx="11667744" cy="685800"/>
          </a:xfrm>
          <a:prstGeom prst="rect">
            <a:avLst/>
          </a:prstGeom>
          <a:solidFill>
            <a:srgbClr val="F4F4F4"/>
          </a:solidFill>
          <a:ln w="6350">
            <a:solidFill>
              <a:srgbClr val="D4D4D4"/>
            </a:solidFill>
            <a:prstDash val="solid"/>
          </a:ln>
        </p:spPr>
        <p:txBody>
          <a:bodyPr/>
          <a:lstStyle/>
          <a:p>
            <a:endParaRPr lang="en-US"/>
          </a:p>
        </p:txBody>
      </p:sp>
      <p:sp>
        <p:nvSpPr>
          <p:cNvPr id="10" name="Shape 8"/>
          <p:cNvSpPr/>
          <p:nvPr/>
        </p:nvSpPr>
        <p:spPr>
          <a:xfrm>
            <a:off x="329184" y="822960"/>
            <a:ext cx="50292" cy="685800"/>
          </a:xfrm>
          <a:prstGeom prst="rect">
            <a:avLst/>
          </a:prstGeom>
          <a:solidFill>
            <a:srgbClr val="CC0000"/>
          </a:solidFill>
          <a:ln w="12700">
            <a:solidFill>
              <a:srgbClr val="CC0000"/>
            </a:solidFill>
            <a:prstDash val="solid"/>
          </a:ln>
        </p:spPr>
        <p:txBody>
          <a:bodyPr/>
          <a:lstStyle/>
          <a:p>
            <a:endParaRPr lang="en-US"/>
          </a:p>
        </p:txBody>
      </p:sp>
      <p:sp>
        <p:nvSpPr>
          <p:cNvPr id="11" name="Text 9"/>
          <p:cNvSpPr/>
          <p:nvPr/>
        </p:nvSpPr>
        <p:spPr>
          <a:xfrm>
            <a:off x="457200" y="850392"/>
            <a:ext cx="11430000" cy="329184"/>
          </a:xfrm>
          <a:prstGeom prst="rect">
            <a:avLst/>
          </a:prstGeom>
          <a:noFill/>
          <a:ln/>
        </p:spPr>
        <p:txBody>
          <a:bodyPr wrap="square" lIns="0" tIns="0" rIns="0" bIns="0" rtlCol="0" anchor="ctr"/>
          <a:lstStyle/>
          <a:p>
            <a:pPr marL="0" indent="0">
              <a:buNone/>
            </a:pPr>
            <a:r>
              <a:rPr lang="en-US" sz="1000" dirty="0">
                <a:solidFill>
                  <a:srgbClr val="333333"/>
                </a:solidFill>
                <a:latin typeface="Calibri" pitchFamily="34" charset="0"/>
                <a:ea typeface="Calibri" pitchFamily="34" charset="-122"/>
                <a:cs typeface="Calibri" pitchFamily="34" charset="-120"/>
              </a:rPr>
              <a:t>Agentic commerce gives us the opportunity to orchestrate humans, platforms, and intelligent agents in new ways—reshaping the business and amplifying the value we deliver to customers.</a:t>
            </a:r>
            <a:endParaRPr lang="en-US" sz="1000" dirty="0"/>
          </a:p>
        </p:txBody>
      </p:sp>
      <p:sp>
        <p:nvSpPr>
          <p:cNvPr id="12" name="Text 10"/>
          <p:cNvSpPr/>
          <p:nvPr/>
        </p:nvSpPr>
        <p:spPr>
          <a:xfrm>
            <a:off x="457200" y="1179576"/>
            <a:ext cx="11430000" cy="256032"/>
          </a:xfrm>
          <a:prstGeom prst="rect">
            <a:avLst/>
          </a:prstGeom>
          <a:noFill/>
          <a:ln/>
        </p:spPr>
        <p:txBody>
          <a:bodyPr wrap="square" lIns="0" tIns="0" rIns="0" bIns="0"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A unified view of the customer lifecycle with  Operations  and  AI-Assisted  activities mapped across each stage.</a:t>
            </a:r>
            <a:endParaRPr lang="en-US" sz="1000" dirty="0"/>
          </a:p>
        </p:txBody>
      </p:sp>
      <p:sp>
        <p:nvSpPr>
          <p:cNvPr id="13" name="Shape 11"/>
          <p:cNvSpPr/>
          <p:nvPr/>
        </p:nvSpPr>
        <p:spPr>
          <a:xfrm>
            <a:off x="329184" y="1527048"/>
            <a:ext cx="11667744" cy="20117"/>
          </a:xfrm>
          <a:prstGeom prst="rect">
            <a:avLst/>
          </a:prstGeom>
          <a:solidFill>
            <a:srgbClr val="D4D4D4"/>
          </a:solidFill>
          <a:ln w="12700">
            <a:solidFill>
              <a:srgbClr val="D4D4D4"/>
            </a:solidFill>
            <a:prstDash val="solid"/>
          </a:ln>
        </p:spPr>
        <p:txBody>
          <a:bodyPr/>
          <a:lstStyle/>
          <a:p>
            <a:endParaRPr lang="en-US"/>
          </a:p>
        </p:txBody>
      </p:sp>
      <p:sp>
        <p:nvSpPr>
          <p:cNvPr id="14" name="Shape 12"/>
          <p:cNvSpPr/>
          <p:nvPr/>
        </p:nvSpPr>
        <p:spPr>
          <a:xfrm>
            <a:off x="329184" y="1609344"/>
            <a:ext cx="2880360" cy="420624"/>
          </a:xfrm>
          <a:prstGeom prst="rect">
            <a:avLst/>
          </a:prstGeom>
          <a:solidFill>
            <a:srgbClr val="CC0000"/>
          </a:solidFill>
          <a:ln w="12700">
            <a:solidFill>
              <a:srgbClr val="CC0000"/>
            </a:solidFill>
            <a:prstDash val="solid"/>
          </a:ln>
        </p:spPr>
        <p:txBody>
          <a:bodyPr/>
          <a:lstStyle/>
          <a:p>
            <a:endParaRPr lang="en-US"/>
          </a:p>
        </p:txBody>
      </p:sp>
      <p:sp>
        <p:nvSpPr>
          <p:cNvPr id="15" name="Text 13"/>
          <p:cNvSpPr/>
          <p:nvPr/>
        </p:nvSpPr>
        <p:spPr>
          <a:xfrm>
            <a:off x="402336" y="1636776"/>
            <a:ext cx="310896" cy="228600"/>
          </a:xfrm>
          <a:prstGeom prst="rect">
            <a:avLst/>
          </a:prstGeom>
          <a:noFill/>
          <a:ln/>
        </p:spPr>
        <p:txBody>
          <a:bodyPr wrap="square" lIns="0" tIns="0" rIns="0" bIns="0" rtlCol="0" anchor="ctr"/>
          <a:lstStyle/>
          <a:p>
            <a:pPr marL="0" indent="0">
              <a:buNone/>
            </a:pPr>
            <a:r>
              <a:rPr lang="en-US" sz="1100" b="1" dirty="0">
                <a:solidFill>
                  <a:schemeClr val="bg1">
                    <a:lumMod val="85000"/>
                  </a:schemeClr>
                </a:solidFill>
                <a:latin typeface="Calibri" pitchFamily="34" charset="0"/>
                <a:ea typeface="Calibri" pitchFamily="34" charset="-122"/>
                <a:cs typeface="Calibri" pitchFamily="34" charset="-120"/>
              </a:rPr>
              <a:t>01</a:t>
            </a:r>
            <a:endParaRPr lang="en-US" sz="1100" dirty="0">
              <a:solidFill>
                <a:schemeClr val="bg1">
                  <a:lumMod val="85000"/>
                </a:schemeClr>
              </a:solidFill>
            </a:endParaRPr>
          </a:p>
        </p:txBody>
      </p:sp>
      <p:sp>
        <p:nvSpPr>
          <p:cNvPr id="16" name="Text 14"/>
          <p:cNvSpPr/>
          <p:nvPr/>
        </p:nvSpPr>
        <p:spPr>
          <a:xfrm>
            <a:off x="329184" y="1755648"/>
            <a:ext cx="2880360" cy="219456"/>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DISCOVERY</a:t>
            </a:r>
            <a:endParaRPr lang="en-US" sz="1050" dirty="0"/>
          </a:p>
        </p:txBody>
      </p:sp>
      <p:sp>
        <p:nvSpPr>
          <p:cNvPr id="17" name="Shape 15"/>
          <p:cNvSpPr/>
          <p:nvPr/>
        </p:nvSpPr>
        <p:spPr>
          <a:xfrm>
            <a:off x="329184" y="2066544"/>
            <a:ext cx="2880360" cy="896112"/>
          </a:xfrm>
          <a:prstGeom prst="rect">
            <a:avLst/>
          </a:prstGeom>
          <a:solidFill>
            <a:srgbClr val="F4F4F4"/>
          </a:solidFill>
          <a:ln w="6350">
            <a:solidFill>
              <a:srgbClr val="D4D4D4"/>
            </a:solidFill>
            <a:prstDash val="solid"/>
          </a:ln>
        </p:spPr>
        <p:txBody>
          <a:bodyPr/>
          <a:lstStyle/>
          <a:p>
            <a:endParaRPr lang="en-US"/>
          </a:p>
        </p:txBody>
      </p:sp>
      <p:sp>
        <p:nvSpPr>
          <p:cNvPr id="18" name="Shape 16"/>
          <p:cNvSpPr/>
          <p:nvPr/>
        </p:nvSpPr>
        <p:spPr>
          <a:xfrm>
            <a:off x="329184" y="2066544"/>
            <a:ext cx="45720" cy="896112"/>
          </a:xfrm>
          <a:prstGeom prst="rect">
            <a:avLst/>
          </a:prstGeom>
          <a:solidFill>
            <a:srgbClr val="CC0000"/>
          </a:solidFill>
          <a:ln w="12700">
            <a:solidFill>
              <a:srgbClr val="CC0000"/>
            </a:solidFill>
            <a:prstDash val="solid"/>
          </a:ln>
        </p:spPr>
        <p:txBody>
          <a:bodyPr/>
          <a:lstStyle/>
          <a:p>
            <a:endParaRPr lang="en-US"/>
          </a:p>
        </p:txBody>
      </p:sp>
      <p:sp>
        <p:nvSpPr>
          <p:cNvPr id="19" name="Text 17"/>
          <p:cNvSpPr/>
          <p:nvPr/>
        </p:nvSpPr>
        <p:spPr>
          <a:xfrm>
            <a:off x="420624" y="2112264"/>
            <a:ext cx="2752344" cy="182880"/>
          </a:xfrm>
          <a:prstGeom prst="rect">
            <a:avLst/>
          </a:prstGeom>
          <a:noFill/>
          <a:ln/>
        </p:spPr>
        <p:txBody>
          <a:bodyPr wrap="square" lIns="0" tIns="0" rIns="0" bIns="0" rtlCol="0" anchor="ctr"/>
          <a:lstStyle/>
          <a:p>
            <a:pPr marL="0" indent="0">
              <a:buNone/>
            </a:pPr>
            <a:r>
              <a:rPr lang="en-US" sz="750" b="1" kern="0" spc="100" dirty="0">
                <a:solidFill>
                  <a:srgbClr val="CC0000"/>
                </a:solidFill>
                <a:latin typeface="Calibri" pitchFamily="34" charset="0"/>
                <a:ea typeface="Calibri" pitchFamily="34" charset="-122"/>
                <a:cs typeface="Calibri" pitchFamily="34" charset="-120"/>
              </a:rPr>
              <a:t>KEY METRICS</a:t>
            </a:r>
            <a:endParaRPr lang="en-US" sz="750" dirty="0"/>
          </a:p>
        </p:txBody>
      </p:sp>
      <p:sp>
        <p:nvSpPr>
          <p:cNvPr id="21" name="Text 19"/>
          <p:cNvSpPr/>
          <p:nvPr/>
        </p:nvSpPr>
        <p:spPr>
          <a:xfrm>
            <a:off x="512064" y="2359152"/>
            <a:ext cx="1266444" cy="274320"/>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Lead Generation Rate</a:t>
            </a:r>
            <a:endParaRPr lang="en-US" sz="850" dirty="0"/>
          </a:p>
        </p:txBody>
      </p:sp>
      <p:sp>
        <p:nvSpPr>
          <p:cNvPr id="23" name="Text 21"/>
          <p:cNvSpPr/>
          <p:nvPr/>
        </p:nvSpPr>
        <p:spPr>
          <a:xfrm>
            <a:off x="1924812" y="2359152"/>
            <a:ext cx="1266444" cy="274320"/>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Time to First Engagement</a:t>
            </a:r>
            <a:endParaRPr lang="en-US" sz="850" dirty="0"/>
          </a:p>
        </p:txBody>
      </p:sp>
      <p:sp>
        <p:nvSpPr>
          <p:cNvPr id="25" name="Text 23"/>
          <p:cNvSpPr/>
          <p:nvPr/>
        </p:nvSpPr>
        <p:spPr>
          <a:xfrm>
            <a:off x="512064" y="2670048"/>
            <a:ext cx="1266444" cy="274320"/>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Content Engagement Score</a:t>
            </a:r>
            <a:endParaRPr lang="en-US" sz="850" dirty="0"/>
          </a:p>
        </p:txBody>
      </p:sp>
      <p:sp>
        <p:nvSpPr>
          <p:cNvPr id="27" name="Text 25"/>
          <p:cNvSpPr/>
          <p:nvPr/>
        </p:nvSpPr>
        <p:spPr>
          <a:xfrm>
            <a:off x="1924812" y="2670048"/>
            <a:ext cx="1266444" cy="274320"/>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Search Success Rate</a:t>
            </a:r>
            <a:endParaRPr lang="en-US" sz="850" dirty="0"/>
          </a:p>
        </p:txBody>
      </p:sp>
      <p:sp>
        <p:nvSpPr>
          <p:cNvPr id="28" name="Shape 26"/>
          <p:cNvSpPr/>
          <p:nvPr/>
        </p:nvSpPr>
        <p:spPr>
          <a:xfrm>
            <a:off x="329184" y="2999232"/>
            <a:ext cx="2880360" cy="1481328"/>
          </a:xfrm>
          <a:prstGeom prst="rect">
            <a:avLst/>
          </a:prstGeom>
          <a:solidFill>
            <a:srgbClr val="FFFFFF"/>
          </a:solidFill>
          <a:ln w="6350">
            <a:solidFill>
              <a:srgbClr val="D4D4D4"/>
            </a:solidFill>
            <a:prstDash val="solid"/>
          </a:ln>
        </p:spPr>
        <p:txBody>
          <a:bodyPr/>
          <a:lstStyle/>
          <a:p>
            <a:endParaRPr lang="en-US"/>
          </a:p>
        </p:txBody>
      </p:sp>
      <p:sp>
        <p:nvSpPr>
          <p:cNvPr id="29" name="Shape 27"/>
          <p:cNvSpPr/>
          <p:nvPr/>
        </p:nvSpPr>
        <p:spPr>
          <a:xfrm>
            <a:off x="329184" y="2999232"/>
            <a:ext cx="45720" cy="1481328"/>
          </a:xfrm>
          <a:prstGeom prst="rect">
            <a:avLst/>
          </a:prstGeom>
          <a:solidFill>
            <a:srgbClr val="333333"/>
          </a:solidFill>
          <a:ln w="12700">
            <a:solidFill>
              <a:srgbClr val="333333"/>
            </a:solidFill>
            <a:prstDash val="solid"/>
          </a:ln>
        </p:spPr>
        <p:txBody>
          <a:bodyPr/>
          <a:lstStyle/>
          <a:p>
            <a:endParaRPr lang="en-US"/>
          </a:p>
        </p:txBody>
      </p:sp>
      <p:sp>
        <p:nvSpPr>
          <p:cNvPr id="30" name="Text 28"/>
          <p:cNvSpPr/>
          <p:nvPr/>
        </p:nvSpPr>
        <p:spPr>
          <a:xfrm>
            <a:off x="402336" y="3044952"/>
            <a:ext cx="219456" cy="219456"/>
          </a:xfrm>
          <a:prstGeom prst="rect">
            <a:avLst/>
          </a:prstGeom>
          <a:noFill/>
          <a:ln/>
        </p:spPr>
        <p:txBody>
          <a:bodyPr wrap="square" lIns="0" tIns="0" rIns="0" bIns="0" rtlCol="0" anchor="ctr"/>
          <a:lstStyle/>
          <a:p>
            <a:pPr marL="0" indent="0">
              <a:buNone/>
            </a:pPr>
            <a:r>
              <a:rPr lang="en-US" sz="1200" dirty="0">
                <a:solidFill>
                  <a:srgbClr val="000000"/>
                </a:solidFill>
              </a:rPr>
              <a:t>👤</a:t>
            </a:r>
            <a:endParaRPr lang="en-US" sz="1200" dirty="0"/>
          </a:p>
        </p:txBody>
      </p:sp>
      <p:sp>
        <p:nvSpPr>
          <p:cNvPr id="31" name="Text 29"/>
          <p:cNvSpPr/>
          <p:nvPr/>
        </p:nvSpPr>
        <p:spPr>
          <a:xfrm>
            <a:off x="621792" y="3054096"/>
            <a:ext cx="2532888" cy="201168"/>
          </a:xfrm>
          <a:prstGeom prst="rect">
            <a:avLst/>
          </a:prstGeom>
          <a:noFill/>
          <a:ln/>
        </p:spPr>
        <p:txBody>
          <a:bodyPr wrap="square" lIns="0" tIns="0" rIns="0" bIns="0" rtlCol="0" anchor="ctr"/>
          <a:lstStyle/>
          <a:p>
            <a:pPr marL="0" indent="0">
              <a:buNone/>
            </a:pPr>
            <a:r>
              <a:rPr lang="en-US" sz="750" b="1" kern="0" spc="100" dirty="0">
                <a:solidFill>
                  <a:srgbClr val="333333"/>
                </a:solidFill>
                <a:latin typeface="Calibri" pitchFamily="34" charset="0"/>
                <a:ea typeface="Calibri" pitchFamily="34" charset="-122"/>
                <a:cs typeface="Calibri" pitchFamily="34" charset="-120"/>
              </a:rPr>
              <a:t>OPERATIONS</a:t>
            </a:r>
            <a:endParaRPr lang="en-US" sz="750" dirty="0"/>
          </a:p>
        </p:txBody>
      </p:sp>
      <p:sp>
        <p:nvSpPr>
          <p:cNvPr id="32" name="Shape 30"/>
          <p:cNvSpPr/>
          <p:nvPr/>
        </p:nvSpPr>
        <p:spPr>
          <a:xfrm>
            <a:off x="420624" y="3310128"/>
            <a:ext cx="2724912" cy="237744"/>
          </a:xfrm>
          <a:prstGeom prst="rect">
            <a:avLst/>
          </a:prstGeom>
          <a:solidFill>
            <a:srgbClr val="EBEBEB"/>
          </a:solidFill>
          <a:ln w="6350">
            <a:solidFill>
              <a:srgbClr val="D4D4D4"/>
            </a:solidFill>
            <a:prstDash val="solid"/>
          </a:ln>
        </p:spPr>
        <p:txBody>
          <a:bodyPr/>
          <a:lstStyle/>
          <a:p>
            <a:endParaRPr lang="en-US"/>
          </a:p>
        </p:txBody>
      </p:sp>
      <p:sp>
        <p:nvSpPr>
          <p:cNvPr id="33" name="Text 31"/>
          <p:cNvSpPr/>
          <p:nvPr/>
        </p:nvSpPr>
        <p:spPr>
          <a:xfrm>
            <a:off x="457200" y="3310128"/>
            <a:ext cx="2688336" cy="237744"/>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Content taxonomy management</a:t>
            </a:r>
            <a:endParaRPr lang="en-US" sz="900" dirty="0"/>
          </a:p>
        </p:txBody>
      </p:sp>
      <p:sp>
        <p:nvSpPr>
          <p:cNvPr id="34" name="Shape 32"/>
          <p:cNvSpPr/>
          <p:nvPr/>
        </p:nvSpPr>
        <p:spPr>
          <a:xfrm>
            <a:off x="420624" y="3584448"/>
            <a:ext cx="2724912" cy="237744"/>
          </a:xfrm>
          <a:prstGeom prst="rect">
            <a:avLst/>
          </a:prstGeom>
          <a:solidFill>
            <a:srgbClr val="EBEBEB"/>
          </a:solidFill>
          <a:ln w="6350">
            <a:solidFill>
              <a:srgbClr val="D4D4D4"/>
            </a:solidFill>
            <a:prstDash val="solid"/>
          </a:ln>
        </p:spPr>
        <p:txBody>
          <a:bodyPr/>
          <a:lstStyle/>
          <a:p>
            <a:endParaRPr lang="en-US"/>
          </a:p>
        </p:txBody>
      </p:sp>
      <p:sp>
        <p:nvSpPr>
          <p:cNvPr id="35" name="Text 33"/>
          <p:cNvSpPr/>
          <p:nvPr/>
        </p:nvSpPr>
        <p:spPr>
          <a:xfrm>
            <a:off x="457200" y="3584448"/>
            <a:ext cx="2688336" cy="237744"/>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SEO &amp; landing page optimization</a:t>
            </a:r>
            <a:endParaRPr lang="en-US" sz="900" dirty="0"/>
          </a:p>
        </p:txBody>
      </p:sp>
      <p:sp>
        <p:nvSpPr>
          <p:cNvPr id="36" name="Shape 34"/>
          <p:cNvSpPr/>
          <p:nvPr/>
        </p:nvSpPr>
        <p:spPr>
          <a:xfrm>
            <a:off x="420624" y="3858768"/>
            <a:ext cx="2724912" cy="237744"/>
          </a:xfrm>
          <a:prstGeom prst="rect">
            <a:avLst/>
          </a:prstGeom>
          <a:solidFill>
            <a:srgbClr val="EBEBEB"/>
          </a:solidFill>
          <a:ln w="6350">
            <a:solidFill>
              <a:srgbClr val="D4D4D4"/>
            </a:solidFill>
            <a:prstDash val="solid"/>
          </a:ln>
        </p:spPr>
        <p:txBody>
          <a:bodyPr/>
          <a:lstStyle/>
          <a:p>
            <a:endParaRPr lang="en-US"/>
          </a:p>
        </p:txBody>
      </p:sp>
      <p:sp>
        <p:nvSpPr>
          <p:cNvPr id="37" name="Text 35"/>
          <p:cNvSpPr/>
          <p:nvPr/>
        </p:nvSpPr>
        <p:spPr>
          <a:xfrm>
            <a:off x="457200" y="3858768"/>
            <a:ext cx="2688336" cy="237744"/>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Campaign tracking setup</a:t>
            </a:r>
            <a:endParaRPr lang="en-US" sz="900" dirty="0"/>
          </a:p>
        </p:txBody>
      </p:sp>
      <p:sp>
        <p:nvSpPr>
          <p:cNvPr id="38" name="Shape 36"/>
          <p:cNvSpPr/>
          <p:nvPr/>
        </p:nvSpPr>
        <p:spPr>
          <a:xfrm>
            <a:off x="420624" y="4133088"/>
            <a:ext cx="2724912" cy="237744"/>
          </a:xfrm>
          <a:prstGeom prst="rect">
            <a:avLst/>
          </a:prstGeom>
          <a:solidFill>
            <a:srgbClr val="EBEBEB"/>
          </a:solidFill>
          <a:ln w="6350">
            <a:solidFill>
              <a:srgbClr val="D4D4D4"/>
            </a:solidFill>
            <a:prstDash val="solid"/>
          </a:ln>
        </p:spPr>
        <p:txBody>
          <a:bodyPr/>
          <a:lstStyle/>
          <a:p>
            <a:endParaRPr lang="en-US"/>
          </a:p>
        </p:txBody>
      </p:sp>
      <p:sp>
        <p:nvSpPr>
          <p:cNvPr id="39" name="Text 37"/>
          <p:cNvSpPr/>
          <p:nvPr/>
        </p:nvSpPr>
        <p:spPr>
          <a:xfrm>
            <a:off x="457200" y="4133088"/>
            <a:ext cx="2688336" cy="237744"/>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Product catalog enrichment</a:t>
            </a:r>
            <a:endParaRPr lang="en-US" sz="900" dirty="0"/>
          </a:p>
        </p:txBody>
      </p:sp>
      <p:sp>
        <p:nvSpPr>
          <p:cNvPr id="40" name="Shape 38"/>
          <p:cNvSpPr/>
          <p:nvPr/>
        </p:nvSpPr>
        <p:spPr>
          <a:xfrm>
            <a:off x="329184" y="4517136"/>
            <a:ext cx="2880360" cy="2157984"/>
          </a:xfrm>
          <a:prstGeom prst="rect">
            <a:avLst/>
          </a:prstGeom>
          <a:solidFill>
            <a:srgbClr val="F4F4F4"/>
          </a:solidFill>
          <a:ln w="6350">
            <a:solidFill>
              <a:srgbClr val="D4D4D4"/>
            </a:solidFill>
            <a:prstDash val="solid"/>
          </a:ln>
        </p:spPr>
        <p:txBody>
          <a:bodyPr/>
          <a:lstStyle/>
          <a:p>
            <a:endParaRPr lang="en-US"/>
          </a:p>
        </p:txBody>
      </p:sp>
      <p:sp>
        <p:nvSpPr>
          <p:cNvPr id="41" name="Shape 39"/>
          <p:cNvSpPr/>
          <p:nvPr/>
        </p:nvSpPr>
        <p:spPr>
          <a:xfrm>
            <a:off x="329184" y="4517136"/>
            <a:ext cx="2880360" cy="45720"/>
          </a:xfrm>
          <a:prstGeom prst="rect">
            <a:avLst/>
          </a:prstGeom>
          <a:solidFill>
            <a:srgbClr val="111111"/>
          </a:solidFill>
          <a:ln w="12700">
            <a:solidFill>
              <a:srgbClr val="111111"/>
            </a:solidFill>
            <a:prstDash val="solid"/>
          </a:ln>
        </p:spPr>
        <p:txBody>
          <a:bodyPr/>
          <a:lstStyle/>
          <a:p>
            <a:endParaRPr lang="en-US"/>
          </a:p>
        </p:txBody>
      </p:sp>
      <p:sp>
        <p:nvSpPr>
          <p:cNvPr id="42" name="Shape 40"/>
          <p:cNvSpPr/>
          <p:nvPr/>
        </p:nvSpPr>
        <p:spPr>
          <a:xfrm>
            <a:off x="329184" y="4517136"/>
            <a:ext cx="45720" cy="2157984"/>
          </a:xfrm>
          <a:prstGeom prst="rect">
            <a:avLst/>
          </a:prstGeom>
          <a:solidFill>
            <a:srgbClr val="CC0000"/>
          </a:solidFill>
          <a:ln w="12700">
            <a:solidFill>
              <a:srgbClr val="CC0000"/>
            </a:solidFill>
            <a:prstDash val="solid"/>
          </a:ln>
        </p:spPr>
        <p:txBody>
          <a:bodyPr/>
          <a:lstStyle/>
          <a:p>
            <a:endParaRPr lang="en-US"/>
          </a:p>
        </p:txBody>
      </p:sp>
      <p:sp>
        <p:nvSpPr>
          <p:cNvPr id="43" name="Text 41"/>
          <p:cNvSpPr/>
          <p:nvPr/>
        </p:nvSpPr>
        <p:spPr>
          <a:xfrm>
            <a:off x="420624" y="4581144"/>
            <a:ext cx="2752344" cy="219456"/>
          </a:xfrm>
          <a:prstGeom prst="rect">
            <a:avLst/>
          </a:prstGeom>
          <a:noFill/>
          <a:ln/>
        </p:spPr>
        <p:txBody>
          <a:bodyPr wrap="square" lIns="0" tIns="0" rIns="0" bIns="0" rtlCol="0" anchor="ctr"/>
          <a:lstStyle/>
          <a:p>
            <a:pPr marL="0" indent="0">
              <a:buNone/>
            </a:pPr>
            <a:r>
              <a:rPr lang="en-US" sz="750" b="1" kern="0" spc="100" dirty="0">
                <a:solidFill>
                  <a:srgbClr val="CC0000"/>
                </a:solidFill>
                <a:latin typeface="Calibri" pitchFamily="34" charset="0"/>
                <a:ea typeface="Calibri" pitchFamily="34" charset="-122"/>
                <a:cs typeface="Calibri" pitchFamily="34" charset="-120"/>
              </a:rPr>
              <a:t>✦  AI ASSISTED</a:t>
            </a:r>
            <a:endParaRPr lang="en-US" sz="750" dirty="0"/>
          </a:p>
        </p:txBody>
      </p:sp>
      <p:sp>
        <p:nvSpPr>
          <p:cNvPr id="44" name="Shape 42"/>
          <p:cNvSpPr/>
          <p:nvPr/>
        </p:nvSpPr>
        <p:spPr>
          <a:xfrm>
            <a:off x="420624" y="4855464"/>
            <a:ext cx="2724912" cy="384048"/>
          </a:xfrm>
          <a:prstGeom prst="rect">
            <a:avLst/>
          </a:prstGeom>
          <a:solidFill>
            <a:srgbClr val="FFFFFF"/>
          </a:solidFill>
          <a:ln w="6350">
            <a:solidFill>
              <a:srgbClr val="D4D4D4"/>
            </a:solidFill>
            <a:prstDash val="solid"/>
          </a:ln>
        </p:spPr>
        <p:txBody>
          <a:bodyPr/>
          <a:lstStyle/>
          <a:p>
            <a:endParaRPr lang="en-US"/>
          </a:p>
        </p:txBody>
      </p:sp>
      <p:sp>
        <p:nvSpPr>
          <p:cNvPr id="45" name="Shape 43"/>
          <p:cNvSpPr/>
          <p:nvPr/>
        </p:nvSpPr>
        <p:spPr>
          <a:xfrm>
            <a:off x="420624" y="4855464"/>
            <a:ext cx="36576" cy="384048"/>
          </a:xfrm>
          <a:prstGeom prst="rect">
            <a:avLst/>
          </a:prstGeom>
          <a:solidFill>
            <a:srgbClr val="CC0000"/>
          </a:solidFill>
          <a:ln w="12700">
            <a:solidFill>
              <a:srgbClr val="CC0000"/>
            </a:solidFill>
            <a:prstDash val="solid"/>
          </a:ln>
        </p:spPr>
        <p:txBody>
          <a:bodyPr/>
          <a:lstStyle/>
          <a:p>
            <a:endParaRPr lang="en-US"/>
          </a:p>
        </p:txBody>
      </p:sp>
      <p:sp>
        <p:nvSpPr>
          <p:cNvPr id="46" name="Text 44"/>
          <p:cNvSpPr/>
          <p:nvPr/>
        </p:nvSpPr>
        <p:spPr>
          <a:xfrm>
            <a:off x="484632" y="4855464"/>
            <a:ext cx="2660904" cy="384048"/>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AI-powered content personalization</a:t>
            </a:r>
            <a:endParaRPr lang="en-US" sz="900" dirty="0"/>
          </a:p>
        </p:txBody>
      </p:sp>
      <p:sp>
        <p:nvSpPr>
          <p:cNvPr id="47" name="Shape 45"/>
          <p:cNvSpPr/>
          <p:nvPr/>
        </p:nvSpPr>
        <p:spPr>
          <a:xfrm>
            <a:off x="420624" y="5294376"/>
            <a:ext cx="2724912" cy="384048"/>
          </a:xfrm>
          <a:prstGeom prst="rect">
            <a:avLst/>
          </a:prstGeom>
          <a:solidFill>
            <a:srgbClr val="FFFFFF"/>
          </a:solidFill>
          <a:ln w="6350">
            <a:solidFill>
              <a:srgbClr val="D4D4D4"/>
            </a:solidFill>
            <a:prstDash val="solid"/>
          </a:ln>
        </p:spPr>
        <p:txBody>
          <a:bodyPr/>
          <a:lstStyle/>
          <a:p>
            <a:endParaRPr lang="en-US"/>
          </a:p>
        </p:txBody>
      </p:sp>
      <p:sp>
        <p:nvSpPr>
          <p:cNvPr id="48" name="Shape 46"/>
          <p:cNvSpPr/>
          <p:nvPr/>
        </p:nvSpPr>
        <p:spPr>
          <a:xfrm>
            <a:off x="420624" y="5294376"/>
            <a:ext cx="36576" cy="384048"/>
          </a:xfrm>
          <a:prstGeom prst="rect">
            <a:avLst/>
          </a:prstGeom>
          <a:solidFill>
            <a:srgbClr val="CC0000"/>
          </a:solidFill>
          <a:ln w="12700">
            <a:solidFill>
              <a:srgbClr val="CC0000"/>
            </a:solidFill>
            <a:prstDash val="solid"/>
          </a:ln>
        </p:spPr>
        <p:txBody>
          <a:bodyPr/>
          <a:lstStyle/>
          <a:p>
            <a:endParaRPr lang="en-US"/>
          </a:p>
        </p:txBody>
      </p:sp>
      <p:sp>
        <p:nvSpPr>
          <p:cNvPr id="49" name="Text 47"/>
          <p:cNvSpPr/>
          <p:nvPr/>
        </p:nvSpPr>
        <p:spPr>
          <a:xfrm>
            <a:off x="484632" y="5294376"/>
            <a:ext cx="2660904" cy="384048"/>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Intent-based product matching</a:t>
            </a:r>
            <a:endParaRPr lang="en-US" sz="900" dirty="0"/>
          </a:p>
        </p:txBody>
      </p:sp>
      <p:sp>
        <p:nvSpPr>
          <p:cNvPr id="50" name="Shape 48"/>
          <p:cNvSpPr/>
          <p:nvPr/>
        </p:nvSpPr>
        <p:spPr>
          <a:xfrm>
            <a:off x="420624" y="5733288"/>
            <a:ext cx="2724912" cy="384048"/>
          </a:xfrm>
          <a:prstGeom prst="rect">
            <a:avLst/>
          </a:prstGeom>
          <a:solidFill>
            <a:srgbClr val="FFFFFF"/>
          </a:solidFill>
          <a:ln w="6350">
            <a:solidFill>
              <a:srgbClr val="D4D4D4"/>
            </a:solidFill>
            <a:prstDash val="solid"/>
          </a:ln>
        </p:spPr>
        <p:txBody>
          <a:bodyPr/>
          <a:lstStyle/>
          <a:p>
            <a:endParaRPr lang="en-US"/>
          </a:p>
        </p:txBody>
      </p:sp>
      <p:sp>
        <p:nvSpPr>
          <p:cNvPr id="51" name="Shape 49"/>
          <p:cNvSpPr/>
          <p:nvPr/>
        </p:nvSpPr>
        <p:spPr>
          <a:xfrm>
            <a:off x="420624" y="5733288"/>
            <a:ext cx="36576" cy="384048"/>
          </a:xfrm>
          <a:prstGeom prst="rect">
            <a:avLst/>
          </a:prstGeom>
          <a:solidFill>
            <a:srgbClr val="CC0000"/>
          </a:solidFill>
          <a:ln w="12700">
            <a:solidFill>
              <a:srgbClr val="CC0000"/>
            </a:solidFill>
            <a:prstDash val="solid"/>
          </a:ln>
        </p:spPr>
        <p:txBody>
          <a:bodyPr/>
          <a:lstStyle/>
          <a:p>
            <a:endParaRPr lang="en-US"/>
          </a:p>
        </p:txBody>
      </p:sp>
      <p:sp>
        <p:nvSpPr>
          <p:cNvPr id="52" name="Text 50"/>
          <p:cNvSpPr/>
          <p:nvPr/>
        </p:nvSpPr>
        <p:spPr>
          <a:xfrm>
            <a:off x="484632" y="5733288"/>
            <a:ext cx="2660904" cy="384048"/>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Conversational needs assessment</a:t>
            </a:r>
            <a:endParaRPr lang="en-US" sz="900" dirty="0"/>
          </a:p>
        </p:txBody>
      </p:sp>
      <p:sp>
        <p:nvSpPr>
          <p:cNvPr id="53" name="Shape 51"/>
          <p:cNvSpPr/>
          <p:nvPr/>
        </p:nvSpPr>
        <p:spPr>
          <a:xfrm>
            <a:off x="420624" y="6172200"/>
            <a:ext cx="2724912" cy="384048"/>
          </a:xfrm>
          <a:prstGeom prst="rect">
            <a:avLst/>
          </a:prstGeom>
          <a:solidFill>
            <a:srgbClr val="FFFFFF"/>
          </a:solidFill>
          <a:ln w="6350">
            <a:solidFill>
              <a:srgbClr val="D4D4D4"/>
            </a:solidFill>
            <a:prstDash val="solid"/>
          </a:ln>
        </p:spPr>
        <p:txBody>
          <a:bodyPr/>
          <a:lstStyle/>
          <a:p>
            <a:endParaRPr lang="en-US"/>
          </a:p>
        </p:txBody>
      </p:sp>
      <p:sp>
        <p:nvSpPr>
          <p:cNvPr id="54" name="Shape 52"/>
          <p:cNvSpPr/>
          <p:nvPr/>
        </p:nvSpPr>
        <p:spPr>
          <a:xfrm>
            <a:off x="420624" y="6172200"/>
            <a:ext cx="36576" cy="384048"/>
          </a:xfrm>
          <a:prstGeom prst="rect">
            <a:avLst/>
          </a:prstGeom>
          <a:solidFill>
            <a:srgbClr val="CC0000"/>
          </a:solidFill>
          <a:ln w="12700">
            <a:solidFill>
              <a:srgbClr val="CC0000"/>
            </a:solidFill>
            <a:prstDash val="solid"/>
          </a:ln>
        </p:spPr>
        <p:txBody>
          <a:bodyPr/>
          <a:lstStyle/>
          <a:p>
            <a:endParaRPr lang="en-US"/>
          </a:p>
        </p:txBody>
      </p:sp>
      <p:sp>
        <p:nvSpPr>
          <p:cNvPr id="55" name="Text 53"/>
          <p:cNvSpPr/>
          <p:nvPr/>
        </p:nvSpPr>
        <p:spPr>
          <a:xfrm>
            <a:off x="484632" y="6172200"/>
            <a:ext cx="2660904" cy="384048"/>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Automated lead capture &amp; enrichment</a:t>
            </a:r>
            <a:endParaRPr lang="en-US" sz="900" dirty="0"/>
          </a:p>
        </p:txBody>
      </p:sp>
      <p:sp>
        <p:nvSpPr>
          <p:cNvPr id="56" name="Shape 54"/>
          <p:cNvSpPr/>
          <p:nvPr/>
        </p:nvSpPr>
        <p:spPr>
          <a:xfrm>
            <a:off x="3264408" y="1609344"/>
            <a:ext cx="2880360" cy="420624"/>
          </a:xfrm>
          <a:prstGeom prst="rect">
            <a:avLst/>
          </a:prstGeom>
          <a:solidFill>
            <a:srgbClr val="111111"/>
          </a:solidFill>
          <a:ln w="12700">
            <a:solidFill>
              <a:srgbClr val="111111"/>
            </a:solidFill>
            <a:prstDash val="solid"/>
          </a:ln>
        </p:spPr>
        <p:txBody>
          <a:bodyPr/>
          <a:lstStyle/>
          <a:p>
            <a:endParaRPr lang="en-US"/>
          </a:p>
        </p:txBody>
      </p:sp>
      <p:sp>
        <p:nvSpPr>
          <p:cNvPr id="57" name="Text 55"/>
          <p:cNvSpPr/>
          <p:nvPr/>
        </p:nvSpPr>
        <p:spPr>
          <a:xfrm>
            <a:off x="3337560" y="1636776"/>
            <a:ext cx="310896" cy="228600"/>
          </a:xfrm>
          <a:prstGeom prst="rect">
            <a:avLst/>
          </a:prstGeom>
          <a:noFill/>
          <a:ln/>
        </p:spPr>
        <p:txBody>
          <a:bodyPr wrap="square" lIns="0" tIns="0" rIns="0" bIns="0" rtlCol="0" anchor="ctr"/>
          <a:lstStyle/>
          <a:p>
            <a:pPr marL="0" indent="0">
              <a:buNone/>
            </a:pPr>
            <a:r>
              <a:rPr lang="en-US" sz="1100" b="1" dirty="0">
                <a:solidFill>
                  <a:schemeClr val="bg1">
                    <a:lumMod val="85000"/>
                  </a:schemeClr>
                </a:solidFill>
                <a:latin typeface="Calibri" pitchFamily="34" charset="0"/>
                <a:ea typeface="Calibri" pitchFamily="34" charset="-122"/>
                <a:cs typeface="Calibri" pitchFamily="34" charset="-120"/>
              </a:rPr>
              <a:t>02</a:t>
            </a:r>
            <a:endParaRPr lang="en-US" sz="1100" dirty="0">
              <a:solidFill>
                <a:schemeClr val="bg1">
                  <a:lumMod val="85000"/>
                </a:schemeClr>
              </a:solidFill>
            </a:endParaRPr>
          </a:p>
        </p:txBody>
      </p:sp>
      <p:sp>
        <p:nvSpPr>
          <p:cNvPr id="58" name="Text 56"/>
          <p:cNvSpPr/>
          <p:nvPr/>
        </p:nvSpPr>
        <p:spPr>
          <a:xfrm>
            <a:off x="3264408" y="1755648"/>
            <a:ext cx="2880360" cy="219456"/>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EVALUATION</a:t>
            </a:r>
            <a:endParaRPr lang="en-US" sz="1050" dirty="0"/>
          </a:p>
        </p:txBody>
      </p:sp>
      <p:sp>
        <p:nvSpPr>
          <p:cNvPr id="59" name="Shape 57"/>
          <p:cNvSpPr/>
          <p:nvPr/>
        </p:nvSpPr>
        <p:spPr>
          <a:xfrm>
            <a:off x="3264408" y="2066544"/>
            <a:ext cx="2880360" cy="896112"/>
          </a:xfrm>
          <a:prstGeom prst="rect">
            <a:avLst/>
          </a:prstGeom>
          <a:solidFill>
            <a:srgbClr val="F4F4F4"/>
          </a:solidFill>
          <a:ln w="6350">
            <a:solidFill>
              <a:srgbClr val="D4D4D4"/>
            </a:solidFill>
            <a:prstDash val="solid"/>
          </a:ln>
        </p:spPr>
        <p:txBody>
          <a:bodyPr/>
          <a:lstStyle/>
          <a:p>
            <a:endParaRPr lang="en-US"/>
          </a:p>
        </p:txBody>
      </p:sp>
      <p:sp>
        <p:nvSpPr>
          <p:cNvPr id="60" name="Shape 58"/>
          <p:cNvSpPr/>
          <p:nvPr/>
        </p:nvSpPr>
        <p:spPr>
          <a:xfrm>
            <a:off x="3264408" y="2066544"/>
            <a:ext cx="45720" cy="896112"/>
          </a:xfrm>
          <a:prstGeom prst="rect">
            <a:avLst/>
          </a:prstGeom>
          <a:solidFill>
            <a:srgbClr val="CC0000"/>
          </a:solidFill>
          <a:ln w="12700">
            <a:solidFill>
              <a:srgbClr val="CC0000"/>
            </a:solidFill>
            <a:prstDash val="solid"/>
          </a:ln>
        </p:spPr>
        <p:txBody>
          <a:bodyPr/>
          <a:lstStyle/>
          <a:p>
            <a:endParaRPr lang="en-US"/>
          </a:p>
        </p:txBody>
      </p:sp>
      <p:sp>
        <p:nvSpPr>
          <p:cNvPr id="61" name="Text 59"/>
          <p:cNvSpPr/>
          <p:nvPr/>
        </p:nvSpPr>
        <p:spPr>
          <a:xfrm>
            <a:off x="3355848" y="2112264"/>
            <a:ext cx="2752344" cy="182880"/>
          </a:xfrm>
          <a:prstGeom prst="rect">
            <a:avLst/>
          </a:prstGeom>
          <a:noFill/>
          <a:ln/>
        </p:spPr>
        <p:txBody>
          <a:bodyPr wrap="square" lIns="0" tIns="0" rIns="0" bIns="0" rtlCol="0" anchor="ctr"/>
          <a:lstStyle/>
          <a:p>
            <a:pPr marL="0" indent="0">
              <a:buNone/>
            </a:pPr>
            <a:r>
              <a:rPr lang="en-US" sz="750" b="1" kern="0" spc="100" dirty="0">
                <a:solidFill>
                  <a:srgbClr val="CC0000"/>
                </a:solidFill>
                <a:latin typeface="Calibri" pitchFamily="34" charset="0"/>
                <a:ea typeface="Calibri" pitchFamily="34" charset="-122"/>
                <a:cs typeface="Calibri" pitchFamily="34" charset="-120"/>
              </a:rPr>
              <a:t>KEY METRICS</a:t>
            </a:r>
            <a:endParaRPr lang="en-US" sz="750" dirty="0"/>
          </a:p>
        </p:txBody>
      </p:sp>
      <p:sp>
        <p:nvSpPr>
          <p:cNvPr id="63" name="Text 61"/>
          <p:cNvSpPr/>
          <p:nvPr/>
        </p:nvSpPr>
        <p:spPr>
          <a:xfrm>
            <a:off x="3447288" y="2359152"/>
            <a:ext cx="1266444" cy="274320"/>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Lead Scoring Accuracy</a:t>
            </a:r>
            <a:endParaRPr lang="en-US" sz="850" dirty="0"/>
          </a:p>
        </p:txBody>
      </p:sp>
      <p:sp>
        <p:nvSpPr>
          <p:cNvPr id="65" name="Text 63"/>
          <p:cNvSpPr/>
          <p:nvPr/>
        </p:nvSpPr>
        <p:spPr>
          <a:xfrm>
            <a:off x="4860036" y="2359152"/>
            <a:ext cx="1266444" cy="274320"/>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Configuration Completion Rate</a:t>
            </a:r>
            <a:endParaRPr lang="en-US" sz="850" dirty="0"/>
          </a:p>
        </p:txBody>
      </p:sp>
      <p:sp>
        <p:nvSpPr>
          <p:cNvPr id="67" name="Text 65"/>
          <p:cNvSpPr/>
          <p:nvPr/>
        </p:nvSpPr>
        <p:spPr>
          <a:xfrm>
            <a:off x="3447288" y="2670048"/>
            <a:ext cx="1266444" cy="274320"/>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CPQ Error Rate</a:t>
            </a:r>
            <a:endParaRPr lang="en-US" sz="850" dirty="0"/>
          </a:p>
        </p:txBody>
      </p:sp>
      <p:sp>
        <p:nvSpPr>
          <p:cNvPr id="69" name="Text 67"/>
          <p:cNvSpPr/>
          <p:nvPr/>
        </p:nvSpPr>
        <p:spPr>
          <a:xfrm>
            <a:off x="4860036" y="2670048"/>
            <a:ext cx="1266444" cy="274320"/>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Time to Valid Config</a:t>
            </a:r>
            <a:endParaRPr lang="en-US" sz="850" dirty="0"/>
          </a:p>
        </p:txBody>
      </p:sp>
      <p:sp>
        <p:nvSpPr>
          <p:cNvPr id="70" name="Shape 68"/>
          <p:cNvSpPr/>
          <p:nvPr/>
        </p:nvSpPr>
        <p:spPr>
          <a:xfrm>
            <a:off x="3264408" y="2999232"/>
            <a:ext cx="2880360" cy="1481328"/>
          </a:xfrm>
          <a:prstGeom prst="rect">
            <a:avLst/>
          </a:prstGeom>
          <a:solidFill>
            <a:srgbClr val="FFFFFF"/>
          </a:solidFill>
          <a:ln w="6350">
            <a:solidFill>
              <a:srgbClr val="D4D4D4"/>
            </a:solidFill>
            <a:prstDash val="solid"/>
          </a:ln>
        </p:spPr>
        <p:txBody>
          <a:bodyPr/>
          <a:lstStyle/>
          <a:p>
            <a:endParaRPr lang="en-US"/>
          </a:p>
        </p:txBody>
      </p:sp>
      <p:sp>
        <p:nvSpPr>
          <p:cNvPr id="71" name="Shape 69"/>
          <p:cNvSpPr/>
          <p:nvPr/>
        </p:nvSpPr>
        <p:spPr>
          <a:xfrm>
            <a:off x="3264408" y="2999232"/>
            <a:ext cx="45720" cy="1481328"/>
          </a:xfrm>
          <a:prstGeom prst="rect">
            <a:avLst/>
          </a:prstGeom>
          <a:solidFill>
            <a:srgbClr val="333333"/>
          </a:solidFill>
          <a:ln w="12700">
            <a:solidFill>
              <a:srgbClr val="333333"/>
            </a:solidFill>
            <a:prstDash val="solid"/>
          </a:ln>
        </p:spPr>
        <p:txBody>
          <a:bodyPr/>
          <a:lstStyle/>
          <a:p>
            <a:endParaRPr lang="en-US"/>
          </a:p>
        </p:txBody>
      </p:sp>
      <p:sp>
        <p:nvSpPr>
          <p:cNvPr id="72" name="Text 70"/>
          <p:cNvSpPr/>
          <p:nvPr/>
        </p:nvSpPr>
        <p:spPr>
          <a:xfrm>
            <a:off x="3337560" y="3044952"/>
            <a:ext cx="219456" cy="219456"/>
          </a:xfrm>
          <a:prstGeom prst="rect">
            <a:avLst/>
          </a:prstGeom>
          <a:noFill/>
          <a:ln/>
        </p:spPr>
        <p:txBody>
          <a:bodyPr wrap="square" lIns="0" tIns="0" rIns="0" bIns="0" rtlCol="0" anchor="ctr"/>
          <a:lstStyle/>
          <a:p>
            <a:pPr marL="0" indent="0">
              <a:buNone/>
            </a:pPr>
            <a:r>
              <a:rPr lang="en-US" sz="1200" dirty="0">
                <a:solidFill>
                  <a:srgbClr val="000000"/>
                </a:solidFill>
              </a:rPr>
              <a:t>👤</a:t>
            </a:r>
            <a:endParaRPr lang="en-US" sz="1200" dirty="0"/>
          </a:p>
        </p:txBody>
      </p:sp>
      <p:sp>
        <p:nvSpPr>
          <p:cNvPr id="73" name="Text 71"/>
          <p:cNvSpPr/>
          <p:nvPr/>
        </p:nvSpPr>
        <p:spPr>
          <a:xfrm>
            <a:off x="3557016" y="3054096"/>
            <a:ext cx="2532888" cy="201168"/>
          </a:xfrm>
          <a:prstGeom prst="rect">
            <a:avLst/>
          </a:prstGeom>
          <a:noFill/>
          <a:ln/>
        </p:spPr>
        <p:txBody>
          <a:bodyPr wrap="square" lIns="0" tIns="0" rIns="0" bIns="0" rtlCol="0" anchor="ctr"/>
          <a:lstStyle/>
          <a:p>
            <a:pPr marL="0" indent="0">
              <a:buNone/>
            </a:pPr>
            <a:r>
              <a:rPr lang="en-US" sz="750" b="1" kern="0" spc="100" dirty="0">
                <a:solidFill>
                  <a:srgbClr val="333333"/>
                </a:solidFill>
                <a:latin typeface="Calibri" pitchFamily="34" charset="0"/>
                <a:ea typeface="Calibri" pitchFamily="34" charset="-122"/>
                <a:cs typeface="Calibri" pitchFamily="34" charset="-120"/>
              </a:rPr>
              <a:t>OPERATIONS</a:t>
            </a:r>
            <a:endParaRPr lang="en-US" sz="750" dirty="0"/>
          </a:p>
        </p:txBody>
      </p:sp>
      <p:sp>
        <p:nvSpPr>
          <p:cNvPr id="74" name="Shape 72"/>
          <p:cNvSpPr/>
          <p:nvPr/>
        </p:nvSpPr>
        <p:spPr>
          <a:xfrm>
            <a:off x="3355848" y="3310128"/>
            <a:ext cx="2724912" cy="237744"/>
          </a:xfrm>
          <a:prstGeom prst="rect">
            <a:avLst/>
          </a:prstGeom>
          <a:solidFill>
            <a:srgbClr val="EBEBEB"/>
          </a:solidFill>
          <a:ln w="6350">
            <a:solidFill>
              <a:srgbClr val="D4D4D4"/>
            </a:solidFill>
            <a:prstDash val="solid"/>
          </a:ln>
        </p:spPr>
        <p:txBody>
          <a:bodyPr/>
          <a:lstStyle/>
          <a:p>
            <a:endParaRPr lang="en-US"/>
          </a:p>
        </p:txBody>
      </p:sp>
      <p:sp>
        <p:nvSpPr>
          <p:cNvPr id="75" name="Text 73"/>
          <p:cNvSpPr/>
          <p:nvPr/>
        </p:nvSpPr>
        <p:spPr>
          <a:xfrm>
            <a:off x="3392424" y="3310128"/>
            <a:ext cx="2688336" cy="237744"/>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Product configuration rules maintenance</a:t>
            </a:r>
            <a:endParaRPr lang="en-US" sz="900" dirty="0"/>
          </a:p>
        </p:txBody>
      </p:sp>
      <p:sp>
        <p:nvSpPr>
          <p:cNvPr id="76" name="Shape 74"/>
          <p:cNvSpPr/>
          <p:nvPr/>
        </p:nvSpPr>
        <p:spPr>
          <a:xfrm>
            <a:off x="3355848" y="3584448"/>
            <a:ext cx="2724912" cy="237744"/>
          </a:xfrm>
          <a:prstGeom prst="rect">
            <a:avLst/>
          </a:prstGeom>
          <a:solidFill>
            <a:srgbClr val="EBEBEB"/>
          </a:solidFill>
          <a:ln w="6350">
            <a:solidFill>
              <a:srgbClr val="D4D4D4"/>
            </a:solidFill>
            <a:prstDash val="solid"/>
          </a:ln>
        </p:spPr>
        <p:txBody>
          <a:bodyPr/>
          <a:lstStyle/>
          <a:p>
            <a:endParaRPr lang="en-US"/>
          </a:p>
        </p:txBody>
      </p:sp>
      <p:sp>
        <p:nvSpPr>
          <p:cNvPr id="77" name="Text 75"/>
          <p:cNvSpPr/>
          <p:nvPr/>
        </p:nvSpPr>
        <p:spPr>
          <a:xfrm>
            <a:off x="3392424" y="3584448"/>
            <a:ext cx="2688336" cy="237744"/>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Pricing table updates</a:t>
            </a:r>
            <a:endParaRPr lang="en-US" sz="900" dirty="0"/>
          </a:p>
        </p:txBody>
      </p:sp>
      <p:sp>
        <p:nvSpPr>
          <p:cNvPr id="78" name="Shape 76"/>
          <p:cNvSpPr/>
          <p:nvPr/>
        </p:nvSpPr>
        <p:spPr>
          <a:xfrm>
            <a:off x="3355848" y="3858768"/>
            <a:ext cx="2724912" cy="237744"/>
          </a:xfrm>
          <a:prstGeom prst="rect">
            <a:avLst/>
          </a:prstGeom>
          <a:solidFill>
            <a:srgbClr val="EBEBEB"/>
          </a:solidFill>
          <a:ln w="6350">
            <a:solidFill>
              <a:srgbClr val="D4D4D4"/>
            </a:solidFill>
            <a:prstDash val="solid"/>
          </a:ln>
        </p:spPr>
        <p:txBody>
          <a:bodyPr/>
          <a:lstStyle/>
          <a:p>
            <a:endParaRPr lang="en-US"/>
          </a:p>
        </p:txBody>
      </p:sp>
      <p:sp>
        <p:nvSpPr>
          <p:cNvPr id="79" name="Text 77"/>
          <p:cNvSpPr/>
          <p:nvPr/>
        </p:nvSpPr>
        <p:spPr>
          <a:xfrm>
            <a:off x="3392424" y="3858768"/>
            <a:ext cx="2688336" cy="237744"/>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Compliance documentation</a:t>
            </a:r>
            <a:endParaRPr lang="en-US" sz="900" dirty="0"/>
          </a:p>
        </p:txBody>
      </p:sp>
      <p:sp>
        <p:nvSpPr>
          <p:cNvPr id="80" name="Shape 78"/>
          <p:cNvSpPr/>
          <p:nvPr/>
        </p:nvSpPr>
        <p:spPr>
          <a:xfrm>
            <a:off x="3355848" y="4133088"/>
            <a:ext cx="2724912" cy="237744"/>
          </a:xfrm>
          <a:prstGeom prst="rect">
            <a:avLst/>
          </a:prstGeom>
          <a:solidFill>
            <a:srgbClr val="EBEBEB"/>
          </a:solidFill>
          <a:ln w="6350">
            <a:solidFill>
              <a:srgbClr val="D4D4D4"/>
            </a:solidFill>
            <a:prstDash val="solid"/>
          </a:ln>
        </p:spPr>
        <p:txBody>
          <a:bodyPr/>
          <a:lstStyle/>
          <a:p>
            <a:endParaRPr lang="en-US"/>
          </a:p>
        </p:txBody>
      </p:sp>
      <p:sp>
        <p:nvSpPr>
          <p:cNvPr id="81" name="Text 79"/>
          <p:cNvSpPr/>
          <p:nvPr/>
        </p:nvSpPr>
        <p:spPr>
          <a:xfrm>
            <a:off x="3392424" y="4133088"/>
            <a:ext cx="2688336" cy="237744"/>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Sales enablement content</a:t>
            </a:r>
            <a:endParaRPr lang="en-US" sz="900" dirty="0"/>
          </a:p>
        </p:txBody>
      </p:sp>
      <p:sp>
        <p:nvSpPr>
          <p:cNvPr id="82" name="Shape 80"/>
          <p:cNvSpPr/>
          <p:nvPr/>
        </p:nvSpPr>
        <p:spPr>
          <a:xfrm>
            <a:off x="3264408" y="4517136"/>
            <a:ext cx="2880360" cy="2157984"/>
          </a:xfrm>
          <a:prstGeom prst="rect">
            <a:avLst/>
          </a:prstGeom>
          <a:solidFill>
            <a:srgbClr val="F4F4F4"/>
          </a:solidFill>
          <a:ln w="6350">
            <a:solidFill>
              <a:srgbClr val="D4D4D4"/>
            </a:solidFill>
            <a:prstDash val="solid"/>
          </a:ln>
        </p:spPr>
        <p:txBody>
          <a:bodyPr/>
          <a:lstStyle/>
          <a:p>
            <a:endParaRPr lang="en-US"/>
          </a:p>
        </p:txBody>
      </p:sp>
      <p:sp>
        <p:nvSpPr>
          <p:cNvPr id="83" name="Shape 81"/>
          <p:cNvSpPr/>
          <p:nvPr/>
        </p:nvSpPr>
        <p:spPr>
          <a:xfrm>
            <a:off x="3264408" y="4517136"/>
            <a:ext cx="2880360" cy="45720"/>
          </a:xfrm>
          <a:prstGeom prst="rect">
            <a:avLst/>
          </a:prstGeom>
          <a:solidFill>
            <a:srgbClr val="111111"/>
          </a:solidFill>
          <a:ln w="12700">
            <a:solidFill>
              <a:srgbClr val="111111"/>
            </a:solidFill>
            <a:prstDash val="solid"/>
          </a:ln>
        </p:spPr>
        <p:txBody>
          <a:bodyPr/>
          <a:lstStyle/>
          <a:p>
            <a:endParaRPr lang="en-US"/>
          </a:p>
        </p:txBody>
      </p:sp>
      <p:sp>
        <p:nvSpPr>
          <p:cNvPr id="84" name="Shape 82"/>
          <p:cNvSpPr/>
          <p:nvPr/>
        </p:nvSpPr>
        <p:spPr>
          <a:xfrm>
            <a:off x="3264408" y="4517136"/>
            <a:ext cx="45720" cy="2157984"/>
          </a:xfrm>
          <a:prstGeom prst="rect">
            <a:avLst/>
          </a:prstGeom>
          <a:solidFill>
            <a:srgbClr val="CC0000"/>
          </a:solidFill>
          <a:ln w="12700">
            <a:solidFill>
              <a:srgbClr val="CC0000"/>
            </a:solidFill>
            <a:prstDash val="solid"/>
          </a:ln>
        </p:spPr>
        <p:txBody>
          <a:bodyPr/>
          <a:lstStyle/>
          <a:p>
            <a:endParaRPr lang="en-US"/>
          </a:p>
        </p:txBody>
      </p:sp>
      <p:sp>
        <p:nvSpPr>
          <p:cNvPr id="85" name="Text 83"/>
          <p:cNvSpPr/>
          <p:nvPr/>
        </p:nvSpPr>
        <p:spPr>
          <a:xfrm>
            <a:off x="3355848" y="4581144"/>
            <a:ext cx="2752344" cy="219456"/>
          </a:xfrm>
          <a:prstGeom prst="rect">
            <a:avLst/>
          </a:prstGeom>
          <a:noFill/>
          <a:ln/>
        </p:spPr>
        <p:txBody>
          <a:bodyPr wrap="square" lIns="0" tIns="0" rIns="0" bIns="0" rtlCol="0" anchor="ctr"/>
          <a:lstStyle/>
          <a:p>
            <a:pPr marL="0" indent="0">
              <a:buNone/>
            </a:pPr>
            <a:r>
              <a:rPr lang="en-US" sz="750" b="1" kern="0" spc="100" dirty="0">
                <a:solidFill>
                  <a:srgbClr val="CC0000"/>
                </a:solidFill>
                <a:latin typeface="Calibri" pitchFamily="34" charset="0"/>
                <a:ea typeface="Calibri" pitchFamily="34" charset="-122"/>
                <a:cs typeface="Calibri" pitchFamily="34" charset="-120"/>
              </a:rPr>
              <a:t>✦  AI ASSISTED</a:t>
            </a:r>
            <a:endParaRPr lang="en-US" sz="750" dirty="0"/>
          </a:p>
        </p:txBody>
      </p:sp>
      <p:sp>
        <p:nvSpPr>
          <p:cNvPr id="86" name="Shape 84"/>
          <p:cNvSpPr/>
          <p:nvPr/>
        </p:nvSpPr>
        <p:spPr>
          <a:xfrm>
            <a:off x="3355848" y="4855464"/>
            <a:ext cx="2724912" cy="384048"/>
          </a:xfrm>
          <a:prstGeom prst="rect">
            <a:avLst/>
          </a:prstGeom>
          <a:solidFill>
            <a:srgbClr val="FFFFFF"/>
          </a:solidFill>
          <a:ln w="6350">
            <a:solidFill>
              <a:srgbClr val="D4D4D4"/>
            </a:solidFill>
            <a:prstDash val="solid"/>
          </a:ln>
        </p:spPr>
        <p:txBody>
          <a:bodyPr/>
          <a:lstStyle/>
          <a:p>
            <a:endParaRPr lang="en-US"/>
          </a:p>
        </p:txBody>
      </p:sp>
      <p:sp>
        <p:nvSpPr>
          <p:cNvPr id="87" name="Shape 85"/>
          <p:cNvSpPr/>
          <p:nvPr/>
        </p:nvSpPr>
        <p:spPr>
          <a:xfrm>
            <a:off x="3355848" y="4855464"/>
            <a:ext cx="36576" cy="384048"/>
          </a:xfrm>
          <a:prstGeom prst="rect">
            <a:avLst/>
          </a:prstGeom>
          <a:solidFill>
            <a:srgbClr val="CC0000"/>
          </a:solidFill>
          <a:ln w="12700">
            <a:solidFill>
              <a:srgbClr val="CC0000"/>
            </a:solidFill>
            <a:prstDash val="solid"/>
          </a:ln>
        </p:spPr>
        <p:txBody>
          <a:bodyPr/>
          <a:lstStyle/>
          <a:p>
            <a:endParaRPr lang="en-US"/>
          </a:p>
        </p:txBody>
      </p:sp>
      <p:sp>
        <p:nvSpPr>
          <p:cNvPr id="88" name="Text 86"/>
          <p:cNvSpPr/>
          <p:nvPr/>
        </p:nvSpPr>
        <p:spPr>
          <a:xfrm>
            <a:off x="3419856" y="4855464"/>
            <a:ext cx="2660904" cy="384048"/>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AI configuration validation agent</a:t>
            </a:r>
            <a:endParaRPr lang="en-US" sz="900" dirty="0"/>
          </a:p>
        </p:txBody>
      </p:sp>
      <p:sp>
        <p:nvSpPr>
          <p:cNvPr id="89" name="Shape 87"/>
          <p:cNvSpPr/>
          <p:nvPr/>
        </p:nvSpPr>
        <p:spPr>
          <a:xfrm>
            <a:off x="3355848" y="5294376"/>
            <a:ext cx="2724912" cy="384048"/>
          </a:xfrm>
          <a:prstGeom prst="rect">
            <a:avLst/>
          </a:prstGeom>
          <a:solidFill>
            <a:srgbClr val="FFFFFF"/>
          </a:solidFill>
          <a:ln w="6350">
            <a:solidFill>
              <a:srgbClr val="D4D4D4"/>
            </a:solidFill>
            <a:prstDash val="solid"/>
          </a:ln>
        </p:spPr>
        <p:txBody>
          <a:bodyPr/>
          <a:lstStyle/>
          <a:p>
            <a:endParaRPr lang="en-US"/>
          </a:p>
        </p:txBody>
      </p:sp>
      <p:sp>
        <p:nvSpPr>
          <p:cNvPr id="90" name="Shape 88"/>
          <p:cNvSpPr/>
          <p:nvPr/>
        </p:nvSpPr>
        <p:spPr>
          <a:xfrm>
            <a:off x="3355848" y="5294376"/>
            <a:ext cx="36576" cy="384048"/>
          </a:xfrm>
          <a:prstGeom prst="rect">
            <a:avLst/>
          </a:prstGeom>
          <a:solidFill>
            <a:srgbClr val="CC0000"/>
          </a:solidFill>
          <a:ln w="12700">
            <a:solidFill>
              <a:srgbClr val="CC0000"/>
            </a:solidFill>
            <a:prstDash val="solid"/>
          </a:ln>
        </p:spPr>
        <p:txBody>
          <a:bodyPr/>
          <a:lstStyle/>
          <a:p>
            <a:endParaRPr lang="en-US"/>
          </a:p>
        </p:txBody>
      </p:sp>
      <p:sp>
        <p:nvSpPr>
          <p:cNvPr id="91" name="Text 89"/>
          <p:cNvSpPr/>
          <p:nvPr/>
        </p:nvSpPr>
        <p:spPr>
          <a:xfrm>
            <a:off x="3419856" y="5294376"/>
            <a:ext cx="2660904" cy="384048"/>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Guided configure-price-quote (CPQ)</a:t>
            </a:r>
            <a:endParaRPr lang="en-US" sz="900" dirty="0"/>
          </a:p>
        </p:txBody>
      </p:sp>
      <p:sp>
        <p:nvSpPr>
          <p:cNvPr id="92" name="Shape 90"/>
          <p:cNvSpPr/>
          <p:nvPr/>
        </p:nvSpPr>
        <p:spPr>
          <a:xfrm>
            <a:off x="3355848" y="5733288"/>
            <a:ext cx="2724912" cy="384048"/>
          </a:xfrm>
          <a:prstGeom prst="rect">
            <a:avLst/>
          </a:prstGeom>
          <a:solidFill>
            <a:srgbClr val="FFFFFF"/>
          </a:solidFill>
          <a:ln w="6350">
            <a:solidFill>
              <a:srgbClr val="D4D4D4"/>
            </a:solidFill>
            <a:prstDash val="solid"/>
          </a:ln>
        </p:spPr>
        <p:txBody>
          <a:bodyPr/>
          <a:lstStyle/>
          <a:p>
            <a:endParaRPr lang="en-US"/>
          </a:p>
        </p:txBody>
      </p:sp>
      <p:sp>
        <p:nvSpPr>
          <p:cNvPr id="93" name="Shape 91"/>
          <p:cNvSpPr/>
          <p:nvPr/>
        </p:nvSpPr>
        <p:spPr>
          <a:xfrm>
            <a:off x="3355848" y="5733288"/>
            <a:ext cx="36576" cy="384048"/>
          </a:xfrm>
          <a:prstGeom prst="rect">
            <a:avLst/>
          </a:prstGeom>
          <a:solidFill>
            <a:srgbClr val="CC0000"/>
          </a:solidFill>
          <a:ln w="12700">
            <a:solidFill>
              <a:srgbClr val="CC0000"/>
            </a:solidFill>
            <a:prstDash val="solid"/>
          </a:ln>
        </p:spPr>
        <p:txBody>
          <a:bodyPr/>
          <a:lstStyle/>
          <a:p>
            <a:endParaRPr lang="en-US"/>
          </a:p>
        </p:txBody>
      </p:sp>
      <p:sp>
        <p:nvSpPr>
          <p:cNvPr id="94" name="Text 92"/>
          <p:cNvSpPr/>
          <p:nvPr/>
        </p:nvSpPr>
        <p:spPr>
          <a:xfrm>
            <a:off x="3419856" y="5733288"/>
            <a:ext cx="2660904" cy="384048"/>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Real-time lead scoring &amp; MQL triggers</a:t>
            </a:r>
            <a:endParaRPr lang="en-US" sz="900" dirty="0"/>
          </a:p>
        </p:txBody>
      </p:sp>
      <p:sp>
        <p:nvSpPr>
          <p:cNvPr id="95" name="Shape 93"/>
          <p:cNvSpPr/>
          <p:nvPr/>
        </p:nvSpPr>
        <p:spPr>
          <a:xfrm>
            <a:off x="3355848" y="6172200"/>
            <a:ext cx="2724912" cy="384048"/>
          </a:xfrm>
          <a:prstGeom prst="rect">
            <a:avLst/>
          </a:prstGeom>
          <a:solidFill>
            <a:srgbClr val="FFFFFF"/>
          </a:solidFill>
          <a:ln w="6350">
            <a:solidFill>
              <a:srgbClr val="D4D4D4"/>
            </a:solidFill>
            <a:prstDash val="solid"/>
          </a:ln>
        </p:spPr>
        <p:txBody>
          <a:bodyPr/>
          <a:lstStyle/>
          <a:p>
            <a:endParaRPr lang="en-US"/>
          </a:p>
        </p:txBody>
      </p:sp>
      <p:sp>
        <p:nvSpPr>
          <p:cNvPr id="96" name="Shape 94"/>
          <p:cNvSpPr/>
          <p:nvPr/>
        </p:nvSpPr>
        <p:spPr>
          <a:xfrm>
            <a:off x="3355848" y="6172200"/>
            <a:ext cx="36576" cy="384048"/>
          </a:xfrm>
          <a:prstGeom prst="rect">
            <a:avLst/>
          </a:prstGeom>
          <a:solidFill>
            <a:srgbClr val="CC0000"/>
          </a:solidFill>
          <a:ln w="12700">
            <a:solidFill>
              <a:srgbClr val="CC0000"/>
            </a:solidFill>
            <a:prstDash val="solid"/>
          </a:ln>
        </p:spPr>
        <p:txBody>
          <a:bodyPr/>
          <a:lstStyle/>
          <a:p>
            <a:endParaRPr lang="en-US"/>
          </a:p>
        </p:txBody>
      </p:sp>
      <p:sp>
        <p:nvSpPr>
          <p:cNvPr id="97" name="Text 95"/>
          <p:cNvSpPr/>
          <p:nvPr/>
        </p:nvSpPr>
        <p:spPr>
          <a:xfrm>
            <a:off x="3419856" y="6172200"/>
            <a:ext cx="2660904" cy="384048"/>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Regulatory compliance checks (auto)</a:t>
            </a:r>
            <a:endParaRPr lang="en-US" sz="900" dirty="0"/>
          </a:p>
        </p:txBody>
      </p:sp>
      <p:sp>
        <p:nvSpPr>
          <p:cNvPr id="98" name="Shape 96"/>
          <p:cNvSpPr/>
          <p:nvPr/>
        </p:nvSpPr>
        <p:spPr>
          <a:xfrm>
            <a:off x="6199632" y="1609344"/>
            <a:ext cx="2880360" cy="420624"/>
          </a:xfrm>
          <a:prstGeom prst="rect">
            <a:avLst/>
          </a:prstGeom>
          <a:solidFill>
            <a:srgbClr val="111111"/>
          </a:solidFill>
          <a:ln w="12700">
            <a:solidFill>
              <a:srgbClr val="111111"/>
            </a:solidFill>
            <a:prstDash val="solid"/>
          </a:ln>
        </p:spPr>
        <p:txBody>
          <a:bodyPr/>
          <a:lstStyle/>
          <a:p>
            <a:endParaRPr lang="en-US"/>
          </a:p>
        </p:txBody>
      </p:sp>
      <p:sp>
        <p:nvSpPr>
          <p:cNvPr id="99" name="Text 97"/>
          <p:cNvSpPr/>
          <p:nvPr/>
        </p:nvSpPr>
        <p:spPr>
          <a:xfrm>
            <a:off x="6272784" y="1636776"/>
            <a:ext cx="310896" cy="228600"/>
          </a:xfrm>
          <a:prstGeom prst="rect">
            <a:avLst/>
          </a:prstGeom>
          <a:noFill/>
          <a:ln/>
        </p:spPr>
        <p:txBody>
          <a:bodyPr wrap="square" lIns="0" tIns="0" rIns="0" bIns="0" rtlCol="0" anchor="ctr"/>
          <a:lstStyle/>
          <a:p>
            <a:pPr marL="0" indent="0">
              <a:buNone/>
            </a:pPr>
            <a:r>
              <a:rPr lang="en-US" sz="1100" b="1" dirty="0">
                <a:solidFill>
                  <a:schemeClr val="bg1">
                    <a:lumMod val="85000"/>
                  </a:schemeClr>
                </a:solidFill>
                <a:latin typeface="Calibri" pitchFamily="34" charset="0"/>
                <a:ea typeface="Calibri" pitchFamily="34" charset="-122"/>
                <a:cs typeface="Calibri" pitchFamily="34" charset="-120"/>
              </a:rPr>
              <a:t>03</a:t>
            </a:r>
            <a:endParaRPr lang="en-US" sz="1100" dirty="0">
              <a:solidFill>
                <a:schemeClr val="bg1">
                  <a:lumMod val="85000"/>
                </a:schemeClr>
              </a:solidFill>
            </a:endParaRPr>
          </a:p>
        </p:txBody>
      </p:sp>
      <p:sp>
        <p:nvSpPr>
          <p:cNvPr id="100" name="Text 98"/>
          <p:cNvSpPr/>
          <p:nvPr/>
        </p:nvSpPr>
        <p:spPr>
          <a:xfrm>
            <a:off x="6199632" y="1755648"/>
            <a:ext cx="2880360" cy="219456"/>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COMMITMENT</a:t>
            </a:r>
            <a:endParaRPr lang="en-US" sz="1050" dirty="0"/>
          </a:p>
        </p:txBody>
      </p:sp>
      <p:sp>
        <p:nvSpPr>
          <p:cNvPr id="101" name="Shape 99"/>
          <p:cNvSpPr/>
          <p:nvPr/>
        </p:nvSpPr>
        <p:spPr>
          <a:xfrm>
            <a:off x="6199632" y="2066544"/>
            <a:ext cx="2880360" cy="896112"/>
          </a:xfrm>
          <a:prstGeom prst="rect">
            <a:avLst/>
          </a:prstGeom>
          <a:solidFill>
            <a:srgbClr val="F4F4F4"/>
          </a:solidFill>
          <a:ln w="6350">
            <a:solidFill>
              <a:srgbClr val="D4D4D4"/>
            </a:solidFill>
            <a:prstDash val="solid"/>
          </a:ln>
        </p:spPr>
        <p:txBody>
          <a:bodyPr/>
          <a:lstStyle/>
          <a:p>
            <a:endParaRPr lang="en-US"/>
          </a:p>
        </p:txBody>
      </p:sp>
      <p:sp>
        <p:nvSpPr>
          <p:cNvPr id="102" name="Shape 100"/>
          <p:cNvSpPr/>
          <p:nvPr/>
        </p:nvSpPr>
        <p:spPr>
          <a:xfrm>
            <a:off x="6199632" y="2066544"/>
            <a:ext cx="45720" cy="896112"/>
          </a:xfrm>
          <a:prstGeom prst="rect">
            <a:avLst/>
          </a:prstGeom>
          <a:solidFill>
            <a:srgbClr val="CC0000"/>
          </a:solidFill>
          <a:ln w="12700">
            <a:solidFill>
              <a:srgbClr val="CC0000"/>
            </a:solidFill>
            <a:prstDash val="solid"/>
          </a:ln>
        </p:spPr>
        <p:txBody>
          <a:bodyPr/>
          <a:lstStyle/>
          <a:p>
            <a:endParaRPr lang="en-US"/>
          </a:p>
        </p:txBody>
      </p:sp>
      <p:sp>
        <p:nvSpPr>
          <p:cNvPr id="103" name="Text 101"/>
          <p:cNvSpPr/>
          <p:nvPr/>
        </p:nvSpPr>
        <p:spPr>
          <a:xfrm>
            <a:off x="6291072" y="2112264"/>
            <a:ext cx="2752344" cy="182880"/>
          </a:xfrm>
          <a:prstGeom prst="rect">
            <a:avLst/>
          </a:prstGeom>
          <a:noFill/>
          <a:ln/>
        </p:spPr>
        <p:txBody>
          <a:bodyPr wrap="square" lIns="0" tIns="0" rIns="0" bIns="0" rtlCol="0" anchor="ctr"/>
          <a:lstStyle/>
          <a:p>
            <a:pPr marL="0" indent="0">
              <a:buNone/>
            </a:pPr>
            <a:r>
              <a:rPr lang="en-US" sz="750" b="1" kern="0" spc="100" dirty="0">
                <a:solidFill>
                  <a:srgbClr val="CC0000"/>
                </a:solidFill>
                <a:latin typeface="Calibri" pitchFamily="34" charset="0"/>
                <a:ea typeface="Calibri" pitchFamily="34" charset="-122"/>
                <a:cs typeface="Calibri" pitchFamily="34" charset="-120"/>
              </a:rPr>
              <a:t>KEY METRICS</a:t>
            </a:r>
            <a:endParaRPr lang="en-US" sz="750" dirty="0"/>
          </a:p>
        </p:txBody>
      </p:sp>
      <p:sp>
        <p:nvSpPr>
          <p:cNvPr id="105" name="Text 103"/>
          <p:cNvSpPr/>
          <p:nvPr/>
        </p:nvSpPr>
        <p:spPr>
          <a:xfrm>
            <a:off x="6382512" y="2359152"/>
            <a:ext cx="1266444" cy="274320"/>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Quote-to-Order Conversion</a:t>
            </a:r>
            <a:endParaRPr lang="en-US" sz="850" dirty="0"/>
          </a:p>
        </p:txBody>
      </p:sp>
      <p:sp>
        <p:nvSpPr>
          <p:cNvPr id="107" name="Text 105"/>
          <p:cNvSpPr/>
          <p:nvPr/>
        </p:nvSpPr>
        <p:spPr>
          <a:xfrm>
            <a:off x="7795260" y="2359152"/>
            <a:ext cx="1266444" cy="274320"/>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Cart Abandonment Rate</a:t>
            </a:r>
            <a:endParaRPr lang="en-US" sz="850" dirty="0"/>
          </a:p>
        </p:txBody>
      </p:sp>
      <p:sp>
        <p:nvSpPr>
          <p:cNvPr id="109" name="Text 107"/>
          <p:cNvSpPr/>
          <p:nvPr/>
        </p:nvSpPr>
        <p:spPr>
          <a:xfrm>
            <a:off x="6382512" y="2670048"/>
            <a:ext cx="1266444" cy="274320"/>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Avg. Time to Purchase</a:t>
            </a:r>
            <a:endParaRPr lang="en-US" sz="850" dirty="0"/>
          </a:p>
        </p:txBody>
      </p:sp>
      <p:sp>
        <p:nvSpPr>
          <p:cNvPr id="111" name="Text 109"/>
          <p:cNvSpPr/>
          <p:nvPr/>
        </p:nvSpPr>
        <p:spPr>
          <a:xfrm>
            <a:off x="7795260" y="2670048"/>
            <a:ext cx="1266444" cy="274320"/>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SQL Handoff Success Rate</a:t>
            </a:r>
            <a:endParaRPr lang="en-US" sz="850" dirty="0"/>
          </a:p>
        </p:txBody>
      </p:sp>
      <p:sp>
        <p:nvSpPr>
          <p:cNvPr id="112" name="Shape 110"/>
          <p:cNvSpPr/>
          <p:nvPr/>
        </p:nvSpPr>
        <p:spPr>
          <a:xfrm>
            <a:off x="6199632" y="2999232"/>
            <a:ext cx="2880360" cy="1481328"/>
          </a:xfrm>
          <a:prstGeom prst="rect">
            <a:avLst/>
          </a:prstGeom>
          <a:solidFill>
            <a:srgbClr val="FFFFFF"/>
          </a:solidFill>
          <a:ln w="6350">
            <a:solidFill>
              <a:srgbClr val="D4D4D4"/>
            </a:solidFill>
            <a:prstDash val="solid"/>
          </a:ln>
        </p:spPr>
        <p:txBody>
          <a:bodyPr/>
          <a:lstStyle/>
          <a:p>
            <a:endParaRPr lang="en-US"/>
          </a:p>
        </p:txBody>
      </p:sp>
      <p:sp>
        <p:nvSpPr>
          <p:cNvPr id="113" name="Shape 111"/>
          <p:cNvSpPr/>
          <p:nvPr/>
        </p:nvSpPr>
        <p:spPr>
          <a:xfrm>
            <a:off x="6199632" y="2999232"/>
            <a:ext cx="45720" cy="1481328"/>
          </a:xfrm>
          <a:prstGeom prst="rect">
            <a:avLst/>
          </a:prstGeom>
          <a:solidFill>
            <a:srgbClr val="333333"/>
          </a:solidFill>
          <a:ln w="12700">
            <a:solidFill>
              <a:srgbClr val="333333"/>
            </a:solidFill>
            <a:prstDash val="solid"/>
          </a:ln>
        </p:spPr>
        <p:txBody>
          <a:bodyPr/>
          <a:lstStyle/>
          <a:p>
            <a:endParaRPr lang="en-US"/>
          </a:p>
        </p:txBody>
      </p:sp>
      <p:sp>
        <p:nvSpPr>
          <p:cNvPr id="114" name="Text 112"/>
          <p:cNvSpPr/>
          <p:nvPr/>
        </p:nvSpPr>
        <p:spPr>
          <a:xfrm>
            <a:off x="6272784" y="3044952"/>
            <a:ext cx="219456" cy="219456"/>
          </a:xfrm>
          <a:prstGeom prst="rect">
            <a:avLst/>
          </a:prstGeom>
          <a:noFill/>
          <a:ln/>
        </p:spPr>
        <p:txBody>
          <a:bodyPr wrap="square" lIns="0" tIns="0" rIns="0" bIns="0" rtlCol="0" anchor="ctr"/>
          <a:lstStyle/>
          <a:p>
            <a:pPr marL="0" indent="0">
              <a:buNone/>
            </a:pPr>
            <a:r>
              <a:rPr lang="en-US" sz="1200" dirty="0">
                <a:solidFill>
                  <a:srgbClr val="000000"/>
                </a:solidFill>
              </a:rPr>
              <a:t>👤</a:t>
            </a:r>
            <a:endParaRPr lang="en-US" sz="1200" dirty="0"/>
          </a:p>
        </p:txBody>
      </p:sp>
      <p:sp>
        <p:nvSpPr>
          <p:cNvPr id="115" name="Text 113"/>
          <p:cNvSpPr/>
          <p:nvPr/>
        </p:nvSpPr>
        <p:spPr>
          <a:xfrm>
            <a:off x="6492240" y="3054096"/>
            <a:ext cx="2532888" cy="201168"/>
          </a:xfrm>
          <a:prstGeom prst="rect">
            <a:avLst/>
          </a:prstGeom>
          <a:noFill/>
          <a:ln/>
        </p:spPr>
        <p:txBody>
          <a:bodyPr wrap="square" lIns="0" tIns="0" rIns="0" bIns="0" rtlCol="0" anchor="ctr"/>
          <a:lstStyle/>
          <a:p>
            <a:pPr marL="0" indent="0">
              <a:buNone/>
            </a:pPr>
            <a:r>
              <a:rPr lang="en-US" sz="750" b="1" kern="0" spc="100" dirty="0">
                <a:solidFill>
                  <a:srgbClr val="333333"/>
                </a:solidFill>
                <a:latin typeface="Calibri" pitchFamily="34" charset="0"/>
                <a:ea typeface="Calibri" pitchFamily="34" charset="-122"/>
                <a:cs typeface="Calibri" pitchFamily="34" charset="-120"/>
              </a:rPr>
              <a:t>OPERATIONS</a:t>
            </a:r>
            <a:endParaRPr lang="en-US" sz="750" dirty="0"/>
          </a:p>
        </p:txBody>
      </p:sp>
      <p:sp>
        <p:nvSpPr>
          <p:cNvPr id="116" name="Shape 114"/>
          <p:cNvSpPr/>
          <p:nvPr/>
        </p:nvSpPr>
        <p:spPr>
          <a:xfrm>
            <a:off x="6291072" y="3310128"/>
            <a:ext cx="2724912" cy="237744"/>
          </a:xfrm>
          <a:prstGeom prst="rect">
            <a:avLst/>
          </a:prstGeom>
          <a:solidFill>
            <a:srgbClr val="EBEBEB"/>
          </a:solidFill>
          <a:ln w="6350">
            <a:solidFill>
              <a:srgbClr val="D4D4D4"/>
            </a:solidFill>
            <a:prstDash val="solid"/>
          </a:ln>
        </p:spPr>
        <p:txBody>
          <a:bodyPr/>
          <a:lstStyle/>
          <a:p>
            <a:endParaRPr lang="en-US"/>
          </a:p>
        </p:txBody>
      </p:sp>
      <p:sp>
        <p:nvSpPr>
          <p:cNvPr id="117" name="Text 115"/>
          <p:cNvSpPr/>
          <p:nvPr/>
        </p:nvSpPr>
        <p:spPr>
          <a:xfrm>
            <a:off x="6327648" y="3310128"/>
            <a:ext cx="2688336" cy="237744"/>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Quote approval workflows</a:t>
            </a:r>
            <a:endParaRPr lang="en-US" sz="900" dirty="0"/>
          </a:p>
        </p:txBody>
      </p:sp>
      <p:sp>
        <p:nvSpPr>
          <p:cNvPr id="118" name="Shape 116"/>
          <p:cNvSpPr/>
          <p:nvPr/>
        </p:nvSpPr>
        <p:spPr>
          <a:xfrm>
            <a:off x="6291072" y="3584448"/>
            <a:ext cx="2724912" cy="237744"/>
          </a:xfrm>
          <a:prstGeom prst="rect">
            <a:avLst/>
          </a:prstGeom>
          <a:solidFill>
            <a:srgbClr val="EBEBEB"/>
          </a:solidFill>
          <a:ln w="6350">
            <a:solidFill>
              <a:srgbClr val="D4D4D4"/>
            </a:solidFill>
            <a:prstDash val="solid"/>
          </a:ln>
        </p:spPr>
        <p:txBody>
          <a:bodyPr/>
          <a:lstStyle/>
          <a:p>
            <a:endParaRPr lang="en-US"/>
          </a:p>
        </p:txBody>
      </p:sp>
      <p:sp>
        <p:nvSpPr>
          <p:cNvPr id="119" name="Text 117"/>
          <p:cNvSpPr/>
          <p:nvPr/>
        </p:nvSpPr>
        <p:spPr>
          <a:xfrm>
            <a:off x="6327648" y="3584448"/>
            <a:ext cx="2688336" cy="237744"/>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Contract management</a:t>
            </a:r>
            <a:endParaRPr lang="en-US" sz="900" dirty="0"/>
          </a:p>
        </p:txBody>
      </p:sp>
      <p:sp>
        <p:nvSpPr>
          <p:cNvPr id="120" name="Shape 118"/>
          <p:cNvSpPr/>
          <p:nvPr/>
        </p:nvSpPr>
        <p:spPr>
          <a:xfrm>
            <a:off x="6291072" y="3858768"/>
            <a:ext cx="2724912" cy="237744"/>
          </a:xfrm>
          <a:prstGeom prst="rect">
            <a:avLst/>
          </a:prstGeom>
          <a:solidFill>
            <a:srgbClr val="EBEBEB"/>
          </a:solidFill>
          <a:ln w="6350">
            <a:solidFill>
              <a:srgbClr val="D4D4D4"/>
            </a:solidFill>
            <a:prstDash val="solid"/>
          </a:ln>
        </p:spPr>
        <p:txBody>
          <a:bodyPr/>
          <a:lstStyle/>
          <a:p>
            <a:endParaRPr lang="en-US"/>
          </a:p>
        </p:txBody>
      </p:sp>
      <p:sp>
        <p:nvSpPr>
          <p:cNvPr id="121" name="Text 119"/>
          <p:cNvSpPr/>
          <p:nvPr/>
        </p:nvSpPr>
        <p:spPr>
          <a:xfrm>
            <a:off x="6327648" y="3858768"/>
            <a:ext cx="2688336" cy="237744"/>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Payment processing</a:t>
            </a:r>
            <a:endParaRPr lang="en-US" sz="900" dirty="0"/>
          </a:p>
        </p:txBody>
      </p:sp>
      <p:sp>
        <p:nvSpPr>
          <p:cNvPr id="122" name="Shape 120"/>
          <p:cNvSpPr/>
          <p:nvPr/>
        </p:nvSpPr>
        <p:spPr>
          <a:xfrm>
            <a:off x="6291072" y="4133088"/>
            <a:ext cx="2724912" cy="237744"/>
          </a:xfrm>
          <a:prstGeom prst="rect">
            <a:avLst/>
          </a:prstGeom>
          <a:solidFill>
            <a:srgbClr val="EBEBEB"/>
          </a:solidFill>
          <a:ln w="6350">
            <a:solidFill>
              <a:srgbClr val="D4D4D4"/>
            </a:solidFill>
            <a:prstDash val="solid"/>
          </a:ln>
        </p:spPr>
        <p:txBody>
          <a:bodyPr/>
          <a:lstStyle/>
          <a:p>
            <a:endParaRPr lang="en-US"/>
          </a:p>
        </p:txBody>
      </p:sp>
      <p:sp>
        <p:nvSpPr>
          <p:cNvPr id="123" name="Text 121"/>
          <p:cNvSpPr/>
          <p:nvPr/>
        </p:nvSpPr>
        <p:spPr>
          <a:xfrm>
            <a:off x="6327648" y="4133088"/>
            <a:ext cx="2688336" cy="237744"/>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Order validation &amp; entry</a:t>
            </a:r>
            <a:endParaRPr lang="en-US" sz="900" dirty="0"/>
          </a:p>
        </p:txBody>
      </p:sp>
      <p:sp>
        <p:nvSpPr>
          <p:cNvPr id="124" name="Shape 122"/>
          <p:cNvSpPr/>
          <p:nvPr/>
        </p:nvSpPr>
        <p:spPr>
          <a:xfrm>
            <a:off x="6199632" y="4517136"/>
            <a:ext cx="2880360" cy="2157984"/>
          </a:xfrm>
          <a:prstGeom prst="rect">
            <a:avLst/>
          </a:prstGeom>
          <a:solidFill>
            <a:srgbClr val="F4F4F4"/>
          </a:solidFill>
          <a:ln w="6350">
            <a:solidFill>
              <a:srgbClr val="D4D4D4"/>
            </a:solidFill>
            <a:prstDash val="solid"/>
          </a:ln>
        </p:spPr>
        <p:txBody>
          <a:bodyPr/>
          <a:lstStyle/>
          <a:p>
            <a:endParaRPr lang="en-US"/>
          </a:p>
        </p:txBody>
      </p:sp>
      <p:sp>
        <p:nvSpPr>
          <p:cNvPr id="125" name="Shape 123"/>
          <p:cNvSpPr/>
          <p:nvPr/>
        </p:nvSpPr>
        <p:spPr>
          <a:xfrm>
            <a:off x="6199632" y="4517136"/>
            <a:ext cx="2880360" cy="45720"/>
          </a:xfrm>
          <a:prstGeom prst="rect">
            <a:avLst/>
          </a:prstGeom>
          <a:solidFill>
            <a:srgbClr val="111111"/>
          </a:solidFill>
          <a:ln w="12700">
            <a:solidFill>
              <a:srgbClr val="111111"/>
            </a:solidFill>
            <a:prstDash val="solid"/>
          </a:ln>
        </p:spPr>
        <p:txBody>
          <a:bodyPr/>
          <a:lstStyle/>
          <a:p>
            <a:endParaRPr lang="en-US"/>
          </a:p>
        </p:txBody>
      </p:sp>
      <p:sp>
        <p:nvSpPr>
          <p:cNvPr id="126" name="Shape 124"/>
          <p:cNvSpPr/>
          <p:nvPr/>
        </p:nvSpPr>
        <p:spPr>
          <a:xfrm>
            <a:off x="6199632" y="4517136"/>
            <a:ext cx="45720" cy="2157984"/>
          </a:xfrm>
          <a:prstGeom prst="rect">
            <a:avLst/>
          </a:prstGeom>
          <a:solidFill>
            <a:srgbClr val="CC0000"/>
          </a:solidFill>
          <a:ln w="12700">
            <a:solidFill>
              <a:srgbClr val="CC0000"/>
            </a:solidFill>
            <a:prstDash val="solid"/>
          </a:ln>
        </p:spPr>
        <p:txBody>
          <a:bodyPr/>
          <a:lstStyle/>
          <a:p>
            <a:endParaRPr lang="en-US"/>
          </a:p>
        </p:txBody>
      </p:sp>
      <p:sp>
        <p:nvSpPr>
          <p:cNvPr id="127" name="Text 125"/>
          <p:cNvSpPr/>
          <p:nvPr/>
        </p:nvSpPr>
        <p:spPr>
          <a:xfrm>
            <a:off x="6291072" y="4581144"/>
            <a:ext cx="2752344" cy="219456"/>
          </a:xfrm>
          <a:prstGeom prst="rect">
            <a:avLst/>
          </a:prstGeom>
          <a:noFill/>
          <a:ln/>
        </p:spPr>
        <p:txBody>
          <a:bodyPr wrap="square" lIns="0" tIns="0" rIns="0" bIns="0" rtlCol="0" anchor="ctr"/>
          <a:lstStyle/>
          <a:p>
            <a:pPr marL="0" indent="0">
              <a:buNone/>
            </a:pPr>
            <a:r>
              <a:rPr lang="en-US" sz="750" b="1" kern="0" spc="100" dirty="0">
                <a:solidFill>
                  <a:srgbClr val="CC0000"/>
                </a:solidFill>
                <a:latin typeface="Calibri" pitchFamily="34" charset="0"/>
                <a:ea typeface="Calibri" pitchFamily="34" charset="-122"/>
                <a:cs typeface="Calibri" pitchFamily="34" charset="-120"/>
              </a:rPr>
              <a:t>✦  AI ASSISTED</a:t>
            </a:r>
            <a:endParaRPr lang="en-US" sz="750" dirty="0"/>
          </a:p>
        </p:txBody>
      </p:sp>
      <p:sp>
        <p:nvSpPr>
          <p:cNvPr id="128" name="Shape 126"/>
          <p:cNvSpPr/>
          <p:nvPr/>
        </p:nvSpPr>
        <p:spPr>
          <a:xfrm>
            <a:off x="6291072" y="4855464"/>
            <a:ext cx="2724912" cy="384048"/>
          </a:xfrm>
          <a:prstGeom prst="rect">
            <a:avLst/>
          </a:prstGeom>
          <a:solidFill>
            <a:srgbClr val="FFFFFF"/>
          </a:solidFill>
          <a:ln w="6350">
            <a:solidFill>
              <a:srgbClr val="D4D4D4"/>
            </a:solidFill>
            <a:prstDash val="solid"/>
          </a:ln>
        </p:spPr>
        <p:txBody>
          <a:bodyPr/>
          <a:lstStyle/>
          <a:p>
            <a:endParaRPr lang="en-US"/>
          </a:p>
        </p:txBody>
      </p:sp>
      <p:sp>
        <p:nvSpPr>
          <p:cNvPr id="129" name="Shape 127"/>
          <p:cNvSpPr/>
          <p:nvPr/>
        </p:nvSpPr>
        <p:spPr>
          <a:xfrm>
            <a:off x="6291072" y="4855464"/>
            <a:ext cx="36576" cy="384048"/>
          </a:xfrm>
          <a:prstGeom prst="rect">
            <a:avLst/>
          </a:prstGeom>
          <a:solidFill>
            <a:srgbClr val="CC0000"/>
          </a:solidFill>
          <a:ln w="12700">
            <a:solidFill>
              <a:srgbClr val="CC0000"/>
            </a:solidFill>
            <a:prstDash val="solid"/>
          </a:ln>
        </p:spPr>
        <p:txBody>
          <a:bodyPr/>
          <a:lstStyle/>
          <a:p>
            <a:endParaRPr lang="en-US"/>
          </a:p>
        </p:txBody>
      </p:sp>
      <p:sp>
        <p:nvSpPr>
          <p:cNvPr id="130" name="Text 128"/>
          <p:cNvSpPr/>
          <p:nvPr/>
        </p:nvSpPr>
        <p:spPr>
          <a:xfrm>
            <a:off x="6355080" y="4855464"/>
            <a:ext cx="2660904" cy="384048"/>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Automated quote generation agent</a:t>
            </a:r>
            <a:endParaRPr lang="en-US" sz="900" dirty="0"/>
          </a:p>
        </p:txBody>
      </p:sp>
      <p:sp>
        <p:nvSpPr>
          <p:cNvPr id="131" name="Shape 129"/>
          <p:cNvSpPr/>
          <p:nvPr/>
        </p:nvSpPr>
        <p:spPr>
          <a:xfrm>
            <a:off x="6291072" y="5294376"/>
            <a:ext cx="2724912" cy="384048"/>
          </a:xfrm>
          <a:prstGeom prst="rect">
            <a:avLst/>
          </a:prstGeom>
          <a:solidFill>
            <a:srgbClr val="FFFFFF"/>
          </a:solidFill>
          <a:ln w="6350">
            <a:solidFill>
              <a:srgbClr val="D4D4D4"/>
            </a:solidFill>
            <a:prstDash val="solid"/>
          </a:ln>
        </p:spPr>
        <p:txBody>
          <a:bodyPr/>
          <a:lstStyle/>
          <a:p>
            <a:endParaRPr lang="en-US"/>
          </a:p>
        </p:txBody>
      </p:sp>
      <p:sp>
        <p:nvSpPr>
          <p:cNvPr id="132" name="Shape 130"/>
          <p:cNvSpPr/>
          <p:nvPr/>
        </p:nvSpPr>
        <p:spPr>
          <a:xfrm>
            <a:off x="6291072" y="5294376"/>
            <a:ext cx="36576" cy="384048"/>
          </a:xfrm>
          <a:prstGeom prst="rect">
            <a:avLst/>
          </a:prstGeom>
          <a:solidFill>
            <a:srgbClr val="CC0000"/>
          </a:solidFill>
          <a:ln w="12700">
            <a:solidFill>
              <a:srgbClr val="CC0000"/>
            </a:solidFill>
            <a:prstDash val="solid"/>
          </a:ln>
        </p:spPr>
        <p:txBody>
          <a:bodyPr/>
          <a:lstStyle/>
          <a:p>
            <a:endParaRPr lang="en-US"/>
          </a:p>
        </p:txBody>
      </p:sp>
      <p:sp>
        <p:nvSpPr>
          <p:cNvPr id="133" name="Text 131"/>
          <p:cNvSpPr/>
          <p:nvPr/>
        </p:nvSpPr>
        <p:spPr>
          <a:xfrm>
            <a:off x="6355080" y="5294376"/>
            <a:ext cx="2660904" cy="384048"/>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SQL-to-sales handoff automation</a:t>
            </a:r>
            <a:endParaRPr lang="en-US" sz="900" dirty="0"/>
          </a:p>
        </p:txBody>
      </p:sp>
      <p:sp>
        <p:nvSpPr>
          <p:cNvPr id="134" name="Shape 132"/>
          <p:cNvSpPr/>
          <p:nvPr/>
        </p:nvSpPr>
        <p:spPr>
          <a:xfrm>
            <a:off x="6291072" y="5733288"/>
            <a:ext cx="2724912" cy="384048"/>
          </a:xfrm>
          <a:prstGeom prst="rect">
            <a:avLst/>
          </a:prstGeom>
          <a:solidFill>
            <a:srgbClr val="FFFFFF"/>
          </a:solidFill>
          <a:ln w="6350">
            <a:solidFill>
              <a:srgbClr val="D4D4D4"/>
            </a:solidFill>
            <a:prstDash val="solid"/>
          </a:ln>
        </p:spPr>
        <p:txBody>
          <a:bodyPr/>
          <a:lstStyle/>
          <a:p>
            <a:endParaRPr lang="en-US"/>
          </a:p>
        </p:txBody>
      </p:sp>
      <p:sp>
        <p:nvSpPr>
          <p:cNvPr id="135" name="Shape 133"/>
          <p:cNvSpPr/>
          <p:nvPr/>
        </p:nvSpPr>
        <p:spPr>
          <a:xfrm>
            <a:off x="6291072" y="5733288"/>
            <a:ext cx="36576" cy="384048"/>
          </a:xfrm>
          <a:prstGeom prst="rect">
            <a:avLst/>
          </a:prstGeom>
          <a:solidFill>
            <a:srgbClr val="CC0000"/>
          </a:solidFill>
          <a:ln w="12700">
            <a:solidFill>
              <a:srgbClr val="CC0000"/>
            </a:solidFill>
            <a:prstDash val="solid"/>
          </a:ln>
        </p:spPr>
        <p:txBody>
          <a:bodyPr/>
          <a:lstStyle/>
          <a:p>
            <a:endParaRPr lang="en-US"/>
          </a:p>
        </p:txBody>
      </p:sp>
      <p:sp>
        <p:nvSpPr>
          <p:cNvPr id="136" name="Text 134"/>
          <p:cNvSpPr/>
          <p:nvPr/>
        </p:nvSpPr>
        <p:spPr>
          <a:xfrm>
            <a:off x="6355080" y="5733288"/>
            <a:ext cx="2660904" cy="384048"/>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Agentic purchase orchestration</a:t>
            </a:r>
            <a:endParaRPr lang="en-US" sz="900" dirty="0"/>
          </a:p>
        </p:txBody>
      </p:sp>
      <p:sp>
        <p:nvSpPr>
          <p:cNvPr id="137" name="Shape 135"/>
          <p:cNvSpPr/>
          <p:nvPr/>
        </p:nvSpPr>
        <p:spPr>
          <a:xfrm>
            <a:off x="6291072" y="6172200"/>
            <a:ext cx="2724912" cy="384048"/>
          </a:xfrm>
          <a:prstGeom prst="rect">
            <a:avLst/>
          </a:prstGeom>
          <a:solidFill>
            <a:srgbClr val="FFFFFF"/>
          </a:solidFill>
          <a:ln w="6350">
            <a:solidFill>
              <a:srgbClr val="D4D4D4"/>
            </a:solidFill>
            <a:prstDash val="solid"/>
          </a:ln>
        </p:spPr>
        <p:txBody>
          <a:bodyPr/>
          <a:lstStyle/>
          <a:p>
            <a:endParaRPr lang="en-US"/>
          </a:p>
        </p:txBody>
      </p:sp>
      <p:sp>
        <p:nvSpPr>
          <p:cNvPr id="138" name="Shape 136"/>
          <p:cNvSpPr/>
          <p:nvPr/>
        </p:nvSpPr>
        <p:spPr>
          <a:xfrm>
            <a:off x="6291072" y="6172200"/>
            <a:ext cx="36576" cy="384048"/>
          </a:xfrm>
          <a:prstGeom prst="rect">
            <a:avLst/>
          </a:prstGeom>
          <a:solidFill>
            <a:srgbClr val="CC0000"/>
          </a:solidFill>
          <a:ln w="12700">
            <a:solidFill>
              <a:srgbClr val="CC0000"/>
            </a:solidFill>
            <a:prstDash val="solid"/>
          </a:ln>
        </p:spPr>
        <p:txBody>
          <a:bodyPr/>
          <a:lstStyle/>
          <a:p>
            <a:endParaRPr lang="en-US"/>
          </a:p>
        </p:txBody>
      </p:sp>
      <p:sp>
        <p:nvSpPr>
          <p:cNvPr id="139" name="Text 137"/>
          <p:cNvSpPr/>
          <p:nvPr/>
        </p:nvSpPr>
        <p:spPr>
          <a:xfrm>
            <a:off x="6355080" y="6172200"/>
            <a:ext cx="2660904" cy="384048"/>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Contract-aware checkout rules</a:t>
            </a:r>
            <a:endParaRPr lang="en-US" sz="900" dirty="0"/>
          </a:p>
        </p:txBody>
      </p:sp>
      <p:sp>
        <p:nvSpPr>
          <p:cNvPr id="140" name="Shape 138"/>
          <p:cNvSpPr/>
          <p:nvPr/>
        </p:nvSpPr>
        <p:spPr>
          <a:xfrm>
            <a:off x="9134856" y="1609344"/>
            <a:ext cx="2880360" cy="420624"/>
          </a:xfrm>
          <a:prstGeom prst="rect">
            <a:avLst/>
          </a:prstGeom>
          <a:solidFill>
            <a:srgbClr val="111111"/>
          </a:solidFill>
          <a:ln w="12700">
            <a:solidFill>
              <a:srgbClr val="111111"/>
            </a:solidFill>
            <a:prstDash val="solid"/>
          </a:ln>
        </p:spPr>
        <p:txBody>
          <a:bodyPr/>
          <a:lstStyle/>
          <a:p>
            <a:endParaRPr lang="en-US"/>
          </a:p>
        </p:txBody>
      </p:sp>
      <p:sp>
        <p:nvSpPr>
          <p:cNvPr id="141" name="Text 139"/>
          <p:cNvSpPr/>
          <p:nvPr/>
        </p:nvSpPr>
        <p:spPr>
          <a:xfrm>
            <a:off x="9208008" y="1636776"/>
            <a:ext cx="310896" cy="228600"/>
          </a:xfrm>
          <a:prstGeom prst="rect">
            <a:avLst/>
          </a:prstGeom>
          <a:noFill/>
          <a:ln/>
        </p:spPr>
        <p:txBody>
          <a:bodyPr wrap="square" lIns="0" tIns="0" rIns="0" bIns="0" rtlCol="0" anchor="ctr"/>
          <a:lstStyle/>
          <a:p>
            <a:pPr marL="0" indent="0">
              <a:buNone/>
            </a:pPr>
            <a:r>
              <a:rPr lang="en-US" sz="1100" b="1" dirty="0">
                <a:solidFill>
                  <a:schemeClr val="bg1">
                    <a:lumMod val="85000"/>
                  </a:schemeClr>
                </a:solidFill>
                <a:latin typeface="Calibri" pitchFamily="34" charset="0"/>
                <a:ea typeface="Calibri" pitchFamily="34" charset="-122"/>
                <a:cs typeface="Calibri" pitchFamily="34" charset="-120"/>
              </a:rPr>
              <a:t>04</a:t>
            </a:r>
            <a:endParaRPr lang="en-US" sz="1100" dirty="0">
              <a:solidFill>
                <a:schemeClr val="bg1">
                  <a:lumMod val="85000"/>
                </a:schemeClr>
              </a:solidFill>
            </a:endParaRPr>
          </a:p>
        </p:txBody>
      </p:sp>
      <p:sp>
        <p:nvSpPr>
          <p:cNvPr id="142" name="Text 140"/>
          <p:cNvSpPr/>
          <p:nvPr/>
        </p:nvSpPr>
        <p:spPr>
          <a:xfrm>
            <a:off x="9134856" y="1755648"/>
            <a:ext cx="2880360" cy="219456"/>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EXPANSION</a:t>
            </a:r>
            <a:endParaRPr lang="en-US" sz="1050" dirty="0"/>
          </a:p>
        </p:txBody>
      </p:sp>
      <p:sp>
        <p:nvSpPr>
          <p:cNvPr id="143" name="Shape 141"/>
          <p:cNvSpPr/>
          <p:nvPr/>
        </p:nvSpPr>
        <p:spPr>
          <a:xfrm>
            <a:off x="9134856" y="2066544"/>
            <a:ext cx="2880360" cy="896112"/>
          </a:xfrm>
          <a:prstGeom prst="rect">
            <a:avLst/>
          </a:prstGeom>
          <a:solidFill>
            <a:srgbClr val="F4F4F4"/>
          </a:solidFill>
          <a:ln w="6350">
            <a:solidFill>
              <a:srgbClr val="D4D4D4"/>
            </a:solidFill>
            <a:prstDash val="solid"/>
          </a:ln>
        </p:spPr>
        <p:txBody>
          <a:bodyPr/>
          <a:lstStyle/>
          <a:p>
            <a:endParaRPr lang="en-US"/>
          </a:p>
        </p:txBody>
      </p:sp>
      <p:sp>
        <p:nvSpPr>
          <p:cNvPr id="144" name="Shape 142"/>
          <p:cNvSpPr/>
          <p:nvPr/>
        </p:nvSpPr>
        <p:spPr>
          <a:xfrm>
            <a:off x="9134856" y="2066544"/>
            <a:ext cx="45720" cy="896112"/>
          </a:xfrm>
          <a:prstGeom prst="rect">
            <a:avLst/>
          </a:prstGeom>
          <a:solidFill>
            <a:srgbClr val="CC0000"/>
          </a:solidFill>
          <a:ln w="12700">
            <a:solidFill>
              <a:srgbClr val="CC0000"/>
            </a:solidFill>
            <a:prstDash val="solid"/>
          </a:ln>
        </p:spPr>
        <p:txBody>
          <a:bodyPr/>
          <a:lstStyle/>
          <a:p>
            <a:endParaRPr lang="en-US"/>
          </a:p>
        </p:txBody>
      </p:sp>
      <p:sp>
        <p:nvSpPr>
          <p:cNvPr id="145" name="Text 143"/>
          <p:cNvSpPr/>
          <p:nvPr/>
        </p:nvSpPr>
        <p:spPr>
          <a:xfrm>
            <a:off x="9226296" y="2112264"/>
            <a:ext cx="2752344" cy="182880"/>
          </a:xfrm>
          <a:prstGeom prst="rect">
            <a:avLst/>
          </a:prstGeom>
          <a:noFill/>
          <a:ln/>
        </p:spPr>
        <p:txBody>
          <a:bodyPr wrap="square" lIns="0" tIns="0" rIns="0" bIns="0" rtlCol="0" anchor="ctr"/>
          <a:lstStyle/>
          <a:p>
            <a:pPr marL="0" indent="0">
              <a:buNone/>
            </a:pPr>
            <a:r>
              <a:rPr lang="en-US" sz="750" b="1" kern="0" spc="100" dirty="0">
                <a:solidFill>
                  <a:srgbClr val="CC0000"/>
                </a:solidFill>
                <a:latin typeface="Calibri" pitchFamily="34" charset="0"/>
                <a:ea typeface="Calibri" pitchFamily="34" charset="-122"/>
                <a:cs typeface="Calibri" pitchFamily="34" charset="-120"/>
              </a:rPr>
              <a:t>KEY METRICS</a:t>
            </a:r>
            <a:endParaRPr lang="en-US" sz="750" dirty="0"/>
          </a:p>
        </p:txBody>
      </p:sp>
      <p:sp>
        <p:nvSpPr>
          <p:cNvPr id="147" name="Text 145"/>
          <p:cNvSpPr/>
          <p:nvPr/>
        </p:nvSpPr>
        <p:spPr>
          <a:xfrm>
            <a:off x="9317736" y="2359152"/>
            <a:ext cx="1266444" cy="274320"/>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Net Promoter Score (NPS)</a:t>
            </a:r>
            <a:endParaRPr lang="en-US" sz="850" dirty="0"/>
          </a:p>
        </p:txBody>
      </p:sp>
      <p:sp>
        <p:nvSpPr>
          <p:cNvPr id="149" name="Text 147"/>
          <p:cNvSpPr/>
          <p:nvPr/>
        </p:nvSpPr>
        <p:spPr>
          <a:xfrm>
            <a:off x="10730484" y="2359152"/>
            <a:ext cx="1266444" cy="274320"/>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Repeat Purchase Rate</a:t>
            </a:r>
            <a:endParaRPr lang="en-US" sz="850" dirty="0"/>
          </a:p>
        </p:txBody>
      </p:sp>
      <p:sp>
        <p:nvSpPr>
          <p:cNvPr id="151" name="Text 149"/>
          <p:cNvSpPr/>
          <p:nvPr/>
        </p:nvSpPr>
        <p:spPr>
          <a:xfrm>
            <a:off x="9317736" y="2670048"/>
            <a:ext cx="1266444" cy="274320"/>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Support Ticket Volume</a:t>
            </a:r>
            <a:endParaRPr lang="en-US" sz="850" dirty="0"/>
          </a:p>
        </p:txBody>
      </p:sp>
      <p:sp>
        <p:nvSpPr>
          <p:cNvPr id="153" name="Text 151"/>
          <p:cNvSpPr/>
          <p:nvPr/>
        </p:nvSpPr>
        <p:spPr>
          <a:xfrm>
            <a:off x="10730484" y="2670048"/>
            <a:ext cx="1266444" cy="274320"/>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Customer Lifetime Value</a:t>
            </a:r>
            <a:endParaRPr lang="en-US" sz="850" dirty="0"/>
          </a:p>
        </p:txBody>
      </p:sp>
      <p:sp>
        <p:nvSpPr>
          <p:cNvPr id="154" name="Shape 152"/>
          <p:cNvSpPr/>
          <p:nvPr/>
        </p:nvSpPr>
        <p:spPr>
          <a:xfrm>
            <a:off x="9134856" y="2999232"/>
            <a:ext cx="2880360" cy="1481328"/>
          </a:xfrm>
          <a:prstGeom prst="rect">
            <a:avLst/>
          </a:prstGeom>
          <a:solidFill>
            <a:srgbClr val="FFFFFF"/>
          </a:solidFill>
          <a:ln w="6350">
            <a:solidFill>
              <a:srgbClr val="D4D4D4"/>
            </a:solidFill>
            <a:prstDash val="solid"/>
          </a:ln>
        </p:spPr>
        <p:txBody>
          <a:bodyPr/>
          <a:lstStyle/>
          <a:p>
            <a:endParaRPr lang="en-US"/>
          </a:p>
        </p:txBody>
      </p:sp>
      <p:sp>
        <p:nvSpPr>
          <p:cNvPr id="155" name="Shape 153"/>
          <p:cNvSpPr/>
          <p:nvPr/>
        </p:nvSpPr>
        <p:spPr>
          <a:xfrm>
            <a:off x="9134856" y="2999232"/>
            <a:ext cx="45720" cy="1481328"/>
          </a:xfrm>
          <a:prstGeom prst="rect">
            <a:avLst/>
          </a:prstGeom>
          <a:solidFill>
            <a:srgbClr val="333333"/>
          </a:solidFill>
          <a:ln w="12700">
            <a:solidFill>
              <a:srgbClr val="333333"/>
            </a:solidFill>
            <a:prstDash val="solid"/>
          </a:ln>
        </p:spPr>
        <p:txBody>
          <a:bodyPr/>
          <a:lstStyle/>
          <a:p>
            <a:endParaRPr lang="en-US"/>
          </a:p>
        </p:txBody>
      </p:sp>
      <p:sp>
        <p:nvSpPr>
          <p:cNvPr id="156" name="Text 154"/>
          <p:cNvSpPr/>
          <p:nvPr/>
        </p:nvSpPr>
        <p:spPr>
          <a:xfrm>
            <a:off x="9208008" y="3044952"/>
            <a:ext cx="219456" cy="219456"/>
          </a:xfrm>
          <a:prstGeom prst="rect">
            <a:avLst/>
          </a:prstGeom>
          <a:noFill/>
          <a:ln/>
        </p:spPr>
        <p:txBody>
          <a:bodyPr wrap="square" lIns="0" tIns="0" rIns="0" bIns="0" rtlCol="0" anchor="ctr"/>
          <a:lstStyle/>
          <a:p>
            <a:pPr marL="0" indent="0">
              <a:buNone/>
            </a:pPr>
            <a:r>
              <a:rPr lang="en-US" sz="1200" dirty="0">
                <a:solidFill>
                  <a:srgbClr val="000000"/>
                </a:solidFill>
              </a:rPr>
              <a:t>👤</a:t>
            </a:r>
            <a:endParaRPr lang="en-US" sz="1200" dirty="0"/>
          </a:p>
        </p:txBody>
      </p:sp>
      <p:sp>
        <p:nvSpPr>
          <p:cNvPr id="157" name="Text 155"/>
          <p:cNvSpPr/>
          <p:nvPr/>
        </p:nvSpPr>
        <p:spPr>
          <a:xfrm>
            <a:off x="9427464" y="3054096"/>
            <a:ext cx="2532888" cy="201168"/>
          </a:xfrm>
          <a:prstGeom prst="rect">
            <a:avLst/>
          </a:prstGeom>
          <a:noFill/>
          <a:ln/>
        </p:spPr>
        <p:txBody>
          <a:bodyPr wrap="square" lIns="0" tIns="0" rIns="0" bIns="0" rtlCol="0" anchor="ctr"/>
          <a:lstStyle/>
          <a:p>
            <a:pPr marL="0" indent="0">
              <a:buNone/>
            </a:pPr>
            <a:r>
              <a:rPr lang="en-US" sz="750" b="1" kern="0" spc="100" dirty="0">
                <a:solidFill>
                  <a:srgbClr val="333333"/>
                </a:solidFill>
                <a:latin typeface="Calibri" pitchFamily="34" charset="0"/>
                <a:ea typeface="Calibri" pitchFamily="34" charset="-122"/>
                <a:cs typeface="Calibri" pitchFamily="34" charset="-120"/>
              </a:rPr>
              <a:t>OPERATIONS</a:t>
            </a:r>
            <a:endParaRPr lang="en-US" sz="750" dirty="0"/>
          </a:p>
        </p:txBody>
      </p:sp>
      <p:sp>
        <p:nvSpPr>
          <p:cNvPr id="158" name="Shape 156"/>
          <p:cNvSpPr/>
          <p:nvPr/>
        </p:nvSpPr>
        <p:spPr>
          <a:xfrm>
            <a:off x="9226296" y="3310128"/>
            <a:ext cx="2724912" cy="237744"/>
          </a:xfrm>
          <a:prstGeom prst="rect">
            <a:avLst/>
          </a:prstGeom>
          <a:solidFill>
            <a:srgbClr val="EBEBEB"/>
          </a:solidFill>
          <a:ln w="6350">
            <a:solidFill>
              <a:srgbClr val="D4D4D4"/>
            </a:solidFill>
            <a:prstDash val="solid"/>
          </a:ln>
        </p:spPr>
        <p:txBody>
          <a:bodyPr/>
          <a:lstStyle/>
          <a:p>
            <a:endParaRPr lang="en-US"/>
          </a:p>
        </p:txBody>
      </p:sp>
      <p:sp>
        <p:nvSpPr>
          <p:cNvPr id="159" name="Text 157"/>
          <p:cNvSpPr/>
          <p:nvPr/>
        </p:nvSpPr>
        <p:spPr>
          <a:xfrm>
            <a:off x="9262872" y="3310128"/>
            <a:ext cx="2688336" cy="237744"/>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Order status communication</a:t>
            </a:r>
            <a:endParaRPr lang="en-US" sz="900" dirty="0"/>
          </a:p>
        </p:txBody>
      </p:sp>
      <p:sp>
        <p:nvSpPr>
          <p:cNvPr id="160" name="Shape 158"/>
          <p:cNvSpPr/>
          <p:nvPr/>
        </p:nvSpPr>
        <p:spPr>
          <a:xfrm>
            <a:off x="9226296" y="3584448"/>
            <a:ext cx="2724912" cy="237744"/>
          </a:xfrm>
          <a:prstGeom prst="rect">
            <a:avLst/>
          </a:prstGeom>
          <a:solidFill>
            <a:srgbClr val="EBEBEB"/>
          </a:solidFill>
          <a:ln w="6350">
            <a:solidFill>
              <a:srgbClr val="D4D4D4"/>
            </a:solidFill>
            <a:prstDash val="solid"/>
          </a:ln>
        </p:spPr>
        <p:txBody>
          <a:bodyPr/>
          <a:lstStyle/>
          <a:p>
            <a:endParaRPr lang="en-US"/>
          </a:p>
        </p:txBody>
      </p:sp>
      <p:sp>
        <p:nvSpPr>
          <p:cNvPr id="161" name="Text 159"/>
          <p:cNvSpPr/>
          <p:nvPr/>
        </p:nvSpPr>
        <p:spPr>
          <a:xfrm>
            <a:off x="9262872" y="3584448"/>
            <a:ext cx="2688336" cy="237744"/>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Returns &amp; warranty processing</a:t>
            </a:r>
            <a:endParaRPr lang="en-US" sz="900" dirty="0"/>
          </a:p>
        </p:txBody>
      </p:sp>
      <p:sp>
        <p:nvSpPr>
          <p:cNvPr id="162" name="Shape 160"/>
          <p:cNvSpPr/>
          <p:nvPr/>
        </p:nvSpPr>
        <p:spPr>
          <a:xfrm>
            <a:off x="9226296" y="3858768"/>
            <a:ext cx="2724912" cy="237744"/>
          </a:xfrm>
          <a:prstGeom prst="rect">
            <a:avLst/>
          </a:prstGeom>
          <a:solidFill>
            <a:srgbClr val="EBEBEB"/>
          </a:solidFill>
          <a:ln w="6350">
            <a:solidFill>
              <a:srgbClr val="D4D4D4"/>
            </a:solidFill>
            <a:prstDash val="solid"/>
          </a:ln>
        </p:spPr>
        <p:txBody>
          <a:bodyPr/>
          <a:lstStyle/>
          <a:p>
            <a:endParaRPr lang="en-US"/>
          </a:p>
        </p:txBody>
      </p:sp>
      <p:sp>
        <p:nvSpPr>
          <p:cNvPr id="163" name="Text 161"/>
          <p:cNvSpPr/>
          <p:nvPr/>
        </p:nvSpPr>
        <p:spPr>
          <a:xfrm>
            <a:off x="9262872" y="3858768"/>
            <a:ext cx="2688336" cy="237744"/>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Account management</a:t>
            </a:r>
            <a:endParaRPr lang="en-US" sz="900" dirty="0"/>
          </a:p>
        </p:txBody>
      </p:sp>
      <p:sp>
        <p:nvSpPr>
          <p:cNvPr id="164" name="Shape 162"/>
          <p:cNvSpPr/>
          <p:nvPr/>
        </p:nvSpPr>
        <p:spPr>
          <a:xfrm>
            <a:off x="9226296" y="4133088"/>
            <a:ext cx="2724912" cy="237744"/>
          </a:xfrm>
          <a:prstGeom prst="rect">
            <a:avLst/>
          </a:prstGeom>
          <a:solidFill>
            <a:srgbClr val="EBEBEB"/>
          </a:solidFill>
          <a:ln w="6350">
            <a:solidFill>
              <a:srgbClr val="D4D4D4"/>
            </a:solidFill>
            <a:prstDash val="solid"/>
          </a:ln>
        </p:spPr>
        <p:txBody>
          <a:bodyPr/>
          <a:lstStyle/>
          <a:p>
            <a:endParaRPr lang="en-US"/>
          </a:p>
        </p:txBody>
      </p:sp>
      <p:sp>
        <p:nvSpPr>
          <p:cNvPr id="165" name="Text 163"/>
          <p:cNvSpPr/>
          <p:nvPr/>
        </p:nvSpPr>
        <p:spPr>
          <a:xfrm>
            <a:off x="9262872" y="4133088"/>
            <a:ext cx="2688336" cy="237744"/>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Loyalty program administration</a:t>
            </a:r>
            <a:endParaRPr lang="en-US" sz="900" dirty="0"/>
          </a:p>
        </p:txBody>
      </p:sp>
      <p:sp>
        <p:nvSpPr>
          <p:cNvPr id="166" name="Shape 164"/>
          <p:cNvSpPr/>
          <p:nvPr/>
        </p:nvSpPr>
        <p:spPr>
          <a:xfrm>
            <a:off x="9134856" y="4517136"/>
            <a:ext cx="2880360" cy="2157984"/>
          </a:xfrm>
          <a:prstGeom prst="rect">
            <a:avLst/>
          </a:prstGeom>
          <a:solidFill>
            <a:srgbClr val="F4F4F4"/>
          </a:solidFill>
          <a:ln w="6350">
            <a:solidFill>
              <a:srgbClr val="D4D4D4"/>
            </a:solidFill>
            <a:prstDash val="solid"/>
          </a:ln>
        </p:spPr>
        <p:txBody>
          <a:bodyPr/>
          <a:lstStyle/>
          <a:p>
            <a:endParaRPr lang="en-US"/>
          </a:p>
        </p:txBody>
      </p:sp>
      <p:sp>
        <p:nvSpPr>
          <p:cNvPr id="167" name="Shape 165"/>
          <p:cNvSpPr/>
          <p:nvPr/>
        </p:nvSpPr>
        <p:spPr>
          <a:xfrm>
            <a:off x="9134856" y="4517136"/>
            <a:ext cx="2880360" cy="45720"/>
          </a:xfrm>
          <a:prstGeom prst="rect">
            <a:avLst/>
          </a:prstGeom>
          <a:solidFill>
            <a:srgbClr val="111111"/>
          </a:solidFill>
          <a:ln w="12700">
            <a:solidFill>
              <a:srgbClr val="111111"/>
            </a:solidFill>
            <a:prstDash val="solid"/>
          </a:ln>
        </p:spPr>
        <p:txBody>
          <a:bodyPr/>
          <a:lstStyle/>
          <a:p>
            <a:endParaRPr lang="en-US"/>
          </a:p>
        </p:txBody>
      </p:sp>
      <p:sp>
        <p:nvSpPr>
          <p:cNvPr id="168" name="Shape 166"/>
          <p:cNvSpPr/>
          <p:nvPr/>
        </p:nvSpPr>
        <p:spPr>
          <a:xfrm>
            <a:off x="9134856" y="4517136"/>
            <a:ext cx="45720" cy="2157984"/>
          </a:xfrm>
          <a:prstGeom prst="rect">
            <a:avLst/>
          </a:prstGeom>
          <a:solidFill>
            <a:srgbClr val="CC0000"/>
          </a:solidFill>
          <a:ln w="12700">
            <a:solidFill>
              <a:srgbClr val="CC0000"/>
            </a:solidFill>
            <a:prstDash val="solid"/>
          </a:ln>
        </p:spPr>
        <p:txBody>
          <a:bodyPr/>
          <a:lstStyle/>
          <a:p>
            <a:endParaRPr lang="en-US"/>
          </a:p>
        </p:txBody>
      </p:sp>
      <p:sp>
        <p:nvSpPr>
          <p:cNvPr id="169" name="Text 167"/>
          <p:cNvSpPr/>
          <p:nvPr/>
        </p:nvSpPr>
        <p:spPr>
          <a:xfrm>
            <a:off x="9226296" y="4581144"/>
            <a:ext cx="2752344" cy="219456"/>
          </a:xfrm>
          <a:prstGeom prst="rect">
            <a:avLst/>
          </a:prstGeom>
          <a:noFill/>
          <a:ln/>
        </p:spPr>
        <p:txBody>
          <a:bodyPr wrap="square" lIns="0" tIns="0" rIns="0" bIns="0" rtlCol="0" anchor="ctr"/>
          <a:lstStyle/>
          <a:p>
            <a:pPr marL="0" indent="0">
              <a:buNone/>
            </a:pPr>
            <a:r>
              <a:rPr lang="en-US" sz="750" b="1" kern="0" spc="100" dirty="0">
                <a:solidFill>
                  <a:srgbClr val="CC0000"/>
                </a:solidFill>
                <a:latin typeface="Calibri" pitchFamily="34" charset="0"/>
                <a:ea typeface="Calibri" pitchFamily="34" charset="-122"/>
                <a:cs typeface="Calibri" pitchFamily="34" charset="-120"/>
              </a:rPr>
              <a:t>✦  AI ASSISTED</a:t>
            </a:r>
            <a:endParaRPr lang="en-US" sz="750" dirty="0"/>
          </a:p>
        </p:txBody>
      </p:sp>
      <p:sp>
        <p:nvSpPr>
          <p:cNvPr id="170" name="Shape 168"/>
          <p:cNvSpPr/>
          <p:nvPr/>
        </p:nvSpPr>
        <p:spPr>
          <a:xfrm>
            <a:off x="9226296" y="4855464"/>
            <a:ext cx="2724912" cy="384048"/>
          </a:xfrm>
          <a:prstGeom prst="rect">
            <a:avLst/>
          </a:prstGeom>
          <a:solidFill>
            <a:srgbClr val="FFFFFF"/>
          </a:solidFill>
          <a:ln w="6350">
            <a:solidFill>
              <a:srgbClr val="D4D4D4"/>
            </a:solidFill>
            <a:prstDash val="solid"/>
          </a:ln>
        </p:spPr>
        <p:txBody>
          <a:bodyPr/>
          <a:lstStyle/>
          <a:p>
            <a:endParaRPr lang="en-US"/>
          </a:p>
        </p:txBody>
      </p:sp>
      <p:sp>
        <p:nvSpPr>
          <p:cNvPr id="171" name="Shape 169"/>
          <p:cNvSpPr/>
          <p:nvPr/>
        </p:nvSpPr>
        <p:spPr>
          <a:xfrm>
            <a:off x="9226296" y="4855464"/>
            <a:ext cx="36576" cy="384048"/>
          </a:xfrm>
          <a:prstGeom prst="rect">
            <a:avLst/>
          </a:prstGeom>
          <a:solidFill>
            <a:srgbClr val="CC0000"/>
          </a:solidFill>
          <a:ln w="12700">
            <a:solidFill>
              <a:srgbClr val="CC0000"/>
            </a:solidFill>
            <a:prstDash val="solid"/>
          </a:ln>
        </p:spPr>
        <p:txBody>
          <a:bodyPr/>
          <a:lstStyle/>
          <a:p>
            <a:endParaRPr lang="en-US"/>
          </a:p>
        </p:txBody>
      </p:sp>
      <p:sp>
        <p:nvSpPr>
          <p:cNvPr id="172" name="Text 170"/>
          <p:cNvSpPr/>
          <p:nvPr/>
        </p:nvSpPr>
        <p:spPr>
          <a:xfrm>
            <a:off x="9290304" y="4855464"/>
            <a:ext cx="2660904" cy="384048"/>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Automated order status agent</a:t>
            </a:r>
            <a:endParaRPr lang="en-US" sz="900" dirty="0"/>
          </a:p>
        </p:txBody>
      </p:sp>
      <p:sp>
        <p:nvSpPr>
          <p:cNvPr id="173" name="Shape 171"/>
          <p:cNvSpPr/>
          <p:nvPr/>
        </p:nvSpPr>
        <p:spPr>
          <a:xfrm>
            <a:off x="9226296" y="5294376"/>
            <a:ext cx="2724912" cy="384048"/>
          </a:xfrm>
          <a:prstGeom prst="rect">
            <a:avLst/>
          </a:prstGeom>
          <a:solidFill>
            <a:srgbClr val="FFFFFF"/>
          </a:solidFill>
          <a:ln w="6350">
            <a:solidFill>
              <a:srgbClr val="D4D4D4"/>
            </a:solidFill>
            <a:prstDash val="solid"/>
          </a:ln>
        </p:spPr>
        <p:txBody>
          <a:bodyPr/>
          <a:lstStyle/>
          <a:p>
            <a:endParaRPr lang="en-US"/>
          </a:p>
        </p:txBody>
      </p:sp>
      <p:sp>
        <p:nvSpPr>
          <p:cNvPr id="174" name="Shape 172"/>
          <p:cNvSpPr/>
          <p:nvPr/>
        </p:nvSpPr>
        <p:spPr>
          <a:xfrm>
            <a:off x="9226296" y="5294376"/>
            <a:ext cx="36576" cy="384048"/>
          </a:xfrm>
          <a:prstGeom prst="rect">
            <a:avLst/>
          </a:prstGeom>
          <a:solidFill>
            <a:srgbClr val="CC0000"/>
          </a:solidFill>
          <a:ln w="12700">
            <a:solidFill>
              <a:srgbClr val="CC0000"/>
            </a:solidFill>
            <a:prstDash val="solid"/>
          </a:ln>
        </p:spPr>
        <p:txBody>
          <a:bodyPr/>
          <a:lstStyle/>
          <a:p>
            <a:endParaRPr lang="en-US"/>
          </a:p>
        </p:txBody>
      </p:sp>
      <p:sp>
        <p:nvSpPr>
          <p:cNvPr id="175" name="Text 173"/>
          <p:cNvSpPr/>
          <p:nvPr/>
        </p:nvSpPr>
        <p:spPr>
          <a:xfrm>
            <a:off x="9290304" y="5294376"/>
            <a:ext cx="2660904" cy="384048"/>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Proactive exception notifications</a:t>
            </a:r>
            <a:endParaRPr lang="en-US" sz="900" dirty="0"/>
          </a:p>
        </p:txBody>
      </p:sp>
      <p:sp>
        <p:nvSpPr>
          <p:cNvPr id="176" name="Shape 174"/>
          <p:cNvSpPr/>
          <p:nvPr/>
        </p:nvSpPr>
        <p:spPr>
          <a:xfrm>
            <a:off x="9226296" y="5733288"/>
            <a:ext cx="2724912" cy="384048"/>
          </a:xfrm>
          <a:prstGeom prst="rect">
            <a:avLst/>
          </a:prstGeom>
          <a:solidFill>
            <a:srgbClr val="FFFFFF"/>
          </a:solidFill>
          <a:ln w="6350">
            <a:solidFill>
              <a:srgbClr val="D4D4D4"/>
            </a:solidFill>
            <a:prstDash val="solid"/>
          </a:ln>
        </p:spPr>
        <p:txBody>
          <a:bodyPr/>
          <a:lstStyle/>
          <a:p>
            <a:endParaRPr lang="en-US"/>
          </a:p>
        </p:txBody>
      </p:sp>
      <p:sp>
        <p:nvSpPr>
          <p:cNvPr id="177" name="Shape 175"/>
          <p:cNvSpPr/>
          <p:nvPr/>
        </p:nvSpPr>
        <p:spPr>
          <a:xfrm>
            <a:off x="9226296" y="5733288"/>
            <a:ext cx="36576" cy="384048"/>
          </a:xfrm>
          <a:prstGeom prst="rect">
            <a:avLst/>
          </a:prstGeom>
          <a:solidFill>
            <a:srgbClr val="CC0000"/>
          </a:solidFill>
          <a:ln w="12700">
            <a:solidFill>
              <a:srgbClr val="CC0000"/>
            </a:solidFill>
            <a:prstDash val="solid"/>
          </a:ln>
        </p:spPr>
        <p:txBody>
          <a:bodyPr/>
          <a:lstStyle/>
          <a:p>
            <a:endParaRPr lang="en-US"/>
          </a:p>
        </p:txBody>
      </p:sp>
      <p:sp>
        <p:nvSpPr>
          <p:cNvPr id="178" name="Text 176"/>
          <p:cNvSpPr/>
          <p:nvPr/>
        </p:nvSpPr>
        <p:spPr>
          <a:xfrm>
            <a:off x="9290304" y="5733288"/>
            <a:ext cx="2660904" cy="384048"/>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CRM + ERP bidirectional sync</a:t>
            </a:r>
            <a:endParaRPr lang="en-US" sz="900" dirty="0"/>
          </a:p>
        </p:txBody>
      </p:sp>
      <p:sp>
        <p:nvSpPr>
          <p:cNvPr id="179" name="Shape 177"/>
          <p:cNvSpPr/>
          <p:nvPr/>
        </p:nvSpPr>
        <p:spPr>
          <a:xfrm>
            <a:off x="9226296" y="6172200"/>
            <a:ext cx="2724912" cy="384048"/>
          </a:xfrm>
          <a:prstGeom prst="rect">
            <a:avLst/>
          </a:prstGeom>
          <a:solidFill>
            <a:srgbClr val="FFFFFF"/>
          </a:solidFill>
          <a:ln w="6350">
            <a:solidFill>
              <a:srgbClr val="D4D4D4"/>
            </a:solidFill>
            <a:prstDash val="solid"/>
          </a:ln>
        </p:spPr>
        <p:txBody>
          <a:bodyPr/>
          <a:lstStyle/>
          <a:p>
            <a:endParaRPr lang="en-US"/>
          </a:p>
        </p:txBody>
      </p:sp>
      <p:sp>
        <p:nvSpPr>
          <p:cNvPr id="180" name="Shape 178"/>
          <p:cNvSpPr/>
          <p:nvPr/>
        </p:nvSpPr>
        <p:spPr>
          <a:xfrm>
            <a:off x="9226296" y="6172200"/>
            <a:ext cx="36576" cy="384048"/>
          </a:xfrm>
          <a:prstGeom prst="rect">
            <a:avLst/>
          </a:prstGeom>
          <a:solidFill>
            <a:srgbClr val="CC0000"/>
          </a:solidFill>
          <a:ln w="12700">
            <a:solidFill>
              <a:srgbClr val="CC0000"/>
            </a:solidFill>
            <a:prstDash val="solid"/>
          </a:ln>
        </p:spPr>
        <p:txBody>
          <a:bodyPr/>
          <a:lstStyle/>
          <a:p>
            <a:endParaRPr lang="en-US"/>
          </a:p>
        </p:txBody>
      </p:sp>
      <p:sp>
        <p:nvSpPr>
          <p:cNvPr id="181" name="Text 179"/>
          <p:cNvSpPr/>
          <p:nvPr/>
        </p:nvSpPr>
        <p:spPr>
          <a:xfrm>
            <a:off x="9290304" y="6172200"/>
            <a:ext cx="2660904" cy="384048"/>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Predictive reorder recommendations</a:t>
            </a:r>
            <a:endParaRPr lang="en-US" sz="900" dirty="0"/>
          </a:p>
        </p:txBody>
      </p:sp>
      <p:sp>
        <p:nvSpPr>
          <p:cNvPr id="183" name="Shape 181"/>
          <p:cNvSpPr/>
          <p:nvPr/>
        </p:nvSpPr>
        <p:spPr>
          <a:xfrm>
            <a:off x="0" y="6675120"/>
            <a:ext cx="164592" cy="182880"/>
          </a:xfrm>
          <a:prstGeom prst="rect">
            <a:avLst/>
          </a:prstGeom>
          <a:solidFill>
            <a:srgbClr val="111111"/>
          </a:solidFill>
          <a:ln w="12700">
            <a:solidFill>
              <a:srgbClr val="111111"/>
            </a:solidFill>
            <a:prstDash val="solid"/>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CC0000"/>
          </a:solidFill>
          <a:ln w="12700">
            <a:solidFill>
              <a:srgbClr val="CC0000"/>
            </a:solidFill>
            <a:prstDash val="solid"/>
          </a:ln>
        </p:spPr>
        <p:txBody>
          <a:bodyPr/>
          <a:lstStyle/>
          <a:p>
            <a:endParaRPr lang="en-US"/>
          </a:p>
        </p:txBody>
      </p:sp>
      <p:sp>
        <p:nvSpPr>
          <p:cNvPr id="3" name="Shape 1"/>
          <p:cNvSpPr/>
          <p:nvPr/>
        </p:nvSpPr>
        <p:spPr>
          <a:xfrm>
            <a:off x="0" y="54864"/>
            <a:ext cx="164592" cy="6803136"/>
          </a:xfrm>
          <a:prstGeom prst="rect">
            <a:avLst/>
          </a:prstGeom>
          <a:solidFill>
            <a:srgbClr val="111111"/>
          </a:solidFill>
          <a:ln w="12700">
            <a:solidFill>
              <a:srgbClr val="111111"/>
            </a:solidFill>
            <a:prstDash val="solid"/>
          </a:ln>
        </p:spPr>
        <p:txBody>
          <a:bodyPr/>
          <a:lstStyle/>
          <a:p>
            <a:endParaRPr lang="en-US"/>
          </a:p>
        </p:txBody>
      </p:sp>
      <p:sp>
        <p:nvSpPr>
          <p:cNvPr id="4" name="Text 2"/>
          <p:cNvSpPr/>
          <p:nvPr/>
        </p:nvSpPr>
        <p:spPr>
          <a:xfrm>
            <a:off x="329184" y="118872"/>
            <a:ext cx="10058400" cy="246888"/>
          </a:xfrm>
          <a:prstGeom prst="rect">
            <a:avLst/>
          </a:prstGeom>
          <a:noFill/>
          <a:ln/>
        </p:spPr>
        <p:txBody>
          <a:bodyPr wrap="square" lIns="0" tIns="0" rIns="0" bIns="0" rtlCol="0" anchor="ctr"/>
          <a:lstStyle/>
          <a:p>
            <a:pPr marL="0" indent="0">
              <a:buNone/>
            </a:pPr>
            <a:r>
              <a:rPr lang="en-US" sz="900" b="1" kern="0" spc="300" dirty="0">
                <a:solidFill>
                  <a:srgbClr val="CC0000"/>
                </a:solidFill>
                <a:latin typeface="Calibri" pitchFamily="34" charset="0"/>
                <a:ea typeface="Calibri" pitchFamily="34" charset="-122"/>
                <a:cs typeface="Calibri" pitchFamily="34" charset="-120"/>
              </a:rPr>
              <a:t>HIGH-LEVEL ROADMAP</a:t>
            </a:r>
            <a:endParaRPr lang="en-US" sz="900" dirty="0"/>
          </a:p>
        </p:txBody>
      </p:sp>
      <p:sp>
        <p:nvSpPr>
          <p:cNvPr id="5" name="Text 3"/>
          <p:cNvSpPr/>
          <p:nvPr/>
        </p:nvSpPr>
        <p:spPr>
          <a:xfrm>
            <a:off x="329184" y="384048"/>
            <a:ext cx="10515600" cy="438912"/>
          </a:xfrm>
          <a:prstGeom prst="rect">
            <a:avLst/>
          </a:prstGeom>
          <a:noFill/>
          <a:ln/>
        </p:spPr>
        <p:txBody>
          <a:bodyPr wrap="square" lIns="0" tIns="0" rIns="0" bIns="0" rtlCol="0" anchor="ctr"/>
          <a:lstStyle/>
          <a:p>
            <a:pPr marL="0" indent="0">
              <a:buNone/>
            </a:pPr>
            <a:r>
              <a:rPr lang="en-US" sz="2000" b="1" dirty="0">
                <a:solidFill>
                  <a:srgbClr val="1F1F1F"/>
                </a:solidFill>
                <a:latin typeface="Calibri" pitchFamily="34" charset="0"/>
                <a:ea typeface="Calibri" pitchFamily="34" charset="-122"/>
                <a:cs typeface="Calibri" pitchFamily="34" charset="-120"/>
              </a:rPr>
              <a:t>Three horizons to an Agentic, customer-obsessed front office</a:t>
            </a:r>
            <a:endParaRPr lang="en-US" sz="2000" dirty="0"/>
          </a:p>
        </p:txBody>
      </p:sp>
      <p:sp>
        <p:nvSpPr>
          <p:cNvPr id="6" name="Shape 4"/>
          <p:cNvSpPr/>
          <p:nvPr/>
        </p:nvSpPr>
        <p:spPr>
          <a:xfrm>
            <a:off x="329184" y="841248"/>
            <a:ext cx="11667744" cy="20117"/>
          </a:xfrm>
          <a:prstGeom prst="rect">
            <a:avLst/>
          </a:prstGeom>
          <a:solidFill>
            <a:srgbClr val="D4D4D4"/>
          </a:solidFill>
          <a:ln w="12700">
            <a:solidFill>
              <a:srgbClr val="D4D4D4"/>
            </a:solidFill>
            <a:prstDash val="solid"/>
          </a:ln>
        </p:spPr>
        <p:txBody>
          <a:bodyPr/>
          <a:lstStyle/>
          <a:p>
            <a:endParaRPr lang="en-US"/>
          </a:p>
        </p:txBody>
      </p:sp>
      <p:sp>
        <p:nvSpPr>
          <p:cNvPr id="7" name="Text 5"/>
          <p:cNvSpPr/>
          <p:nvPr/>
        </p:nvSpPr>
        <p:spPr>
          <a:xfrm>
            <a:off x="11475720" y="91440"/>
            <a:ext cx="640080" cy="475488"/>
          </a:xfrm>
          <a:prstGeom prst="rect">
            <a:avLst/>
          </a:prstGeom>
          <a:noFill/>
          <a:ln/>
        </p:spPr>
        <p:txBody>
          <a:bodyPr wrap="square" lIns="0" tIns="0" rIns="0" bIns="0" rtlCol="0" anchor="ctr"/>
          <a:lstStyle/>
          <a:p>
            <a:pPr marL="0" indent="0" algn="r">
              <a:buNone/>
            </a:pPr>
            <a:r>
              <a:rPr lang="en-US" sz="2200" b="1" dirty="0">
                <a:solidFill>
                  <a:srgbClr val="CC0000"/>
                </a:solidFill>
                <a:latin typeface="Calibri" pitchFamily="34" charset="0"/>
                <a:ea typeface="Calibri" pitchFamily="34" charset="-122"/>
                <a:cs typeface="Calibri" pitchFamily="34" charset="-120"/>
              </a:rPr>
              <a:t>09</a:t>
            </a:r>
            <a:endParaRPr lang="en-US" sz="2200" dirty="0"/>
          </a:p>
        </p:txBody>
      </p:sp>
      <p:sp>
        <p:nvSpPr>
          <p:cNvPr id="8" name="Shape 6"/>
          <p:cNvSpPr/>
          <p:nvPr/>
        </p:nvSpPr>
        <p:spPr>
          <a:xfrm>
            <a:off x="502920" y="1417320"/>
            <a:ext cx="11475720" cy="0"/>
          </a:xfrm>
          <a:prstGeom prst="line">
            <a:avLst/>
          </a:prstGeom>
          <a:noFill/>
          <a:ln w="19050">
            <a:solidFill>
              <a:srgbClr val="D4D4D4"/>
            </a:solidFill>
            <a:prstDash val="solid"/>
          </a:ln>
        </p:spPr>
        <p:txBody>
          <a:bodyPr/>
          <a:lstStyle/>
          <a:p>
            <a:endParaRPr lang="en-US"/>
          </a:p>
        </p:txBody>
      </p:sp>
      <p:sp>
        <p:nvSpPr>
          <p:cNvPr id="10" name="Text 8"/>
          <p:cNvSpPr/>
          <p:nvPr/>
        </p:nvSpPr>
        <p:spPr>
          <a:xfrm>
            <a:off x="329184" y="969264"/>
            <a:ext cx="3767328" cy="237744"/>
          </a:xfrm>
          <a:prstGeom prst="rect">
            <a:avLst/>
          </a:prstGeom>
          <a:noFill/>
          <a:ln/>
        </p:spPr>
        <p:txBody>
          <a:bodyPr wrap="square" lIns="0" tIns="0" rIns="0" bIns="0" rtlCol="0" anchor="ctr"/>
          <a:lstStyle/>
          <a:p>
            <a:pPr marL="0" indent="0" algn="ctr">
              <a:buNone/>
            </a:pPr>
            <a:r>
              <a:rPr lang="en-US" sz="950" dirty="0">
                <a:solidFill>
                  <a:srgbClr val="777777"/>
                </a:solidFill>
                <a:latin typeface="Calibri" pitchFamily="34" charset="0"/>
                <a:ea typeface="Calibri" pitchFamily="34" charset="-122"/>
                <a:cs typeface="Calibri" pitchFamily="34" charset="-120"/>
              </a:rPr>
              <a:t>0–12 Months</a:t>
            </a:r>
            <a:endParaRPr lang="en-US" sz="950" dirty="0"/>
          </a:p>
        </p:txBody>
      </p:sp>
      <p:sp>
        <p:nvSpPr>
          <p:cNvPr id="11" name="Shape 9"/>
          <p:cNvSpPr/>
          <p:nvPr/>
        </p:nvSpPr>
        <p:spPr>
          <a:xfrm>
            <a:off x="329184" y="1600200"/>
            <a:ext cx="3767328" cy="5074920"/>
          </a:xfrm>
          <a:prstGeom prst="rect">
            <a:avLst/>
          </a:prstGeom>
          <a:solidFill>
            <a:srgbClr val="FFFFFF"/>
          </a:solidFill>
          <a:ln w="10160">
            <a:solidFill>
              <a:srgbClr val="D4D4D4"/>
            </a:solidFill>
            <a:prstDash val="solid"/>
          </a:ln>
          <a:effectLst>
            <a:outerShdw blurRad="50800" dist="25400" dir="8100000" algn="bl" rotWithShape="0">
              <a:srgbClr val="000000">
                <a:alpha val="6000"/>
              </a:srgbClr>
            </a:outerShdw>
          </a:effectLst>
        </p:spPr>
        <p:txBody>
          <a:bodyPr/>
          <a:lstStyle/>
          <a:p>
            <a:endParaRPr lang="en-US"/>
          </a:p>
        </p:txBody>
      </p:sp>
      <p:sp>
        <p:nvSpPr>
          <p:cNvPr id="12" name="Shape 10"/>
          <p:cNvSpPr/>
          <p:nvPr/>
        </p:nvSpPr>
        <p:spPr>
          <a:xfrm>
            <a:off x="329184" y="1369856"/>
            <a:ext cx="3767328" cy="50292"/>
          </a:xfrm>
          <a:prstGeom prst="rect">
            <a:avLst/>
          </a:prstGeom>
          <a:solidFill>
            <a:srgbClr val="CC0000"/>
          </a:solidFill>
          <a:ln w="12700">
            <a:solidFill>
              <a:srgbClr val="CC0000"/>
            </a:solidFill>
            <a:prstDash val="solid"/>
          </a:ln>
        </p:spPr>
        <p:txBody>
          <a:bodyPr/>
          <a:lstStyle/>
          <a:p>
            <a:endParaRPr lang="en-US"/>
          </a:p>
        </p:txBody>
      </p:sp>
      <p:sp>
        <p:nvSpPr>
          <p:cNvPr id="13" name="Shape 11"/>
          <p:cNvSpPr/>
          <p:nvPr/>
        </p:nvSpPr>
        <p:spPr>
          <a:xfrm>
            <a:off x="493776" y="1488728"/>
            <a:ext cx="804672" cy="329184"/>
          </a:xfrm>
          <a:prstGeom prst="rect">
            <a:avLst/>
          </a:prstGeom>
          <a:solidFill>
            <a:srgbClr val="CC0000"/>
          </a:solidFill>
          <a:ln w="12700">
            <a:solidFill>
              <a:srgbClr val="CC0000"/>
            </a:solidFill>
            <a:prstDash val="solid"/>
          </a:ln>
        </p:spPr>
        <p:txBody>
          <a:bodyPr/>
          <a:lstStyle/>
          <a:p>
            <a:endParaRPr lang="en-US"/>
          </a:p>
        </p:txBody>
      </p:sp>
      <p:sp>
        <p:nvSpPr>
          <p:cNvPr id="14" name="Text 12"/>
          <p:cNvSpPr/>
          <p:nvPr/>
        </p:nvSpPr>
        <p:spPr>
          <a:xfrm>
            <a:off x="493776" y="1488728"/>
            <a:ext cx="804672"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NOW</a:t>
            </a:r>
            <a:endParaRPr lang="en-US" sz="1200" dirty="0"/>
          </a:p>
        </p:txBody>
      </p:sp>
      <p:sp>
        <p:nvSpPr>
          <p:cNvPr id="15" name="Text 13"/>
          <p:cNvSpPr/>
          <p:nvPr/>
        </p:nvSpPr>
        <p:spPr>
          <a:xfrm>
            <a:off x="1371600" y="1516160"/>
            <a:ext cx="2560320" cy="292608"/>
          </a:xfrm>
          <a:prstGeom prst="rect">
            <a:avLst/>
          </a:prstGeom>
          <a:noFill/>
          <a:ln/>
        </p:spPr>
        <p:txBody>
          <a:bodyPr wrap="square" lIns="0" tIns="0" rIns="0" bIns="0" rtlCol="0" anchor="ctr"/>
          <a:lstStyle/>
          <a:p>
            <a:pPr marL="0" indent="0">
              <a:buNone/>
            </a:pPr>
            <a:r>
              <a:rPr lang="en-US" sz="1150" b="1" dirty="0">
                <a:solidFill>
                  <a:srgbClr val="1F1F1F"/>
                </a:solidFill>
                <a:latin typeface="Calibri" pitchFamily="34" charset="0"/>
                <a:ea typeface="Calibri" pitchFamily="34" charset="-122"/>
                <a:cs typeface="Calibri" pitchFamily="34" charset="-120"/>
              </a:rPr>
              <a:t>Fix, Stabilize &amp; Assess</a:t>
            </a:r>
            <a:endParaRPr lang="en-US" sz="1150" dirty="0"/>
          </a:p>
        </p:txBody>
      </p:sp>
      <p:sp>
        <p:nvSpPr>
          <p:cNvPr id="16" name="Shape 14"/>
          <p:cNvSpPr/>
          <p:nvPr/>
        </p:nvSpPr>
        <p:spPr>
          <a:xfrm>
            <a:off x="493776" y="1854488"/>
            <a:ext cx="3438144" cy="20117"/>
          </a:xfrm>
          <a:prstGeom prst="rect">
            <a:avLst/>
          </a:prstGeom>
          <a:solidFill>
            <a:srgbClr val="D4D4D4"/>
          </a:solidFill>
          <a:ln w="12700">
            <a:solidFill>
              <a:srgbClr val="D4D4D4"/>
            </a:solidFill>
            <a:prstDash val="solid"/>
          </a:ln>
        </p:spPr>
        <p:txBody>
          <a:bodyPr/>
          <a:lstStyle/>
          <a:p>
            <a:endParaRPr lang="en-US"/>
          </a:p>
        </p:txBody>
      </p:sp>
      <p:sp>
        <p:nvSpPr>
          <p:cNvPr id="17" name="Shape 15"/>
          <p:cNvSpPr/>
          <p:nvPr/>
        </p:nvSpPr>
        <p:spPr>
          <a:xfrm>
            <a:off x="493776" y="2000096"/>
            <a:ext cx="3438144" cy="219456"/>
          </a:xfrm>
          <a:prstGeom prst="rect">
            <a:avLst/>
          </a:prstGeom>
          <a:solidFill>
            <a:srgbClr val="F7F7F7"/>
          </a:solidFill>
          <a:ln w="6350">
            <a:solidFill>
              <a:srgbClr val="D4D4D4"/>
            </a:solidFill>
            <a:prstDash val="solid"/>
          </a:ln>
        </p:spPr>
        <p:txBody>
          <a:bodyPr/>
          <a:lstStyle/>
          <a:p>
            <a:endParaRPr lang="en-US"/>
          </a:p>
        </p:txBody>
      </p:sp>
      <p:sp>
        <p:nvSpPr>
          <p:cNvPr id="18" name="Shape 16"/>
          <p:cNvSpPr/>
          <p:nvPr/>
        </p:nvSpPr>
        <p:spPr>
          <a:xfrm>
            <a:off x="493776" y="2000096"/>
            <a:ext cx="45720" cy="219456"/>
          </a:xfrm>
          <a:prstGeom prst="rect">
            <a:avLst/>
          </a:prstGeom>
          <a:solidFill>
            <a:srgbClr val="CC0000"/>
          </a:solidFill>
          <a:ln w="12700">
            <a:solidFill>
              <a:srgbClr val="CC0000"/>
            </a:solidFill>
            <a:prstDash val="solid"/>
          </a:ln>
        </p:spPr>
        <p:txBody>
          <a:bodyPr/>
          <a:lstStyle/>
          <a:p>
            <a:endParaRPr lang="en-US"/>
          </a:p>
        </p:txBody>
      </p:sp>
      <p:sp>
        <p:nvSpPr>
          <p:cNvPr id="19" name="Text 17"/>
          <p:cNvSpPr/>
          <p:nvPr/>
        </p:nvSpPr>
        <p:spPr>
          <a:xfrm>
            <a:off x="585216" y="2000096"/>
            <a:ext cx="3108960" cy="219456"/>
          </a:xfrm>
          <a:prstGeom prst="rect">
            <a:avLst/>
          </a:prstGeom>
          <a:noFill/>
          <a:ln/>
        </p:spPr>
        <p:txBody>
          <a:bodyPr wrap="square" lIns="0" tIns="0" rIns="0" bIns="0" rtlCol="0" anchor="ctr"/>
          <a:lstStyle/>
          <a:p>
            <a:pPr marL="0" indent="0">
              <a:buNone/>
            </a:pPr>
            <a:r>
              <a:rPr lang="en-US" sz="750" b="1" kern="0" spc="150" dirty="0">
                <a:solidFill>
                  <a:srgbClr val="CC0000"/>
                </a:solidFill>
                <a:latin typeface="Calibri" pitchFamily="34" charset="0"/>
                <a:ea typeface="Calibri" pitchFamily="34" charset="-122"/>
                <a:cs typeface="Calibri" pitchFamily="34" charset="-120"/>
              </a:rPr>
              <a:t>CUSTOMER EXPERIENCE</a:t>
            </a:r>
            <a:endParaRPr lang="en-US" sz="750" dirty="0"/>
          </a:p>
        </p:txBody>
      </p:sp>
      <p:sp>
        <p:nvSpPr>
          <p:cNvPr id="20" name="Shape 18"/>
          <p:cNvSpPr/>
          <p:nvPr/>
        </p:nvSpPr>
        <p:spPr>
          <a:xfrm>
            <a:off x="557784" y="2301848"/>
            <a:ext cx="50292" cy="50292"/>
          </a:xfrm>
          <a:prstGeom prst="ellipse">
            <a:avLst/>
          </a:prstGeom>
          <a:solidFill>
            <a:srgbClr val="A8A8A8"/>
          </a:solidFill>
          <a:ln w="12700">
            <a:solidFill>
              <a:srgbClr val="A8A8A8"/>
            </a:solidFill>
            <a:prstDash val="solid"/>
          </a:ln>
        </p:spPr>
        <p:txBody>
          <a:bodyPr/>
          <a:lstStyle/>
          <a:p>
            <a:endParaRPr lang="en-US"/>
          </a:p>
        </p:txBody>
      </p:sp>
      <p:sp>
        <p:nvSpPr>
          <p:cNvPr id="21" name="Text 19"/>
          <p:cNvSpPr/>
          <p:nvPr/>
        </p:nvSpPr>
        <p:spPr>
          <a:xfrm>
            <a:off x="658368" y="2219552"/>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Unified customer voice — Adobe Analytics fixed, hit-level &amp; person-centric tracking</a:t>
            </a:r>
            <a:endParaRPr lang="en-US" sz="850" dirty="0"/>
          </a:p>
        </p:txBody>
      </p:sp>
      <p:sp>
        <p:nvSpPr>
          <p:cNvPr id="22" name="Shape 20"/>
          <p:cNvSpPr/>
          <p:nvPr/>
        </p:nvSpPr>
        <p:spPr>
          <a:xfrm>
            <a:off x="557784" y="2528619"/>
            <a:ext cx="50292" cy="50292"/>
          </a:xfrm>
          <a:prstGeom prst="ellipse">
            <a:avLst/>
          </a:prstGeom>
          <a:solidFill>
            <a:srgbClr val="A8A8A8"/>
          </a:solidFill>
          <a:ln w="12700">
            <a:solidFill>
              <a:srgbClr val="A8A8A8"/>
            </a:solidFill>
            <a:prstDash val="solid"/>
          </a:ln>
        </p:spPr>
        <p:txBody>
          <a:bodyPr/>
          <a:lstStyle/>
          <a:p>
            <a:endParaRPr lang="en-US"/>
          </a:p>
        </p:txBody>
      </p:sp>
      <p:sp>
        <p:nvSpPr>
          <p:cNvPr id="23" name="Text 21"/>
          <p:cNvSpPr/>
          <p:nvPr/>
        </p:nvSpPr>
        <p:spPr>
          <a:xfrm>
            <a:off x="658368" y="2446323"/>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Salesforce Service Cloud — consistent case &amp; warranty experience across SBGs</a:t>
            </a:r>
            <a:endParaRPr lang="en-US" sz="850" dirty="0"/>
          </a:p>
        </p:txBody>
      </p:sp>
      <p:sp>
        <p:nvSpPr>
          <p:cNvPr id="24" name="Shape 22"/>
          <p:cNvSpPr/>
          <p:nvPr/>
        </p:nvSpPr>
        <p:spPr>
          <a:xfrm>
            <a:off x="557784" y="2755390"/>
            <a:ext cx="50292" cy="50292"/>
          </a:xfrm>
          <a:prstGeom prst="ellipse">
            <a:avLst/>
          </a:prstGeom>
          <a:solidFill>
            <a:srgbClr val="A8A8A8"/>
          </a:solidFill>
          <a:ln w="12700">
            <a:solidFill>
              <a:srgbClr val="A8A8A8"/>
            </a:solidFill>
            <a:prstDash val="solid"/>
          </a:ln>
        </p:spPr>
        <p:txBody>
          <a:bodyPr/>
          <a:lstStyle/>
          <a:p>
            <a:endParaRPr lang="en-US"/>
          </a:p>
        </p:txBody>
      </p:sp>
      <p:sp>
        <p:nvSpPr>
          <p:cNvPr id="25" name="Text 23"/>
          <p:cNvSpPr/>
          <p:nvPr/>
        </p:nvSpPr>
        <p:spPr>
          <a:xfrm>
            <a:off x="658368" y="2673094"/>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NPS and CSAT measurement embedded in post-case and post-delivery workflows</a:t>
            </a:r>
            <a:endParaRPr lang="en-US" sz="850" dirty="0"/>
          </a:p>
        </p:txBody>
      </p:sp>
      <p:sp>
        <p:nvSpPr>
          <p:cNvPr id="26" name="Shape 24"/>
          <p:cNvSpPr/>
          <p:nvPr/>
        </p:nvSpPr>
        <p:spPr>
          <a:xfrm>
            <a:off x="557784" y="2982162"/>
            <a:ext cx="50292" cy="50292"/>
          </a:xfrm>
          <a:prstGeom prst="ellipse">
            <a:avLst/>
          </a:prstGeom>
          <a:solidFill>
            <a:srgbClr val="A8A8A8"/>
          </a:solidFill>
          <a:ln w="12700">
            <a:solidFill>
              <a:srgbClr val="A8A8A8"/>
            </a:solidFill>
            <a:prstDash val="solid"/>
          </a:ln>
        </p:spPr>
        <p:txBody>
          <a:bodyPr/>
          <a:lstStyle/>
          <a:p>
            <a:endParaRPr lang="en-US"/>
          </a:p>
        </p:txBody>
      </p:sp>
      <p:sp>
        <p:nvSpPr>
          <p:cNvPr id="27" name="Text 25"/>
          <p:cNvSpPr/>
          <p:nvPr/>
        </p:nvSpPr>
        <p:spPr>
          <a:xfrm>
            <a:off x="658368" y="2899866"/>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Single consolidated billing portal — one invoice experience for all SBGs</a:t>
            </a:r>
            <a:endParaRPr lang="en-US" sz="850" dirty="0"/>
          </a:p>
        </p:txBody>
      </p:sp>
      <p:sp>
        <p:nvSpPr>
          <p:cNvPr id="28" name="Shape 26"/>
          <p:cNvSpPr/>
          <p:nvPr/>
        </p:nvSpPr>
        <p:spPr>
          <a:xfrm>
            <a:off x="493776" y="3302813"/>
            <a:ext cx="3438144" cy="219456"/>
          </a:xfrm>
          <a:prstGeom prst="rect">
            <a:avLst/>
          </a:prstGeom>
          <a:solidFill>
            <a:srgbClr val="F7F7F7"/>
          </a:solidFill>
          <a:ln w="6350">
            <a:solidFill>
              <a:srgbClr val="D4D4D4"/>
            </a:solidFill>
            <a:prstDash val="solid"/>
          </a:ln>
        </p:spPr>
        <p:txBody>
          <a:bodyPr/>
          <a:lstStyle/>
          <a:p>
            <a:endParaRPr lang="en-US"/>
          </a:p>
        </p:txBody>
      </p:sp>
      <p:sp>
        <p:nvSpPr>
          <p:cNvPr id="29" name="Shape 27"/>
          <p:cNvSpPr/>
          <p:nvPr/>
        </p:nvSpPr>
        <p:spPr>
          <a:xfrm>
            <a:off x="493776" y="3302813"/>
            <a:ext cx="45720" cy="219456"/>
          </a:xfrm>
          <a:prstGeom prst="rect">
            <a:avLst/>
          </a:prstGeom>
          <a:solidFill>
            <a:srgbClr val="333333"/>
          </a:solidFill>
          <a:ln w="12700">
            <a:solidFill>
              <a:srgbClr val="333333"/>
            </a:solidFill>
            <a:prstDash val="solid"/>
          </a:ln>
        </p:spPr>
        <p:txBody>
          <a:bodyPr/>
          <a:lstStyle/>
          <a:p>
            <a:endParaRPr lang="en-US"/>
          </a:p>
        </p:txBody>
      </p:sp>
      <p:sp>
        <p:nvSpPr>
          <p:cNvPr id="30" name="Text 28"/>
          <p:cNvSpPr/>
          <p:nvPr/>
        </p:nvSpPr>
        <p:spPr>
          <a:xfrm>
            <a:off x="585216" y="3302813"/>
            <a:ext cx="3108960" cy="219456"/>
          </a:xfrm>
          <a:prstGeom prst="rect">
            <a:avLst/>
          </a:prstGeom>
          <a:noFill/>
          <a:ln/>
        </p:spPr>
        <p:txBody>
          <a:bodyPr wrap="square" lIns="0" tIns="0" rIns="0" bIns="0" rtlCol="0" anchor="ctr"/>
          <a:lstStyle/>
          <a:p>
            <a:pPr marL="0" indent="0">
              <a:buNone/>
            </a:pPr>
            <a:r>
              <a:rPr lang="en-US" sz="750" b="1" kern="0" spc="150" dirty="0">
                <a:solidFill>
                  <a:srgbClr val="333333"/>
                </a:solidFill>
                <a:latin typeface="Calibri" pitchFamily="34" charset="0"/>
                <a:ea typeface="Calibri" pitchFamily="34" charset="-122"/>
                <a:cs typeface="Calibri" pitchFamily="34" charset="-120"/>
              </a:rPr>
              <a:t>BUSINESS ENABLEMENT</a:t>
            </a:r>
            <a:endParaRPr lang="en-US" sz="750" dirty="0"/>
          </a:p>
        </p:txBody>
      </p:sp>
      <p:sp>
        <p:nvSpPr>
          <p:cNvPr id="31" name="Shape 29"/>
          <p:cNvSpPr/>
          <p:nvPr/>
        </p:nvSpPr>
        <p:spPr>
          <a:xfrm>
            <a:off x="557784" y="3604565"/>
            <a:ext cx="50292" cy="50292"/>
          </a:xfrm>
          <a:prstGeom prst="ellipse">
            <a:avLst/>
          </a:prstGeom>
          <a:solidFill>
            <a:srgbClr val="A8A8A8"/>
          </a:solidFill>
          <a:ln w="12700">
            <a:solidFill>
              <a:srgbClr val="A8A8A8"/>
            </a:solidFill>
            <a:prstDash val="solid"/>
          </a:ln>
        </p:spPr>
        <p:txBody>
          <a:bodyPr/>
          <a:lstStyle/>
          <a:p>
            <a:endParaRPr lang="en-US"/>
          </a:p>
        </p:txBody>
      </p:sp>
      <p:sp>
        <p:nvSpPr>
          <p:cNvPr id="32" name="Text 30"/>
          <p:cNvSpPr/>
          <p:nvPr/>
        </p:nvSpPr>
        <p:spPr>
          <a:xfrm>
            <a:off x="658368" y="3522269"/>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Standard commercial policies — contracts, pricing, payment terms, returns</a:t>
            </a:r>
            <a:endParaRPr lang="en-US" sz="850" dirty="0"/>
          </a:p>
        </p:txBody>
      </p:sp>
      <p:sp>
        <p:nvSpPr>
          <p:cNvPr id="33" name="Shape 31"/>
          <p:cNvSpPr/>
          <p:nvPr/>
        </p:nvSpPr>
        <p:spPr>
          <a:xfrm>
            <a:off x="557784" y="3831336"/>
            <a:ext cx="50292" cy="50292"/>
          </a:xfrm>
          <a:prstGeom prst="ellipse">
            <a:avLst/>
          </a:prstGeom>
          <a:solidFill>
            <a:srgbClr val="A8A8A8"/>
          </a:solidFill>
          <a:ln w="12700">
            <a:solidFill>
              <a:srgbClr val="A8A8A8"/>
            </a:solidFill>
            <a:prstDash val="solid"/>
          </a:ln>
        </p:spPr>
        <p:txBody>
          <a:bodyPr/>
          <a:lstStyle/>
          <a:p>
            <a:endParaRPr lang="en-US"/>
          </a:p>
        </p:txBody>
      </p:sp>
      <p:sp>
        <p:nvSpPr>
          <p:cNvPr id="34" name="Text 32"/>
          <p:cNvSpPr/>
          <p:nvPr/>
        </p:nvSpPr>
        <p:spPr>
          <a:xfrm>
            <a:off x="658368" y="3749040"/>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Customer segmentation model and SBG go-to-market playbook</a:t>
            </a:r>
            <a:endParaRPr lang="en-US" sz="850" dirty="0"/>
          </a:p>
        </p:txBody>
      </p:sp>
      <p:sp>
        <p:nvSpPr>
          <p:cNvPr id="35" name="Shape 33"/>
          <p:cNvSpPr/>
          <p:nvPr/>
        </p:nvSpPr>
        <p:spPr>
          <a:xfrm>
            <a:off x="557784" y="4058107"/>
            <a:ext cx="50292" cy="50292"/>
          </a:xfrm>
          <a:prstGeom prst="ellipse">
            <a:avLst/>
          </a:prstGeom>
          <a:solidFill>
            <a:srgbClr val="A8A8A8"/>
          </a:solidFill>
          <a:ln w="12700">
            <a:solidFill>
              <a:srgbClr val="A8A8A8"/>
            </a:solidFill>
            <a:prstDash val="solid"/>
          </a:ln>
        </p:spPr>
        <p:txBody>
          <a:bodyPr/>
          <a:lstStyle/>
          <a:p>
            <a:endParaRPr lang="en-US"/>
          </a:p>
        </p:txBody>
      </p:sp>
      <p:sp>
        <p:nvSpPr>
          <p:cNvPr id="36" name="Text 34"/>
          <p:cNvSpPr/>
          <p:nvPr/>
        </p:nvSpPr>
        <p:spPr>
          <a:xfrm>
            <a:off x="658368" y="3975811"/>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Common sales process, shared demand funnel, standard pricing playbook &amp; CPQ lite</a:t>
            </a:r>
            <a:endParaRPr lang="en-US" sz="850" dirty="0"/>
          </a:p>
        </p:txBody>
      </p:sp>
      <p:sp>
        <p:nvSpPr>
          <p:cNvPr id="37" name="Shape 35"/>
          <p:cNvSpPr/>
          <p:nvPr/>
        </p:nvSpPr>
        <p:spPr>
          <a:xfrm>
            <a:off x="557784" y="4284878"/>
            <a:ext cx="50292" cy="50292"/>
          </a:xfrm>
          <a:prstGeom prst="ellipse">
            <a:avLst/>
          </a:prstGeom>
          <a:solidFill>
            <a:srgbClr val="A8A8A8"/>
          </a:solidFill>
          <a:ln w="12700">
            <a:solidFill>
              <a:srgbClr val="A8A8A8"/>
            </a:solidFill>
            <a:prstDash val="solid"/>
          </a:ln>
        </p:spPr>
        <p:txBody>
          <a:bodyPr/>
          <a:lstStyle/>
          <a:p>
            <a:endParaRPr lang="en-US"/>
          </a:p>
        </p:txBody>
      </p:sp>
      <p:sp>
        <p:nvSpPr>
          <p:cNvPr id="38" name="Text 36"/>
          <p:cNvSpPr/>
          <p:nvPr/>
        </p:nvSpPr>
        <p:spPr>
          <a:xfrm>
            <a:off x="658368" y="4202582"/>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Standard order booking rules across products, projects, services and software</a:t>
            </a:r>
            <a:endParaRPr lang="en-US" sz="850" dirty="0"/>
          </a:p>
        </p:txBody>
      </p:sp>
      <p:sp>
        <p:nvSpPr>
          <p:cNvPr id="39" name="Shape 37"/>
          <p:cNvSpPr/>
          <p:nvPr/>
        </p:nvSpPr>
        <p:spPr>
          <a:xfrm>
            <a:off x="493776" y="4465930"/>
            <a:ext cx="3438144" cy="219456"/>
          </a:xfrm>
          <a:prstGeom prst="rect">
            <a:avLst/>
          </a:prstGeom>
          <a:solidFill>
            <a:srgbClr val="F7F7F7"/>
          </a:solidFill>
          <a:ln w="6350">
            <a:solidFill>
              <a:srgbClr val="D4D4D4"/>
            </a:solidFill>
            <a:prstDash val="solid"/>
          </a:ln>
        </p:spPr>
        <p:txBody>
          <a:bodyPr/>
          <a:lstStyle/>
          <a:p>
            <a:endParaRPr lang="en-US"/>
          </a:p>
        </p:txBody>
      </p:sp>
      <p:sp>
        <p:nvSpPr>
          <p:cNvPr id="40" name="Shape 38"/>
          <p:cNvSpPr/>
          <p:nvPr/>
        </p:nvSpPr>
        <p:spPr>
          <a:xfrm>
            <a:off x="493776" y="4465930"/>
            <a:ext cx="45720" cy="219456"/>
          </a:xfrm>
          <a:prstGeom prst="rect">
            <a:avLst/>
          </a:prstGeom>
          <a:solidFill>
            <a:srgbClr val="111111"/>
          </a:solidFill>
          <a:ln w="12700">
            <a:solidFill>
              <a:srgbClr val="111111"/>
            </a:solidFill>
            <a:prstDash val="solid"/>
          </a:ln>
        </p:spPr>
        <p:txBody>
          <a:bodyPr/>
          <a:lstStyle/>
          <a:p>
            <a:endParaRPr lang="en-US"/>
          </a:p>
        </p:txBody>
      </p:sp>
      <p:sp>
        <p:nvSpPr>
          <p:cNvPr id="41" name="Text 39"/>
          <p:cNvSpPr/>
          <p:nvPr/>
        </p:nvSpPr>
        <p:spPr>
          <a:xfrm>
            <a:off x="585216" y="4465930"/>
            <a:ext cx="3108960" cy="219456"/>
          </a:xfrm>
          <a:prstGeom prst="rect">
            <a:avLst/>
          </a:prstGeom>
          <a:noFill/>
          <a:ln/>
        </p:spPr>
        <p:txBody>
          <a:bodyPr wrap="square" lIns="0" tIns="0" rIns="0" bIns="0" rtlCol="0" anchor="ctr"/>
          <a:lstStyle/>
          <a:p>
            <a:pPr marL="0" indent="0">
              <a:buNone/>
            </a:pPr>
            <a:r>
              <a:rPr lang="en-US" sz="750" b="1" kern="0" spc="150" dirty="0">
                <a:solidFill>
                  <a:srgbClr val="111111"/>
                </a:solidFill>
                <a:latin typeface="Calibri" pitchFamily="34" charset="0"/>
                <a:ea typeface="Calibri" pitchFamily="34" charset="-122"/>
                <a:cs typeface="Calibri" pitchFamily="34" charset="-120"/>
              </a:rPr>
              <a:t>TECHNOLOGY</a:t>
            </a:r>
            <a:endParaRPr lang="en-US" sz="750" dirty="0"/>
          </a:p>
        </p:txBody>
      </p:sp>
      <p:sp>
        <p:nvSpPr>
          <p:cNvPr id="42" name="Shape 40"/>
          <p:cNvSpPr/>
          <p:nvPr/>
        </p:nvSpPr>
        <p:spPr>
          <a:xfrm>
            <a:off x="557784" y="4767682"/>
            <a:ext cx="50292" cy="50292"/>
          </a:xfrm>
          <a:prstGeom prst="ellipse">
            <a:avLst/>
          </a:prstGeom>
          <a:solidFill>
            <a:srgbClr val="A8A8A8"/>
          </a:solidFill>
          <a:ln w="12700">
            <a:solidFill>
              <a:srgbClr val="A8A8A8"/>
            </a:solidFill>
            <a:prstDash val="solid"/>
          </a:ln>
        </p:spPr>
        <p:txBody>
          <a:bodyPr/>
          <a:lstStyle/>
          <a:p>
            <a:endParaRPr lang="en-US"/>
          </a:p>
        </p:txBody>
      </p:sp>
      <p:sp>
        <p:nvSpPr>
          <p:cNvPr id="43" name="Text 41"/>
          <p:cNvSpPr/>
          <p:nvPr/>
        </p:nvSpPr>
        <p:spPr>
          <a:xfrm>
            <a:off x="658368" y="4685386"/>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Salesforce Sales Cloud — unified pipeline, shared forecasting across SBGs</a:t>
            </a:r>
            <a:endParaRPr lang="en-US" sz="850" dirty="0"/>
          </a:p>
        </p:txBody>
      </p:sp>
      <p:sp>
        <p:nvSpPr>
          <p:cNvPr id="44" name="Shape 42"/>
          <p:cNvSpPr/>
          <p:nvPr/>
        </p:nvSpPr>
        <p:spPr>
          <a:xfrm>
            <a:off x="557784" y="4994453"/>
            <a:ext cx="50292" cy="50292"/>
          </a:xfrm>
          <a:prstGeom prst="ellipse">
            <a:avLst/>
          </a:prstGeom>
          <a:solidFill>
            <a:srgbClr val="A8A8A8"/>
          </a:solidFill>
          <a:ln w="12700">
            <a:solidFill>
              <a:srgbClr val="A8A8A8"/>
            </a:solidFill>
            <a:prstDash val="solid"/>
          </a:ln>
        </p:spPr>
        <p:txBody>
          <a:bodyPr/>
          <a:lstStyle/>
          <a:p>
            <a:endParaRPr lang="en-US"/>
          </a:p>
        </p:txBody>
      </p:sp>
      <p:sp>
        <p:nvSpPr>
          <p:cNvPr id="45" name="Text 43"/>
          <p:cNvSpPr/>
          <p:nvPr/>
        </p:nvSpPr>
        <p:spPr>
          <a:xfrm>
            <a:off x="658368" y="4912157"/>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Marketo Engage consolidation — single instance, common lead scoring &amp; MQL routing</a:t>
            </a:r>
            <a:endParaRPr lang="en-US" sz="850" dirty="0"/>
          </a:p>
        </p:txBody>
      </p:sp>
      <p:sp>
        <p:nvSpPr>
          <p:cNvPr id="46" name="Shape 44"/>
          <p:cNvSpPr/>
          <p:nvPr/>
        </p:nvSpPr>
        <p:spPr>
          <a:xfrm>
            <a:off x="557784" y="5221224"/>
            <a:ext cx="50292" cy="50292"/>
          </a:xfrm>
          <a:prstGeom prst="ellipse">
            <a:avLst/>
          </a:prstGeom>
          <a:solidFill>
            <a:srgbClr val="A8A8A8"/>
          </a:solidFill>
          <a:ln w="12700">
            <a:solidFill>
              <a:srgbClr val="A8A8A8"/>
            </a:solidFill>
            <a:prstDash val="solid"/>
          </a:ln>
        </p:spPr>
        <p:txBody>
          <a:bodyPr/>
          <a:lstStyle/>
          <a:p>
            <a:endParaRPr lang="en-US"/>
          </a:p>
        </p:txBody>
      </p:sp>
      <p:sp>
        <p:nvSpPr>
          <p:cNvPr id="47" name="Text 45"/>
          <p:cNvSpPr/>
          <p:nvPr/>
        </p:nvSpPr>
        <p:spPr>
          <a:xfrm>
            <a:off x="658368" y="5138928"/>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Salesforce CPQ — guided CPQ replacing Excel-based quoting</a:t>
            </a:r>
            <a:endParaRPr lang="en-US" sz="850" dirty="0"/>
          </a:p>
        </p:txBody>
      </p:sp>
      <p:sp>
        <p:nvSpPr>
          <p:cNvPr id="48" name="Shape 46"/>
          <p:cNvSpPr/>
          <p:nvPr/>
        </p:nvSpPr>
        <p:spPr>
          <a:xfrm>
            <a:off x="557784" y="5447995"/>
            <a:ext cx="50292" cy="50292"/>
          </a:xfrm>
          <a:prstGeom prst="ellipse">
            <a:avLst/>
          </a:prstGeom>
          <a:solidFill>
            <a:srgbClr val="A8A8A8"/>
          </a:solidFill>
          <a:ln w="12700">
            <a:solidFill>
              <a:srgbClr val="A8A8A8"/>
            </a:solidFill>
            <a:prstDash val="solid"/>
          </a:ln>
        </p:spPr>
        <p:txBody>
          <a:bodyPr/>
          <a:lstStyle/>
          <a:p>
            <a:endParaRPr lang="en-US"/>
          </a:p>
        </p:txBody>
      </p:sp>
      <p:sp>
        <p:nvSpPr>
          <p:cNvPr id="49" name="Text 47"/>
          <p:cNvSpPr/>
          <p:nvPr/>
        </p:nvSpPr>
        <p:spPr>
          <a:xfrm>
            <a:off x="658368" y="5365699"/>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DocuSign CLM — standardized contract templates with approval workflows</a:t>
            </a:r>
            <a:endParaRPr lang="en-US" sz="850" dirty="0"/>
          </a:p>
        </p:txBody>
      </p:sp>
      <p:sp>
        <p:nvSpPr>
          <p:cNvPr id="50" name="Shape 48"/>
          <p:cNvSpPr/>
          <p:nvPr/>
        </p:nvSpPr>
        <p:spPr>
          <a:xfrm>
            <a:off x="557784" y="5674766"/>
            <a:ext cx="50292" cy="50292"/>
          </a:xfrm>
          <a:prstGeom prst="ellipse">
            <a:avLst/>
          </a:prstGeom>
          <a:solidFill>
            <a:srgbClr val="A8A8A8"/>
          </a:solidFill>
          <a:ln w="12700">
            <a:solidFill>
              <a:srgbClr val="A8A8A8"/>
            </a:solidFill>
            <a:prstDash val="solid"/>
          </a:ln>
        </p:spPr>
        <p:txBody>
          <a:bodyPr/>
          <a:lstStyle/>
          <a:p>
            <a:endParaRPr lang="en-US"/>
          </a:p>
        </p:txBody>
      </p:sp>
      <p:sp>
        <p:nvSpPr>
          <p:cNvPr id="51" name="Text 49"/>
          <p:cNvSpPr/>
          <p:nvPr/>
        </p:nvSpPr>
        <p:spPr>
          <a:xfrm>
            <a:off x="658368" y="5592470"/>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SAP Credit Management — automated credit checks at account creation</a:t>
            </a:r>
            <a:endParaRPr lang="en-US" sz="850" dirty="0"/>
          </a:p>
        </p:txBody>
      </p:sp>
      <p:sp>
        <p:nvSpPr>
          <p:cNvPr id="52" name="Shape 50"/>
          <p:cNvSpPr/>
          <p:nvPr/>
        </p:nvSpPr>
        <p:spPr>
          <a:xfrm>
            <a:off x="557784" y="5901538"/>
            <a:ext cx="50292" cy="50292"/>
          </a:xfrm>
          <a:prstGeom prst="ellipse">
            <a:avLst/>
          </a:prstGeom>
          <a:solidFill>
            <a:srgbClr val="A8A8A8"/>
          </a:solidFill>
          <a:ln w="12700">
            <a:solidFill>
              <a:srgbClr val="A8A8A8"/>
            </a:solidFill>
            <a:prstDash val="solid"/>
          </a:ln>
        </p:spPr>
        <p:txBody>
          <a:bodyPr/>
          <a:lstStyle/>
          <a:p>
            <a:endParaRPr lang="en-US"/>
          </a:p>
        </p:txBody>
      </p:sp>
      <p:sp>
        <p:nvSpPr>
          <p:cNvPr id="53" name="Text 51"/>
          <p:cNvSpPr/>
          <p:nvPr/>
        </p:nvSpPr>
        <p:spPr>
          <a:xfrm>
            <a:off x="658368" y="5819242"/>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MuleSoft / Apigee API layer — SFDC ↔ SAP ECC order sync</a:t>
            </a:r>
            <a:endParaRPr lang="en-US" sz="850" dirty="0"/>
          </a:p>
        </p:txBody>
      </p:sp>
      <p:sp>
        <p:nvSpPr>
          <p:cNvPr id="54" name="Shape 52"/>
          <p:cNvSpPr/>
          <p:nvPr/>
        </p:nvSpPr>
        <p:spPr>
          <a:xfrm>
            <a:off x="557784" y="6128309"/>
            <a:ext cx="50292" cy="50292"/>
          </a:xfrm>
          <a:prstGeom prst="ellipse">
            <a:avLst/>
          </a:prstGeom>
          <a:solidFill>
            <a:srgbClr val="A8A8A8"/>
          </a:solidFill>
          <a:ln w="12700">
            <a:solidFill>
              <a:srgbClr val="A8A8A8"/>
            </a:solidFill>
            <a:prstDash val="solid"/>
          </a:ln>
        </p:spPr>
        <p:txBody>
          <a:bodyPr/>
          <a:lstStyle/>
          <a:p>
            <a:endParaRPr lang="en-US"/>
          </a:p>
        </p:txBody>
      </p:sp>
      <p:sp>
        <p:nvSpPr>
          <p:cNvPr id="55" name="Text 53"/>
          <p:cNvSpPr/>
          <p:nvPr/>
        </p:nvSpPr>
        <p:spPr>
          <a:xfrm>
            <a:off x="658368" y="6046013"/>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S/4 Integration Impact Assessment — 38 integrations cataloged and remediated</a:t>
            </a:r>
            <a:endParaRPr lang="en-US" sz="850" dirty="0"/>
          </a:p>
        </p:txBody>
      </p:sp>
      <p:sp>
        <p:nvSpPr>
          <p:cNvPr id="56" name="Shape 54"/>
          <p:cNvSpPr/>
          <p:nvPr/>
        </p:nvSpPr>
        <p:spPr>
          <a:xfrm>
            <a:off x="557784" y="6355080"/>
            <a:ext cx="50292" cy="50292"/>
          </a:xfrm>
          <a:prstGeom prst="ellipse">
            <a:avLst/>
          </a:prstGeom>
          <a:solidFill>
            <a:srgbClr val="A8A8A8"/>
          </a:solidFill>
          <a:ln w="12700">
            <a:solidFill>
              <a:srgbClr val="A8A8A8"/>
            </a:solidFill>
            <a:prstDash val="solid"/>
          </a:ln>
        </p:spPr>
        <p:txBody>
          <a:bodyPr/>
          <a:lstStyle/>
          <a:p>
            <a:endParaRPr lang="en-US"/>
          </a:p>
        </p:txBody>
      </p:sp>
      <p:sp>
        <p:nvSpPr>
          <p:cNvPr id="57" name="Text 55"/>
          <p:cNvSpPr/>
          <p:nvPr/>
        </p:nvSpPr>
        <p:spPr>
          <a:xfrm>
            <a:off x="658368" y="6272784"/>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Headless Commerce PoC — SBG 1 production-ready</a:t>
            </a:r>
            <a:endParaRPr lang="en-US" sz="850" dirty="0"/>
          </a:p>
        </p:txBody>
      </p:sp>
      <p:sp>
        <p:nvSpPr>
          <p:cNvPr id="59" name="Text 57"/>
          <p:cNvSpPr/>
          <p:nvPr/>
        </p:nvSpPr>
        <p:spPr>
          <a:xfrm>
            <a:off x="4270248" y="969264"/>
            <a:ext cx="3767328" cy="237744"/>
          </a:xfrm>
          <a:prstGeom prst="rect">
            <a:avLst/>
          </a:prstGeom>
          <a:noFill/>
          <a:ln/>
        </p:spPr>
        <p:txBody>
          <a:bodyPr wrap="square" lIns="0" tIns="0" rIns="0" bIns="0" rtlCol="0" anchor="ctr"/>
          <a:lstStyle/>
          <a:p>
            <a:pPr marL="0" indent="0" algn="ctr">
              <a:buNone/>
            </a:pPr>
            <a:r>
              <a:rPr lang="en-US" sz="950" dirty="0">
                <a:solidFill>
                  <a:srgbClr val="777777"/>
                </a:solidFill>
                <a:latin typeface="Calibri" pitchFamily="34" charset="0"/>
                <a:ea typeface="Calibri" pitchFamily="34" charset="-122"/>
                <a:cs typeface="Calibri" pitchFamily="34" charset="-120"/>
              </a:rPr>
              <a:t>1–3 Years</a:t>
            </a:r>
            <a:endParaRPr lang="en-US" sz="950" dirty="0"/>
          </a:p>
        </p:txBody>
      </p:sp>
      <p:sp>
        <p:nvSpPr>
          <p:cNvPr id="60" name="Shape 58"/>
          <p:cNvSpPr/>
          <p:nvPr/>
        </p:nvSpPr>
        <p:spPr>
          <a:xfrm>
            <a:off x="4270248" y="1600200"/>
            <a:ext cx="3767328" cy="5074920"/>
          </a:xfrm>
          <a:prstGeom prst="rect">
            <a:avLst/>
          </a:prstGeom>
          <a:solidFill>
            <a:srgbClr val="F4F4F4"/>
          </a:solidFill>
          <a:ln w="10160">
            <a:solidFill>
              <a:srgbClr val="D4D4D4"/>
            </a:solidFill>
            <a:prstDash val="solid"/>
          </a:ln>
          <a:effectLst>
            <a:outerShdw blurRad="50800" dist="25400" dir="8100000" algn="bl" rotWithShape="0">
              <a:srgbClr val="000000">
                <a:alpha val="6000"/>
              </a:srgbClr>
            </a:outerShdw>
          </a:effectLst>
        </p:spPr>
        <p:txBody>
          <a:bodyPr/>
          <a:lstStyle/>
          <a:p>
            <a:endParaRPr lang="en-US"/>
          </a:p>
        </p:txBody>
      </p:sp>
      <p:sp>
        <p:nvSpPr>
          <p:cNvPr id="61" name="Shape 59"/>
          <p:cNvSpPr/>
          <p:nvPr/>
        </p:nvSpPr>
        <p:spPr>
          <a:xfrm>
            <a:off x="4270248" y="1369856"/>
            <a:ext cx="3767328" cy="50292"/>
          </a:xfrm>
          <a:prstGeom prst="rect">
            <a:avLst/>
          </a:prstGeom>
          <a:solidFill>
            <a:srgbClr val="111111"/>
          </a:solidFill>
          <a:ln w="12700">
            <a:solidFill>
              <a:srgbClr val="111111"/>
            </a:solidFill>
            <a:prstDash val="solid"/>
          </a:ln>
        </p:spPr>
        <p:txBody>
          <a:bodyPr/>
          <a:lstStyle/>
          <a:p>
            <a:endParaRPr lang="en-US"/>
          </a:p>
        </p:txBody>
      </p:sp>
      <p:sp>
        <p:nvSpPr>
          <p:cNvPr id="62" name="Shape 60"/>
          <p:cNvSpPr/>
          <p:nvPr/>
        </p:nvSpPr>
        <p:spPr>
          <a:xfrm>
            <a:off x="4434840" y="1488728"/>
            <a:ext cx="804672" cy="329184"/>
          </a:xfrm>
          <a:prstGeom prst="rect">
            <a:avLst/>
          </a:prstGeom>
          <a:solidFill>
            <a:srgbClr val="333333"/>
          </a:solidFill>
          <a:ln w="12700">
            <a:solidFill>
              <a:srgbClr val="333333"/>
            </a:solidFill>
            <a:prstDash val="solid"/>
          </a:ln>
        </p:spPr>
        <p:txBody>
          <a:bodyPr/>
          <a:lstStyle/>
          <a:p>
            <a:endParaRPr lang="en-US"/>
          </a:p>
        </p:txBody>
      </p:sp>
      <p:sp>
        <p:nvSpPr>
          <p:cNvPr id="63" name="Text 61"/>
          <p:cNvSpPr/>
          <p:nvPr/>
        </p:nvSpPr>
        <p:spPr>
          <a:xfrm>
            <a:off x="4434840" y="1488728"/>
            <a:ext cx="804672"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NEXT</a:t>
            </a:r>
            <a:endParaRPr lang="en-US" sz="1200" dirty="0"/>
          </a:p>
        </p:txBody>
      </p:sp>
      <p:sp>
        <p:nvSpPr>
          <p:cNvPr id="64" name="Text 62"/>
          <p:cNvSpPr/>
          <p:nvPr/>
        </p:nvSpPr>
        <p:spPr>
          <a:xfrm>
            <a:off x="5312664" y="1516160"/>
            <a:ext cx="2560320" cy="292608"/>
          </a:xfrm>
          <a:prstGeom prst="rect">
            <a:avLst/>
          </a:prstGeom>
          <a:noFill/>
          <a:ln/>
        </p:spPr>
        <p:txBody>
          <a:bodyPr wrap="square" lIns="0" tIns="0" rIns="0" bIns="0" rtlCol="0" anchor="ctr"/>
          <a:lstStyle/>
          <a:p>
            <a:pPr marL="0" indent="0">
              <a:buNone/>
            </a:pPr>
            <a:r>
              <a:rPr lang="en-US" sz="1150" b="1" dirty="0">
                <a:solidFill>
                  <a:srgbClr val="1F1F1F"/>
                </a:solidFill>
                <a:latin typeface="Calibri" pitchFamily="34" charset="0"/>
                <a:ea typeface="Calibri" pitchFamily="34" charset="-122"/>
                <a:cs typeface="Calibri" pitchFamily="34" charset="-120"/>
              </a:rPr>
              <a:t>Modernize &amp; Connect</a:t>
            </a:r>
            <a:endParaRPr lang="en-US" sz="1150" dirty="0"/>
          </a:p>
        </p:txBody>
      </p:sp>
      <p:sp>
        <p:nvSpPr>
          <p:cNvPr id="65" name="Shape 63"/>
          <p:cNvSpPr/>
          <p:nvPr/>
        </p:nvSpPr>
        <p:spPr>
          <a:xfrm>
            <a:off x="4434840" y="1854488"/>
            <a:ext cx="3438144" cy="20117"/>
          </a:xfrm>
          <a:prstGeom prst="rect">
            <a:avLst/>
          </a:prstGeom>
          <a:solidFill>
            <a:srgbClr val="D4D4D4"/>
          </a:solidFill>
          <a:ln w="12700">
            <a:solidFill>
              <a:srgbClr val="D4D4D4"/>
            </a:solidFill>
            <a:prstDash val="solid"/>
          </a:ln>
        </p:spPr>
        <p:txBody>
          <a:bodyPr/>
          <a:lstStyle/>
          <a:p>
            <a:endParaRPr lang="en-US"/>
          </a:p>
        </p:txBody>
      </p:sp>
      <p:sp>
        <p:nvSpPr>
          <p:cNvPr id="66" name="Shape 64"/>
          <p:cNvSpPr/>
          <p:nvPr/>
        </p:nvSpPr>
        <p:spPr>
          <a:xfrm>
            <a:off x="4434840" y="2000096"/>
            <a:ext cx="3438144" cy="219456"/>
          </a:xfrm>
          <a:prstGeom prst="rect">
            <a:avLst/>
          </a:prstGeom>
          <a:solidFill>
            <a:srgbClr val="F7F7F7"/>
          </a:solidFill>
          <a:ln w="6350">
            <a:solidFill>
              <a:srgbClr val="D4D4D4"/>
            </a:solidFill>
            <a:prstDash val="solid"/>
          </a:ln>
        </p:spPr>
        <p:txBody>
          <a:bodyPr/>
          <a:lstStyle/>
          <a:p>
            <a:endParaRPr lang="en-US"/>
          </a:p>
        </p:txBody>
      </p:sp>
      <p:sp>
        <p:nvSpPr>
          <p:cNvPr id="67" name="Shape 65"/>
          <p:cNvSpPr/>
          <p:nvPr/>
        </p:nvSpPr>
        <p:spPr>
          <a:xfrm>
            <a:off x="4434840" y="2000096"/>
            <a:ext cx="45720" cy="219456"/>
          </a:xfrm>
          <a:prstGeom prst="rect">
            <a:avLst/>
          </a:prstGeom>
          <a:solidFill>
            <a:srgbClr val="CC0000"/>
          </a:solidFill>
          <a:ln w="12700">
            <a:solidFill>
              <a:srgbClr val="CC0000"/>
            </a:solidFill>
            <a:prstDash val="solid"/>
          </a:ln>
        </p:spPr>
        <p:txBody>
          <a:bodyPr/>
          <a:lstStyle/>
          <a:p>
            <a:endParaRPr lang="en-US"/>
          </a:p>
        </p:txBody>
      </p:sp>
      <p:sp>
        <p:nvSpPr>
          <p:cNvPr id="68" name="Text 66"/>
          <p:cNvSpPr/>
          <p:nvPr/>
        </p:nvSpPr>
        <p:spPr>
          <a:xfrm>
            <a:off x="4526280" y="2000096"/>
            <a:ext cx="3108960" cy="219456"/>
          </a:xfrm>
          <a:prstGeom prst="rect">
            <a:avLst/>
          </a:prstGeom>
          <a:noFill/>
          <a:ln/>
        </p:spPr>
        <p:txBody>
          <a:bodyPr wrap="square" lIns="0" tIns="0" rIns="0" bIns="0" rtlCol="0" anchor="ctr"/>
          <a:lstStyle/>
          <a:p>
            <a:pPr marL="0" indent="0">
              <a:buNone/>
            </a:pPr>
            <a:r>
              <a:rPr lang="en-US" sz="750" b="1" kern="0" spc="150" dirty="0">
                <a:solidFill>
                  <a:srgbClr val="CC0000"/>
                </a:solidFill>
                <a:latin typeface="Calibri" pitchFamily="34" charset="0"/>
                <a:ea typeface="Calibri" pitchFamily="34" charset="-122"/>
                <a:cs typeface="Calibri" pitchFamily="34" charset="-120"/>
              </a:rPr>
              <a:t>CUSTOMER EXPERIENCE</a:t>
            </a:r>
            <a:endParaRPr lang="en-US" sz="750" dirty="0"/>
          </a:p>
        </p:txBody>
      </p:sp>
      <p:sp>
        <p:nvSpPr>
          <p:cNvPr id="69" name="Shape 67"/>
          <p:cNvSpPr/>
          <p:nvPr/>
        </p:nvSpPr>
        <p:spPr>
          <a:xfrm>
            <a:off x="4498848" y="2301848"/>
            <a:ext cx="50292" cy="50292"/>
          </a:xfrm>
          <a:prstGeom prst="ellipse">
            <a:avLst/>
          </a:prstGeom>
          <a:solidFill>
            <a:srgbClr val="A8A8A8"/>
          </a:solidFill>
          <a:ln w="12700">
            <a:solidFill>
              <a:srgbClr val="A8A8A8"/>
            </a:solidFill>
            <a:prstDash val="solid"/>
          </a:ln>
        </p:spPr>
        <p:txBody>
          <a:bodyPr/>
          <a:lstStyle/>
          <a:p>
            <a:endParaRPr lang="en-US"/>
          </a:p>
        </p:txBody>
      </p:sp>
      <p:sp>
        <p:nvSpPr>
          <p:cNvPr id="70" name="Text 68"/>
          <p:cNvSpPr/>
          <p:nvPr/>
        </p:nvSpPr>
        <p:spPr>
          <a:xfrm>
            <a:off x="4599432" y="2219552"/>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Unified customer profile via CDP — personalized journeys across all SBGs</a:t>
            </a:r>
            <a:endParaRPr lang="en-US" sz="850" dirty="0"/>
          </a:p>
        </p:txBody>
      </p:sp>
      <p:sp>
        <p:nvSpPr>
          <p:cNvPr id="71" name="Shape 69"/>
          <p:cNvSpPr/>
          <p:nvPr/>
        </p:nvSpPr>
        <p:spPr>
          <a:xfrm>
            <a:off x="4498848" y="2528619"/>
            <a:ext cx="50292" cy="50292"/>
          </a:xfrm>
          <a:prstGeom prst="ellipse">
            <a:avLst/>
          </a:prstGeom>
          <a:solidFill>
            <a:srgbClr val="A8A8A8"/>
          </a:solidFill>
          <a:ln w="12700">
            <a:solidFill>
              <a:srgbClr val="A8A8A8"/>
            </a:solidFill>
            <a:prstDash val="solid"/>
          </a:ln>
        </p:spPr>
        <p:txBody>
          <a:bodyPr/>
          <a:lstStyle/>
          <a:p>
            <a:endParaRPr lang="en-US"/>
          </a:p>
        </p:txBody>
      </p:sp>
      <p:sp>
        <p:nvSpPr>
          <p:cNvPr id="72" name="Text 70"/>
          <p:cNvSpPr/>
          <p:nvPr/>
        </p:nvSpPr>
        <p:spPr>
          <a:xfrm>
            <a:off x="4599432" y="2446323"/>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Gainsight CS — customer health scores, renewal triggers, expansion alerts</a:t>
            </a:r>
            <a:endParaRPr lang="en-US" sz="850" dirty="0"/>
          </a:p>
        </p:txBody>
      </p:sp>
      <p:sp>
        <p:nvSpPr>
          <p:cNvPr id="73" name="Shape 71"/>
          <p:cNvSpPr/>
          <p:nvPr/>
        </p:nvSpPr>
        <p:spPr>
          <a:xfrm>
            <a:off x="4498848" y="2755390"/>
            <a:ext cx="50292" cy="50292"/>
          </a:xfrm>
          <a:prstGeom prst="ellipse">
            <a:avLst/>
          </a:prstGeom>
          <a:solidFill>
            <a:srgbClr val="A8A8A8"/>
          </a:solidFill>
          <a:ln w="12700">
            <a:solidFill>
              <a:srgbClr val="A8A8A8"/>
            </a:solidFill>
            <a:prstDash val="solid"/>
          </a:ln>
        </p:spPr>
        <p:txBody>
          <a:bodyPr/>
          <a:lstStyle/>
          <a:p>
            <a:endParaRPr lang="en-US"/>
          </a:p>
        </p:txBody>
      </p:sp>
      <p:sp>
        <p:nvSpPr>
          <p:cNvPr id="74" name="Text 72"/>
          <p:cNvSpPr/>
          <p:nvPr/>
        </p:nvSpPr>
        <p:spPr>
          <a:xfrm>
            <a:off x="4599432" y="2673094"/>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ServiceMax — installed base tracking, proactive field service &amp; warranty management</a:t>
            </a:r>
            <a:endParaRPr lang="en-US" sz="850" dirty="0"/>
          </a:p>
        </p:txBody>
      </p:sp>
      <p:sp>
        <p:nvSpPr>
          <p:cNvPr id="75" name="Shape 73"/>
          <p:cNvSpPr/>
          <p:nvPr/>
        </p:nvSpPr>
        <p:spPr>
          <a:xfrm>
            <a:off x="4498848" y="2982162"/>
            <a:ext cx="50292" cy="50292"/>
          </a:xfrm>
          <a:prstGeom prst="ellipse">
            <a:avLst/>
          </a:prstGeom>
          <a:solidFill>
            <a:srgbClr val="A8A8A8"/>
          </a:solidFill>
          <a:ln w="12700">
            <a:solidFill>
              <a:srgbClr val="A8A8A8"/>
            </a:solidFill>
            <a:prstDash val="solid"/>
          </a:ln>
        </p:spPr>
        <p:txBody>
          <a:bodyPr/>
          <a:lstStyle/>
          <a:p>
            <a:endParaRPr lang="en-US"/>
          </a:p>
        </p:txBody>
      </p:sp>
      <p:sp>
        <p:nvSpPr>
          <p:cNvPr id="76" name="Text 74"/>
          <p:cNvSpPr/>
          <p:nvPr/>
        </p:nvSpPr>
        <p:spPr>
          <a:xfrm>
            <a:off x="4599432" y="3039466"/>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Frictionless B2B checkout — consolidated billing, PO-to-pay automation for buyers</a:t>
            </a:r>
            <a:endParaRPr lang="en-US" sz="850" dirty="0"/>
          </a:p>
        </p:txBody>
      </p:sp>
      <p:sp>
        <p:nvSpPr>
          <p:cNvPr id="77" name="Shape 75"/>
          <p:cNvSpPr/>
          <p:nvPr/>
        </p:nvSpPr>
        <p:spPr>
          <a:xfrm>
            <a:off x="4434840" y="3302813"/>
            <a:ext cx="3438144" cy="219456"/>
          </a:xfrm>
          <a:prstGeom prst="rect">
            <a:avLst/>
          </a:prstGeom>
          <a:solidFill>
            <a:srgbClr val="F7F7F7"/>
          </a:solidFill>
          <a:ln w="6350">
            <a:solidFill>
              <a:srgbClr val="D4D4D4"/>
            </a:solidFill>
            <a:prstDash val="solid"/>
          </a:ln>
        </p:spPr>
        <p:txBody>
          <a:bodyPr/>
          <a:lstStyle/>
          <a:p>
            <a:endParaRPr lang="en-US"/>
          </a:p>
        </p:txBody>
      </p:sp>
      <p:sp>
        <p:nvSpPr>
          <p:cNvPr id="78" name="Shape 76"/>
          <p:cNvSpPr/>
          <p:nvPr/>
        </p:nvSpPr>
        <p:spPr>
          <a:xfrm>
            <a:off x="4434840" y="3302813"/>
            <a:ext cx="45720" cy="219456"/>
          </a:xfrm>
          <a:prstGeom prst="rect">
            <a:avLst/>
          </a:prstGeom>
          <a:solidFill>
            <a:srgbClr val="333333"/>
          </a:solidFill>
          <a:ln w="12700">
            <a:solidFill>
              <a:srgbClr val="333333"/>
            </a:solidFill>
            <a:prstDash val="solid"/>
          </a:ln>
        </p:spPr>
        <p:txBody>
          <a:bodyPr/>
          <a:lstStyle/>
          <a:p>
            <a:endParaRPr lang="en-US"/>
          </a:p>
        </p:txBody>
      </p:sp>
      <p:sp>
        <p:nvSpPr>
          <p:cNvPr id="79" name="Text 77"/>
          <p:cNvSpPr/>
          <p:nvPr/>
        </p:nvSpPr>
        <p:spPr>
          <a:xfrm>
            <a:off x="4526280" y="3302813"/>
            <a:ext cx="3108960" cy="219456"/>
          </a:xfrm>
          <a:prstGeom prst="rect">
            <a:avLst/>
          </a:prstGeom>
          <a:noFill/>
          <a:ln/>
        </p:spPr>
        <p:txBody>
          <a:bodyPr wrap="square" lIns="0" tIns="0" rIns="0" bIns="0" rtlCol="0" anchor="ctr"/>
          <a:lstStyle/>
          <a:p>
            <a:pPr marL="0" indent="0">
              <a:buNone/>
            </a:pPr>
            <a:r>
              <a:rPr lang="en-US" sz="750" b="1" kern="0" spc="150" dirty="0">
                <a:solidFill>
                  <a:srgbClr val="333333"/>
                </a:solidFill>
                <a:latin typeface="Calibri" pitchFamily="34" charset="0"/>
                <a:ea typeface="Calibri" pitchFamily="34" charset="-122"/>
                <a:cs typeface="Calibri" pitchFamily="34" charset="-120"/>
              </a:rPr>
              <a:t>BUSINESS ENABLEMENT</a:t>
            </a:r>
            <a:endParaRPr lang="en-US" sz="750" dirty="0"/>
          </a:p>
        </p:txBody>
      </p:sp>
      <p:sp>
        <p:nvSpPr>
          <p:cNvPr id="80" name="Shape 78"/>
          <p:cNvSpPr/>
          <p:nvPr/>
        </p:nvSpPr>
        <p:spPr>
          <a:xfrm>
            <a:off x="4498848" y="3604565"/>
            <a:ext cx="50292" cy="50292"/>
          </a:xfrm>
          <a:prstGeom prst="ellipse">
            <a:avLst/>
          </a:prstGeom>
          <a:solidFill>
            <a:srgbClr val="A8A8A8"/>
          </a:solidFill>
          <a:ln w="12700">
            <a:solidFill>
              <a:srgbClr val="A8A8A8"/>
            </a:solidFill>
            <a:prstDash val="solid"/>
          </a:ln>
        </p:spPr>
        <p:txBody>
          <a:bodyPr/>
          <a:lstStyle/>
          <a:p>
            <a:endParaRPr lang="en-US"/>
          </a:p>
        </p:txBody>
      </p:sp>
      <p:sp>
        <p:nvSpPr>
          <p:cNvPr id="81" name="Text 79"/>
          <p:cNvSpPr/>
          <p:nvPr/>
        </p:nvSpPr>
        <p:spPr>
          <a:xfrm>
            <a:off x="4599432" y="3522269"/>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End-to-end account management and incentive model for cross-SBG pull-through</a:t>
            </a:r>
            <a:endParaRPr lang="en-US" sz="850" dirty="0"/>
          </a:p>
        </p:txBody>
      </p:sp>
      <p:sp>
        <p:nvSpPr>
          <p:cNvPr id="82" name="Shape 80"/>
          <p:cNvSpPr/>
          <p:nvPr/>
        </p:nvSpPr>
        <p:spPr>
          <a:xfrm>
            <a:off x="4498848" y="3831336"/>
            <a:ext cx="50292" cy="50292"/>
          </a:xfrm>
          <a:prstGeom prst="ellipse">
            <a:avLst/>
          </a:prstGeom>
          <a:solidFill>
            <a:srgbClr val="A8A8A8"/>
          </a:solidFill>
          <a:ln w="12700">
            <a:solidFill>
              <a:srgbClr val="A8A8A8"/>
            </a:solidFill>
            <a:prstDash val="solid"/>
          </a:ln>
        </p:spPr>
        <p:txBody>
          <a:bodyPr/>
          <a:lstStyle/>
          <a:p>
            <a:endParaRPr lang="en-US"/>
          </a:p>
        </p:txBody>
      </p:sp>
      <p:sp>
        <p:nvSpPr>
          <p:cNvPr id="83" name="Text 81"/>
          <p:cNvSpPr/>
          <p:nvPr/>
        </p:nvSpPr>
        <p:spPr>
          <a:xfrm>
            <a:off x="4599432" y="3749040"/>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Salesforce PSA / FinancialForce — integrated project planning and resource management</a:t>
            </a:r>
            <a:endParaRPr lang="en-US" sz="850" dirty="0"/>
          </a:p>
        </p:txBody>
      </p:sp>
      <p:sp>
        <p:nvSpPr>
          <p:cNvPr id="84" name="Shape 82"/>
          <p:cNvSpPr/>
          <p:nvPr/>
        </p:nvSpPr>
        <p:spPr>
          <a:xfrm>
            <a:off x="4498848" y="4058107"/>
            <a:ext cx="50292" cy="50292"/>
          </a:xfrm>
          <a:prstGeom prst="ellipse">
            <a:avLst/>
          </a:prstGeom>
          <a:solidFill>
            <a:srgbClr val="A8A8A8"/>
          </a:solidFill>
          <a:ln w="12700">
            <a:solidFill>
              <a:srgbClr val="A8A8A8"/>
            </a:solidFill>
            <a:prstDash val="solid"/>
          </a:ln>
        </p:spPr>
        <p:txBody>
          <a:bodyPr/>
          <a:lstStyle/>
          <a:p>
            <a:endParaRPr lang="en-US"/>
          </a:p>
        </p:txBody>
      </p:sp>
      <p:sp>
        <p:nvSpPr>
          <p:cNvPr id="85" name="Text 83"/>
          <p:cNvSpPr/>
          <p:nvPr/>
        </p:nvSpPr>
        <p:spPr>
          <a:xfrm>
            <a:off x="4599432" y="3975811"/>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Connected ISC demand signals — link sales pipeline to supply and capacity plans</a:t>
            </a:r>
            <a:endParaRPr lang="en-US" sz="850" dirty="0"/>
          </a:p>
        </p:txBody>
      </p:sp>
      <p:sp>
        <p:nvSpPr>
          <p:cNvPr id="86" name="Shape 84"/>
          <p:cNvSpPr/>
          <p:nvPr/>
        </p:nvSpPr>
        <p:spPr>
          <a:xfrm>
            <a:off x="4498848" y="4284878"/>
            <a:ext cx="50292" cy="50292"/>
          </a:xfrm>
          <a:prstGeom prst="ellipse">
            <a:avLst/>
          </a:prstGeom>
          <a:solidFill>
            <a:srgbClr val="A8A8A8"/>
          </a:solidFill>
          <a:ln w="12700">
            <a:solidFill>
              <a:srgbClr val="A8A8A8"/>
            </a:solidFill>
            <a:prstDash val="solid"/>
          </a:ln>
        </p:spPr>
        <p:txBody>
          <a:bodyPr/>
          <a:lstStyle/>
          <a:p>
            <a:endParaRPr lang="en-US"/>
          </a:p>
        </p:txBody>
      </p:sp>
      <p:sp>
        <p:nvSpPr>
          <p:cNvPr id="87" name="Text 85"/>
          <p:cNvSpPr/>
          <p:nvPr/>
        </p:nvSpPr>
        <p:spPr>
          <a:xfrm>
            <a:off x="4599432" y="4202582"/>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Standard payment terms and automated dunning workflows by customer tier</a:t>
            </a:r>
            <a:endParaRPr lang="en-US" sz="850" dirty="0"/>
          </a:p>
        </p:txBody>
      </p:sp>
      <p:sp>
        <p:nvSpPr>
          <p:cNvPr id="88" name="Shape 86"/>
          <p:cNvSpPr/>
          <p:nvPr/>
        </p:nvSpPr>
        <p:spPr>
          <a:xfrm>
            <a:off x="4434840" y="4465930"/>
            <a:ext cx="3438144" cy="219456"/>
          </a:xfrm>
          <a:prstGeom prst="rect">
            <a:avLst/>
          </a:prstGeom>
          <a:solidFill>
            <a:srgbClr val="F7F7F7"/>
          </a:solidFill>
          <a:ln w="6350">
            <a:solidFill>
              <a:srgbClr val="D4D4D4"/>
            </a:solidFill>
            <a:prstDash val="solid"/>
          </a:ln>
        </p:spPr>
        <p:txBody>
          <a:bodyPr/>
          <a:lstStyle/>
          <a:p>
            <a:endParaRPr lang="en-US"/>
          </a:p>
        </p:txBody>
      </p:sp>
      <p:sp>
        <p:nvSpPr>
          <p:cNvPr id="89" name="Shape 87"/>
          <p:cNvSpPr/>
          <p:nvPr/>
        </p:nvSpPr>
        <p:spPr>
          <a:xfrm>
            <a:off x="4434840" y="4465930"/>
            <a:ext cx="45720" cy="219456"/>
          </a:xfrm>
          <a:prstGeom prst="rect">
            <a:avLst/>
          </a:prstGeom>
          <a:solidFill>
            <a:srgbClr val="111111"/>
          </a:solidFill>
          <a:ln w="12700">
            <a:solidFill>
              <a:srgbClr val="111111"/>
            </a:solidFill>
            <a:prstDash val="solid"/>
          </a:ln>
        </p:spPr>
        <p:txBody>
          <a:bodyPr/>
          <a:lstStyle/>
          <a:p>
            <a:endParaRPr lang="en-US"/>
          </a:p>
        </p:txBody>
      </p:sp>
      <p:sp>
        <p:nvSpPr>
          <p:cNvPr id="90" name="Text 88"/>
          <p:cNvSpPr/>
          <p:nvPr/>
        </p:nvSpPr>
        <p:spPr>
          <a:xfrm>
            <a:off x="4526280" y="4465930"/>
            <a:ext cx="3108960" cy="219456"/>
          </a:xfrm>
          <a:prstGeom prst="rect">
            <a:avLst/>
          </a:prstGeom>
          <a:noFill/>
          <a:ln/>
        </p:spPr>
        <p:txBody>
          <a:bodyPr wrap="square" lIns="0" tIns="0" rIns="0" bIns="0" rtlCol="0" anchor="ctr"/>
          <a:lstStyle/>
          <a:p>
            <a:pPr marL="0" indent="0">
              <a:buNone/>
            </a:pPr>
            <a:r>
              <a:rPr lang="en-US" sz="750" b="1" kern="0" spc="150" dirty="0">
                <a:solidFill>
                  <a:srgbClr val="111111"/>
                </a:solidFill>
                <a:latin typeface="Calibri" pitchFamily="34" charset="0"/>
                <a:ea typeface="Calibri" pitchFamily="34" charset="-122"/>
                <a:cs typeface="Calibri" pitchFamily="34" charset="-120"/>
              </a:rPr>
              <a:t>TECHNOLOGY</a:t>
            </a:r>
            <a:endParaRPr lang="en-US" sz="750" dirty="0"/>
          </a:p>
        </p:txBody>
      </p:sp>
      <p:sp>
        <p:nvSpPr>
          <p:cNvPr id="91" name="Shape 89"/>
          <p:cNvSpPr/>
          <p:nvPr/>
        </p:nvSpPr>
        <p:spPr>
          <a:xfrm>
            <a:off x="4498848" y="4767682"/>
            <a:ext cx="50292" cy="50292"/>
          </a:xfrm>
          <a:prstGeom prst="ellipse">
            <a:avLst/>
          </a:prstGeom>
          <a:solidFill>
            <a:srgbClr val="A8A8A8"/>
          </a:solidFill>
          <a:ln w="12700">
            <a:solidFill>
              <a:srgbClr val="A8A8A8"/>
            </a:solidFill>
            <a:prstDash val="solid"/>
          </a:ln>
        </p:spPr>
        <p:txBody>
          <a:bodyPr/>
          <a:lstStyle/>
          <a:p>
            <a:endParaRPr lang="en-US"/>
          </a:p>
        </p:txBody>
      </p:sp>
      <p:sp>
        <p:nvSpPr>
          <p:cNvPr id="92" name="Text 90"/>
          <p:cNvSpPr/>
          <p:nvPr/>
        </p:nvSpPr>
        <p:spPr>
          <a:xfrm>
            <a:off x="4599432" y="4685386"/>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Adobe Web SDK + AEP — Identity Graph, Privacy Shield, OneTrust UCPM</a:t>
            </a:r>
            <a:endParaRPr lang="en-US" sz="850" dirty="0"/>
          </a:p>
        </p:txBody>
      </p:sp>
      <p:sp>
        <p:nvSpPr>
          <p:cNvPr id="93" name="Shape 91"/>
          <p:cNvSpPr/>
          <p:nvPr/>
        </p:nvSpPr>
        <p:spPr>
          <a:xfrm>
            <a:off x="4498848" y="4994453"/>
            <a:ext cx="50292" cy="50292"/>
          </a:xfrm>
          <a:prstGeom prst="ellipse">
            <a:avLst/>
          </a:prstGeom>
          <a:solidFill>
            <a:srgbClr val="A8A8A8"/>
          </a:solidFill>
          <a:ln w="12700">
            <a:solidFill>
              <a:srgbClr val="A8A8A8"/>
            </a:solidFill>
            <a:prstDash val="solid"/>
          </a:ln>
        </p:spPr>
        <p:txBody>
          <a:bodyPr/>
          <a:lstStyle/>
          <a:p>
            <a:endParaRPr lang="en-US"/>
          </a:p>
        </p:txBody>
      </p:sp>
      <p:sp>
        <p:nvSpPr>
          <p:cNvPr id="94" name="Text 92"/>
          <p:cNvSpPr/>
          <p:nvPr/>
        </p:nvSpPr>
        <p:spPr>
          <a:xfrm>
            <a:off x="4599432" y="4912157"/>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CDP deployment as unified customer data hub (Demandbase, ABM integration)</a:t>
            </a:r>
            <a:endParaRPr lang="en-US" sz="850" dirty="0"/>
          </a:p>
        </p:txBody>
      </p:sp>
      <p:sp>
        <p:nvSpPr>
          <p:cNvPr id="95" name="Shape 93"/>
          <p:cNvSpPr/>
          <p:nvPr/>
        </p:nvSpPr>
        <p:spPr>
          <a:xfrm>
            <a:off x="4498848" y="5221224"/>
            <a:ext cx="50292" cy="50292"/>
          </a:xfrm>
          <a:prstGeom prst="ellipse">
            <a:avLst/>
          </a:prstGeom>
          <a:solidFill>
            <a:srgbClr val="A8A8A8"/>
          </a:solidFill>
          <a:ln w="12700">
            <a:solidFill>
              <a:srgbClr val="A8A8A8"/>
            </a:solidFill>
            <a:prstDash val="solid"/>
          </a:ln>
        </p:spPr>
        <p:txBody>
          <a:bodyPr/>
          <a:lstStyle/>
          <a:p>
            <a:endParaRPr lang="en-US"/>
          </a:p>
        </p:txBody>
      </p:sp>
      <p:sp>
        <p:nvSpPr>
          <p:cNvPr id="96" name="Text 94"/>
          <p:cNvSpPr/>
          <p:nvPr/>
        </p:nvSpPr>
        <p:spPr>
          <a:xfrm>
            <a:off x="4599432" y="5138928"/>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SAP BRIM / Subscription Billing — replace Zuora, unify recurring &amp; project billing</a:t>
            </a:r>
            <a:endParaRPr lang="en-US" sz="850" dirty="0"/>
          </a:p>
        </p:txBody>
      </p:sp>
      <p:sp>
        <p:nvSpPr>
          <p:cNvPr id="97" name="Shape 95"/>
          <p:cNvSpPr/>
          <p:nvPr/>
        </p:nvSpPr>
        <p:spPr>
          <a:xfrm>
            <a:off x="4498848" y="5447995"/>
            <a:ext cx="50292" cy="50292"/>
          </a:xfrm>
          <a:prstGeom prst="ellipse">
            <a:avLst/>
          </a:prstGeom>
          <a:solidFill>
            <a:srgbClr val="A8A8A8"/>
          </a:solidFill>
          <a:ln w="12700">
            <a:solidFill>
              <a:srgbClr val="A8A8A8"/>
            </a:solidFill>
            <a:prstDash val="solid"/>
          </a:ln>
        </p:spPr>
        <p:txBody>
          <a:bodyPr/>
          <a:lstStyle/>
          <a:p>
            <a:endParaRPr lang="en-US"/>
          </a:p>
        </p:txBody>
      </p:sp>
      <p:sp>
        <p:nvSpPr>
          <p:cNvPr id="98" name="Text 96"/>
          <p:cNvSpPr/>
          <p:nvPr/>
        </p:nvSpPr>
        <p:spPr>
          <a:xfrm>
            <a:off x="4599432" y="5365699"/>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GetPaid / HighRadius — AI-assisted collections, dispute management, cash app</a:t>
            </a:r>
            <a:endParaRPr lang="en-US" sz="850" dirty="0"/>
          </a:p>
        </p:txBody>
      </p:sp>
      <p:sp>
        <p:nvSpPr>
          <p:cNvPr id="99" name="Shape 97"/>
          <p:cNvSpPr/>
          <p:nvPr/>
        </p:nvSpPr>
        <p:spPr>
          <a:xfrm>
            <a:off x="4498848" y="5674766"/>
            <a:ext cx="50292" cy="50292"/>
          </a:xfrm>
          <a:prstGeom prst="ellipse">
            <a:avLst/>
          </a:prstGeom>
          <a:solidFill>
            <a:srgbClr val="A8A8A8"/>
          </a:solidFill>
          <a:ln w="12700">
            <a:solidFill>
              <a:srgbClr val="A8A8A8"/>
            </a:solidFill>
            <a:prstDash val="solid"/>
          </a:ln>
        </p:spPr>
        <p:txBody>
          <a:bodyPr/>
          <a:lstStyle/>
          <a:p>
            <a:endParaRPr lang="en-US"/>
          </a:p>
        </p:txBody>
      </p:sp>
      <p:sp>
        <p:nvSpPr>
          <p:cNvPr id="100" name="Text 98"/>
          <p:cNvSpPr/>
          <p:nvPr/>
        </p:nvSpPr>
        <p:spPr>
          <a:xfrm>
            <a:off x="4599432" y="5592470"/>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SAP PS (Project System) — scope-schedule-cost plans linked to ERP actuals</a:t>
            </a:r>
            <a:endParaRPr lang="en-US" sz="850" dirty="0"/>
          </a:p>
        </p:txBody>
      </p:sp>
      <p:sp>
        <p:nvSpPr>
          <p:cNvPr id="101" name="Shape 99"/>
          <p:cNvSpPr/>
          <p:nvPr/>
        </p:nvSpPr>
        <p:spPr>
          <a:xfrm>
            <a:off x="4498848" y="5901538"/>
            <a:ext cx="50292" cy="50292"/>
          </a:xfrm>
          <a:prstGeom prst="ellipse">
            <a:avLst/>
          </a:prstGeom>
          <a:solidFill>
            <a:srgbClr val="A8A8A8"/>
          </a:solidFill>
          <a:ln w="12700">
            <a:solidFill>
              <a:srgbClr val="A8A8A8"/>
            </a:solidFill>
            <a:prstDash val="solid"/>
          </a:ln>
        </p:spPr>
        <p:txBody>
          <a:bodyPr/>
          <a:lstStyle/>
          <a:p>
            <a:endParaRPr lang="en-US"/>
          </a:p>
        </p:txBody>
      </p:sp>
      <p:sp>
        <p:nvSpPr>
          <p:cNvPr id="102" name="Text 100"/>
          <p:cNvSpPr/>
          <p:nvPr/>
        </p:nvSpPr>
        <p:spPr>
          <a:xfrm>
            <a:off x="4599432" y="5819242"/>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B2B Commerce Transformation across 4 SBGs ($2.5M–$4.0M)</a:t>
            </a:r>
            <a:endParaRPr lang="en-US" sz="850" dirty="0"/>
          </a:p>
        </p:txBody>
      </p:sp>
      <p:sp>
        <p:nvSpPr>
          <p:cNvPr id="103" name="Shape 101"/>
          <p:cNvSpPr/>
          <p:nvPr/>
        </p:nvSpPr>
        <p:spPr>
          <a:xfrm>
            <a:off x="4498848" y="6128309"/>
            <a:ext cx="50292" cy="50292"/>
          </a:xfrm>
          <a:prstGeom prst="ellipse">
            <a:avLst/>
          </a:prstGeom>
          <a:solidFill>
            <a:srgbClr val="A8A8A8"/>
          </a:solidFill>
          <a:ln w="12700">
            <a:solidFill>
              <a:srgbClr val="A8A8A8"/>
            </a:solidFill>
            <a:prstDash val="solid"/>
          </a:ln>
        </p:spPr>
        <p:txBody>
          <a:bodyPr/>
          <a:lstStyle/>
          <a:p>
            <a:endParaRPr lang="en-US"/>
          </a:p>
        </p:txBody>
      </p:sp>
      <p:sp>
        <p:nvSpPr>
          <p:cNvPr id="104" name="Text 102"/>
          <p:cNvSpPr/>
          <p:nvPr/>
        </p:nvSpPr>
        <p:spPr>
          <a:xfrm>
            <a:off x="4599432" y="6046013"/>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SBG Commerce Rollout — SBGs 2–4 ($1.2M–$1.7M)</a:t>
            </a:r>
            <a:endParaRPr lang="en-US" sz="850" dirty="0"/>
          </a:p>
        </p:txBody>
      </p:sp>
      <p:sp>
        <p:nvSpPr>
          <p:cNvPr id="106" name="Text 104"/>
          <p:cNvSpPr/>
          <p:nvPr/>
        </p:nvSpPr>
        <p:spPr>
          <a:xfrm>
            <a:off x="8211312" y="969264"/>
            <a:ext cx="3767328" cy="237744"/>
          </a:xfrm>
          <a:prstGeom prst="rect">
            <a:avLst/>
          </a:prstGeom>
          <a:noFill/>
          <a:ln/>
        </p:spPr>
        <p:txBody>
          <a:bodyPr wrap="square" lIns="0" tIns="0" rIns="0" bIns="0" rtlCol="0" anchor="ctr"/>
          <a:lstStyle/>
          <a:p>
            <a:pPr marL="0" indent="0" algn="ctr">
              <a:buNone/>
            </a:pPr>
            <a:r>
              <a:rPr lang="en-US" sz="950" dirty="0">
                <a:solidFill>
                  <a:srgbClr val="777777"/>
                </a:solidFill>
                <a:latin typeface="Calibri" pitchFamily="34" charset="0"/>
                <a:ea typeface="Calibri" pitchFamily="34" charset="-122"/>
                <a:cs typeface="Calibri" pitchFamily="34" charset="-120"/>
              </a:rPr>
              <a:t>3–5 Years</a:t>
            </a:r>
            <a:endParaRPr lang="en-US" sz="950" dirty="0"/>
          </a:p>
        </p:txBody>
      </p:sp>
      <p:sp>
        <p:nvSpPr>
          <p:cNvPr id="107" name="Shape 105"/>
          <p:cNvSpPr/>
          <p:nvPr/>
        </p:nvSpPr>
        <p:spPr>
          <a:xfrm>
            <a:off x="8211312" y="1600200"/>
            <a:ext cx="3767328" cy="5074920"/>
          </a:xfrm>
          <a:prstGeom prst="rect">
            <a:avLst/>
          </a:prstGeom>
          <a:solidFill>
            <a:srgbClr val="EBEBEB"/>
          </a:solidFill>
          <a:ln w="10160">
            <a:solidFill>
              <a:srgbClr val="D4D4D4"/>
            </a:solidFill>
            <a:prstDash val="solid"/>
          </a:ln>
          <a:effectLst>
            <a:outerShdw blurRad="50800" dist="25400" dir="8100000" algn="bl" rotWithShape="0">
              <a:srgbClr val="000000">
                <a:alpha val="6000"/>
              </a:srgbClr>
            </a:outerShdw>
          </a:effectLst>
        </p:spPr>
        <p:txBody>
          <a:bodyPr/>
          <a:lstStyle/>
          <a:p>
            <a:endParaRPr lang="en-US"/>
          </a:p>
        </p:txBody>
      </p:sp>
      <p:sp>
        <p:nvSpPr>
          <p:cNvPr id="108" name="Shape 106"/>
          <p:cNvSpPr/>
          <p:nvPr/>
        </p:nvSpPr>
        <p:spPr>
          <a:xfrm>
            <a:off x="8211312" y="1369856"/>
            <a:ext cx="3767328" cy="50292"/>
          </a:xfrm>
          <a:prstGeom prst="rect">
            <a:avLst/>
          </a:prstGeom>
          <a:solidFill>
            <a:srgbClr val="111111"/>
          </a:solidFill>
          <a:ln w="12700">
            <a:solidFill>
              <a:srgbClr val="111111"/>
            </a:solidFill>
            <a:prstDash val="solid"/>
          </a:ln>
        </p:spPr>
        <p:txBody>
          <a:bodyPr/>
          <a:lstStyle/>
          <a:p>
            <a:endParaRPr lang="en-US"/>
          </a:p>
        </p:txBody>
      </p:sp>
      <p:sp>
        <p:nvSpPr>
          <p:cNvPr id="109" name="Shape 107"/>
          <p:cNvSpPr/>
          <p:nvPr/>
        </p:nvSpPr>
        <p:spPr>
          <a:xfrm>
            <a:off x="8375904" y="1488728"/>
            <a:ext cx="804672" cy="329184"/>
          </a:xfrm>
          <a:prstGeom prst="rect">
            <a:avLst/>
          </a:prstGeom>
          <a:solidFill>
            <a:srgbClr val="333333"/>
          </a:solidFill>
          <a:ln w="12700">
            <a:solidFill>
              <a:srgbClr val="333333"/>
            </a:solidFill>
            <a:prstDash val="solid"/>
          </a:ln>
        </p:spPr>
        <p:txBody>
          <a:bodyPr/>
          <a:lstStyle/>
          <a:p>
            <a:endParaRPr lang="en-US"/>
          </a:p>
        </p:txBody>
      </p:sp>
      <p:sp>
        <p:nvSpPr>
          <p:cNvPr id="110" name="Text 108"/>
          <p:cNvSpPr/>
          <p:nvPr/>
        </p:nvSpPr>
        <p:spPr>
          <a:xfrm>
            <a:off x="8375904" y="1488728"/>
            <a:ext cx="804672"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LATER</a:t>
            </a:r>
            <a:endParaRPr lang="en-US" sz="1200" dirty="0"/>
          </a:p>
        </p:txBody>
      </p:sp>
      <p:sp>
        <p:nvSpPr>
          <p:cNvPr id="111" name="Text 109"/>
          <p:cNvSpPr/>
          <p:nvPr/>
        </p:nvSpPr>
        <p:spPr>
          <a:xfrm>
            <a:off x="9253728" y="1516160"/>
            <a:ext cx="2560320" cy="292608"/>
          </a:xfrm>
          <a:prstGeom prst="rect">
            <a:avLst/>
          </a:prstGeom>
          <a:noFill/>
          <a:ln/>
        </p:spPr>
        <p:txBody>
          <a:bodyPr wrap="square" lIns="0" tIns="0" rIns="0" bIns="0" rtlCol="0" anchor="ctr"/>
          <a:lstStyle/>
          <a:p>
            <a:pPr marL="0" indent="0">
              <a:buNone/>
            </a:pPr>
            <a:r>
              <a:rPr lang="en-US" sz="1150" b="1" dirty="0">
                <a:solidFill>
                  <a:srgbClr val="1F1F1F"/>
                </a:solidFill>
                <a:latin typeface="Calibri" pitchFamily="34" charset="0"/>
                <a:ea typeface="Calibri" pitchFamily="34" charset="-122"/>
                <a:cs typeface="Calibri" pitchFamily="34" charset="-120"/>
              </a:rPr>
              <a:t>Scale the Agentic Front Office</a:t>
            </a:r>
            <a:endParaRPr lang="en-US" sz="1150" dirty="0"/>
          </a:p>
        </p:txBody>
      </p:sp>
      <p:sp>
        <p:nvSpPr>
          <p:cNvPr id="112" name="Shape 110"/>
          <p:cNvSpPr/>
          <p:nvPr/>
        </p:nvSpPr>
        <p:spPr>
          <a:xfrm>
            <a:off x="8375904" y="1854488"/>
            <a:ext cx="3438144" cy="20117"/>
          </a:xfrm>
          <a:prstGeom prst="rect">
            <a:avLst/>
          </a:prstGeom>
          <a:solidFill>
            <a:srgbClr val="D4D4D4"/>
          </a:solidFill>
          <a:ln w="12700">
            <a:solidFill>
              <a:srgbClr val="D4D4D4"/>
            </a:solidFill>
            <a:prstDash val="solid"/>
          </a:ln>
        </p:spPr>
        <p:txBody>
          <a:bodyPr/>
          <a:lstStyle/>
          <a:p>
            <a:endParaRPr lang="en-US"/>
          </a:p>
        </p:txBody>
      </p:sp>
      <p:sp>
        <p:nvSpPr>
          <p:cNvPr id="113" name="Shape 111"/>
          <p:cNvSpPr/>
          <p:nvPr/>
        </p:nvSpPr>
        <p:spPr>
          <a:xfrm>
            <a:off x="8375904" y="2000096"/>
            <a:ext cx="3438144" cy="219456"/>
          </a:xfrm>
          <a:prstGeom prst="rect">
            <a:avLst/>
          </a:prstGeom>
          <a:solidFill>
            <a:srgbClr val="F7F7F7"/>
          </a:solidFill>
          <a:ln w="6350">
            <a:solidFill>
              <a:srgbClr val="D4D4D4"/>
            </a:solidFill>
            <a:prstDash val="solid"/>
          </a:ln>
        </p:spPr>
        <p:txBody>
          <a:bodyPr/>
          <a:lstStyle/>
          <a:p>
            <a:endParaRPr lang="en-US"/>
          </a:p>
        </p:txBody>
      </p:sp>
      <p:sp>
        <p:nvSpPr>
          <p:cNvPr id="114" name="Shape 112"/>
          <p:cNvSpPr/>
          <p:nvPr/>
        </p:nvSpPr>
        <p:spPr>
          <a:xfrm>
            <a:off x="8375904" y="2000096"/>
            <a:ext cx="45720" cy="219456"/>
          </a:xfrm>
          <a:prstGeom prst="rect">
            <a:avLst/>
          </a:prstGeom>
          <a:solidFill>
            <a:srgbClr val="CC0000"/>
          </a:solidFill>
          <a:ln w="12700">
            <a:solidFill>
              <a:srgbClr val="CC0000"/>
            </a:solidFill>
            <a:prstDash val="solid"/>
          </a:ln>
        </p:spPr>
        <p:txBody>
          <a:bodyPr/>
          <a:lstStyle/>
          <a:p>
            <a:endParaRPr lang="en-US"/>
          </a:p>
        </p:txBody>
      </p:sp>
      <p:sp>
        <p:nvSpPr>
          <p:cNvPr id="115" name="Text 113"/>
          <p:cNvSpPr/>
          <p:nvPr/>
        </p:nvSpPr>
        <p:spPr>
          <a:xfrm>
            <a:off x="8467344" y="2000096"/>
            <a:ext cx="3108960" cy="219456"/>
          </a:xfrm>
          <a:prstGeom prst="rect">
            <a:avLst/>
          </a:prstGeom>
          <a:noFill/>
          <a:ln/>
        </p:spPr>
        <p:txBody>
          <a:bodyPr wrap="square" lIns="0" tIns="0" rIns="0" bIns="0" rtlCol="0" anchor="ctr"/>
          <a:lstStyle/>
          <a:p>
            <a:pPr marL="0" indent="0">
              <a:buNone/>
            </a:pPr>
            <a:r>
              <a:rPr lang="en-US" sz="750" b="1" kern="0" spc="150" dirty="0">
                <a:solidFill>
                  <a:srgbClr val="CC0000"/>
                </a:solidFill>
                <a:latin typeface="Calibri" pitchFamily="34" charset="0"/>
                <a:ea typeface="Calibri" pitchFamily="34" charset="-122"/>
                <a:cs typeface="Calibri" pitchFamily="34" charset="-120"/>
              </a:rPr>
              <a:t>CUSTOMER EXPERIENCE</a:t>
            </a:r>
            <a:endParaRPr lang="en-US" sz="750" dirty="0"/>
          </a:p>
        </p:txBody>
      </p:sp>
      <p:sp>
        <p:nvSpPr>
          <p:cNvPr id="116" name="Shape 114"/>
          <p:cNvSpPr/>
          <p:nvPr/>
        </p:nvSpPr>
        <p:spPr>
          <a:xfrm>
            <a:off x="8439912" y="2301848"/>
            <a:ext cx="50292" cy="50292"/>
          </a:xfrm>
          <a:prstGeom prst="ellipse">
            <a:avLst/>
          </a:prstGeom>
          <a:solidFill>
            <a:srgbClr val="A8A8A8"/>
          </a:solidFill>
          <a:ln w="12700">
            <a:solidFill>
              <a:srgbClr val="A8A8A8"/>
            </a:solidFill>
            <a:prstDash val="solid"/>
          </a:ln>
        </p:spPr>
        <p:txBody>
          <a:bodyPr/>
          <a:lstStyle/>
          <a:p>
            <a:endParaRPr lang="en-US"/>
          </a:p>
        </p:txBody>
      </p:sp>
      <p:sp>
        <p:nvSpPr>
          <p:cNvPr id="117" name="Text 115"/>
          <p:cNvSpPr/>
          <p:nvPr/>
        </p:nvSpPr>
        <p:spPr>
          <a:xfrm>
            <a:off x="8540496" y="2219552"/>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Cross-SBG 360 view — single pane: all orders, cases, contracts and value delivered</a:t>
            </a:r>
            <a:endParaRPr lang="en-US" sz="850" dirty="0"/>
          </a:p>
        </p:txBody>
      </p:sp>
      <p:sp>
        <p:nvSpPr>
          <p:cNvPr id="118" name="Shape 116"/>
          <p:cNvSpPr/>
          <p:nvPr/>
        </p:nvSpPr>
        <p:spPr>
          <a:xfrm>
            <a:off x="8439912" y="2528619"/>
            <a:ext cx="50292" cy="50292"/>
          </a:xfrm>
          <a:prstGeom prst="ellipse">
            <a:avLst/>
          </a:prstGeom>
          <a:solidFill>
            <a:srgbClr val="A8A8A8"/>
          </a:solidFill>
          <a:ln w="12700">
            <a:solidFill>
              <a:srgbClr val="A8A8A8"/>
            </a:solidFill>
            <a:prstDash val="solid"/>
          </a:ln>
        </p:spPr>
        <p:txBody>
          <a:bodyPr/>
          <a:lstStyle/>
          <a:p>
            <a:endParaRPr lang="en-US"/>
          </a:p>
        </p:txBody>
      </p:sp>
      <p:sp>
        <p:nvSpPr>
          <p:cNvPr id="119" name="Text 117"/>
          <p:cNvSpPr/>
          <p:nvPr/>
        </p:nvSpPr>
        <p:spPr>
          <a:xfrm>
            <a:off x="8540496" y="2446323"/>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Proactive lifecycle alerts — AI flags renewal risk, upsell moments, churn signals</a:t>
            </a:r>
            <a:endParaRPr lang="en-US" sz="850" dirty="0"/>
          </a:p>
        </p:txBody>
      </p:sp>
      <p:sp>
        <p:nvSpPr>
          <p:cNvPr id="120" name="Shape 118"/>
          <p:cNvSpPr/>
          <p:nvPr/>
        </p:nvSpPr>
        <p:spPr>
          <a:xfrm>
            <a:off x="8439912" y="2755390"/>
            <a:ext cx="50292" cy="50292"/>
          </a:xfrm>
          <a:prstGeom prst="ellipse">
            <a:avLst/>
          </a:prstGeom>
          <a:solidFill>
            <a:srgbClr val="A8A8A8"/>
          </a:solidFill>
          <a:ln w="12700">
            <a:solidFill>
              <a:srgbClr val="A8A8A8"/>
            </a:solidFill>
            <a:prstDash val="solid"/>
          </a:ln>
        </p:spPr>
        <p:txBody>
          <a:bodyPr/>
          <a:lstStyle/>
          <a:p>
            <a:endParaRPr lang="en-US"/>
          </a:p>
        </p:txBody>
      </p:sp>
      <p:sp>
        <p:nvSpPr>
          <p:cNvPr id="121" name="Text 119"/>
          <p:cNvSpPr/>
          <p:nvPr/>
        </p:nvSpPr>
        <p:spPr>
          <a:xfrm>
            <a:off x="8540496" y="2673094"/>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AEP + Connected Assets — telemetry predicts issues and triggers service before failure</a:t>
            </a:r>
            <a:endParaRPr lang="en-US" sz="850" dirty="0"/>
          </a:p>
        </p:txBody>
      </p:sp>
      <p:sp>
        <p:nvSpPr>
          <p:cNvPr id="122" name="Shape 120"/>
          <p:cNvSpPr/>
          <p:nvPr/>
        </p:nvSpPr>
        <p:spPr>
          <a:xfrm>
            <a:off x="8439912" y="2982162"/>
            <a:ext cx="50292" cy="50292"/>
          </a:xfrm>
          <a:prstGeom prst="ellipse">
            <a:avLst/>
          </a:prstGeom>
          <a:solidFill>
            <a:srgbClr val="A8A8A8"/>
          </a:solidFill>
          <a:ln w="12700">
            <a:solidFill>
              <a:srgbClr val="A8A8A8"/>
            </a:solidFill>
            <a:prstDash val="solid"/>
          </a:ln>
        </p:spPr>
        <p:txBody>
          <a:bodyPr/>
          <a:lstStyle/>
          <a:p>
            <a:endParaRPr lang="en-US"/>
          </a:p>
        </p:txBody>
      </p:sp>
      <p:sp>
        <p:nvSpPr>
          <p:cNvPr id="123" name="Text 121"/>
          <p:cNvSpPr/>
          <p:nvPr/>
        </p:nvSpPr>
        <p:spPr>
          <a:xfrm>
            <a:off x="8540496" y="3039466"/>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Self-serve partner portal with guided selling and dynamic catalog access</a:t>
            </a:r>
            <a:endParaRPr lang="en-US" sz="850" dirty="0"/>
          </a:p>
        </p:txBody>
      </p:sp>
      <p:sp>
        <p:nvSpPr>
          <p:cNvPr id="124" name="Shape 122"/>
          <p:cNvSpPr/>
          <p:nvPr/>
        </p:nvSpPr>
        <p:spPr>
          <a:xfrm>
            <a:off x="8375904" y="3302813"/>
            <a:ext cx="3438144" cy="219456"/>
          </a:xfrm>
          <a:prstGeom prst="rect">
            <a:avLst/>
          </a:prstGeom>
          <a:solidFill>
            <a:srgbClr val="F7F7F7"/>
          </a:solidFill>
          <a:ln w="6350">
            <a:solidFill>
              <a:srgbClr val="D4D4D4"/>
            </a:solidFill>
            <a:prstDash val="solid"/>
          </a:ln>
        </p:spPr>
        <p:txBody>
          <a:bodyPr/>
          <a:lstStyle/>
          <a:p>
            <a:endParaRPr lang="en-US"/>
          </a:p>
        </p:txBody>
      </p:sp>
      <p:sp>
        <p:nvSpPr>
          <p:cNvPr id="125" name="Shape 123"/>
          <p:cNvSpPr/>
          <p:nvPr/>
        </p:nvSpPr>
        <p:spPr>
          <a:xfrm>
            <a:off x="8375904" y="3302813"/>
            <a:ext cx="45720" cy="219456"/>
          </a:xfrm>
          <a:prstGeom prst="rect">
            <a:avLst/>
          </a:prstGeom>
          <a:solidFill>
            <a:srgbClr val="333333"/>
          </a:solidFill>
          <a:ln w="12700">
            <a:solidFill>
              <a:srgbClr val="333333"/>
            </a:solidFill>
            <a:prstDash val="solid"/>
          </a:ln>
        </p:spPr>
        <p:txBody>
          <a:bodyPr/>
          <a:lstStyle/>
          <a:p>
            <a:endParaRPr lang="en-US"/>
          </a:p>
        </p:txBody>
      </p:sp>
      <p:sp>
        <p:nvSpPr>
          <p:cNvPr id="126" name="Text 124"/>
          <p:cNvSpPr/>
          <p:nvPr/>
        </p:nvSpPr>
        <p:spPr>
          <a:xfrm>
            <a:off x="8467344" y="3302813"/>
            <a:ext cx="3108960" cy="219456"/>
          </a:xfrm>
          <a:prstGeom prst="rect">
            <a:avLst/>
          </a:prstGeom>
          <a:noFill/>
          <a:ln/>
        </p:spPr>
        <p:txBody>
          <a:bodyPr wrap="square" lIns="0" tIns="0" rIns="0" bIns="0" rtlCol="0" anchor="ctr"/>
          <a:lstStyle/>
          <a:p>
            <a:pPr marL="0" indent="0">
              <a:buNone/>
            </a:pPr>
            <a:r>
              <a:rPr lang="en-US" sz="750" b="1" kern="0" spc="150" dirty="0">
                <a:solidFill>
                  <a:srgbClr val="333333"/>
                </a:solidFill>
                <a:latin typeface="Calibri" pitchFamily="34" charset="0"/>
                <a:ea typeface="Calibri" pitchFamily="34" charset="-122"/>
                <a:cs typeface="Calibri" pitchFamily="34" charset="-120"/>
              </a:rPr>
              <a:t>BUSINESS ENABLEMENT</a:t>
            </a:r>
            <a:endParaRPr lang="en-US" sz="750" dirty="0"/>
          </a:p>
        </p:txBody>
      </p:sp>
      <p:sp>
        <p:nvSpPr>
          <p:cNvPr id="127" name="Shape 125"/>
          <p:cNvSpPr/>
          <p:nvPr/>
        </p:nvSpPr>
        <p:spPr>
          <a:xfrm>
            <a:off x="8439912" y="3604565"/>
            <a:ext cx="50292" cy="50292"/>
          </a:xfrm>
          <a:prstGeom prst="ellipse">
            <a:avLst/>
          </a:prstGeom>
          <a:solidFill>
            <a:srgbClr val="A8A8A8"/>
          </a:solidFill>
          <a:ln w="12700">
            <a:solidFill>
              <a:srgbClr val="A8A8A8"/>
            </a:solidFill>
            <a:prstDash val="solid"/>
          </a:ln>
        </p:spPr>
        <p:txBody>
          <a:bodyPr/>
          <a:lstStyle/>
          <a:p>
            <a:endParaRPr lang="en-US"/>
          </a:p>
        </p:txBody>
      </p:sp>
      <p:sp>
        <p:nvSpPr>
          <p:cNvPr id="128" name="Text 126"/>
          <p:cNvSpPr/>
          <p:nvPr/>
        </p:nvSpPr>
        <p:spPr>
          <a:xfrm>
            <a:off x="8540496" y="3522269"/>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Outcome-based agreements — flexible XaaS and project billing structures</a:t>
            </a:r>
            <a:endParaRPr lang="en-US" sz="850" dirty="0"/>
          </a:p>
        </p:txBody>
      </p:sp>
      <p:sp>
        <p:nvSpPr>
          <p:cNvPr id="129" name="Shape 127"/>
          <p:cNvSpPr/>
          <p:nvPr/>
        </p:nvSpPr>
        <p:spPr>
          <a:xfrm>
            <a:off x="8439912" y="3831336"/>
            <a:ext cx="50292" cy="50292"/>
          </a:xfrm>
          <a:prstGeom prst="ellipse">
            <a:avLst/>
          </a:prstGeom>
          <a:solidFill>
            <a:srgbClr val="A8A8A8"/>
          </a:solidFill>
          <a:ln w="12700">
            <a:solidFill>
              <a:srgbClr val="A8A8A8"/>
            </a:solidFill>
            <a:prstDash val="solid"/>
          </a:ln>
        </p:spPr>
        <p:txBody>
          <a:bodyPr/>
          <a:lstStyle/>
          <a:p>
            <a:endParaRPr lang="en-US"/>
          </a:p>
        </p:txBody>
      </p:sp>
      <p:sp>
        <p:nvSpPr>
          <p:cNvPr id="130" name="Text 128"/>
          <p:cNvSpPr/>
          <p:nvPr/>
        </p:nvSpPr>
        <p:spPr>
          <a:xfrm>
            <a:off x="8540496" y="3749040"/>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Digital Commerce Strategy and Operating Model Transformation</a:t>
            </a:r>
            <a:endParaRPr lang="en-US" sz="850" dirty="0"/>
          </a:p>
        </p:txBody>
      </p:sp>
      <p:sp>
        <p:nvSpPr>
          <p:cNvPr id="131" name="Shape 129"/>
          <p:cNvSpPr/>
          <p:nvPr/>
        </p:nvSpPr>
        <p:spPr>
          <a:xfrm>
            <a:off x="8439912" y="4058107"/>
            <a:ext cx="50292" cy="50292"/>
          </a:xfrm>
          <a:prstGeom prst="ellipse">
            <a:avLst/>
          </a:prstGeom>
          <a:solidFill>
            <a:srgbClr val="A8A8A8"/>
          </a:solidFill>
          <a:ln w="12700">
            <a:solidFill>
              <a:srgbClr val="A8A8A8"/>
            </a:solidFill>
            <a:prstDash val="solid"/>
          </a:ln>
        </p:spPr>
        <p:txBody>
          <a:bodyPr/>
          <a:lstStyle/>
          <a:p>
            <a:endParaRPr lang="en-US"/>
          </a:p>
        </p:txBody>
      </p:sp>
      <p:sp>
        <p:nvSpPr>
          <p:cNvPr id="132" name="Text 130"/>
          <p:cNvSpPr/>
          <p:nvPr/>
        </p:nvSpPr>
        <p:spPr>
          <a:xfrm>
            <a:off x="8540496" y="3975811"/>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Customer Journey Analytics — person-centric, cross-device identity stitching</a:t>
            </a:r>
            <a:endParaRPr lang="en-US" sz="850" dirty="0"/>
          </a:p>
        </p:txBody>
      </p:sp>
      <p:sp>
        <p:nvSpPr>
          <p:cNvPr id="133" name="Shape 131"/>
          <p:cNvSpPr/>
          <p:nvPr/>
        </p:nvSpPr>
        <p:spPr>
          <a:xfrm>
            <a:off x="8439912" y="4284878"/>
            <a:ext cx="50292" cy="50292"/>
          </a:xfrm>
          <a:prstGeom prst="ellipse">
            <a:avLst/>
          </a:prstGeom>
          <a:solidFill>
            <a:srgbClr val="A8A8A8"/>
          </a:solidFill>
          <a:ln w="12700">
            <a:solidFill>
              <a:srgbClr val="A8A8A8"/>
            </a:solidFill>
            <a:prstDash val="solid"/>
          </a:ln>
        </p:spPr>
        <p:txBody>
          <a:bodyPr/>
          <a:lstStyle/>
          <a:p>
            <a:endParaRPr lang="en-US"/>
          </a:p>
        </p:txBody>
      </p:sp>
      <p:sp>
        <p:nvSpPr>
          <p:cNvPr id="134" name="Text 132"/>
          <p:cNvSpPr/>
          <p:nvPr/>
        </p:nvSpPr>
        <p:spPr>
          <a:xfrm>
            <a:off x="8540496" y="4202582"/>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AI personalization and commerce intelligence ($400K–$800K)</a:t>
            </a:r>
            <a:endParaRPr lang="en-US" sz="850" dirty="0"/>
          </a:p>
        </p:txBody>
      </p:sp>
      <p:sp>
        <p:nvSpPr>
          <p:cNvPr id="135" name="Shape 133"/>
          <p:cNvSpPr/>
          <p:nvPr/>
        </p:nvSpPr>
        <p:spPr>
          <a:xfrm>
            <a:off x="8375904" y="4465930"/>
            <a:ext cx="3438144" cy="219456"/>
          </a:xfrm>
          <a:prstGeom prst="rect">
            <a:avLst/>
          </a:prstGeom>
          <a:solidFill>
            <a:srgbClr val="F7F7F7"/>
          </a:solidFill>
          <a:ln w="6350">
            <a:solidFill>
              <a:srgbClr val="D4D4D4"/>
            </a:solidFill>
            <a:prstDash val="solid"/>
          </a:ln>
        </p:spPr>
        <p:txBody>
          <a:bodyPr/>
          <a:lstStyle/>
          <a:p>
            <a:endParaRPr lang="en-US"/>
          </a:p>
        </p:txBody>
      </p:sp>
      <p:sp>
        <p:nvSpPr>
          <p:cNvPr id="136" name="Shape 134"/>
          <p:cNvSpPr/>
          <p:nvPr/>
        </p:nvSpPr>
        <p:spPr>
          <a:xfrm>
            <a:off x="8375904" y="4465930"/>
            <a:ext cx="45720" cy="219456"/>
          </a:xfrm>
          <a:prstGeom prst="rect">
            <a:avLst/>
          </a:prstGeom>
          <a:solidFill>
            <a:srgbClr val="111111"/>
          </a:solidFill>
          <a:ln w="12700">
            <a:solidFill>
              <a:srgbClr val="111111"/>
            </a:solidFill>
            <a:prstDash val="solid"/>
          </a:ln>
        </p:spPr>
        <p:txBody>
          <a:bodyPr/>
          <a:lstStyle/>
          <a:p>
            <a:endParaRPr lang="en-US"/>
          </a:p>
        </p:txBody>
      </p:sp>
      <p:sp>
        <p:nvSpPr>
          <p:cNvPr id="137" name="Text 135"/>
          <p:cNvSpPr/>
          <p:nvPr/>
        </p:nvSpPr>
        <p:spPr>
          <a:xfrm>
            <a:off x="8467344" y="4465930"/>
            <a:ext cx="3108960" cy="219456"/>
          </a:xfrm>
          <a:prstGeom prst="rect">
            <a:avLst/>
          </a:prstGeom>
          <a:noFill/>
          <a:ln/>
        </p:spPr>
        <p:txBody>
          <a:bodyPr wrap="square" lIns="0" tIns="0" rIns="0" bIns="0" rtlCol="0" anchor="ctr"/>
          <a:lstStyle/>
          <a:p>
            <a:pPr marL="0" indent="0">
              <a:buNone/>
            </a:pPr>
            <a:r>
              <a:rPr lang="en-US" sz="750" b="1" kern="0" spc="150" dirty="0">
                <a:solidFill>
                  <a:srgbClr val="111111"/>
                </a:solidFill>
                <a:latin typeface="Calibri" pitchFamily="34" charset="0"/>
                <a:ea typeface="Calibri" pitchFamily="34" charset="-122"/>
                <a:cs typeface="Calibri" pitchFamily="34" charset="-120"/>
              </a:rPr>
              <a:t>TECHNOLOGY</a:t>
            </a:r>
            <a:endParaRPr lang="en-US" sz="750" dirty="0"/>
          </a:p>
        </p:txBody>
      </p:sp>
      <p:sp>
        <p:nvSpPr>
          <p:cNvPr id="138" name="Shape 136"/>
          <p:cNvSpPr/>
          <p:nvPr/>
        </p:nvSpPr>
        <p:spPr>
          <a:xfrm>
            <a:off x="8439912" y="4767682"/>
            <a:ext cx="50292" cy="50292"/>
          </a:xfrm>
          <a:prstGeom prst="ellipse">
            <a:avLst/>
          </a:prstGeom>
          <a:solidFill>
            <a:srgbClr val="A8A8A8"/>
          </a:solidFill>
          <a:ln w="12700">
            <a:solidFill>
              <a:srgbClr val="A8A8A8"/>
            </a:solidFill>
            <a:prstDash val="solid"/>
          </a:ln>
        </p:spPr>
        <p:txBody>
          <a:bodyPr/>
          <a:lstStyle/>
          <a:p>
            <a:endParaRPr lang="en-US"/>
          </a:p>
        </p:txBody>
      </p:sp>
      <p:sp>
        <p:nvSpPr>
          <p:cNvPr id="139" name="Text 137"/>
          <p:cNvSpPr/>
          <p:nvPr/>
        </p:nvSpPr>
        <p:spPr>
          <a:xfrm>
            <a:off x="8540496" y="4685386"/>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SAP S/4HANA — Order Management, Finance, IBP (supply sync, working capital)</a:t>
            </a:r>
            <a:endParaRPr lang="en-US" sz="850" dirty="0"/>
          </a:p>
        </p:txBody>
      </p:sp>
      <p:sp>
        <p:nvSpPr>
          <p:cNvPr id="140" name="Shape 138"/>
          <p:cNvSpPr/>
          <p:nvPr/>
        </p:nvSpPr>
        <p:spPr>
          <a:xfrm>
            <a:off x="8439912" y="4994453"/>
            <a:ext cx="50292" cy="50292"/>
          </a:xfrm>
          <a:prstGeom prst="ellipse">
            <a:avLst/>
          </a:prstGeom>
          <a:solidFill>
            <a:srgbClr val="A8A8A8"/>
          </a:solidFill>
          <a:ln w="12700">
            <a:solidFill>
              <a:srgbClr val="A8A8A8"/>
            </a:solidFill>
            <a:prstDash val="solid"/>
          </a:ln>
        </p:spPr>
        <p:txBody>
          <a:bodyPr/>
          <a:lstStyle/>
          <a:p>
            <a:endParaRPr lang="en-US"/>
          </a:p>
        </p:txBody>
      </p:sp>
      <p:sp>
        <p:nvSpPr>
          <p:cNvPr id="141" name="Text 139"/>
          <p:cNvSpPr/>
          <p:nvPr/>
        </p:nvSpPr>
        <p:spPr>
          <a:xfrm>
            <a:off x="8540496" y="4912157"/>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Salesforce Einstein / AI Sales Coach — next best action, dynamic pricing engine</a:t>
            </a:r>
            <a:endParaRPr lang="en-US" sz="850" dirty="0"/>
          </a:p>
        </p:txBody>
      </p:sp>
      <p:sp>
        <p:nvSpPr>
          <p:cNvPr id="142" name="Shape 140"/>
          <p:cNvSpPr/>
          <p:nvPr/>
        </p:nvSpPr>
        <p:spPr>
          <a:xfrm>
            <a:off x="8439912" y="5221224"/>
            <a:ext cx="50292" cy="50292"/>
          </a:xfrm>
          <a:prstGeom prst="ellipse">
            <a:avLst/>
          </a:prstGeom>
          <a:solidFill>
            <a:srgbClr val="A8A8A8"/>
          </a:solidFill>
          <a:ln w="12700">
            <a:solidFill>
              <a:srgbClr val="A8A8A8"/>
            </a:solidFill>
            <a:prstDash val="solid"/>
          </a:ln>
        </p:spPr>
        <p:txBody>
          <a:bodyPr/>
          <a:lstStyle/>
          <a:p>
            <a:endParaRPr lang="en-US"/>
          </a:p>
        </p:txBody>
      </p:sp>
      <p:sp>
        <p:nvSpPr>
          <p:cNvPr id="143" name="Text 141"/>
          <p:cNvSpPr/>
          <p:nvPr/>
        </p:nvSpPr>
        <p:spPr>
          <a:xfrm>
            <a:off x="8540496" y="5138928"/>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Adobe AEP Real-Time CDP — predictive segmentation, audience curation &amp; activation</a:t>
            </a:r>
            <a:endParaRPr lang="en-US" sz="850" dirty="0"/>
          </a:p>
        </p:txBody>
      </p:sp>
      <p:sp>
        <p:nvSpPr>
          <p:cNvPr id="144" name="Shape 142"/>
          <p:cNvSpPr/>
          <p:nvPr/>
        </p:nvSpPr>
        <p:spPr>
          <a:xfrm>
            <a:off x="8439912" y="5447995"/>
            <a:ext cx="50292" cy="50292"/>
          </a:xfrm>
          <a:prstGeom prst="ellipse">
            <a:avLst/>
          </a:prstGeom>
          <a:solidFill>
            <a:srgbClr val="A8A8A8"/>
          </a:solidFill>
          <a:ln w="12700">
            <a:solidFill>
              <a:srgbClr val="A8A8A8"/>
            </a:solidFill>
            <a:prstDash val="solid"/>
          </a:ln>
        </p:spPr>
        <p:txBody>
          <a:bodyPr/>
          <a:lstStyle/>
          <a:p>
            <a:endParaRPr lang="en-US"/>
          </a:p>
        </p:txBody>
      </p:sp>
      <p:sp>
        <p:nvSpPr>
          <p:cNvPr id="145" name="Text 143"/>
          <p:cNvSpPr/>
          <p:nvPr/>
        </p:nvSpPr>
        <p:spPr>
          <a:xfrm>
            <a:off x="8540496" y="5365699"/>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Einstein for Service + Agentic bots — tier-1 auto-resolution, A/R agent, PM co-pilot</a:t>
            </a:r>
            <a:endParaRPr lang="en-US" sz="850" dirty="0"/>
          </a:p>
        </p:txBody>
      </p:sp>
      <p:sp>
        <p:nvSpPr>
          <p:cNvPr id="146" name="Shape 144"/>
          <p:cNvSpPr/>
          <p:nvPr/>
        </p:nvSpPr>
        <p:spPr>
          <a:xfrm>
            <a:off x="8439912" y="5674766"/>
            <a:ext cx="50292" cy="50292"/>
          </a:xfrm>
          <a:prstGeom prst="ellipse">
            <a:avLst/>
          </a:prstGeom>
          <a:solidFill>
            <a:srgbClr val="A8A8A8"/>
          </a:solidFill>
          <a:ln w="12700">
            <a:solidFill>
              <a:srgbClr val="A8A8A8"/>
            </a:solidFill>
            <a:prstDash val="solid"/>
          </a:ln>
        </p:spPr>
        <p:txBody>
          <a:bodyPr/>
          <a:lstStyle/>
          <a:p>
            <a:endParaRPr lang="en-US"/>
          </a:p>
        </p:txBody>
      </p:sp>
      <p:sp>
        <p:nvSpPr>
          <p:cNvPr id="147" name="Text 145"/>
          <p:cNvSpPr/>
          <p:nvPr/>
        </p:nvSpPr>
        <p:spPr>
          <a:xfrm>
            <a:off x="8540496" y="5592470"/>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CPQ &amp; intelligent product configuration at scale ($1.5M–$2.5M)</a:t>
            </a:r>
            <a:endParaRPr lang="en-US" sz="850" dirty="0"/>
          </a:p>
        </p:txBody>
      </p:sp>
      <p:sp>
        <p:nvSpPr>
          <p:cNvPr id="148" name="Shape 146"/>
          <p:cNvSpPr/>
          <p:nvPr/>
        </p:nvSpPr>
        <p:spPr>
          <a:xfrm>
            <a:off x="8439912" y="5901538"/>
            <a:ext cx="50292" cy="50292"/>
          </a:xfrm>
          <a:prstGeom prst="ellipse">
            <a:avLst/>
          </a:prstGeom>
          <a:solidFill>
            <a:srgbClr val="A8A8A8"/>
          </a:solidFill>
          <a:ln w="12700">
            <a:solidFill>
              <a:srgbClr val="A8A8A8"/>
            </a:solidFill>
            <a:prstDash val="solid"/>
          </a:ln>
        </p:spPr>
        <p:txBody>
          <a:bodyPr/>
          <a:lstStyle/>
          <a:p>
            <a:endParaRPr lang="en-US"/>
          </a:p>
        </p:txBody>
      </p:sp>
      <p:sp>
        <p:nvSpPr>
          <p:cNvPr id="149" name="Text 147"/>
          <p:cNvSpPr/>
          <p:nvPr/>
        </p:nvSpPr>
        <p:spPr>
          <a:xfrm>
            <a:off x="8540496" y="5819242"/>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AI cash application — auto-match remittances, near-zero unapplied cash</a:t>
            </a:r>
            <a:endParaRPr lang="en-US" sz="850" dirty="0"/>
          </a:p>
        </p:txBody>
      </p:sp>
      <p:sp>
        <p:nvSpPr>
          <p:cNvPr id="150" name="Shape 148"/>
          <p:cNvSpPr/>
          <p:nvPr/>
        </p:nvSpPr>
        <p:spPr>
          <a:xfrm>
            <a:off x="8439912" y="6128309"/>
            <a:ext cx="50292" cy="50292"/>
          </a:xfrm>
          <a:prstGeom prst="ellipse">
            <a:avLst/>
          </a:prstGeom>
          <a:solidFill>
            <a:srgbClr val="A8A8A8"/>
          </a:solidFill>
          <a:ln w="12700">
            <a:solidFill>
              <a:srgbClr val="A8A8A8"/>
            </a:solidFill>
            <a:prstDash val="solid"/>
          </a:ln>
        </p:spPr>
        <p:txBody>
          <a:bodyPr/>
          <a:lstStyle/>
          <a:p>
            <a:endParaRPr lang="en-US"/>
          </a:p>
        </p:txBody>
      </p:sp>
      <p:sp>
        <p:nvSpPr>
          <p:cNvPr id="151" name="Text 149"/>
          <p:cNvSpPr/>
          <p:nvPr/>
        </p:nvSpPr>
        <p:spPr>
          <a:xfrm>
            <a:off x="8540496" y="6046013"/>
            <a:ext cx="3246120" cy="226771"/>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Agentic orchestration — touchless quote-to-cash and predictive reorder</a:t>
            </a:r>
            <a:endParaRPr lang="en-US" sz="850" dirty="0"/>
          </a:p>
        </p:txBody>
      </p:sp>
      <p:sp>
        <p:nvSpPr>
          <p:cNvPr id="153" name="Shape 151"/>
          <p:cNvSpPr/>
          <p:nvPr/>
        </p:nvSpPr>
        <p:spPr>
          <a:xfrm>
            <a:off x="0" y="6675120"/>
            <a:ext cx="164592" cy="182880"/>
          </a:xfrm>
          <a:prstGeom prst="rect">
            <a:avLst/>
          </a:prstGeom>
          <a:solidFill>
            <a:srgbClr val="111111"/>
          </a:solidFill>
          <a:ln w="12700">
            <a:solidFill>
              <a:srgbClr val="111111"/>
            </a:solidFill>
            <a:prstDash val="solid"/>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54864"/>
          </a:xfrm>
          <a:prstGeom prst="rect">
            <a:avLst/>
          </a:prstGeom>
          <a:solidFill>
            <a:srgbClr val="CC0000"/>
          </a:solidFill>
          <a:ln w="12700">
            <a:solidFill>
              <a:srgbClr val="CC0000"/>
            </a:solidFill>
            <a:prstDash val="solid"/>
          </a:ln>
        </p:spPr>
        <p:txBody>
          <a:bodyPr/>
          <a:lstStyle/>
          <a:p>
            <a:endParaRPr lang="en-US"/>
          </a:p>
        </p:txBody>
      </p:sp>
      <p:sp>
        <p:nvSpPr>
          <p:cNvPr id="3" name="Shape 1"/>
          <p:cNvSpPr/>
          <p:nvPr/>
        </p:nvSpPr>
        <p:spPr>
          <a:xfrm>
            <a:off x="0" y="54864"/>
            <a:ext cx="164592" cy="6803136"/>
          </a:xfrm>
          <a:prstGeom prst="rect">
            <a:avLst/>
          </a:prstGeom>
          <a:solidFill>
            <a:srgbClr val="111111"/>
          </a:solidFill>
          <a:ln w="12700">
            <a:solidFill>
              <a:srgbClr val="111111"/>
            </a:solidFill>
            <a:prstDash val="solid"/>
          </a:ln>
        </p:spPr>
        <p:txBody>
          <a:bodyPr/>
          <a:lstStyle/>
          <a:p>
            <a:endParaRPr lang="en-US"/>
          </a:p>
        </p:txBody>
      </p:sp>
      <p:sp>
        <p:nvSpPr>
          <p:cNvPr id="4" name="Text 2"/>
          <p:cNvSpPr/>
          <p:nvPr/>
        </p:nvSpPr>
        <p:spPr>
          <a:xfrm>
            <a:off x="329184" y="146304"/>
            <a:ext cx="10058400" cy="256032"/>
          </a:xfrm>
          <a:prstGeom prst="rect">
            <a:avLst/>
          </a:prstGeom>
          <a:noFill/>
          <a:ln/>
        </p:spPr>
        <p:txBody>
          <a:bodyPr wrap="square" lIns="0" tIns="0" rIns="0" bIns="0" rtlCol="0" anchor="ctr"/>
          <a:lstStyle/>
          <a:p>
            <a:pPr marL="0" indent="0">
              <a:buNone/>
            </a:pPr>
            <a:r>
              <a:rPr lang="en-US" sz="900" b="1" kern="0" spc="300" dirty="0">
                <a:solidFill>
                  <a:srgbClr val="CC0000"/>
                </a:solidFill>
                <a:latin typeface="Calibri" pitchFamily="34" charset="0"/>
                <a:ea typeface="Calibri" pitchFamily="34" charset="-122"/>
                <a:cs typeface="Calibri" pitchFamily="34" charset="-120"/>
              </a:rPr>
              <a:t>WHERE PwC PLAYS  &amp;  RECOMMENDED NEXT STEPS</a:t>
            </a:r>
            <a:endParaRPr lang="en-US" sz="900" dirty="0"/>
          </a:p>
        </p:txBody>
      </p:sp>
      <p:sp>
        <p:nvSpPr>
          <p:cNvPr id="5" name="Text 3"/>
          <p:cNvSpPr/>
          <p:nvPr/>
        </p:nvSpPr>
        <p:spPr>
          <a:xfrm>
            <a:off x="329184" y="420624"/>
            <a:ext cx="10515600" cy="530352"/>
          </a:xfrm>
          <a:prstGeom prst="rect">
            <a:avLst/>
          </a:prstGeom>
          <a:noFill/>
          <a:ln/>
        </p:spPr>
        <p:txBody>
          <a:bodyPr wrap="square" lIns="0" tIns="0" rIns="0" bIns="0" rtlCol="0" anchor="ctr"/>
          <a:lstStyle/>
          <a:p>
            <a:pPr marL="0" indent="0">
              <a:buNone/>
            </a:pPr>
            <a:r>
              <a:rPr lang="en-US" sz="2300" b="1" dirty="0">
                <a:solidFill>
                  <a:srgbClr val="1F1F1F"/>
                </a:solidFill>
                <a:latin typeface="Calibri" pitchFamily="34" charset="0"/>
                <a:ea typeface="Calibri" pitchFamily="34" charset="-122"/>
                <a:cs typeface="Calibri" pitchFamily="34" charset="-120"/>
              </a:rPr>
              <a:t>From trusted delivery partner to long-term strategic advisor</a:t>
            </a:r>
            <a:endParaRPr lang="en-US" sz="2300" dirty="0"/>
          </a:p>
        </p:txBody>
      </p:sp>
      <p:sp>
        <p:nvSpPr>
          <p:cNvPr id="6" name="Shape 4"/>
          <p:cNvSpPr/>
          <p:nvPr/>
        </p:nvSpPr>
        <p:spPr>
          <a:xfrm>
            <a:off x="329184" y="969264"/>
            <a:ext cx="11667744" cy="20117"/>
          </a:xfrm>
          <a:prstGeom prst="rect">
            <a:avLst/>
          </a:prstGeom>
          <a:solidFill>
            <a:srgbClr val="D4D4D4"/>
          </a:solidFill>
          <a:ln w="12700">
            <a:solidFill>
              <a:srgbClr val="D4D4D4"/>
            </a:solidFill>
            <a:prstDash val="solid"/>
          </a:ln>
        </p:spPr>
        <p:txBody>
          <a:bodyPr/>
          <a:lstStyle/>
          <a:p>
            <a:endParaRPr lang="en-US"/>
          </a:p>
        </p:txBody>
      </p:sp>
      <p:sp>
        <p:nvSpPr>
          <p:cNvPr id="7" name="Text 5"/>
          <p:cNvSpPr/>
          <p:nvPr/>
        </p:nvSpPr>
        <p:spPr>
          <a:xfrm>
            <a:off x="11475720" y="109728"/>
            <a:ext cx="640080" cy="502920"/>
          </a:xfrm>
          <a:prstGeom prst="rect">
            <a:avLst/>
          </a:prstGeom>
          <a:noFill/>
          <a:ln/>
        </p:spPr>
        <p:txBody>
          <a:bodyPr wrap="square" lIns="0" tIns="0" rIns="0" bIns="0" rtlCol="0" anchor="ctr"/>
          <a:lstStyle/>
          <a:p>
            <a:pPr marL="0" indent="0" algn="r">
              <a:buNone/>
            </a:pPr>
            <a:r>
              <a:rPr lang="en-US" sz="2200" b="1" dirty="0">
                <a:solidFill>
                  <a:srgbClr val="CC0000"/>
                </a:solidFill>
                <a:latin typeface="Calibri" pitchFamily="34" charset="0"/>
                <a:ea typeface="Calibri" pitchFamily="34" charset="-122"/>
                <a:cs typeface="Calibri" pitchFamily="34" charset="-120"/>
              </a:rPr>
              <a:t>10</a:t>
            </a:r>
            <a:endParaRPr lang="en-US" sz="2200" dirty="0"/>
          </a:p>
        </p:txBody>
      </p:sp>
      <p:sp>
        <p:nvSpPr>
          <p:cNvPr id="9" name="Shape 7"/>
          <p:cNvSpPr/>
          <p:nvPr/>
        </p:nvSpPr>
        <p:spPr>
          <a:xfrm>
            <a:off x="0" y="6675120"/>
            <a:ext cx="164592" cy="182880"/>
          </a:xfrm>
          <a:prstGeom prst="rect">
            <a:avLst/>
          </a:prstGeom>
          <a:solidFill>
            <a:srgbClr val="111111"/>
          </a:solidFill>
          <a:ln w="12700">
            <a:solidFill>
              <a:srgbClr val="111111"/>
            </a:solidFill>
            <a:prstDash val="solid"/>
          </a:ln>
        </p:spPr>
        <p:txBody>
          <a:bodyPr/>
          <a:lstStyle/>
          <a:p>
            <a:endParaRPr lang="en-US"/>
          </a:p>
        </p:txBody>
      </p:sp>
      <p:sp>
        <p:nvSpPr>
          <p:cNvPr id="11" name="Shape 9"/>
          <p:cNvSpPr/>
          <p:nvPr/>
        </p:nvSpPr>
        <p:spPr>
          <a:xfrm>
            <a:off x="329184" y="1133856"/>
            <a:ext cx="5376672" cy="292608"/>
          </a:xfrm>
          <a:prstGeom prst="rect">
            <a:avLst/>
          </a:prstGeom>
          <a:solidFill>
            <a:srgbClr val="111111"/>
          </a:solidFill>
          <a:ln w="12700">
            <a:solidFill>
              <a:srgbClr val="111111"/>
            </a:solidFill>
            <a:prstDash val="solid"/>
          </a:ln>
        </p:spPr>
        <p:txBody>
          <a:bodyPr/>
          <a:lstStyle/>
          <a:p>
            <a:endParaRPr lang="en-US"/>
          </a:p>
        </p:txBody>
      </p:sp>
      <p:sp>
        <p:nvSpPr>
          <p:cNvPr id="12" name="Text 10"/>
          <p:cNvSpPr/>
          <p:nvPr/>
        </p:nvSpPr>
        <p:spPr>
          <a:xfrm>
            <a:off x="402336" y="1133856"/>
            <a:ext cx="5248656" cy="292608"/>
          </a:xfrm>
          <a:prstGeom prst="rect">
            <a:avLst/>
          </a:prstGeom>
          <a:noFill/>
          <a:ln/>
        </p:spPr>
        <p:txBody>
          <a:bodyPr wrap="square" lIns="0" tIns="0" rIns="0" bIns="0" rtlCol="0" anchor="ctr"/>
          <a:lstStyle/>
          <a:p>
            <a:pPr marL="0" indent="0">
              <a:buNone/>
            </a:pPr>
            <a:r>
              <a:rPr lang="en-US" sz="850" b="1" kern="0" spc="100" dirty="0">
                <a:solidFill>
                  <a:srgbClr val="FFFFFF"/>
                </a:solidFill>
                <a:latin typeface="Calibri" pitchFamily="34" charset="0"/>
                <a:ea typeface="Calibri" pitchFamily="34" charset="-122"/>
                <a:cs typeface="Calibri" pitchFamily="34" charset="-120"/>
              </a:rPr>
              <a:t>CURRENT PwC ENGAGEMENT AT HONEYWELL</a:t>
            </a:r>
            <a:endParaRPr lang="en-US" sz="850" dirty="0"/>
          </a:p>
        </p:txBody>
      </p:sp>
      <p:sp>
        <p:nvSpPr>
          <p:cNvPr id="13" name="Shape 11"/>
          <p:cNvSpPr/>
          <p:nvPr/>
        </p:nvSpPr>
        <p:spPr>
          <a:xfrm>
            <a:off x="329184" y="1426464"/>
            <a:ext cx="5376672" cy="50292"/>
          </a:xfrm>
          <a:prstGeom prst="rect">
            <a:avLst/>
          </a:prstGeom>
          <a:solidFill>
            <a:srgbClr val="CC0000"/>
          </a:solidFill>
          <a:ln w="12700">
            <a:solidFill>
              <a:srgbClr val="CC0000"/>
            </a:solidFill>
            <a:prstDash val="solid"/>
          </a:ln>
        </p:spPr>
        <p:txBody>
          <a:bodyPr/>
          <a:lstStyle/>
          <a:p>
            <a:endParaRPr lang="en-US"/>
          </a:p>
        </p:txBody>
      </p:sp>
      <p:sp>
        <p:nvSpPr>
          <p:cNvPr id="14" name="Shape 12"/>
          <p:cNvSpPr/>
          <p:nvPr/>
        </p:nvSpPr>
        <p:spPr>
          <a:xfrm>
            <a:off x="329184" y="1517904"/>
            <a:ext cx="5376672" cy="731520"/>
          </a:xfrm>
          <a:prstGeom prst="rect">
            <a:avLst/>
          </a:prstGeom>
          <a:solidFill>
            <a:srgbClr val="FFFFFF"/>
          </a:solidFill>
          <a:ln w="6350">
            <a:solidFill>
              <a:srgbClr val="D4D4D4"/>
            </a:solidFill>
            <a:prstDash val="solid"/>
          </a:ln>
        </p:spPr>
        <p:txBody>
          <a:bodyPr/>
          <a:lstStyle/>
          <a:p>
            <a:endParaRPr lang="en-US"/>
          </a:p>
        </p:txBody>
      </p:sp>
      <p:sp>
        <p:nvSpPr>
          <p:cNvPr id="15" name="Shape 13"/>
          <p:cNvSpPr/>
          <p:nvPr/>
        </p:nvSpPr>
        <p:spPr>
          <a:xfrm>
            <a:off x="329184" y="1517904"/>
            <a:ext cx="50292" cy="731520"/>
          </a:xfrm>
          <a:prstGeom prst="rect">
            <a:avLst/>
          </a:prstGeom>
          <a:solidFill>
            <a:srgbClr val="CC0000"/>
          </a:solidFill>
          <a:ln w="12700">
            <a:solidFill>
              <a:srgbClr val="CC0000"/>
            </a:solidFill>
            <a:prstDash val="solid"/>
          </a:ln>
        </p:spPr>
        <p:txBody>
          <a:bodyPr/>
          <a:lstStyle/>
          <a:p>
            <a:endParaRPr lang="en-US"/>
          </a:p>
        </p:txBody>
      </p:sp>
      <p:sp>
        <p:nvSpPr>
          <p:cNvPr id="16" name="Text 14"/>
          <p:cNvSpPr/>
          <p:nvPr/>
        </p:nvSpPr>
        <p:spPr>
          <a:xfrm>
            <a:off x="457200" y="1609344"/>
            <a:ext cx="3246120" cy="274320"/>
          </a:xfrm>
          <a:prstGeom prst="rect">
            <a:avLst/>
          </a:prstGeom>
          <a:noFill/>
          <a:ln/>
        </p:spPr>
        <p:txBody>
          <a:bodyPr wrap="square" lIns="0" tIns="0" rIns="0" bIns="0" rtlCol="0" anchor="ctr"/>
          <a:lstStyle/>
          <a:p>
            <a:pPr marL="0" indent="0">
              <a:buNone/>
            </a:pPr>
            <a:r>
              <a:rPr lang="en-US" sz="1200" b="1" dirty="0">
                <a:solidFill>
                  <a:srgbClr val="1F1F1F"/>
                </a:solidFill>
                <a:latin typeface="Calibri" pitchFamily="34" charset="0"/>
                <a:ea typeface="Calibri" pitchFamily="34" charset="-122"/>
                <a:cs typeface="Calibri" pitchFamily="34" charset="-120"/>
              </a:rPr>
              <a:t>Headless Commerce PoC</a:t>
            </a:r>
            <a:endParaRPr lang="en-US" sz="1200" dirty="0"/>
          </a:p>
        </p:txBody>
      </p:sp>
      <p:sp>
        <p:nvSpPr>
          <p:cNvPr id="17" name="Text 15"/>
          <p:cNvSpPr/>
          <p:nvPr/>
        </p:nvSpPr>
        <p:spPr>
          <a:xfrm>
            <a:off x="457200" y="1901952"/>
            <a:ext cx="3246120" cy="256032"/>
          </a:xfrm>
          <a:prstGeom prst="rect">
            <a:avLst/>
          </a:prstGeom>
          <a:noFill/>
          <a:ln/>
        </p:spPr>
        <p:txBody>
          <a:bodyPr wrap="square" lIns="0" tIns="0" rIns="0" bIns="0" rtlCol="0" anchor="ctr"/>
          <a:lstStyle/>
          <a:p>
            <a:pPr marL="0" indent="0">
              <a:buNone/>
            </a:pPr>
            <a:r>
              <a:rPr lang="en-US" sz="1050" dirty="0">
                <a:solidFill>
                  <a:srgbClr val="777777"/>
                </a:solidFill>
                <a:latin typeface="Calibri" pitchFamily="34" charset="0"/>
                <a:ea typeface="Calibri" pitchFamily="34" charset="-122"/>
                <a:cs typeface="Calibri" pitchFamily="34" charset="-120"/>
              </a:rPr>
              <a:t>$450K signed · SBG 1 · 13-week build</a:t>
            </a:r>
            <a:endParaRPr lang="en-US" sz="1050" dirty="0"/>
          </a:p>
        </p:txBody>
      </p:sp>
      <p:sp>
        <p:nvSpPr>
          <p:cNvPr id="18" name="Shape 16"/>
          <p:cNvSpPr/>
          <p:nvPr/>
        </p:nvSpPr>
        <p:spPr>
          <a:xfrm>
            <a:off x="3858768" y="1719072"/>
            <a:ext cx="1591056" cy="292608"/>
          </a:xfrm>
          <a:prstGeom prst="rect">
            <a:avLst/>
          </a:prstGeom>
          <a:solidFill>
            <a:srgbClr val="333333"/>
          </a:solidFill>
          <a:ln w="12700">
            <a:solidFill>
              <a:srgbClr val="333333"/>
            </a:solidFill>
            <a:prstDash val="solid"/>
          </a:ln>
        </p:spPr>
        <p:txBody>
          <a:bodyPr/>
          <a:lstStyle/>
          <a:p>
            <a:endParaRPr lang="en-US"/>
          </a:p>
        </p:txBody>
      </p:sp>
      <p:sp>
        <p:nvSpPr>
          <p:cNvPr id="19" name="Text 17"/>
          <p:cNvSpPr/>
          <p:nvPr/>
        </p:nvSpPr>
        <p:spPr>
          <a:xfrm>
            <a:off x="3858768" y="1719072"/>
            <a:ext cx="1591056"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ACTIVE</a:t>
            </a:r>
            <a:endParaRPr lang="en-US" sz="950" dirty="0"/>
          </a:p>
        </p:txBody>
      </p:sp>
      <p:sp>
        <p:nvSpPr>
          <p:cNvPr id="20" name="Shape 18"/>
          <p:cNvSpPr/>
          <p:nvPr/>
        </p:nvSpPr>
        <p:spPr>
          <a:xfrm>
            <a:off x="329184" y="2322576"/>
            <a:ext cx="5376672" cy="731520"/>
          </a:xfrm>
          <a:prstGeom prst="rect">
            <a:avLst/>
          </a:prstGeom>
          <a:solidFill>
            <a:srgbClr val="F4F4F4"/>
          </a:solidFill>
          <a:ln w="6350">
            <a:solidFill>
              <a:srgbClr val="D4D4D4"/>
            </a:solidFill>
            <a:prstDash val="solid"/>
          </a:ln>
        </p:spPr>
        <p:txBody>
          <a:bodyPr/>
          <a:lstStyle/>
          <a:p>
            <a:endParaRPr lang="en-US"/>
          </a:p>
        </p:txBody>
      </p:sp>
      <p:sp>
        <p:nvSpPr>
          <p:cNvPr id="21" name="Shape 19"/>
          <p:cNvSpPr/>
          <p:nvPr/>
        </p:nvSpPr>
        <p:spPr>
          <a:xfrm>
            <a:off x="329184" y="2322576"/>
            <a:ext cx="50292" cy="731520"/>
          </a:xfrm>
          <a:prstGeom prst="rect">
            <a:avLst/>
          </a:prstGeom>
          <a:solidFill>
            <a:srgbClr val="333333"/>
          </a:solidFill>
          <a:ln w="12700">
            <a:solidFill>
              <a:srgbClr val="333333"/>
            </a:solidFill>
            <a:prstDash val="solid"/>
          </a:ln>
        </p:spPr>
        <p:txBody>
          <a:bodyPr/>
          <a:lstStyle/>
          <a:p>
            <a:endParaRPr lang="en-US"/>
          </a:p>
        </p:txBody>
      </p:sp>
      <p:sp>
        <p:nvSpPr>
          <p:cNvPr id="22" name="Text 20"/>
          <p:cNvSpPr/>
          <p:nvPr/>
        </p:nvSpPr>
        <p:spPr>
          <a:xfrm>
            <a:off x="457200" y="2414016"/>
            <a:ext cx="3246120" cy="274320"/>
          </a:xfrm>
          <a:prstGeom prst="rect">
            <a:avLst/>
          </a:prstGeom>
          <a:noFill/>
          <a:ln/>
        </p:spPr>
        <p:txBody>
          <a:bodyPr wrap="square" lIns="0" tIns="0" rIns="0" bIns="0" rtlCol="0" anchor="ctr"/>
          <a:lstStyle/>
          <a:p>
            <a:pPr marL="0" indent="0">
              <a:buNone/>
            </a:pPr>
            <a:r>
              <a:rPr lang="en-US" sz="1200" b="1" dirty="0">
                <a:solidFill>
                  <a:srgbClr val="1F1F1F"/>
                </a:solidFill>
                <a:latin typeface="Calibri" pitchFamily="34" charset="0"/>
                <a:ea typeface="Calibri" pitchFamily="34" charset="-122"/>
                <a:cs typeface="Calibri" pitchFamily="34" charset="-120"/>
              </a:rPr>
              <a:t>SRE &amp; Performance Retainer</a:t>
            </a:r>
            <a:endParaRPr lang="en-US" sz="1200" dirty="0"/>
          </a:p>
        </p:txBody>
      </p:sp>
      <p:sp>
        <p:nvSpPr>
          <p:cNvPr id="23" name="Text 21"/>
          <p:cNvSpPr/>
          <p:nvPr/>
        </p:nvSpPr>
        <p:spPr>
          <a:xfrm>
            <a:off x="457200" y="2706624"/>
            <a:ext cx="3246120" cy="256032"/>
          </a:xfrm>
          <a:prstGeom prst="rect">
            <a:avLst/>
          </a:prstGeom>
          <a:noFill/>
          <a:ln/>
        </p:spPr>
        <p:txBody>
          <a:bodyPr wrap="square" lIns="0" tIns="0" rIns="0" bIns="0" rtlCol="0" anchor="ctr"/>
          <a:lstStyle/>
          <a:p>
            <a:pPr marL="0" indent="0">
              <a:buNone/>
            </a:pPr>
            <a:r>
              <a:rPr lang="en-US" sz="1050" dirty="0">
                <a:solidFill>
                  <a:srgbClr val="777777"/>
                </a:solidFill>
                <a:latin typeface="Calibri" pitchFamily="34" charset="0"/>
                <a:ea typeface="Calibri" pitchFamily="34" charset="-122"/>
                <a:cs typeface="Calibri" pitchFamily="34" charset="-120"/>
              </a:rPr>
              <a:t>$35K–55K/mo · Start in parallel with PoC</a:t>
            </a:r>
            <a:endParaRPr lang="en-US" sz="1050" dirty="0"/>
          </a:p>
        </p:txBody>
      </p:sp>
      <p:sp>
        <p:nvSpPr>
          <p:cNvPr id="24" name="Shape 22"/>
          <p:cNvSpPr/>
          <p:nvPr/>
        </p:nvSpPr>
        <p:spPr>
          <a:xfrm>
            <a:off x="3858768" y="2523744"/>
            <a:ext cx="1591056" cy="292608"/>
          </a:xfrm>
          <a:prstGeom prst="rect">
            <a:avLst/>
          </a:prstGeom>
          <a:solidFill>
            <a:srgbClr val="333333"/>
          </a:solidFill>
          <a:ln w="12700">
            <a:solidFill>
              <a:srgbClr val="333333"/>
            </a:solidFill>
            <a:prstDash val="solid"/>
          </a:ln>
        </p:spPr>
        <p:txBody>
          <a:bodyPr/>
          <a:lstStyle/>
          <a:p>
            <a:endParaRPr lang="en-US"/>
          </a:p>
        </p:txBody>
      </p:sp>
      <p:sp>
        <p:nvSpPr>
          <p:cNvPr id="25" name="Text 23"/>
          <p:cNvSpPr/>
          <p:nvPr/>
        </p:nvSpPr>
        <p:spPr>
          <a:xfrm>
            <a:off x="3858768" y="2523744"/>
            <a:ext cx="1591056"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NOW</a:t>
            </a:r>
            <a:endParaRPr lang="en-US" sz="950" dirty="0"/>
          </a:p>
        </p:txBody>
      </p:sp>
      <p:sp>
        <p:nvSpPr>
          <p:cNvPr id="26" name="Shape 24"/>
          <p:cNvSpPr/>
          <p:nvPr/>
        </p:nvSpPr>
        <p:spPr>
          <a:xfrm>
            <a:off x="329184" y="3127248"/>
            <a:ext cx="5376672" cy="731520"/>
          </a:xfrm>
          <a:prstGeom prst="rect">
            <a:avLst/>
          </a:prstGeom>
          <a:solidFill>
            <a:srgbClr val="FFFFFF"/>
          </a:solidFill>
          <a:ln w="6350">
            <a:solidFill>
              <a:srgbClr val="D4D4D4"/>
            </a:solidFill>
            <a:prstDash val="solid"/>
          </a:ln>
        </p:spPr>
        <p:txBody>
          <a:bodyPr/>
          <a:lstStyle/>
          <a:p>
            <a:endParaRPr lang="en-US"/>
          </a:p>
        </p:txBody>
      </p:sp>
      <p:sp>
        <p:nvSpPr>
          <p:cNvPr id="27" name="Shape 25"/>
          <p:cNvSpPr/>
          <p:nvPr/>
        </p:nvSpPr>
        <p:spPr>
          <a:xfrm>
            <a:off x="329184" y="3127248"/>
            <a:ext cx="50292" cy="731520"/>
          </a:xfrm>
          <a:prstGeom prst="rect">
            <a:avLst/>
          </a:prstGeom>
          <a:solidFill>
            <a:srgbClr val="333333"/>
          </a:solidFill>
          <a:ln w="12700">
            <a:solidFill>
              <a:srgbClr val="333333"/>
            </a:solidFill>
            <a:prstDash val="solid"/>
          </a:ln>
        </p:spPr>
        <p:txBody>
          <a:bodyPr/>
          <a:lstStyle/>
          <a:p>
            <a:endParaRPr lang="en-US"/>
          </a:p>
        </p:txBody>
      </p:sp>
      <p:sp>
        <p:nvSpPr>
          <p:cNvPr id="28" name="Text 26"/>
          <p:cNvSpPr/>
          <p:nvPr/>
        </p:nvSpPr>
        <p:spPr>
          <a:xfrm>
            <a:off x="457200" y="3218688"/>
            <a:ext cx="3246120" cy="274320"/>
          </a:xfrm>
          <a:prstGeom prst="rect">
            <a:avLst/>
          </a:prstGeom>
          <a:noFill/>
          <a:ln/>
        </p:spPr>
        <p:txBody>
          <a:bodyPr wrap="square" lIns="0" tIns="0" rIns="0" bIns="0" rtlCol="0" anchor="ctr"/>
          <a:lstStyle/>
          <a:p>
            <a:pPr marL="0" indent="0">
              <a:buNone/>
            </a:pPr>
            <a:r>
              <a:rPr lang="en-US" sz="1200" b="1" dirty="0">
                <a:solidFill>
                  <a:srgbClr val="1F1F1F"/>
                </a:solidFill>
                <a:latin typeface="Calibri" pitchFamily="34" charset="0"/>
                <a:ea typeface="Calibri" pitchFamily="34" charset="-122"/>
                <a:cs typeface="Calibri" pitchFamily="34" charset="-120"/>
              </a:rPr>
              <a:t>S/4 Impact Assessment</a:t>
            </a:r>
            <a:endParaRPr lang="en-US" sz="1200" dirty="0"/>
          </a:p>
        </p:txBody>
      </p:sp>
      <p:sp>
        <p:nvSpPr>
          <p:cNvPr id="29" name="Text 27"/>
          <p:cNvSpPr/>
          <p:nvPr/>
        </p:nvSpPr>
        <p:spPr>
          <a:xfrm>
            <a:off x="457200" y="3511296"/>
            <a:ext cx="3246120" cy="256032"/>
          </a:xfrm>
          <a:prstGeom prst="rect">
            <a:avLst/>
          </a:prstGeom>
          <a:noFill/>
          <a:ln/>
        </p:spPr>
        <p:txBody>
          <a:bodyPr wrap="square" lIns="0" tIns="0" rIns="0" bIns="0" rtlCol="0" anchor="ctr"/>
          <a:lstStyle/>
          <a:p>
            <a:pPr marL="0" indent="0">
              <a:buNone/>
            </a:pPr>
            <a:r>
              <a:rPr lang="en-US" sz="1050" dirty="0">
                <a:solidFill>
                  <a:srgbClr val="777777"/>
                </a:solidFill>
                <a:latin typeface="Calibri" pitchFamily="34" charset="0"/>
                <a:ea typeface="Calibri" pitchFamily="34" charset="-122"/>
                <a:cs typeface="Calibri" pitchFamily="34" charset="-120"/>
              </a:rPr>
              <a:t>38 integrations cataloged · ECC→S/4 risk mapped</a:t>
            </a:r>
            <a:endParaRPr lang="en-US" sz="1050" dirty="0"/>
          </a:p>
        </p:txBody>
      </p:sp>
      <p:sp>
        <p:nvSpPr>
          <p:cNvPr id="30" name="Shape 28"/>
          <p:cNvSpPr/>
          <p:nvPr/>
        </p:nvSpPr>
        <p:spPr>
          <a:xfrm>
            <a:off x="3858768" y="3328416"/>
            <a:ext cx="1591056" cy="292608"/>
          </a:xfrm>
          <a:prstGeom prst="rect">
            <a:avLst/>
          </a:prstGeom>
          <a:solidFill>
            <a:srgbClr val="333333"/>
          </a:solidFill>
          <a:ln w="12700">
            <a:solidFill>
              <a:srgbClr val="333333"/>
            </a:solidFill>
            <a:prstDash val="solid"/>
          </a:ln>
        </p:spPr>
        <p:txBody>
          <a:bodyPr/>
          <a:lstStyle/>
          <a:p>
            <a:endParaRPr lang="en-US"/>
          </a:p>
        </p:txBody>
      </p:sp>
      <p:sp>
        <p:nvSpPr>
          <p:cNvPr id="31" name="Text 29"/>
          <p:cNvSpPr/>
          <p:nvPr/>
        </p:nvSpPr>
        <p:spPr>
          <a:xfrm>
            <a:off x="3858768" y="3328416"/>
            <a:ext cx="1591056"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ACTIVE</a:t>
            </a:r>
            <a:endParaRPr lang="en-US" sz="950" dirty="0"/>
          </a:p>
        </p:txBody>
      </p:sp>
      <p:sp>
        <p:nvSpPr>
          <p:cNvPr id="32" name="Shape 30"/>
          <p:cNvSpPr/>
          <p:nvPr/>
        </p:nvSpPr>
        <p:spPr>
          <a:xfrm>
            <a:off x="329184" y="3931920"/>
            <a:ext cx="5376672" cy="731520"/>
          </a:xfrm>
          <a:prstGeom prst="rect">
            <a:avLst/>
          </a:prstGeom>
          <a:solidFill>
            <a:srgbClr val="F4F4F4"/>
          </a:solidFill>
          <a:ln w="6350">
            <a:solidFill>
              <a:srgbClr val="D4D4D4"/>
            </a:solidFill>
            <a:prstDash val="solid"/>
          </a:ln>
        </p:spPr>
        <p:txBody>
          <a:bodyPr/>
          <a:lstStyle/>
          <a:p>
            <a:endParaRPr lang="en-US"/>
          </a:p>
        </p:txBody>
      </p:sp>
      <p:sp>
        <p:nvSpPr>
          <p:cNvPr id="33" name="Shape 31"/>
          <p:cNvSpPr/>
          <p:nvPr/>
        </p:nvSpPr>
        <p:spPr>
          <a:xfrm>
            <a:off x="329184" y="3931920"/>
            <a:ext cx="50292" cy="731520"/>
          </a:xfrm>
          <a:prstGeom prst="rect">
            <a:avLst/>
          </a:prstGeom>
          <a:solidFill>
            <a:srgbClr val="333333"/>
          </a:solidFill>
          <a:ln w="12700">
            <a:solidFill>
              <a:srgbClr val="333333"/>
            </a:solidFill>
            <a:prstDash val="solid"/>
          </a:ln>
        </p:spPr>
        <p:txBody>
          <a:bodyPr/>
          <a:lstStyle/>
          <a:p>
            <a:endParaRPr lang="en-US"/>
          </a:p>
        </p:txBody>
      </p:sp>
      <p:sp>
        <p:nvSpPr>
          <p:cNvPr id="34" name="Text 32"/>
          <p:cNvSpPr/>
          <p:nvPr/>
        </p:nvSpPr>
        <p:spPr>
          <a:xfrm>
            <a:off x="457200" y="4023360"/>
            <a:ext cx="3246120" cy="274320"/>
          </a:xfrm>
          <a:prstGeom prst="rect">
            <a:avLst/>
          </a:prstGeom>
          <a:noFill/>
          <a:ln/>
        </p:spPr>
        <p:txBody>
          <a:bodyPr wrap="square" lIns="0" tIns="0" rIns="0" bIns="0" rtlCol="0" anchor="ctr"/>
          <a:lstStyle/>
          <a:p>
            <a:pPr marL="0" indent="0">
              <a:buNone/>
            </a:pPr>
            <a:r>
              <a:rPr lang="en-US" sz="1200" b="1" dirty="0">
                <a:solidFill>
                  <a:srgbClr val="1F1F1F"/>
                </a:solidFill>
                <a:latin typeface="Calibri" pitchFamily="34" charset="0"/>
                <a:ea typeface="Calibri" pitchFamily="34" charset="-122"/>
                <a:cs typeface="Calibri" pitchFamily="34" charset="-120"/>
              </a:rPr>
              <a:t>LTC Visioning Workshop</a:t>
            </a:r>
            <a:endParaRPr lang="en-US" sz="1200" dirty="0"/>
          </a:p>
        </p:txBody>
      </p:sp>
      <p:sp>
        <p:nvSpPr>
          <p:cNvPr id="35" name="Text 33"/>
          <p:cNvSpPr/>
          <p:nvPr/>
        </p:nvSpPr>
        <p:spPr>
          <a:xfrm>
            <a:off x="457200" y="4315968"/>
            <a:ext cx="3246120" cy="256032"/>
          </a:xfrm>
          <a:prstGeom prst="rect">
            <a:avLst/>
          </a:prstGeom>
          <a:noFill/>
          <a:ln/>
        </p:spPr>
        <p:txBody>
          <a:bodyPr wrap="square" lIns="0" tIns="0" rIns="0" bIns="0" rtlCol="0" anchor="ctr"/>
          <a:lstStyle/>
          <a:p>
            <a:pPr marL="0" indent="0">
              <a:buNone/>
            </a:pPr>
            <a:r>
              <a:rPr lang="en-US" sz="1050" dirty="0">
                <a:solidFill>
                  <a:srgbClr val="777777"/>
                </a:solidFill>
                <a:latin typeface="Calibri" pitchFamily="34" charset="0"/>
                <a:ea typeface="Calibri" pitchFamily="34" charset="-122"/>
                <a:cs typeface="Calibri" pitchFamily="34" charset="-120"/>
              </a:rPr>
              <a:t>Dec 2025 · GTM guiding principles aligned</a:t>
            </a:r>
            <a:endParaRPr lang="en-US" sz="1050" dirty="0"/>
          </a:p>
        </p:txBody>
      </p:sp>
      <p:sp>
        <p:nvSpPr>
          <p:cNvPr id="36" name="Shape 34"/>
          <p:cNvSpPr/>
          <p:nvPr/>
        </p:nvSpPr>
        <p:spPr>
          <a:xfrm>
            <a:off x="3858768" y="4133088"/>
            <a:ext cx="1591056" cy="292608"/>
          </a:xfrm>
          <a:prstGeom prst="rect">
            <a:avLst/>
          </a:prstGeom>
          <a:solidFill>
            <a:srgbClr val="A8A8A8"/>
          </a:solidFill>
          <a:ln w="12700">
            <a:solidFill>
              <a:srgbClr val="A8A8A8"/>
            </a:solidFill>
            <a:prstDash val="solid"/>
          </a:ln>
        </p:spPr>
        <p:txBody>
          <a:bodyPr/>
          <a:lstStyle/>
          <a:p>
            <a:endParaRPr lang="en-US"/>
          </a:p>
        </p:txBody>
      </p:sp>
      <p:sp>
        <p:nvSpPr>
          <p:cNvPr id="37" name="Text 35"/>
          <p:cNvSpPr/>
          <p:nvPr/>
        </p:nvSpPr>
        <p:spPr>
          <a:xfrm>
            <a:off x="3858768" y="4133088"/>
            <a:ext cx="1591056"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COMPLETE</a:t>
            </a:r>
            <a:endParaRPr lang="en-US" sz="950" dirty="0"/>
          </a:p>
        </p:txBody>
      </p:sp>
      <p:sp>
        <p:nvSpPr>
          <p:cNvPr id="38" name="Shape 36"/>
          <p:cNvSpPr/>
          <p:nvPr/>
        </p:nvSpPr>
        <p:spPr>
          <a:xfrm>
            <a:off x="329184" y="4736592"/>
            <a:ext cx="5376672" cy="731520"/>
          </a:xfrm>
          <a:prstGeom prst="rect">
            <a:avLst/>
          </a:prstGeom>
          <a:solidFill>
            <a:srgbClr val="FFFFFF"/>
          </a:solidFill>
          <a:ln w="6350">
            <a:solidFill>
              <a:srgbClr val="D4D4D4"/>
            </a:solidFill>
            <a:prstDash val="solid"/>
          </a:ln>
        </p:spPr>
        <p:txBody>
          <a:bodyPr/>
          <a:lstStyle/>
          <a:p>
            <a:endParaRPr lang="en-US"/>
          </a:p>
        </p:txBody>
      </p:sp>
      <p:sp>
        <p:nvSpPr>
          <p:cNvPr id="39" name="Shape 37"/>
          <p:cNvSpPr/>
          <p:nvPr/>
        </p:nvSpPr>
        <p:spPr>
          <a:xfrm>
            <a:off x="329184" y="4736592"/>
            <a:ext cx="50292" cy="731520"/>
          </a:xfrm>
          <a:prstGeom prst="rect">
            <a:avLst/>
          </a:prstGeom>
          <a:solidFill>
            <a:srgbClr val="333333"/>
          </a:solidFill>
          <a:ln w="12700">
            <a:solidFill>
              <a:srgbClr val="333333"/>
            </a:solidFill>
            <a:prstDash val="solid"/>
          </a:ln>
        </p:spPr>
        <p:txBody>
          <a:bodyPr/>
          <a:lstStyle/>
          <a:p>
            <a:endParaRPr lang="en-US"/>
          </a:p>
        </p:txBody>
      </p:sp>
      <p:sp>
        <p:nvSpPr>
          <p:cNvPr id="40" name="Text 38"/>
          <p:cNvSpPr/>
          <p:nvPr/>
        </p:nvSpPr>
        <p:spPr>
          <a:xfrm>
            <a:off x="457200" y="4828032"/>
            <a:ext cx="3246120" cy="274320"/>
          </a:xfrm>
          <a:prstGeom prst="rect">
            <a:avLst/>
          </a:prstGeom>
          <a:noFill/>
          <a:ln/>
        </p:spPr>
        <p:txBody>
          <a:bodyPr wrap="square" lIns="0" tIns="0" rIns="0" bIns="0" rtlCol="0" anchor="ctr"/>
          <a:lstStyle/>
          <a:p>
            <a:r>
              <a:rPr lang="en-US" sz="1200" b="1">
                <a:solidFill>
                  <a:srgbClr val="1F1F1F"/>
                </a:solidFill>
                <a:latin typeface="Calibri"/>
                <a:ea typeface="Calibri"/>
                <a:cs typeface="Calibri"/>
              </a:rPr>
              <a:t>Headless SBG Rollout (SBGs 2–4)</a:t>
            </a:r>
            <a:endParaRPr lang="en-US" sz="1200">
              <a:ea typeface="Calibri"/>
              <a:cs typeface="Calibri"/>
            </a:endParaRPr>
          </a:p>
        </p:txBody>
      </p:sp>
      <p:sp>
        <p:nvSpPr>
          <p:cNvPr id="41" name="Text 39"/>
          <p:cNvSpPr/>
          <p:nvPr/>
        </p:nvSpPr>
        <p:spPr>
          <a:xfrm>
            <a:off x="457200" y="5120640"/>
            <a:ext cx="3246120" cy="256032"/>
          </a:xfrm>
          <a:prstGeom prst="rect">
            <a:avLst/>
          </a:prstGeom>
          <a:noFill/>
          <a:ln/>
        </p:spPr>
        <p:txBody>
          <a:bodyPr wrap="square" lIns="0" tIns="0" rIns="0" bIns="0" rtlCol="0" anchor="ctr"/>
          <a:lstStyle/>
          <a:p>
            <a:pPr marL="0" indent="0">
              <a:buNone/>
            </a:pPr>
            <a:r>
              <a:rPr lang="en-US" sz="1050" dirty="0">
                <a:solidFill>
                  <a:srgbClr val="777777"/>
                </a:solidFill>
                <a:latin typeface="Calibri" pitchFamily="34" charset="0"/>
                <a:ea typeface="Calibri" pitchFamily="34" charset="-122"/>
                <a:cs typeface="Calibri" pitchFamily="34" charset="-120"/>
              </a:rPr>
              <a:t>$1.2M–$1.7M · Initiate at PoC Week 8</a:t>
            </a:r>
            <a:endParaRPr lang="en-US" sz="1050" dirty="0"/>
          </a:p>
        </p:txBody>
      </p:sp>
      <p:sp>
        <p:nvSpPr>
          <p:cNvPr id="42" name="Shape 40"/>
          <p:cNvSpPr/>
          <p:nvPr/>
        </p:nvSpPr>
        <p:spPr>
          <a:xfrm>
            <a:off x="3858768" y="4937760"/>
            <a:ext cx="1591056" cy="292608"/>
          </a:xfrm>
          <a:prstGeom prst="rect">
            <a:avLst/>
          </a:prstGeom>
          <a:solidFill>
            <a:srgbClr val="111111"/>
          </a:solidFill>
          <a:ln w="12700">
            <a:solidFill>
              <a:srgbClr val="111111"/>
            </a:solidFill>
            <a:prstDash val="solid"/>
          </a:ln>
        </p:spPr>
        <p:txBody>
          <a:bodyPr/>
          <a:lstStyle/>
          <a:p>
            <a:endParaRPr lang="en-US"/>
          </a:p>
        </p:txBody>
      </p:sp>
      <p:sp>
        <p:nvSpPr>
          <p:cNvPr id="43" name="Text 41"/>
          <p:cNvSpPr/>
          <p:nvPr/>
        </p:nvSpPr>
        <p:spPr>
          <a:xfrm>
            <a:off x="3858768" y="4937760"/>
            <a:ext cx="1591056"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NEXT</a:t>
            </a:r>
            <a:endParaRPr lang="en-US" sz="950" dirty="0"/>
          </a:p>
        </p:txBody>
      </p:sp>
      <p:sp>
        <p:nvSpPr>
          <p:cNvPr id="44" name="Shape 42"/>
          <p:cNvSpPr/>
          <p:nvPr/>
        </p:nvSpPr>
        <p:spPr>
          <a:xfrm>
            <a:off x="329184" y="5541264"/>
            <a:ext cx="5376672" cy="731520"/>
          </a:xfrm>
          <a:prstGeom prst="rect">
            <a:avLst/>
          </a:prstGeom>
          <a:solidFill>
            <a:srgbClr val="F4F4F4"/>
          </a:solidFill>
          <a:ln w="6350">
            <a:solidFill>
              <a:srgbClr val="D4D4D4"/>
            </a:solidFill>
            <a:prstDash val="solid"/>
          </a:ln>
        </p:spPr>
        <p:txBody>
          <a:bodyPr/>
          <a:lstStyle/>
          <a:p>
            <a:endParaRPr lang="en-US"/>
          </a:p>
        </p:txBody>
      </p:sp>
      <p:sp>
        <p:nvSpPr>
          <p:cNvPr id="45" name="Shape 43"/>
          <p:cNvSpPr/>
          <p:nvPr/>
        </p:nvSpPr>
        <p:spPr>
          <a:xfrm>
            <a:off x="329184" y="5541264"/>
            <a:ext cx="50292" cy="731520"/>
          </a:xfrm>
          <a:prstGeom prst="rect">
            <a:avLst/>
          </a:prstGeom>
          <a:solidFill>
            <a:srgbClr val="333333"/>
          </a:solidFill>
          <a:ln w="12700">
            <a:solidFill>
              <a:srgbClr val="333333"/>
            </a:solidFill>
            <a:prstDash val="solid"/>
          </a:ln>
        </p:spPr>
        <p:txBody>
          <a:bodyPr/>
          <a:lstStyle/>
          <a:p>
            <a:endParaRPr lang="en-US"/>
          </a:p>
        </p:txBody>
      </p:sp>
      <p:sp>
        <p:nvSpPr>
          <p:cNvPr id="46" name="Text 44"/>
          <p:cNvSpPr/>
          <p:nvPr/>
        </p:nvSpPr>
        <p:spPr>
          <a:xfrm>
            <a:off x="457200" y="5632704"/>
            <a:ext cx="3246120" cy="274320"/>
          </a:xfrm>
          <a:prstGeom prst="rect">
            <a:avLst/>
          </a:prstGeom>
          <a:noFill/>
          <a:ln/>
        </p:spPr>
        <p:txBody>
          <a:bodyPr wrap="square" lIns="0" tIns="0" rIns="0" bIns="0" rtlCol="0" anchor="ctr"/>
          <a:lstStyle/>
          <a:p>
            <a:pPr marL="0" indent="0">
              <a:buNone/>
            </a:pPr>
            <a:r>
              <a:rPr lang="en-US" sz="1200" b="1" dirty="0">
                <a:solidFill>
                  <a:srgbClr val="1F1F1F"/>
                </a:solidFill>
                <a:latin typeface="Calibri" pitchFamily="34" charset="0"/>
                <a:ea typeface="Calibri" pitchFamily="34" charset="-122"/>
                <a:cs typeface="Calibri" pitchFamily="34" charset="-120"/>
              </a:rPr>
              <a:t>B2B Commerce Transformation</a:t>
            </a:r>
            <a:endParaRPr lang="en-US" sz="1200" dirty="0"/>
          </a:p>
        </p:txBody>
      </p:sp>
      <p:sp>
        <p:nvSpPr>
          <p:cNvPr id="47" name="Text 45"/>
          <p:cNvSpPr/>
          <p:nvPr/>
        </p:nvSpPr>
        <p:spPr>
          <a:xfrm>
            <a:off x="457200" y="5925312"/>
            <a:ext cx="3246120" cy="256032"/>
          </a:xfrm>
          <a:prstGeom prst="rect">
            <a:avLst/>
          </a:prstGeom>
          <a:noFill/>
          <a:ln/>
        </p:spPr>
        <p:txBody>
          <a:bodyPr wrap="square" lIns="0" tIns="0" rIns="0" bIns="0" rtlCol="0" anchor="ctr"/>
          <a:lstStyle/>
          <a:p>
            <a:pPr marL="0" indent="0">
              <a:buNone/>
            </a:pPr>
            <a:r>
              <a:rPr lang="en-US" sz="1050" dirty="0">
                <a:solidFill>
                  <a:srgbClr val="777777"/>
                </a:solidFill>
                <a:latin typeface="Calibri" pitchFamily="34" charset="0"/>
                <a:ea typeface="Calibri" pitchFamily="34" charset="-122"/>
                <a:cs typeface="Calibri" pitchFamily="34" charset="-120"/>
              </a:rPr>
              <a:t>$2.5M–$4.0M · Q1 2027</a:t>
            </a:r>
            <a:endParaRPr lang="en-US" sz="1050" dirty="0"/>
          </a:p>
        </p:txBody>
      </p:sp>
      <p:sp>
        <p:nvSpPr>
          <p:cNvPr id="48" name="Shape 46"/>
          <p:cNvSpPr/>
          <p:nvPr/>
        </p:nvSpPr>
        <p:spPr>
          <a:xfrm>
            <a:off x="3858768" y="5742432"/>
            <a:ext cx="1591056" cy="292608"/>
          </a:xfrm>
          <a:prstGeom prst="rect">
            <a:avLst/>
          </a:prstGeom>
          <a:solidFill>
            <a:srgbClr val="CC0000"/>
          </a:solidFill>
          <a:ln w="12700">
            <a:solidFill>
              <a:srgbClr val="CC0000"/>
            </a:solidFill>
            <a:prstDash val="solid"/>
          </a:ln>
        </p:spPr>
        <p:txBody>
          <a:bodyPr/>
          <a:lstStyle/>
          <a:p>
            <a:endParaRPr lang="en-US"/>
          </a:p>
        </p:txBody>
      </p:sp>
      <p:sp>
        <p:nvSpPr>
          <p:cNvPr id="49" name="Text 47"/>
          <p:cNvSpPr/>
          <p:nvPr/>
        </p:nvSpPr>
        <p:spPr>
          <a:xfrm>
            <a:off x="3858768" y="5742432"/>
            <a:ext cx="1591056"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PIPELINE</a:t>
            </a:r>
            <a:endParaRPr lang="en-US" sz="950" dirty="0"/>
          </a:p>
        </p:txBody>
      </p:sp>
      <p:sp>
        <p:nvSpPr>
          <p:cNvPr id="50" name="Shape 48"/>
          <p:cNvSpPr/>
          <p:nvPr/>
        </p:nvSpPr>
        <p:spPr>
          <a:xfrm>
            <a:off x="5998464" y="1133856"/>
            <a:ext cx="5998464" cy="292608"/>
          </a:xfrm>
          <a:prstGeom prst="rect">
            <a:avLst/>
          </a:prstGeom>
          <a:solidFill>
            <a:srgbClr val="111111"/>
          </a:solidFill>
          <a:ln w="12700">
            <a:solidFill>
              <a:srgbClr val="111111"/>
            </a:solidFill>
            <a:prstDash val="solid"/>
          </a:ln>
        </p:spPr>
        <p:txBody>
          <a:bodyPr/>
          <a:lstStyle/>
          <a:p>
            <a:endParaRPr lang="en-US"/>
          </a:p>
        </p:txBody>
      </p:sp>
      <p:sp>
        <p:nvSpPr>
          <p:cNvPr id="51" name="Text 49"/>
          <p:cNvSpPr/>
          <p:nvPr/>
        </p:nvSpPr>
        <p:spPr>
          <a:xfrm>
            <a:off x="6071616" y="1133856"/>
            <a:ext cx="5870448" cy="292608"/>
          </a:xfrm>
          <a:prstGeom prst="rect">
            <a:avLst/>
          </a:prstGeom>
          <a:noFill/>
          <a:ln/>
        </p:spPr>
        <p:txBody>
          <a:bodyPr wrap="square" lIns="0" tIns="0" rIns="0" bIns="0" rtlCol="0" anchor="ctr"/>
          <a:lstStyle/>
          <a:p>
            <a:pPr marL="0" indent="0">
              <a:buNone/>
            </a:pPr>
            <a:r>
              <a:rPr lang="en-US" sz="850" b="1" kern="0" spc="100">
                <a:solidFill>
                  <a:srgbClr val="FFFFFF"/>
                </a:solidFill>
                <a:latin typeface="Calibri"/>
                <a:ea typeface="Calibri"/>
                <a:cs typeface="Calibri"/>
              </a:rPr>
              <a:t>RECOMMENDED NEXT STEPS</a:t>
            </a:r>
            <a:endParaRPr lang="en-US" sz="850" dirty="0"/>
          </a:p>
        </p:txBody>
      </p:sp>
      <p:sp>
        <p:nvSpPr>
          <p:cNvPr id="52" name="Shape 50"/>
          <p:cNvSpPr/>
          <p:nvPr/>
        </p:nvSpPr>
        <p:spPr>
          <a:xfrm>
            <a:off x="5998464" y="1426464"/>
            <a:ext cx="5998464" cy="50292"/>
          </a:xfrm>
          <a:prstGeom prst="rect">
            <a:avLst/>
          </a:prstGeom>
          <a:solidFill>
            <a:srgbClr val="CC0000"/>
          </a:solidFill>
          <a:ln w="12700">
            <a:solidFill>
              <a:srgbClr val="CC0000"/>
            </a:solidFill>
            <a:prstDash val="solid"/>
          </a:ln>
        </p:spPr>
        <p:txBody>
          <a:bodyPr/>
          <a:lstStyle/>
          <a:p>
            <a:endParaRPr lang="en-US"/>
          </a:p>
        </p:txBody>
      </p:sp>
      <p:sp>
        <p:nvSpPr>
          <p:cNvPr id="53" name="Shape 51"/>
          <p:cNvSpPr/>
          <p:nvPr/>
        </p:nvSpPr>
        <p:spPr>
          <a:xfrm>
            <a:off x="5998464" y="1517904"/>
            <a:ext cx="5998464" cy="877824"/>
          </a:xfrm>
          <a:prstGeom prst="rect">
            <a:avLst/>
          </a:prstGeom>
          <a:solidFill>
            <a:srgbClr val="FFFFFF"/>
          </a:solidFill>
          <a:ln w="6350">
            <a:solidFill>
              <a:srgbClr val="D4D4D4"/>
            </a:solidFill>
            <a:prstDash val="solid"/>
          </a:ln>
        </p:spPr>
        <p:txBody>
          <a:bodyPr/>
          <a:lstStyle/>
          <a:p>
            <a:endParaRPr lang="en-US"/>
          </a:p>
        </p:txBody>
      </p:sp>
      <p:sp>
        <p:nvSpPr>
          <p:cNvPr id="54" name="Shape 52"/>
          <p:cNvSpPr/>
          <p:nvPr/>
        </p:nvSpPr>
        <p:spPr>
          <a:xfrm>
            <a:off x="6053328" y="1719072"/>
            <a:ext cx="411480" cy="411480"/>
          </a:xfrm>
          <a:prstGeom prst="ellipse">
            <a:avLst/>
          </a:prstGeom>
          <a:solidFill>
            <a:srgbClr val="CC0000"/>
          </a:solidFill>
          <a:ln w="12700">
            <a:solidFill>
              <a:srgbClr val="CC0000"/>
            </a:solidFill>
            <a:prstDash val="solid"/>
          </a:ln>
        </p:spPr>
        <p:txBody>
          <a:bodyPr/>
          <a:lstStyle/>
          <a:p>
            <a:endParaRPr lang="en-US"/>
          </a:p>
        </p:txBody>
      </p:sp>
      <p:sp>
        <p:nvSpPr>
          <p:cNvPr id="55" name="Text 53"/>
          <p:cNvSpPr/>
          <p:nvPr/>
        </p:nvSpPr>
        <p:spPr>
          <a:xfrm>
            <a:off x="6053328" y="1719072"/>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6" name="Text 54"/>
          <p:cNvSpPr/>
          <p:nvPr/>
        </p:nvSpPr>
        <p:spPr>
          <a:xfrm>
            <a:off x="6565392" y="1609344"/>
            <a:ext cx="5321808" cy="292608"/>
          </a:xfrm>
          <a:prstGeom prst="rect">
            <a:avLst/>
          </a:prstGeom>
          <a:noFill/>
          <a:ln/>
        </p:spPr>
        <p:txBody>
          <a:bodyPr wrap="square" lIns="0" tIns="0" rIns="0" bIns="0" rtlCol="0" anchor="ctr"/>
          <a:lstStyle/>
          <a:p>
            <a:pPr marL="0" indent="0">
              <a:buNone/>
            </a:pPr>
            <a:r>
              <a:rPr lang="en-US" sz="1250" b="1" dirty="0">
                <a:solidFill>
                  <a:srgbClr val="1F1F1F"/>
                </a:solidFill>
                <a:latin typeface="Calibri" pitchFamily="34" charset="0"/>
                <a:ea typeface="Calibri" pitchFamily="34" charset="-122"/>
                <a:cs typeface="Calibri" pitchFamily="34" charset="-120"/>
              </a:rPr>
              <a:t>Approve Adobe Fix &amp; Stabilize</a:t>
            </a:r>
            <a:endParaRPr lang="en-US" sz="1250" dirty="0"/>
          </a:p>
        </p:txBody>
      </p:sp>
      <p:sp>
        <p:nvSpPr>
          <p:cNvPr id="57" name="Text 55"/>
          <p:cNvSpPr/>
          <p:nvPr/>
        </p:nvSpPr>
        <p:spPr>
          <a:xfrm>
            <a:off x="6565392" y="1920240"/>
            <a:ext cx="5321808" cy="420624"/>
          </a:xfrm>
          <a:prstGeom prst="rect">
            <a:avLst/>
          </a:prstGeom>
          <a:noFill/>
          <a:ln/>
        </p:spPr>
        <p:txBody>
          <a:bodyPr wrap="square" lIns="0" tIns="0" rIns="0" bIns="0" rtlCol="0" anchor="t"/>
          <a:lstStyle/>
          <a:p>
            <a:pPr marL="0" indent="0">
              <a:buNone/>
            </a:pPr>
            <a:r>
              <a:rPr lang="en-US" sz="1050" dirty="0">
                <a:solidFill>
                  <a:srgbClr val="777777"/>
                </a:solidFill>
                <a:latin typeface="Calibri" pitchFamily="34" charset="0"/>
                <a:ea typeface="Calibri" pitchFamily="34" charset="-122"/>
                <a:cs typeface="Calibri" pitchFamily="34" charset="-120"/>
              </a:rPr>
              <a:t>Non-negotiable foundation (~3–4 months). Required before Web SDK or AEP. Start immediately regardless of future-state decisions.</a:t>
            </a:r>
            <a:endParaRPr lang="en-US" sz="1050" dirty="0"/>
          </a:p>
        </p:txBody>
      </p:sp>
      <p:sp>
        <p:nvSpPr>
          <p:cNvPr id="58" name="Shape 56"/>
          <p:cNvSpPr/>
          <p:nvPr/>
        </p:nvSpPr>
        <p:spPr>
          <a:xfrm>
            <a:off x="5998464" y="2468880"/>
            <a:ext cx="5998464" cy="877824"/>
          </a:xfrm>
          <a:prstGeom prst="rect">
            <a:avLst/>
          </a:prstGeom>
          <a:solidFill>
            <a:srgbClr val="F4F4F4"/>
          </a:solidFill>
          <a:ln w="6350">
            <a:solidFill>
              <a:srgbClr val="D4D4D4"/>
            </a:solidFill>
            <a:prstDash val="solid"/>
          </a:ln>
        </p:spPr>
        <p:txBody>
          <a:bodyPr/>
          <a:lstStyle/>
          <a:p>
            <a:endParaRPr lang="en-US"/>
          </a:p>
        </p:txBody>
      </p:sp>
      <p:sp>
        <p:nvSpPr>
          <p:cNvPr id="59" name="Shape 57"/>
          <p:cNvSpPr/>
          <p:nvPr/>
        </p:nvSpPr>
        <p:spPr>
          <a:xfrm>
            <a:off x="6053328" y="2670048"/>
            <a:ext cx="411480" cy="411480"/>
          </a:xfrm>
          <a:prstGeom prst="ellipse">
            <a:avLst/>
          </a:prstGeom>
          <a:solidFill>
            <a:srgbClr val="333333"/>
          </a:solidFill>
          <a:ln w="12700">
            <a:solidFill>
              <a:srgbClr val="333333"/>
            </a:solidFill>
            <a:prstDash val="solid"/>
          </a:ln>
        </p:spPr>
        <p:txBody>
          <a:bodyPr/>
          <a:lstStyle/>
          <a:p>
            <a:endParaRPr lang="en-US"/>
          </a:p>
        </p:txBody>
      </p:sp>
      <p:sp>
        <p:nvSpPr>
          <p:cNvPr id="60" name="Text 58"/>
          <p:cNvSpPr/>
          <p:nvPr/>
        </p:nvSpPr>
        <p:spPr>
          <a:xfrm>
            <a:off x="6053328" y="267004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61" name="Text 59"/>
          <p:cNvSpPr/>
          <p:nvPr/>
        </p:nvSpPr>
        <p:spPr>
          <a:xfrm>
            <a:off x="6565392" y="2560320"/>
            <a:ext cx="5321808" cy="292608"/>
          </a:xfrm>
          <a:prstGeom prst="rect">
            <a:avLst/>
          </a:prstGeom>
          <a:noFill/>
          <a:ln/>
        </p:spPr>
        <p:txBody>
          <a:bodyPr wrap="square" lIns="0" tIns="0" rIns="0" bIns="0" rtlCol="0" anchor="ctr"/>
          <a:lstStyle/>
          <a:p>
            <a:pPr marL="0" indent="0">
              <a:buNone/>
            </a:pPr>
            <a:r>
              <a:rPr lang="en-US" sz="1250" b="1" dirty="0">
                <a:solidFill>
                  <a:srgbClr val="1F1F1F"/>
                </a:solidFill>
                <a:latin typeface="Calibri" pitchFamily="34" charset="0"/>
                <a:ea typeface="Calibri" pitchFamily="34" charset="-122"/>
                <a:cs typeface="Calibri" pitchFamily="34" charset="-120"/>
              </a:rPr>
              <a:t>Align on CDP Strategy</a:t>
            </a:r>
            <a:endParaRPr lang="en-US" sz="1250" dirty="0"/>
          </a:p>
        </p:txBody>
      </p:sp>
      <p:sp>
        <p:nvSpPr>
          <p:cNvPr id="62" name="Text 60"/>
          <p:cNvSpPr/>
          <p:nvPr/>
        </p:nvSpPr>
        <p:spPr>
          <a:xfrm>
            <a:off x="6565392" y="2871216"/>
            <a:ext cx="5321808" cy="420624"/>
          </a:xfrm>
          <a:prstGeom prst="rect">
            <a:avLst/>
          </a:prstGeom>
          <a:noFill/>
          <a:ln/>
        </p:spPr>
        <p:txBody>
          <a:bodyPr wrap="square" lIns="0" tIns="0" rIns="0" bIns="0" rtlCol="0" anchor="t"/>
          <a:lstStyle/>
          <a:p>
            <a:pPr marL="0" indent="0">
              <a:buNone/>
            </a:pPr>
            <a:r>
              <a:rPr lang="en-US" sz="1050" dirty="0">
                <a:solidFill>
                  <a:srgbClr val="777777"/>
                </a:solidFill>
                <a:latin typeface="Calibri" pitchFamily="34" charset="0"/>
                <a:ea typeface="Calibri" pitchFamily="34" charset="-122"/>
                <a:cs typeface="Calibri" pitchFamily="34" charset="-120"/>
              </a:rPr>
              <a:t>Convene CX, SAP, and Digital Commerce to decide: CDP as central hub vs. SFDC consolidation. This decision gates e-commerce unification.</a:t>
            </a:r>
            <a:endParaRPr lang="en-US" sz="1050" dirty="0"/>
          </a:p>
        </p:txBody>
      </p:sp>
      <p:sp>
        <p:nvSpPr>
          <p:cNvPr id="63" name="Shape 61"/>
          <p:cNvSpPr/>
          <p:nvPr/>
        </p:nvSpPr>
        <p:spPr>
          <a:xfrm>
            <a:off x="5998464" y="3419856"/>
            <a:ext cx="5998464" cy="877824"/>
          </a:xfrm>
          <a:prstGeom prst="rect">
            <a:avLst/>
          </a:prstGeom>
          <a:solidFill>
            <a:srgbClr val="FFFFFF"/>
          </a:solidFill>
          <a:ln w="6350">
            <a:solidFill>
              <a:srgbClr val="D4D4D4"/>
            </a:solidFill>
            <a:prstDash val="solid"/>
          </a:ln>
        </p:spPr>
        <p:txBody>
          <a:bodyPr/>
          <a:lstStyle/>
          <a:p>
            <a:endParaRPr lang="en-US"/>
          </a:p>
        </p:txBody>
      </p:sp>
      <p:sp>
        <p:nvSpPr>
          <p:cNvPr id="64" name="Shape 62"/>
          <p:cNvSpPr/>
          <p:nvPr/>
        </p:nvSpPr>
        <p:spPr>
          <a:xfrm>
            <a:off x="6053328" y="3621024"/>
            <a:ext cx="411480" cy="411480"/>
          </a:xfrm>
          <a:prstGeom prst="ellipse">
            <a:avLst/>
          </a:prstGeom>
          <a:solidFill>
            <a:srgbClr val="333333"/>
          </a:solidFill>
          <a:ln w="12700">
            <a:solidFill>
              <a:srgbClr val="333333"/>
            </a:solidFill>
            <a:prstDash val="solid"/>
          </a:ln>
        </p:spPr>
        <p:txBody>
          <a:bodyPr/>
          <a:lstStyle/>
          <a:p>
            <a:endParaRPr lang="en-US"/>
          </a:p>
        </p:txBody>
      </p:sp>
      <p:sp>
        <p:nvSpPr>
          <p:cNvPr id="65" name="Text 63"/>
          <p:cNvSpPr/>
          <p:nvPr/>
        </p:nvSpPr>
        <p:spPr>
          <a:xfrm>
            <a:off x="6053328" y="3621024"/>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66" name="Text 64"/>
          <p:cNvSpPr/>
          <p:nvPr/>
        </p:nvSpPr>
        <p:spPr>
          <a:xfrm>
            <a:off x="6565392" y="3511296"/>
            <a:ext cx="5321808" cy="292608"/>
          </a:xfrm>
          <a:prstGeom prst="rect">
            <a:avLst/>
          </a:prstGeom>
          <a:noFill/>
          <a:ln/>
        </p:spPr>
        <p:txBody>
          <a:bodyPr wrap="square" lIns="0" tIns="0" rIns="0" bIns="0" rtlCol="0" anchor="ctr"/>
          <a:lstStyle/>
          <a:p>
            <a:pPr marL="0" indent="0">
              <a:buNone/>
            </a:pPr>
            <a:r>
              <a:rPr lang="en-US" sz="1250" b="1" dirty="0">
                <a:solidFill>
                  <a:srgbClr val="1F1F1F"/>
                </a:solidFill>
                <a:latin typeface="Calibri" pitchFamily="34" charset="0"/>
                <a:ea typeface="Calibri" pitchFamily="34" charset="-122"/>
                <a:cs typeface="Calibri" pitchFamily="34" charset="-120"/>
              </a:rPr>
              <a:t>Expand S/4 Integration Scope</a:t>
            </a:r>
            <a:endParaRPr lang="en-US" sz="1250" dirty="0"/>
          </a:p>
        </p:txBody>
      </p:sp>
      <p:sp>
        <p:nvSpPr>
          <p:cNvPr id="67" name="Text 65"/>
          <p:cNvSpPr/>
          <p:nvPr/>
        </p:nvSpPr>
        <p:spPr>
          <a:xfrm>
            <a:off x="6565392" y="3822192"/>
            <a:ext cx="5321808" cy="420624"/>
          </a:xfrm>
          <a:prstGeom prst="rect">
            <a:avLst/>
          </a:prstGeom>
          <a:noFill/>
          <a:ln/>
        </p:spPr>
        <p:txBody>
          <a:bodyPr wrap="square" lIns="0" tIns="0" rIns="0" bIns="0" rtlCol="0" anchor="t"/>
          <a:lstStyle/>
          <a:p>
            <a:pPr marL="0" indent="0">
              <a:buNone/>
            </a:pPr>
            <a:r>
              <a:rPr lang="en-US" sz="1050" dirty="0">
                <a:solidFill>
                  <a:srgbClr val="777777"/>
                </a:solidFill>
                <a:latin typeface="Calibri" pitchFamily="34" charset="0"/>
                <a:ea typeface="Calibri" pitchFamily="34" charset="-122"/>
                <a:cs typeface="Calibri" pitchFamily="34" charset="-120"/>
              </a:rPr>
              <a:t>Evolve impact assessment from PT-only to all SBGs. Establish re-architecture principles before PT build bakes in patterns that won't scale.</a:t>
            </a:r>
            <a:endParaRPr lang="en-US" sz="1050" dirty="0"/>
          </a:p>
        </p:txBody>
      </p:sp>
      <p:sp>
        <p:nvSpPr>
          <p:cNvPr id="68" name="Shape 66"/>
          <p:cNvSpPr/>
          <p:nvPr/>
        </p:nvSpPr>
        <p:spPr>
          <a:xfrm>
            <a:off x="5998464" y="4370832"/>
            <a:ext cx="5998464" cy="877824"/>
          </a:xfrm>
          <a:prstGeom prst="rect">
            <a:avLst/>
          </a:prstGeom>
          <a:solidFill>
            <a:srgbClr val="F4F4F4"/>
          </a:solidFill>
          <a:ln w="6350">
            <a:solidFill>
              <a:srgbClr val="D4D4D4"/>
            </a:solidFill>
            <a:prstDash val="solid"/>
          </a:ln>
        </p:spPr>
        <p:txBody>
          <a:bodyPr/>
          <a:lstStyle/>
          <a:p>
            <a:endParaRPr lang="en-US"/>
          </a:p>
        </p:txBody>
      </p:sp>
      <p:sp>
        <p:nvSpPr>
          <p:cNvPr id="69" name="Shape 67"/>
          <p:cNvSpPr/>
          <p:nvPr/>
        </p:nvSpPr>
        <p:spPr>
          <a:xfrm>
            <a:off x="6053328" y="4572000"/>
            <a:ext cx="411480" cy="411480"/>
          </a:xfrm>
          <a:prstGeom prst="ellipse">
            <a:avLst/>
          </a:prstGeom>
          <a:solidFill>
            <a:srgbClr val="333333"/>
          </a:solidFill>
          <a:ln w="12700">
            <a:solidFill>
              <a:srgbClr val="333333"/>
            </a:solidFill>
            <a:prstDash val="solid"/>
          </a:ln>
        </p:spPr>
        <p:txBody>
          <a:bodyPr/>
          <a:lstStyle/>
          <a:p>
            <a:endParaRPr lang="en-US"/>
          </a:p>
        </p:txBody>
      </p:sp>
      <p:sp>
        <p:nvSpPr>
          <p:cNvPr id="70" name="Text 68"/>
          <p:cNvSpPr/>
          <p:nvPr/>
        </p:nvSpPr>
        <p:spPr>
          <a:xfrm>
            <a:off x="6053328" y="457200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71" name="Text 69"/>
          <p:cNvSpPr/>
          <p:nvPr/>
        </p:nvSpPr>
        <p:spPr>
          <a:xfrm>
            <a:off x="6565392" y="4462272"/>
            <a:ext cx="5321808" cy="292608"/>
          </a:xfrm>
          <a:prstGeom prst="rect">
            <a:avLst/>
          </a:prstGeom>
          <a:noFill/>
          <a:ln/>
        </p:spPr>
        <p:txBody>
          <a:bodyPr wrap="square" lIns="0" tIns="0" rIns="0" bIns="0" rtlCol="0" anchor="ctr"/>
          <a:lstStyle/>
          <a:p>
            <a:pPr marL="0" indent="0">
              <a:buNone/>
            </a:pPr>
            <a:r>
              <a:rPr lang="en-US" sz="1250" b="1" dirty="0">
                <a:solidFill>
                  <a:srgbClr val="1F1F1F"/>
                </a:solidFill>
                <a:latin typeface="Calibri" pitchFamily="34" charset="0"/>
                <a:ea typeface="Calibri" pitchFamily="34" charset="-122"/>
                <a:cs typeface="Calibri" pitchFamily="34" charset="-120"/>
              </a:rPr>
              <a:t>Engage SBG Business Owners &amp; CFO</a:t>
            </a:r>
            <a:endParaRPr lang="en-US" sz="1250" dirty="0"/>
          </a:p>
        </p:txBody>
      </p:sp>
      <p:sp>
        <p:nvSpPr>
          <p:cNvPr id="72" name="Text 70"/>
          <p:cNvSpPr/>
          <p:nvPr/>
        </p:nvSpPr>
        <p:spPr>
          <a:xfrm>
            <a:off x="6565392" y="4773168"/>
            <a:ext cx="5321808" cy="420624"/>
          </a:xfrm>
          <a:prstGeom prst="rect">
            <a:avLst/>
          </a:prstGeom>
          <a:noFill/>
          <a:ln/>
        </p:spPr>
        <p:txBody>
          <a:bodyPr wrap="square" lIns="0" tIns="0" rIns="0" bIns="0" rtlCol="0" anchor="t"/>
          <a:lstStyle/>
          <a:p>
            <a:pPr marL="0" indent="0">
              <a:buNone/>
            </a:pPr>
            <a:r>
              <a:rPr lang="en-US" sz="1050" dirty="0">
                <a:solidFill>
                  <a:srgbClr val="777777"/>
                </a:solidFill>
                <a:latin typeface="Calibri" pitchFamily="34" charset="0"/>
                <a:ea typeface="Calibri" pitchFamily="34" charset="-122"/>
                <a:cs typeface="Calibri" pitchFamily="34" charset="-120"/>
              </a:rPr>
              <a:t>Introduce SBG owners and CFO/VP Finance to PwC before the PoC demo. Every engagement after requires buyers not in the original conversation.</a:t>
            </a:r>
            <a:endParaRPr lang="en-US" sz="1050" dirty="0"/>
          </a:p>
        </p:txBody>
      </p:sp>
      <p:sp>
        <p:nvSpPr>
          <p:cNvPr id="73" name="Shape 71"/>
          <p:cNvSpPr/>
          <p:nvPr/>
        </p:nvSpPr>
        <p:spPr>
          <a:xfrm>
            <a:off x="5998464" y="5321808"/>
            <a:ext cx="5998464" cy="877824"/>
          </a:xfrm>
          <a:prstGeom prst="rect">
            <a:avLst/>
          </a:prstGeom>
          <a:solidFill>
            <a:srgbClr val="FFFFFF"/>
          </a:solidFill>
          <a:ln w="6350">
            <a:solidFill>
              <a:srgbClr val="D4D4D4"/>
            </a:solidFill>
            <a:prstDash val="solid"/>
          </a:ln>
        </p:spPr>
        <p:txBody>
          <a:bodyPr/>
          <a:lstStyle/>
          <a:p>
            <a:endParaRPr lang="en-US"/>
          </a:p>
        </p:txBody>
      </p:sp>
      <p:sp>
        <p:nvSpPr>
          <p:cNvPr id="74" name="Shape 72"/>
          <p:cNvSpPr/>
          <p:nvPr/>
        </p:nvSpPr>
        <p:spPr>
          <a:xfrm>
            <a:off x="6053328" y="5522976"/>
            <a:ext cx="411480" cy="411480"/>
          </a:xfrm>
          <a:prstGeom prst="ellipse">
            <a:avLst/>
          </a:prstGeom>
          <a:solidFill>
            <a:srgbClr val="333333"/>
          </a:solidFill>
          <a:ln w="12700">
            <a:solidFill>
              <a:srgbClr val="333333"/>
            </a:solidFill>
            <a:prstDash val="solid"/>
          </a:ln>
        </p:spPr>
        <p:txBody>
          <a:bodyPr/>
          <a:lstStyle/>
          <a:p>
            <a:endParaRPr lang="en-US"/>
          </a:p>
        </p:txBody>
      </p:sp>
      <p:sp>
        <p:nvSpPr>
          <p:cNvPr id="75" name="Text 73"/>
          <p:cNvSpPr/>
          <p:nvPr/>
        </p:nvSpPr>
        <p:spPr>
          <a:xfrm>
            <a:off x="6053328" y="5522976"/>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76" name="Text 74"/>
          <p:cNvSpPr/>
          <p:nvPr/>
        </p:nvSpPr>
        <p:spPr>
          <a:xfrm>
            <a:off x="6565392" y="5413248"/>
            <a:ext cx="5321808" cy="292608"/>
          </a:xfrm>
          <a:prstGeom prst="rect">
            <a:avLst/>
          </a:prstGeom>
          <a:noFill/>
          <a:ln/>
        </p:spPr>
        <p:txBody>
          <a:bodyPr wrap="square" lIns="0" tIns="0" rIns="0" bIns="0" rtlCol="0" anchor="ctr"/>
          <a:lstStyle/>
          <a:p>
            <a:pPr marL="0" indent="0">
              <a:buNone/>
            </a:pPr>
            <a:r>
              <a:rPr lang="en-US" sz="1250" b="1" dirty="0">
                <a:solidFill>
                  <a:srgbClr val="1F1F1F"/>
                </a:solidFill>
                <a:latin typeface="Calibri" pitchFamily="34" charset="0"/>
                <a:ea typeface="Calibri" pitchFamily="34" charset="-122"/>
                <a:cs typeface="Calibri" pitchFamily="34" charset="-120"/>
              </a:rPr>
              <a:t>Commission Agentic Vision Workshop</a:t>
            </a:r>
            <a:endParaRPr lang="en-US" sz="1250" dirty="0"/>
          </a:p>
        </p:txBody>
      </p:sp>
      <p:sp>
        <p:nvSpPr>
          <p:cNvPr id="77" name="Text 75"/>
          <p:cNvSpPr/>
          <p:nvPr/>
        </p:nvSpPr>
        <p:spPr>
          <a:xfrm>
            <a:off x="6565392" y="5724144"/>
            <a:ext cx="5321808" cy="420624"/>
          </a:xfrm>
          <a:prstGeom prst="rect">
            <a:avLst/>
          </a:prstGeom>
          <a:noFill/>
          <a:ln/>
        </p:spPr>
        <p:txBody>
          <a:bodyPr wrap="square" lIns="0" tIns="0" rIns="0" bIns="0" rtlCol="0" anchor="t"/>
          <a:lstStyle/>
          <a:p>
            <a:pPr marL="0" indent="0">
              <a:buNone/>
            </a:pPr>
            <a:r>
              <a:rPr lang="en-US" sz="1050" dirty="0">
                <a:solidFill>
                  <a:srgbClr val="777777"/>
                </a:solidFill>
                <a:latin typeface="Calibri" pitchFamily="34" charset="0"/>
                <a:ea typeface="Calibri" pitchFamily="34" charset="-122"/>
                <a:cs typeface="Calibri" pitchFamily="34" charset="-120"/>
              </a:rPr>
              <a:t>Align Honeywell leadership on the Agentic Front Office: 32 mapped activities, 4 journey stages, AI-assisted vs. operations model.</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BDFD1B-3C60-0D72-97B5-9B7D471B16AE}"/>
              </a:ext>
            </a:extLst>
          </p:cNvPr>
          <p:cNvSpPr>
            <a:spLocks noGrp="1"/>
          </p:cNvSpPr>
          <p:nvPr>
            <p:ph type="title" idx="4294967295"/>
          </p:nvPr>
        </p:nvSpPr>
        <p:spPr>
          <a:xfrm>
            <a:off x="342900" y="422624"/>
            <a:ext cx="11462413" cy="419100"/>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kern="1200" cap="none" spc="-150" baseline="0">
                <a:solidFill>
                  <a:schemeClr val="tx1"/>
                </a:solidFill>
                <a:latin typeface="+mj-lt"/>
                <a:ea typeface="+mj-ea"/>
                <a:cs typeface="+mj-cs"/>
              </a:defRPr>
            </a:lvl1pPr>
          </a:lstStyle>
          <a:p>
            <a:r>
              <a:rPr lang="en-US" dirty="0">
                <a:solidFill>
                  <a:schemeClr val="bg1"/>
                </a:solidFill>
              </a:rPr>
              <a:t>Appendix</a:t>
            </a:r>
            <a:endParaRPr lang="en-US" sz="6600" dirty="0">
              <a:solidFill>
                <a:schemeClr val="bg1"/>
              </a:solidFill>
            </a:endParaRPr>
          </a:p>
        </p:txBody>
      </p:sp>
    </p:spTree>
    <p:extLst>
      <p:ext uri="{BB962C8B-B14F-4D97-AF65-F5344CB8AC3E}">
        <p14:creationId xmlns:p14="http://schemas.microsoft.com/office/powerpoint/2010/main" val="1412393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58C19-6166-7E31-518C-7A5A3DF488FD}"/>
              </a:ext>
            </a:extLst>
          </p:cNvPr>
          <p:cNvSpPr>
            <a:spLocks noGrp="1"/>
          </p:cNvSpPr>
          <p:nvPr>
            <p:ph type="title"/>
          </p:nvPr>
        </p:nvSpPr>
        <p:spPr>
          <a:xfrm>
            <a:off x="838200" y="18279"/>
            <a:ext cx="10515600" cy="462565"/>
          </a:xfrm>
        </p:spPr>
        <p:txBody>
          <a:bodyPr>
            <a:noAutofit/>
          </a:bodyPr>
          <a:lstStyle/>
          <a:p>
            <a:r>
              <a:rPr lang="en-US" sz="2000" b="1">
                <a:latin typeface="Arial Black" panose="020B0604020202020204" pitchFamily="34" charset="0"/>
                <a:cs typeface="Arial Black" panose="020B0604020202020204" pitchFamily="34" charset="0"/>
              </a:rPr>
              <a:t>Enterprise Context</a:t>
            </a:r>
          </a:p>
        </p:txBody>
      </p:sp>
      <p:pic>
        <p:nvPicPr>
          <p:cNvPr id="5" name="Content Placeholder 4">
            <a:extLst>
              <a:ext uri="{FF2B5EF4-FFF2-40B4-BE49-F238E27FC236}">
                <a16:creationId xmlns:a16="http://schemas.microsoft.com/office/drawing/2014/main" id="{6B9AF875-BFB5-AE95-0B5D-527D30F3B9A6}"/>
              </a:ext>
            </a:extLst>
          </p:cNvPr>
          <p:cNvPicPr>
            <a:picLocks noGrp="1" noChangeAspect="1"/>
          </p:cNvPicPr>
          <p:nvPr>
            <p:ph idx="1"/>
          </p:nvPr>
        </p:nvPicPr>
        <p:blipFill>
          <a:blip r:embed="rId3"/>
          <a:stretch>
            <a:fillRect/>
          </a:stretch>
        </p:blipFill>
        <p:spPr>
          <a:xfrm>
            <a:off x="0" y="388307"/>
            <a:ext cx="12191999" cy="6469693"/>
          </a:xfrm>
          <a:prstGeom prst="rect">
            <a:avLst/>
          </a:prstGeom>
        </p:spPr>
      </p:pic>
    </p:spTree>
    <p:extLst>
      <p:ext uri="{BB962C8B-B14F-4D97-AF65-F5344CB8AC3E}">
        <p14:creationId xmlns:p14="http://schemas.microsoft.com/office/powerpoint/2010/main" val="2870495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78103-CD1B-F6FA-206B-5824470173E6}"/>
            </a:ext>
          </a:extLst>
        </p:cNvPr>
        <p:cNvGrpSpPr/>
        <p:nvPr/>
      </p:nvGrpSpPr>
      <p:grpSpPr>
        <a:xfrm>
          <a:off x="0" y="0"/>
          <a:ext cx="0" cy="0"/>
          <a:chOff x="0" y="0"/>
          <a:chExt cx="0" cy="0"/>
        </a:xfrm>
      </p:grpSpPr>
      <p:sp>
        <p:nvSpPr>
          <p:cNvPr id="27" name="Arrow: Right 26">
            <a:extLst>
              <a:ext uri="{FF2B5EF4-FFF2-40B4-BE49-F238E27FC236}">
                <a16:creationId xmlns:a16="http://schemas.microsoft.com/office/drawing/2014/main" id="{A616A5AF-79C9-7DA1-5BAB-82F56E49443C}"/>
              </a:ext>
            </a:extLst>
          </p:cNvPr>
          <p:cNvSpPr/>
          <p:nvPr/>
        </p:nvSpPr>
        <p:spPr>
          <a:xfrm>
            <a:off x="6070386" y="1807369"/>
            <a:ext cx="1062081" cy="7603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dirty="0"/>
              <a:t>Future State</a:t>
            </a:r>
          </a:p>
        </p:txBody>
      </p:sp>
      <p:sp>
        <p:nvSpPr>
          <p:cNvPr id="40" name="TextBox 39">
            <a:extLst>
              <a:ext uri="{FF2B5EF4-FFF2-40B4-BE49-F238E27FC236}">
                <a16:creationId xmlns:a16="http://schemas.microsoft.com/office/drawing/2014/main" id="{3FCC0DAF-9DCD-795F-77C6-61F02E68600C}"/>
              </a:ext>
            </a:extLst>
          </p:cNvPr>
          <p:cNvSpPr txBox="1"/>
          <p:nvPr/>
        </p:nvSpPr>
        <p:spPr>
          <a:xfrm>
            <a:off x="7581221" y="4919834"/>
            <a:ext cx="4487834" cy="923330"/>
          </a:xfrm>
          <a:prstGeom prst="rect">
            <a:avLst/>
          </a:prstGeom>
          <a:noFill/>
        </p:spPr>
        <p:txBody>
          <a:bodyPr wrap="square" rtlCol="0">
            <a:spAutoFit/>
          </a:bodyPr>
          <a:lstStyle/>
          <a:p>
            <a:pPr marL="285750" indent="-285750">
              <a:buFont typeface="Arial" panose="020B0604020202020204" pitchFamily="34" charset="0"/>
              <a:buChar char="•"/>
            </a:pPr>
            <a:r>
              <a:rPr lang="en-US" dirty="0">
                <a:highlight>
                  <a:srgbClr val="FFFF00"/>
                </a:highlight>
              </a:rPr>
              <a:t>PSS systems Physically separated </a:t>
            </a:r>
          </a:p>
          <a:p>
            <a:pPr marL="285750" indent="-285750">
              <a:buFont typeface="Arial" panose="020B0604020202020204" pitchFamily="34" charset="0"/>
              <a:buChar char="•"/>
            </a:pPr>
            <a:r>
              <a:rPr lang="en-US" sz="1600" dirty="0">
                <a:highlight>
                  <a:srgbClr val="FFFF00"/>
                </a:highlight>
              </a:rPr>
              <a:t>IA/HPS </a:t>
            </a:r>
            <a:r>
              <a:rPr lang="en-US" dirty="0">
                <a:highlight>
                  <a:srgbClr val="FFFF00"/>
                </a:highlight>
              </a:rPr>
              <a:t>within a single landscape</a:t>
            </a:r>
          </a:p>
          <a:p>
            <a:pPr marL="285750" indent="-285750">
              <a:buFont typeface="Arial" panose="020B0604020202020204" pitchFamily="34" charset="0"/>
              <a:buChar char="•"/>
            </a:pPr>
            <a:r>
              <a:rPr lang="en-US" dirty="0"/>
              <a:t>Standardized Sales processes</a:t>
            </a:r>
          </a:p>
        </p:txBody>
      </p:sp>
      <p:pic>
        <p:nvPicPr>
          <p:cNvPr id="1049" name="Picture 1048">
            <a:extLst>
              <a:ext uri="{FF2B5EF4-FFF2-40B4-BE49-F238E27FC236}">
                <a16:creationId xmlns:a16="http://schemas.microsoft.com/office/drawing/2014/main" id="{98467BD4-B919-4FCE-BE95-8DCB2F862DF5}"/>
              </a:ext>
            </a:extLst>
          </p:cNvPr>
          <p:cNvPicPr>
            <a:picLocks noChangeAspect="1"/>
          </p:cNvPicPr>
          <p:nvPr/>
        </p:nvPicPr>
        <p:blipFill>
          <a:blip r:embed="rId3"/>
          <a:stretch>
            <a:fillRect/>
          </a:stretch>
        </p:blipFill>
        <p:spPr>
          <a:xfrm>
            <a:off x="-53787" y="458210"/>
            <a:ext cx="6047333" cy="4097411"/>
          </a:xfrm>
          <a:prstGeom prst="rect">
            <a:avLst/>
          </a:prstGeom>
        </p:spPr>
      </p:pic>
      <p:sp>
        <p:nvSpPr>
          <p:cNvPr id="1053" name="TextBox 1052">
            <a:extLst>
              <a:ext uri="{FF2B5EF4-FFF2-40B4-BE49-F238E27FC236}">
                <a16:creationId xmlns:a16="http://schemas.microsoft.com/office/drawing/2014/main" id="{C1065E8F-3207-F70B-C79D-2FDF3C2537D6}"/>
              </a:ext>
            </a:extLst>
          </p:cNvPr>
          <p:cNvSpPr txBox="1"/>
          <p:nvPr/>
        </p:nvSpPr>
        <p:spPr>
          <a:xfrm>
            <a:off x="122945" y="4919834"/>
            <a:ext cx="5449583" cy="923330"/>
          </a:xfrm>
          <a:prstGeom prst="rect">
            <a:avLst/>
          </a:prstGeom>
          <a:noFill/>
        </p:spPr>
        <p:txBody>
          <a:bodyPr wrap="square" rtlCol="0">
            <a:spAutoFit/>
          </a:bodyPr>
          <a:lstStyle/>
          <a:p>
            <a:pPr marL="285750" indent="-285750">
              <a:buFont typeface="Arial" panose="020B0604020202020204" pitchFamily="34" charset="0"/>
              <a:buChar char="•"/>
            </a:pPr>
            <a:r>
              <a:rPr lang="en-US" dirty="0"/>
              <a:t>Complex System Landscape</a:t>
            </a:r>
          </a:p>
          <a:p>
            <a:pPr marL="285750" indent="-285750">
              <a:buFont typeface="Arial" panose="020B0604020202020204" pitchFamily="34" charset="0"/>
              <a:buChar char="•"/>
            </a:pPr>
            <a:r>
              <a:rPr lang="en-US" dirty="0"/>
              <a:t>GBEs across multiple landscapes</a:t>
            </a:r>
          </a:p>
          <a:p>
            <a:pPr marL="285750" indent="-285750">
              <a:buFont typeface="Arial" panose="020B0604020202020204" pitchFamily="34" charset="0"/>
              <a:buChar char="•"/>
            </a:pPr>
            <a:r>
              <a:rPr lang="en-US" dirty="0"/>
              <a:t>Lack of Standardized processes</a:t>
            </a:r>
          </a:p>
        </p:txBody>
      </p:sp>
      <p:pic>
        <p:nvPicPr>
          <p:cNvPr id="1055" name="Picture 1054">
            <a:extLst>
              <a:ext uri="{FF2B5EF4-FFF2-40B4-BE49-F238E27FC236}">
                <a16:creationId xmlns:a16="http://schemas.microsoft.com/office/drawing/2014/main" id="{FC5D1D84-1A86-DB0F-44F4-53083DF67631}"/>
              </a:ext>
            </a:extLst>
          </p:cNvPr>
          <p:cNvPicPr>
            <a:picLocks noChangeAspect="1"/>
          </p:cNvPicPr>
          <p:nvPr/>
        </p:nvPicPr>
        <p:blipFill>
          <a:blip r:embed="rId4"/>
          <a:stretch>
            <a:fillRect/>
          </a:stretch>
        </p:blipFill>
        <p:spPr>
          <a:xfrm>
            <a:off x="7132467" y="532074"/>
            <a:ext cx="4776039" cy="3186998"/>
          </a:xfrm>
          <a:prstGeom prst="rect">
            <a:avLst/>
          </a:prstGeom>
        </p:spPr>
      </p:pic>
      <p:sp>
        <p:nvSpPr>
          <p:cNvPr id="1056" name="TextBox 1055">
            <a:extLst>
              <a:ext uri="{FF2B5EF4-FFF2-40B4-BE49-F238E27FC236}">
                <a16:creationId xmlns:a16="http://schemas.microsoft.com/office/drawing/2014/main" id="{02C7BF6B-67CB-B37A-0E80-E4DA1ED00B6B}"/>
              </a:ext>
            </a:extLst>
          </p:cNvPr>
          <p:cNvSpPr txBox="1"/>
          <p:nvPr/>
        </p:nvSpPr>
        <p:spPr>
          <a:xfrm>
            <a:off x="122945" y="92208"/>
            <a:ext cx="9013371" cy="400110"/>
          </a:xfrm>
          <a:prstGeom prst="rect">
            <a:avLst/>
          </a:prstGeom>
          <a:noFill/>
        </p:spPr>
        <p:txBody>
          <a:bodyPr wrap="square" rtlCol="0">
            <a:spAutoFit/>
          </a:bodyPr>
          <a:lstStyle/>
          <a:p>
            <a:r>
              <a:rPr lang="en-US" sz="2000" b="1" dirty="0"/>
              <a:t>HON IA-HPS Commercial System Landscape</a:t>
            </a:r>
          </a:p>
        </p:txBody>
      </p:sp>
      <p:sp>
        <p:nvSpPr>
          <p:cNvPr id="2" name="Rectangle: Rounded Corners 1">
            <a:extLst>
              <a:ext uri="{FF2B5EF4-FFF2-40B4-BE49-F238E27FC236}">
                <a16:creationId xmlns:a16="http://schemas.microsoft.com/office/drawing/2014/main" id="{BD81744F-D1F3-1D48-A937-627ACB868063}"/>
              </a:ext>
            </a:extLst>
          </p:cNvPr>
          <p:cNvSpPr/>
          <p:nvPr/>
        </p:nvSpPr>
        <p:spPr>
          <a:xfrm>
            <a:off x="7030891" y="492318"/>
            <a:ext cx="1667435" cy="3418855"/>
          </a:xfrm>
          <a:prstGeom prst="roundRect">
            <a:avLst/>
          </a:prstGeom>
          <a:noFill/>
          <a:ln w="508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46384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1218</TotalTime>
  <Words>3744</Words>
  <Application>Microsoft Macintosh PowerPoint</Application>
  <PresentationFormat>Widescreen</PresentationFormat>
  <Paragraphs>564</Paragraphs>
  <Slides>13</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Arial Black</vt:lpstr>
      <vt:lpstr>Calibri</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Appendix</vt:lpstr>
      <vt:lpstr>Enterprise Context</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Honeywell Front Office Transformation</dc:title>
  <dc:subject>PptxGenJS Presentation</dc:subject>
  <dc:creator>PptxGenJS</dc:creator>
  <cp:lastModifiedBy>Jim LaLonde (US)</cp:lastModifiedBy>
  <cp:revision>45</cp:revision>
  <cp:lastPrinted>2026-05-05T10:30:33Z</cp:lastPrinted>
  <dcterms:created xsi:type="dcterms:W3CDTF">2026-05-02T18:34:01Z</dcterms:created>
  <dcterms:modified xsi:type="dcterms:W3CDTF">2026-05-05T10:30:54Z</dcterms:modified>
</cp:coreProperties>
</file>