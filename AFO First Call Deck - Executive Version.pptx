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1D_35DADEF1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507623" r:id="rId4"/>
  </p:sldMasterIdLst>
  <p:notesMasterIdLst>
    <p:notesMasterId r:id="rId22"/>
  </p:notesMasterIdLst>
  <p:sldIdLst>
    <p:sldId id="271" r:id="rId5"/>
    <p:sldId id="262" r:id="rId6"/>
    <p:sldId id="280" r:id="rId7"/>
    <p:sldId id="2147483647" r:id="rId8"/>
    <p:sldId id="263" r:id="rId9"/>
    <p:sldId id="2147483598" r:id="rId10"/>
    <p:sldId id="273" r:id="rId11"/>
    <p:sldId id="284" r:id="rId12"/>
    <p:sldId id="276" r:id="rId13"/>
    <p:sldId id="2147483639" r:id="rId14"/>
    <p:sldId id="285" r:id="rId15"/>
    <p:sldId id="2147483622" r:id="rId16"/>
    <p:sldId id="269" r:id="rId17"/>
    <p:sldId id="258" r:id="rId18"/>
    <p:sldId id="259" r:id="rId19"/>
    <p:sldId id="260" r:id="rId20"/>
    <p:sldId id="2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554125-5FDE-B361-3E7F-42C59A31E0DC}" name="Namrata Goplani (US)" initials="NG" userId="S::namrata.goplani@pwc.com::c21b7c72-1eef-48e6-a335-c2a12fdab69c" providerId="AD"/>
  <p188:author id="{B0EE672A-A9CB-55F0-901A-5D85A9BABBA9}" name="Chad Weatherford (US)" initials="C(" userId="S::chad.weatherford@pwc.com::58124851-c83e-4f97-b734-1b1309de6e4a" providerId="AD"/>
  <p188:author id="{A6D4DD2A-6F69-97D7-2D1F-449B0D85C419}" name="Angela Lester (US)" initials="A(" userId="S::angela.v.lester@pwc.com::0b7f8e7d-b83c-47be-9eab-5cd7e2c29672" providerId="AD"/>
  <p188:author id="{212C8F43-B1B5-3305-A680-A944A123A520}" name="Aparna Venkataraman (US)" initials="A(" userId="S::aparna.venkataraman@pwc.com::05211738-b2c4-4d35-8320-ea786d4cdf1a" providerId="AD"/>
  <p188:author id="{B9B85853-09F0-F8D0-BBDA-4BC691C335F6}" name="Gianna Caruso (US)" initials="GC" userId="S::gianna.caruso@pwc.com::4cf93257-9612-4171-a578-01e697ab0567" providerId="AD"/>
  <p188:author id="{922D4C57-81A7-668B-A73C-9BB3E38352F2}" name="Alexis Soloaga (US)" initials="A(" userId="S::alexis.soloaga@pwc.com::dd992202-1048-4716-9af5-d8b0d6a41f5d" providerId="AD"/>
  <p188:author id="{9715C369-721C-CAEF-9D6F-C4226F169110}" name="Ian Kahn (US)" initials="I(" userId="S::ian.w.kahn@pwc.com::58e1f121-4070-47aa-83d4-1bd88cc65ac5" providerId="AD"/>
  <p188:author id="{BB5BBB6A-2B8D-4582-1917-E1620E6BA3B3}" name="Pete Choo (US)" initials="PC(" userId="S::pete.choo@pwc.com::8b312d61-d939-4e75-b64b-fa9988fbe766" providerId="AD"/>
  <p188:author id="{34055387-9AF6-EDD6-B6BB-74A38B692912}" name="Lauren Kramer (US)" initials="LK(" userId="S::lauren.kramer@pwc.com::03c3b46b-ceec-48be-b5be-1dda17f95f06" providerId="AD"/>
  <p188:author id="{F3923D9B-4A80-2453-0083-DAF19B27BB0C}" name="Julie Kaplan (US)" initials="JK(" userId="S::julie.kaplan@pwc.com::007da480-2c36-4b0c-bf72-57b01844d2f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5B20"/>
    <a:srgbClr val="FD5109"/>
    <a:srgbClr val="ED7D31"/>
    <a:srgbClr val="FFFFFF"/>
    <a:srgbClr val="FFAA71"/>
    <a:srgbClr val="FFAA72"/>
    <a:srgbClr val="939393"/>
    <a:srgbClr val="FE7C39"/>
    <a:srgbClr val="000000"/>
    <a:srgbClr val="FE51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D223F8-EE06-FE48-16AA-B537531185D4}" v="19" dt="2026-05-06T21:15:44.442"/>
    <p1510:client id="{CD4DB3BF-EED5-B547-889D-36DE0D1BEA70}" v="1" dt="2026-05-06T21:22:20.4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591"/>
  </p:normalViewPr>
  <p:slideViewPr>
    <p:cSldViewPr snapToGrid="0">
      <p:cViewPr varScale="1">
        <p:scale>
          <a:sx n="95" d="100"/>
          <a:sy n="95" d="100"/>
        </p:scale>
        <p:origin x="1408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comments/modernComment_11D_35DADEF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55CD34-BFAB-4196-A6F6-01C3F3AA6C73}" authorId="{922D4C57-81A7-668B-A73C-9BB3E38352F2}" status="resolved" created="2026-03-18T02:48:40.480" complete="100000">
    <pc:sldMkLst xmlns:pc="http://schemas.microsoft.com/office/powerpoint/2013/main/command">
      <pc:docMk/>
      <pc:sldMk cId="3520457965" sldId="256"/>
    </pc:sldMkLst>
    <p188:txBody>
      <a:bodyPr/>
      <a:lstStyle/>
      <a:p>
        <a:r>
          <a:rPr lang="en-US"/>
          <a:t>Include differentiators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6F4EC1-BEA6-4CAB-A1CD-D6E526558A54}" type="datetimeFigureOut"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3FC10D-9859-4CB1-BC40-8091DE5B604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50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2da97c2b105_0_9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2da97c2b105_0_9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FC10D-9859-4CB1-BC40-8091DE5B604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588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FC10D-9859-4CB1-BC40-8091DE5B604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987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FC10D-9859-4CB1-BC40-8091DE5B604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466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8A875-395C-7F2F-A3E5-1148C0369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7A614E-2342-FFB4-4907-095FBEEC5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2DFB8A-F941-8F11-3DEC-140A1549D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86CA2-373B-7672-F80E-C5EBBC11A1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3FC10D-9859-4CB1-BC40-8091DE5B604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0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50" y="1716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799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4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2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211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799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4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2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173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50" y="1716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799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4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392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211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cover image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400"/>
              </a:spcBef>
              <a:defRPr sz="4799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4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B11A3AB-4A69-E082-016E-71E3453713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392" y="383381"/>
            <a:ext cx="1064007" cy="51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173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20" y="4007973"/>
            <a:ext cx="4671732" cy="1298448"/>
          </a:xfrm>
        </p:spPr>
        <p:txBody>
          <a:bodyPr/>
          <a:lstStyle>
            <a:lvl1pPr>
              <a:defRPr sz="39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5" y="402655"/>
            <a:ext cx="5641181" cy="3521964"/>
          </a:xfrm>
        </p:spPr>
        <p:txBody>
          <a:bodyPr/>
          <a:lstStyle>
            <a:lvl1pPr>
              <a:lnSpc>
                <a:spcPct val="125000"/>
              </a:lnSpc>
              <a:defRPr sz="15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979435-2CA0-F566-8195-3E80CC2D6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3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9" y="6501386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86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4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9" y="6501386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3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68179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1"/>
            <a:ext cx="5643562" cy="3998913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4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9" y="6501386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3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71289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4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9" y="6501386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3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605115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400050"/>
            <a:ext cx="6602413" cy="5653088"/>
          </a:xfrm>
        </p:spPr>
        <p:txBody>
          <a:bodyPr/>
          <a:lstStyle>
            <a:lvl1pPr>
              <a:spcAft>
                <a:spcPts val="1200"/>
              </a:spcAft>
              <a:defRPr sz="14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4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9" y="6501386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C9C41-CB60-9C3F-4A21-4DCCF3B440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3"/>
            <a:ext cx="3447482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05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3" y="3459960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799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4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990" b="0" kern="100" spc="-50" baseline="0">
                <a:solidFill>
                  <a:schemeClr val="accent1"/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82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82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3789D3-8936-6361-B279-04482E5DA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3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9" y="6501386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E7D6DB77-DFC0-CE4A-1A4C-8381B4B07B10}"/>
              </a:ext>
            </a:extLst>
          </p:cNvPr>
          <p:cNvSpPr txBox="1">
            <a:spLocks/>
          </p:cNvSpPr>
          <p:nvPr userDrawn="1"/>
        </p:nvSpPr>
        <p:spPr>
          <a:xfrm>
            <a:off x="11503819" y="6501386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6AC032-1535-134B-A583-D5E1DDD0D167}" type="slidenum">
              <a:rPr lang="en-US" sz="1050" smtClean="0"/>
              <a:pPr/>
              <a:t>‹#›</a:t>
            </a:fld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23134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3" y="3459960"/>
            <a:ext cx="5645841" cy="2593275"/>
          </a:xfrm>
        </p:spPr>
        <p:txBody>
          <a:bodyPr anchor="b" anchorCtr="0"/>
          <a:lstStyle>
            <a:lvl1pPr>
              <a:lnSpc>
                <a:spcPct val="80000"/>
              </a:lnSpc>
              <a:spcBef>
                <a:spcPts val="1400"/>
              </a:spcBef>
              <a:defRPr sz="4799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4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990" b="0" kern="100" spc="-50" baseline="0">
                <a:solidFill>
                  <a:schemeClr val="accent1"/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82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82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3C2F-D12F-B2E4-1020-42BB1F404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3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9" y="6501386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35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anchor="b"/>
          <a:lstStyle>
            <a:lvl1pPr>
              <a:lnSpc>
                <a:spcPct val="80000"/>
              </a:lnSpc>
              <a:spcBef>
                <a:spcPts val="1400"/>
              </a:spcBef>
              <a:defRPr sz="4799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4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4990" b="0" kern="100" spc="-50" baseline="0">
                <a:solidFill>
                  <a:schemeClr val="accent1"/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82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82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3" y="5029717"/>
            <a:ext cx="5641182" cy="990083"/>
          </a:xfrm>
        </p:spPr>
        <p:txBody>
          <a:bodyPr/>
          <a:lstStyle>
            <a:lvl1pPr>
              <a:defRPr sz="1300" b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FBC73D5-BBD4-6DEA-ABD4-C7C99DE36B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4729" y="6501386"/>
            <a:ext cx="365760" cy="161583"/>
          </a:xfrm>
        </p:spPr>
        <p:txBody>
          <a:bodyPr>
            <a:noAutofit/>
          </a:bodyPr>
          <a:lstStyle>
            <a:lvl1pPr>
              <a:defRPr sz="1050"/>
            </a:lvl1pPr>
          </a:lstStyle>
          <a:p>
            <a:pPr lvl="0"/>
            <a:r>
              <a:rPr lang="en-US"/>
              <a:t>PwC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14AAF1B-63A7-87FB-CF3E-274298F4B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3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9" y="6501386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600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200" y="919164"/>
            <a:ext cx="3712881" cy="1938337"/>
          </a:xfrm>
        </p:spPr>
        <p:txBody>
          <a:bodyPr/>
          <a:lstStyle>
            <a:lvl1pPr>
              <a:defRPr sz="39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200" y="2971800"/>
            <a:ext cx="3724275" cy="2967038"/>
          </a:xfrm>
        </p:spPr>
        <p:txBody>
          <a:bodyPr/>
          <a:lstStyle>
            <a:lvl1pPr>
              <a:lnSpc>
                <a:spcPct val="125000"/>
              </a:lnSpc>
              <a:defRPr sz="1600" b="0">
                <a:latin typeface="+mj-lt"/>
              </a:defRPr>
            </a:lvl1pPr>
            <a:lvl2pPr marL="166638" indent="0">
              <a:defRPr/>
            </a:lvl2pPr>
            <a:lvl3pPr marL="345971" indent="0">
              <a:buNone/>
              <a:defRPr/>
            </a:lvl3pPr>
            <a:lvl4pPr marL="512609" indent="0">
              <a:buNone/>
              <a:defRPr/>
            </a:lvl4pPr>
            <a:lvl5pPr marL="691942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630560" y="6501386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6501386"/>
            <a:ext cx="32004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9" y="6501386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024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2" y="919164"/>
            <a:ext cx="4671730" cy="1938337"/>
          </a:xfrm>
        </p:spPr>
        <p:txBody>
          <a:bodyPr/>
          <a:lstStyle>
            <a:lvl1pPr>
              <a:defRPr sz="39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/>
          <a:lstStyle>
            <a:lvl1pPr marL="166638" indent="-16663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5971" indent="-179334">
              <a:buFont typeface="Georgia" panose="02040502050405020303" pitchFamily="18" charset="0"/>
              <a:buChar char="–"/>
              <a:defRPr/>
            </a:lvl2pPr>
            <a:lvl3pPr marL="512609" indent="-166638">
              <a:defRPr/>
            </a:lvl3pPr>
            <a:lvl4pPr marL="691942" indent="-179334">
              <a:defRPr/>
            </a:lvl4pPr>
            <a:lvl5pPr marL="858580" indent="-16663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7118352" y="6501386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69600" y="6501386"/>
            <a:ext cx="365760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9" y="6501386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887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/>
          <a:lstStyle>
            <a:lvl1pPr>
              <a:defRPr sz="39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9" y="1946277"/>
            <a:ext cx="5632167" cy="3992563"/>
          </a:xfrm>
        </p:spPr>
        <p:txBody>
          <a:bodyPr/>
          <a:lstStyle>
            <a:lvl1pPr marL="166638" indent="-16663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5971" indent="-179334">
              <a:buFont typeface="Georgia" panose="02040502050405020303" pitchFamily="18" charset="0"/>
              <a:buChar char="–"/>
              <a:defRPr/>
            </a:lvl2pPr>
            <a:lvl3pPr marL="512609" indent="-166638">
              <a:defRPr/>
            </a:lvl3pPr>
            <a:lvl4pPr marL="691942" indent="-179334">
              <a:defRPr/>
            </a:lvl4pPr>
            <a:lvl5pPr marL="858580" indent="-16663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4" y="6501386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501386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9" y="6501386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816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4" y="400051"/>
            <a:ext cx="6602593" cy="917574"/>
          </a:xfrm>
        </p:spPr>
        <p:txBody>
          <a:bodyPr/>
          <a:lstStyle>
            <a:lvl1pPr>
              <a:defRPr sz="39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7"/>
            <a:ext cx="6602592" cy="3992563"/>
          </a:xfrm>
        </p:spPr>
        <p:txBody>
          <a:bodyPr/>
          <a:lstStyle>
            <a:lvl1pPr marL="166638" indent="-16663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5971" indent="-179334">
              <a:buFont typeface="Georgia" panose="02040502050405020303" pitchFamily="18" charset="0"/>
              <a:buChar char="–"/>
              <a:defRPr/>
            </a:lvl2pPr>
            <a:lvl3pPr marL="512609" indent="-166638">
              <a:defRPr/>
            </a:lvl3pPr>
            <a:lvl4pPr marL="691942" indent="-179334">
              <a:defRPr/>
            </a:lvl4pPr>
            <a:lvl5pPr marL="858580" indent="-16663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D55F7-3664-B826-100E-876C20C01969}"/>
              </a:ext>
            </a:extLst>
          </p:cNvPr>
          <p:cNvSpPr txBox="1"/>
          <p:nvPr userDrawn="1"/>
        </p:nvSpPr>
        <p:spPr>
          <a:xfrm>
            <a:off x="6157914" y="6497443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85F81-E071-1548-5442-718A5D278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40116" y="6497443"/>
            <a:ext cx="4663440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9" y="6501386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121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/>
          <a:lstStyle>
            <a:lvl1pPr>
              <a:defRPr sz="39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5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400053"/>
            <a:ext cx="6591017" cy="5538787"/>
          </a:xfrm>
        </p:spPr>
        <p:txBody>
          <a:bodyPr/>
          <a:lstStyle>
            <a:lvl1pPr marL="166638" indent="-166638">
              <a:lnSpc>
                <a:spcPct val="125000"/>
              </a:lnSpc>
              <a:buFont typeface="Arial" panose="020B0604020202020204" pitchFamily="34" charset="0"/>
              <a:buChar char="•"/>
              <a:defRPr sz="1600" b="0">
                <a:latin typeface="+mj-lt"/>
              </a:defRPr>
            </a:lvl1pPr>
            <a:lvl2pPr marL="345971" indent="-179334">
              <a:buFont typeface="Georgia" panose="02040502050405020303" pitchFamily="18" charset="0"/>
              <a:buChar char="–"/>
              <a:defRPr/>
            </a:lvl2pPr>
            <a:lvl3pPr marL="512609" indent="-166638">
              <a:defRPr/>
            </a:lvl3pPr>
            <a:lvl4pPr marL="691942" indent="-179334">
              <a:defRPr/>
            </a:lvl4pPr>
            <a:lvl5pPr marL="858580" indent="-16663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38019E0-279D-A4EC-36F3-E0B1A717FC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3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9" y="6501386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8050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8"/>
            <a:ext cx="11403809" cy="5152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65" y="1383286"/>
            <a:ext cx="11403810" cy="4669853"/>
          </a:xfrm>
        </p:spPr>
        <p:txBody>
          <a:bodyPr/>
          <a:lstStyle>
            <a:lvl1pPr>
              <a:spcAft>
                <a:spcPts val="1200"/>
              </a:spcAft>
              <a:defRPr sz="1500"/>
            </a:lvl1pPr>
            <a:lvl2pPr>
              <a:defRPr sz="1200">
                <a:latin typeface="+mj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6EFB28-C390-D7A6-7D24-D312EAB54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3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9" y="6501386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9874C9B6-B00C-BEE8-D41D-1A1EB70F35FD}"/>
              </a:ext>
            </a:extLst>
          </p:cNvPr>
          <p:cNvSpPr txBox="1">
            <a:spLocks/>
          </p:cNvSpPr>
          <p:nvPr userDrawn="1"/>
        </p:nvSpPr>
        <p:spPr>
          <a:xfrm>
            <a:off x="11503819" y="6501386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6AC032-1535-134B-A583-D5E1DDD0D167}" type="slidenum">
              <a:rPr lang="en-US" sz="1050" smtClean="0"/>
              <a:pPr/>
              <a:t>‹#›</a:t>
            </a:fld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7446913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67065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Grey Manual">
  <p:cSld name="Section Header Grey Manual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443215" y="1866107"/>
            <a:ext cx="5652784" cy="25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398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E49D37-342A-F1A5-6D2B-456EAB858901}"/>
              </a:ext>
            </a:extLst>
          </p:cNvPr>
          <p:cNvSpPr txBox="1">
            <a:spLocks/>
          </p:cNvSpPr>
          <p:nvPr userDrawn="1"/>
        </p:nvSpPr>
        <p:spPr>
          <a:xfrm>
            <a:off x="442912" y="6264431"/>
            <a:ext cx="5473800" cy="136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5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800"/>
              <a:t>PwC and Salesforce: Retail Cloud First Call Deck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76A74D23-D931-21D5-4507-9567F64E19C4}"/>
              </a:ext>
            </a:extLst>
          </p:cNvPr>
          <p:cNvSpPr txBox="1">
            <a:spLocks/>
          </p:cNvSpPr>
          <p:nvPr userDrawn="1"/>
        </p:nvSpPr>
        <p:spPr>
          <a:xfrm>
            <a:off x="9984313" y="6264431"/>
            <a:ext cx="17648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9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9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9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9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9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9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9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9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199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z="800" smtClean="0">
                <a:solidFill>
                  <a:schemeClr val="bg1"/>
                </a:solidFill>
              </a:rPr>
              <a:pPr/>
              <a:t>‹#›</a:t>
            </a:fld>
            <a:endParaRPr lang="en-GB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4570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rgbClr val="F7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45D5C-3824-92AF-B23A-517075310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85" y="703873"/>
            <a:ext cx="11272815" cy="328400"/>
          </a:xfrm>
        </p:spPr>
        <p:txBody>
          <a:bodyPr anchor="t" anchorCtr="0"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Google Shape;2316;p215">
            <a:extLst>
              <a:ext uri="{FF2B5EF4-FFF2-40B4-BE49-F238E27FC236}">
                <a16:creationId xmlns:a16="http://schemas.microsoft.com/office/drawing/2014/main" id="{6E0B052E-3B6A-8A56-5CBC-020824AB4D4A}"/>
              </a:ext>
            </a:extLst>
          </p:cNvPr>
          <p:cNvSpPr txBox="1"/>
          <p:nvPr userDrawn="1"/>
        </p:nvSpPr>
        <p:spPr>
          <a:xfrm>
            <a:off x="8099200" y="6501858"/>
            <a:ext cx="36356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fld id="{00000000-1234-1234-1234-123412341234}" type="slidenum">
              <a:rPr lang="en" sz="900">
                <a:latin typeface="Poppins" pitchFamily="2" charset="77"/>
                <a:ea typeface="Mulish Light"/>
                <a:cs typeface="Poppins" pitchFamily="2" charset="77"/>
                <a:sym typeface="Mulish Light"/>
              </a:rPr>
              <a:pPr algn="r"/>
              <a:t>‹#›</a:t>
            </a:fld>
            <a:endParaRPr lang="en" sz="900">
              <a:latin typeface="Poppins" pitchFamily="2" charset="77"/>
              <a:ea typeface="Mulish Light"/>
              <a:cs typeface="Poppins" pitchFamily="2" charset="77"/>
              <a:sym typeface="Mulish Light"/>
            </a:endParaRPr>
          </a:p>
        </p:txBody>
      </p:sp>
      <p:sp>
        <p:nvSpPr>
          <p:cNvPr id="8" name="Google Shape;981;p187">
            <a:extLst>
              <a:ext uri="{FF2B5EF4-FFF2-40B4-BE49-F238E27FC236}">
                <a16:creationId xmlns:a16="http://schemas.microsoft.com/office/drawing/2014/main" id="{B260E00F-1A4F-3B4F-B9EA-C9DE620181DA}"/>
              </a:ext>
            </a:extLst>
          </p:cNvPr>
          <p:cNvSpPr txBox="1"/>
          <p:nvPr userDrawn="1"/>
        </p:nvSpPr>
        <p:spPr>
          <a:xfrm>
            <a:off x="444538" y="6501858"/>
            <a:ext cx="5578400" cy="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 sz="900" b="1">
                <a:latin typeface="Poppins" pitchFamily="2" charset="77"/>
                <a:ea typeface="Mulish Light"/>
                <a:cs typeface="Poppins" pitchFamily="2" charset="77"/>
                <a:sym typeface="Mulish Light"/>
              </a:rPr>
              <a:t>PwC | </a:t>
            </a:r>
            <a:r>
              <a:rPr lang="en-US" sz="900">
                <a:latin typeface="Poppins" pitchFamily="2" charset="77"/>
                <a:ea typeface="Mulish Light"/>
                <a:cs typeface="Poppins" pitchFamily="2" charset="77"/>
                <a:sym typeface="Mulish Light"/>
              </a:rPr>
              <a:t>Keurig Dr. Pepper</a:t>
            </a:r>
          </a:p>
        </p:txBody>
      </p:sp>
    </p:spTree>
    <p:extLst>
      <p:ext uri="{BB962C8B-B14F-4D97-AF65-F5344CB8AC3E}">
        <p14:creationId xmlns:p14="http://schemas.microsoft.com/office/powerpoint/2010/main" val="3926790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orient="horz" pos="75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 1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97"/>
          <p:cNvSpPr txBox="1">
            <a:spLocks noGrp="1"/>
          </p:cNvSpPr>
          <p:nvPr>
            <p:ph type="body" idx="1"/>
          </p:nvPr>
        </p:nvSpPr>
        <p:spPr>
          <a:xfrm>
            <a:off x="621247" y="1041400"/>
            <a:ext cx="10961200" cy="42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75" tIns="45625" rIns="91275" bIns="45625" anchor="t" anchorCtr="0">
            <a:noAutofit/>
          </a:bodyPr>
          <a:lstStyle>
            <a:lvl1pPr marL="608099" lvl="0" indent="-439183" algn="l" rtl="0">
              <a:spcBef>
                <a:spcPts val="798"/>
              </a:spcBef>
              <a:spcAft>
                <a:spcPts val="0"/>
              </a:spcAft>
              <a:buSzPts val="1600"/>
              <a:buChar char="•"/>
              <a:defRPr sz="2128"/>
            </a:lvl1pPr>
            <a:lvl2pPr marL="1216198" lvl="1" indent="-422291" algn="l" rtl="0">
              <a:spcBef>
                <a:spcPts val="798"/>
              </a:spcBef>
              <a:spcAft>
                <a:spcPts val="0"/>
              </a:spcAft>
              <a:buSzPts val="1400"/>
              <a:buChar char="–"/>
              <a:defRPr sz="1862"/>
            </a:lvl2pPr>
            <a:lvl3pPr marL="1824297" lvl="2" indent="-405399" algn="l" rtl="0">
              <a:spcBef>
                <a:spcPts val="798"/>
              </a:spcBef>
              <a:spcAft>
                <a:spcPts val="0"/>
              </a:spcAft>
              <a:buSzPts val="1200"/>
              <a:buChar char="•"/>
              <a:defRPr sz="1596"/>
            </a:lvl3pPr>
            <a:lvl4pPr marL="2432396" lvl="3" indent="-456074" algn="l" rtl="0">
              <a:spcBef>
                <a:spcPts val="798"/>
              </a:spcBef>
              <a:spcAft>
                <a:spcPts val="0"/>
              </a:spcAft>
              <a:buSzPts val="1800"/>
              <a:buChar char="–"/>
              <a:defRPr/>
            </a:lvl4pPr>
            <a:lvl5pPr marL="3040495" lvl="4" indent="-456074" algn="l" rtl="0"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48593" lvl="5" indent="-456074" algn="l" rtl="0"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6pPr>
            <a:lvl7pPr marL="4256692" lvl="6" indent="-456074" algn="l" rtl="0"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64791" lvl="7" indent="-456074" algn="l" rtl="0"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8pPr>
            <a:lvl9pPr marL="5472890" lvl="8" indent="-456074" algn="l" rtl="0">
              <a:spcBef>
                <a:spcPts val="479"/>
              </a:spcBef>
              <a:spcAft>
                <a:spcPts val="665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1" name="Google Shape;541;p97"/>
          <p:cNvSpPr txBox="1">
            <a:spLocks noGrp="1"/>
          </p:cNvSpPr>
          <p:nvPr>
            <p:ph type="title"/>
          </p:nvPr>
        </p:nvSpPr>
        <p:spPr>
          <a:xfrm>
            <a:off x="625933" y="233063"/>
            <a:ext cx="9608000" cy="6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625" rIns="91275" bIns="45625" anchor="ctr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9559F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97"/>
          <p:cNvSpPr txBox="1">
            <a:spLocks noGrp="1"/>
          </p:cNvSpPr>
          <p:nvPr>
            <p:ph type="sldNum" idx="12"/>
          </p:nvPr>
        </p:nvSpPr>
        <p:spPr>
          <a:xfrm>
            <a:off x="11367364" y="6333824"/>
            <a:ext cx="582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75" tIns="45625" rIns="91275" bIns="4562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342325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94F1F61-70FC-7F9F-C54C-6EB13AE4DF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1" imgH="423" progId="TCLayout.ActiveDocument.1">
                  <p:embed/>
                </p:oleObj>
              </mc:Choice>
              <mc:Fallback>
                <p:oleObj name="think-cell Slide" r:id="rId3" imgW="421" imgH="42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94F1F61-70FC-7F9F-C54C-6EB13AE4DF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E5D8444-089B-403E-0473-39C612391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402336"/>
            <a:ext cx="11399691" cy="4431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sz="31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57B29C1-93EA-1886-CD27-23CE023225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5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Advisory Built to Lead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20" y="6501388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6077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66373F5-532D-FAA5-7B58-EA1B241C93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5"/>
            </p:custDataLst>
          </p:nvPr>
        </p:nvGraphicFramePr>
        <p:xfrm>
          <a:off x="1589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6" imgW="7772400" imgH="10058400" progId="TCLayout.ActiveDocument.1">
                  <p:embed/>
                </p:oleObj>
              </mc:Choice>
              <mc:Fallback>
                <p:oleObj name="think-cell Slide" r:id="rId26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66373F5-532D-FAA5-7B58-EA1B241C93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8"/>
            <a:ext cx="5645946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7"/>
            <a:ext cx="6606382" cy="3984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66800" y="6497443"/>
            <a:ext cx="8814816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   |   Section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9" y="6497443"/>
            <a:ext cx="43148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>
                <a:solidFill>
                  <a:schemeClr val="tx1"/>
                </a:solidFill>
              </a:rPr>
              <a:t>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9" y="6501386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8"/>
            <a:ext cx="2743200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428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7644" r:id="rId1"/>
    <p:sldLayoutId id="2147507645" r:id="rId2"/>
    <p:sldLayoutId id="2147507624" r:id="rId3"/>
    <p:sldLayoutId id="2147507625" r:id="rId4"/>
    <p:sldLayoutId id="2147507626" r:id="rId5"/>
    <p:sldLayoutId id="2147507627" r:id="rId6"/>
    <p:sldLayoutId id="2147507628" r:id="rId7"/>
    <p:sldLayoutId id="2147507629" r:id="rId8"/>
    <p:sldLayoutId id="2147507630" r:id="rId9"/>
    <p:sldLayoutId id="2147507631" r:id="rId10"/>
    <p:sldLayoutId id="2147507632" r:id="rId11"/>
    <p:sldLayoutId id="2147507633" r:id="rId12"/>
    <p:sldLayoutId id="2147507634" r:id="rId13"/>
    <p:sldLayoutId id="2147507635" r:id="rId14"/>
    <p:sldLayoutId id="2147507636" r:id="rId15"/>
    <p:sldLayoutId id="2147507637" r:id="rId16"/>
    <p:sldLayoutId id="2147507638" r:id="rId17"/>
    <p:sldLayoutId id="2147507643" r:id="rId18"/>
    <p:sldLayoutId id="2147507646" r:id="rId19"/>
    <p:sldLayoutId id="2147507647" r:id="rId20"/>
    <p:sldLayoutId id="2147507648" r:id="rId21"/>
    <p:sldLayoutId id="2147507649" r:id="rId22"/>
    <p:sldLayoutId id="2147507650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1200"/>
        </a:spcAft>
        <a:buFont typeface="Arial" panose="020B0604020202020204" pitchFamily="34" charset="0"/>
        <a:buNone/>
        <a:defRPr sz="15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71450" indent="-171450" algn="l" defTabSz="914400" rtl="0" eaLnBrk="1" latinLnBrk="0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3pPr>
      <a:lvl4pPr marL="344488" indent="-173038" algn="l" defTabSz="914400" rtl="0" eaLnBrk="1" latinLnBrk="0" hangingPunct="1">
        <a:lnSpc>
          <a:spcPct val="125000"/>
        </a:lnSpc>
        <a:spcBef>
          <a:spcPts val="600"/>
        </a:spcBef>
        <a:buFont typeface="Georgia" panose="02040502050405020303" pitchFamily="18" charset="0"/>
        <a:buChar char="–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515938" indent="-171450" algn="l" defTabSz="914400" rtl="0" eaLnBrk="1" latinLnBrk="0" hangingPunct="1">
        <a:lnSpc>
          <a:spcPct val="125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 userDrawn="1">
          <p15:clr>
            <a:srgbClr val="F26B43"/>
          </p15:clr>
        </p15:guide>
        <p15:guide id="3" pos="252" userDrawn="1">
          <p15:clr>
            <a:srgbClr val="F26B43"/>
          </p15:clr>
        </p15:guide>
        <p15:guide id="4" pos="7432" userDrawn="1">
          <p15:clr>
            <a:srgbClr val="F26B43"/>
          </p15:clr>
        </p15:guide>
        <p15:guide id="11" orient="horz" pos="4065" userDrawn="1">
          <p15:clr>
            <a:srgbClr val="F26B43"/>
          </p15:clr>
        </p15:guide>
        <p15:guide id="12" pos="786" userDrawn="1">
          <p15:clr>
            <a:srgbClr val="F26B43"/>
          </p15:clr>
        </p15:guide>
        <p15:guide id="13" pos="858" userDrawn="1">
          <p15:clr>
            <a:srgbClr val="F26B43"/>
          </p15:clr>
        </p15:guide>
        <p15:guide id="14" pos="1391" userDrawn="1">
          <p15:clr>
            <a:srgbClr val="F26B43"/>
          </p15:clr>
        </p15:guide>
        <p15:guide id="15" pos="1461" userDrawn="1">
          <p15:clr>
            <a:srgbClr val="F26B43"/>
          </p15:clr>
        </p15:guide>
        <p15:guide id="16" pos="1993" userDrawn="1">
          <p15:clr>
            <a:srgbClr val="F26B43"/>
          </p15:clr>
        </p15:guide>
        <p15:guide id="17" pos="2066" userDrawn="1">
          <p15:clr>
            <a:srgbClr val="F26B43"/>
          </p15:clr>
        </p15:guide>
        <p15:guide id="18" pos="2599" userDrawn="1">
          <p15:clr>
            <a:srgbClr val="F26B43"/>
          </p15:clr>
        </p15:guide>
        <p15:guide id="19" pos="2669" userDrawn="1">
          <p15:clr>
            <a:srgbClr val="F26B43"/>
          </p15:clr>
        </p15:guide>
        <p15:guide id="20" pos="3203" userDrawn="1">
          <p15:clr>
            <a:srgbClr val="F26B43"/>
          </p15:clr>
        </p15:guide>
        <p15:guide id="21" pos="3274" userDrawn="1">
          <p15:clr>
            <a:srgbClr val="F26B43"/>
          </p15:clr>
        </p15:guide>
        <p15:guide id="22" pos="3806" userDrawn="1">
          <p15:clr>
            <a:srgbClr val="F26B43"/>
          </p15:clr>
        </p15:guide>
        <p15:guide id="23" pos="3878" userDrawn="1">
          <p15:clr>
            <a:srgbClr val="F26B43"/>
          </p15:clr>
        </p15:guide>
        <p15:guide id="24" pos="4411" userDrawn="1">
          <p15:clr>
            <a:srgbClr val="F26B43"/>
          </p15:clr>
        </p15:guide>
        <p15:guide id="25" pos="5015" userDrawn="1">
          <p15:clr>
            <a:srgbClr val="F26B43"/>
          </p15:clr>
        </p15:guide>
        <p15:guide id="26" pos="4483" userDrawn="1">
          <p15:clr>
            <a:srgbClr val="F26B43"/>
          </p15:clr>
        </p15:guide>
        <p15:guide id="27" pos="5087" userDrawn="1">
          <p15:clr>
            <a:srgbClr val="F26B43"/>
          </p15:clr>
        </p15:guide>
        <p15:guide id="28" pos="5620" userDrawn="1">
          <p15:clr>
            <a:srgbClr val="F26B43"/>
          </p15:clr>
        </p15:guide>
        <p15:guide id="29" pos="5692" userDrawn="1">
          <p15:clr>
            <a:srgbClr val="F26B43"/>
          </p15:clr>
        </p15:guide>
        <p15:guide id="30" pos="6222" userDrawn="1">
          <p15:clr>
            <a:srgbClr val="F26B43"/>
          </p15:clr>
        </p15:guide>
        <p15:guide id="31" pos="6295" userDrawn="1">
          <p15:clr>
            <a:srgbClr val="F26B43"/>
          </p15:clr>
        </p15:guide>
        <p15:guide id="32" pos="6826" userDrawn="1">
          <p15:clr>
            <a:srgbClr val="F26B43"/>
          </p15:clr>
        </p15:guide>
        <p15:guide id="33" pos="6898" userDrawn="1">
          <p15:clr>
            <a:srgbClr val="F26B43"/>
          </p15:clr>
        </p15:guide>
        <p15:guide id="34" orient="horz" pos="506" userDrawn="1">
          <p15:clr>
            <a:srgbClr val="F26B43"/>
          </p15:clr>
        </p15:guide>
        <p15:guide id="35" orient="horz" pos="578" userDrawn="1">
          <p15:clr>
            <a:srgbClr val="F26B43"/>
          </p15:clr>
        </p15:guide>
        <p15:guide id="36" orient="horz" pos="830" userDrawn="1">
          <p15:clr>
            <a:srgbClr val="F26B43"/>
          </p15:clr>
        </p15:guide>
        <p15:guide id="37" orient="horz" pos="900" userDrawn="1">
          <p15:clr>
            <a:srgbClr val="F26B43"/>
          </p15:clr>
        </p15:guide>
        <p15:guide id="38" orient="horz" pos="1152" userDrawn="1">
          <p15:clr>
            <a:srgbClr val="F26B43"/>
          </p15:clr>
        </p15:guide>
        <p15:guide id="39" orient="horz" pos="1226" userDrawn="1">
          <p15:clr>
            <a:srgbClr val="F26B43"/>
          </p15:clr>
        </p15:guide>
        <p15:guide id="40" orient="horz" pos="1476" userDrawn="1">
          <p15:clr>
            <a:srgbClr val="F26B43"/>
          </p15:clr>
        </p15:guide>
        <p15:guide id="41" orient="horz" pos="1800" userDrawn="1">
          <p15:clr>
            <a:srgbClr val="F26B43"/>
          </p15:clr>
        </p15:guide>
        <p15:guide id="42" orient="horz" pos="1872" userDrawn="1">
          <p15:clr>
            <a:srgbClr val="F26B43"/>
          </p15:clr>
        </p15:guide>
        <p15:guide id="43" orient="horz" pos="2123" userDrawn="1">
          <p15:clr>
            <a:srgbClr val="F26B43"/>
          </p15:clr>
        </p15:guide>
        <p15:guide id="44" orient="horz" pos="2195" userDrawn="1">
          <p15:clr>
            <a:srgbClr val="F26B43"/>
          </p15:clr>
        </p15:guide>
        <p15:guide id="45" orient="horz" pos="2447" userDrawn="1">
          <p15:clr>
            <a:srgbClr val="F26B43"/>
          </p15:clr>
        </p15:guide>
        <p15:guide id="46" orient="horz" pos="2519" userDrawn="1">
          <p15:clr>
            <a:srgbClr val="F26B43"/>
          </p15:clr>
        </p15:guide>
        <p15:guide id="47" orient="horz" pos="2771" userDrawn="1">
          <p15:clr>
            <a:srgbClr val="F26B43"/>
          </p15:clr>
        </p15:guide>
        <p15:guide id="48" orient="horz" pos="2843" userDrawn="1">
          <p15:clr>
            <a:srgbClr val="F26B43"/>
          </p15:clr>
        </p15:guide>
        <p15:guide id="49" orient="horz" pos="3095" userDrawn="1">
          <p15:clr>
            <a:srgbClr val="F26B43"/>
          </p15:clr>
        </p15:guide>
        <p15:guide id="50" orient="horz" pos="3167" userDrawn="1">
          <p15:clr>
            <a:srgbClr val="F26B43"/>
          </p15:clr>
        </p15:guide>
        <p15:guide id="51" orient="horz" pos="3417" userDrawn="1">
          <p15:clr>
            <a:srgbClr val="F26B43"/>
          </p15:clr>
        </p15:guide>
        <p15:guide id="52" orient="horz" pos="3489" userDrawn="1">
          <p15:clr>
            <a:srgbClr val="F26B43"/>
          </p15:clr>
        </p15:guide>
        <p15:guide id="53" orient="horz" pos="3741" userDrawn="1">
          <p15:clr>
            <a:srgbClr val="F26B43"/>
          </p15:clr>
        </p15:guide>
        <p15:guide id="54" orient="horz" pos="3813" userDrawn="1">
          <p15:clr>
            <a:srgbClr val="F26B43"/>
          </p15:clr>
        </p15:guide>
        <p15:guide id="55" orient="horz" pos="15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13" Type="http://schemas.openxmlformats.org/officeDocument/2006/relationships/image" Target="../media/image26.jpe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2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9.svg"/><Relationship Id="rId11" Type="http://schemas.openxmlformats.org/officeDocument/2006/relationships/image" Target="../media/image24.jpeg"/><Relationship Id="rId5" Type="http://schemas.openxmlformats.org/officeDocument/2006/relationships/image" Target="../media/image18.svg"/><Relationship Id="rId10" Type="http://schemas.openxmlformats.org/officeDocument/2006/relationships/image" Target="../media/image23.jpeg"/><Relationship Id="rId4" Type="http://schemas.openxmlformats.org/officeDocument/2006/relationships/image" Target="../media/image17.svg"/><Relationship Id="rId9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microsoft.com/office/2018/10/relationships/comments" Target="../comments/modernComment_11D_35DADEF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3A4D0D-D638-2036-F36C-1A26F608E7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" r="20673"/>
          <a:stretch>
            <a:fillRect/>
          </a:stretch>
        </p:blipFill>
        <p:spPr>
          <a:xfrm>
            <a:off x="4015804" y="1"/>
            <a:ext cx="8161116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0C5FBCE-66B4-E442-0348-948D664D1FCA}"/>
              </a:ext>
            </a:extLst>
          </p:cNvPr>
          <p:cNvSpPr/>
          <p:nvPr/>
        </p:nvSpPr>
        <p:spPr>
          <a:xfrm>
            <a:off x="4968397" y="-8482"/>
            <a:ext cx="7208523" cy="6874966"/>
          </a:xfrm>
          <a:prstGeom prst="rect">
            <a:avLst/>
          </a:prstGeom>
          <a:solidFill>
            <a:srgbClr val="FE7C39">
              <a:alpha val="1294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630" name="Google Shape;630;p121"/>
          <p:cNvSpPr/>
          <p:nvPr/>
        </p:nvSpPr>
        <p:spPr>
          <a:xfrm>
            <a:off x="15080" y="3108960"/>
            <a:ext cx="6859811" cy="1367246"/>
          </a:xfrm>
          <a:prstGeom prst="rect">
            <a:avLst/>
          </a:prstGeom>
          <a:solidFill>
            <a:srgbClr val="DFE3E6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599" tIns="121599" rIns="121599" bIns="121599" anchor="ctr" anchorCtr="0">
            <a:noAutofit/>
          </a:bodyPr>
          <a:lstStyle/>
          <a:p>
            <a:endParaRPr sz="2479">
              <a:latin typeface="Helvetica Neue" panose="02000503000000020004"/>
            </a:endParaRPr>
          </a:p>
        </p:txBody>
      </p:sp>
      <p:sp>
        <p:nvSpPr>
          <p:cNvPr id="631" name="Google Shape;631;p121"/>
          <p:cNvSpPr txBox="1"/>
          <p:nvPr/>
        </p:nvSpPr>
        <p:spPr>
          <a:xfrm>
            <a:off x="265932" y="3401646"/>
            <a:ext cx="6358105" cy="781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599" tIns="121599" rIns="121599" bIns="121599" anchor="t" anchorCtr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4100" b="1">
                <a:solidFill>
                  <a:schemeClr val="dk1"/>
                </a:solidFill>
                <a:latin typeface="Helvetica Neue" panose="02000503000000020004"/>
                <a:ea typeface="Lexend ExtraBold"/>
                <a:cs typeface="Lexend ExtraBold"/>
                <a:sym typeface="Lexend ExtraBold"/>
              </a:rPr>
              <a:t>The Agentic Front Office</a:t>
            </a:r>
            <a:endParaRPr lang="en-US" sz="4100" i="1">
              <a:solidFill>
                <a:schemeClr val="dk1"/>
              </a:solidFill>
              <a:latin typeface="Helvetica Neue" panose="02000503000000020004"/>
              <a:ea typeface="Lexend ExtraBold"/>
              <a:cs typeface="Lexend ExtraBold"/>
              <a:sym typeface="Lexend ExtraBold"/>
            </a:endParaRPr>
          </a:p>
        </p:txBody>
      </p:sp>
      <p:sp>
        <p:nvSpPr>
          <p:cNvPr id="632" name="Google Shape;632;p121"/>
          <p:cNvSpPr/>
          <p:nvPr/>
        </p:nvSpPr>
        <p:spPr>
          <a:xfrm>
            <a:off x="15080" y="2483234"/>
            <a:ext cx="7916404" cy="704653"/>
          </a:xfrm>
          <a:prstGeom prst="rect">
            <a:avLst/>
          </a:prstGeom>
          <a:solidFill>
            <a:srgbClr val="FD5108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599" tIns="121599" rIns="121599" bIns="121599" anchor="ctr" anchorCtr="0">
            <a:noAutofit/>
          </a:bodyPr>
          <a:lstStyle/>
          <a:p>
            <a:endParaRPr lang="en-US" b="1">
              <a:solidFill>
                <a:schemeClr val="bg1"/>
              </a:solidFill>
              <a:latin typeface="Helvetica Neue" panose="02000503000000020004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121"/>
          <p:cNvSpPr txBox="1"/>
          <p:nvPr/>
        </p:nvSpPr>
        <p:spPr>
          <a:xfrm>
            <a:off x="9982606" y="6484662"/>
            <a:ext cx="1702578" cy="136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r"/>
            <a:fld id="{00000000-1234-1234-1234-123412341234}" type="slidenum">
              <a:rPr lang="en" sz="798">
                <a:solidFill>
                  <a:schemeClr val="lt1"/>
                </a:solidFill>
                <a:latin typeface="Helvetica Neue" panose="02000503000000020004"/>
                <a:ea typeface="Helvetica Neue Light"/>
                <a:cs typeface="Helvetica Neue Light"/>
                <a:sym typeface="Helvetica Neue Light"/>
              </a:rPr>
              <a:pPr algn="r"/>
              <a:t>1</a:t>
            </a:fld>
            <a:endParaRPr sz="798">
              <a:solidFill>
                <a:schemeClr val="lt1"/>
              </a:solidFill>
              <a:latin typeface="Helvetica Neue" panose="02000503000000020004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7" name="Picture 6" descr="A black and orange logo&#10;&#10;AI-generated content may be incorrect.">
            <a:extLst>
              <a:ext uri="{FF2B5EF4-FFF2-40B4-BE49-F238E27FC236}">
                <a16:creationId xmlns:a16="http://schemas.microsoft.com/office/drawing/2014/main" id="{F385F5F2-9394-F0CD-311A-1279C6EA8E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7600" y1="52266" x2="38500" y2="60725"/>
                        <a14:foregroundMark x1="38500" y1="60725" x2="40900" y2="59970"/>
                        <a14:foregroundMark x1="52600" y1="36103" x2="62200" y2="35650"/>
                        <a14:foregroundMark x1="74700" y1="26888" x2="79300" y2="26888"/>
                        <a14:foregroundMark x1="61300" y1="51964" x2="59900" y2="61631"/>
                        <a14:foregroundMark x1="59900" y1="61631" x2="60100" y2="6163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8459" y="5314033"/>
            <a:ext cx="1726984" cy="11432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C170F0-CEF4-10C5-73D3-76464A339AE1}"/>
              </a:ext>
            </a:extLst>
          </p:cNvPr>
          <p:cNvSpPr txBox="1"/>
          <p:nvPr/>
        </p:nvSpPr>
        <p:spPr>
          <a:xfrm>
            <a:off x="127031" y="2650894"/>
            <a:ext cx="7916404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Helvetica Neue" panose="02000503000000020004"/>
                <a:sym typeface="Lexend"/>
              </a:rPr>
              <a:t>Reimagining the Commercial Operating Model for the Age of AI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with many lines and dots&#10;&#10;AI-generated content may be incorrect.">
            <a:extLst>
              <a:ext uri="{FF2B5EF4-FFF2-40B4-BE49-F238E27FC236}">
                <a16:creationId xmlns:a16="http://schemas.microsoft.com/office/drawing/2014/main" id="{63A4C647-3839-C2F4-5138-C85C17007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93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CE508D2-3AEF-819C-779B-F4699B6AF778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>
              <a:alpha val="56471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F78263B-A1E4-7888-7B64-CDE4B81CA2A5}"/>
              </a:ext>
            </a:extLst>
          </p:cNvPr>
          <p:cNvCxnSpPr/>
          <p:nvPr/>
        </p:nvCxnSpPr>
        <p:spPr>
          <a:xfrm>
            <a:off x="498764" y="1759527"/>
            <a:ext cx="0" cy="2431473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969B0C7-9F1B-1505-075B-3D3C139B169C}"/>
              </a:ext>
            </a:extLst>
          </p:cNvPr>
          <p:cNvSpPr txBox="1"/>
          <p:nvPr/>
        </p:nvSpPr>
        <p:spPr>
          <a:xfrm>
            <a:off x="5631873" y="46090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b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 Agentic Front Office is how you do it.</a:t>
            </a:r>
            <a:r>
              <a:rPr lang="en-US" b="1">
                <a:solidFill>
                  <a:schemeClr val="bg1"/>
                </a:solidFill>
                <a:effectLst/>
              </a:rPr>
              <a:t> </a:t>
            </a:r>
            <a:endParaRPr lang="en-US" b="1">
              <a:solidFill>
                <a:schemeClr val="bg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EAC9CDD-3D56-6232-CC9D-CD11110E33E4}"/>
              </a:ext>
            </a:extLst>
          </p:cNvPr>
          <p:cNvCxnSpPr>
            <a:cxnSpLocks/>
          </p:cNvCxnSpPr>
          <p:nvPr/>
        </p:nvCxnSpPr>
        <p:spPr>
          <a:xfrm>
            <a:off x="11727873" y="4574886"/>
            <a:ext cx="0" cy="437573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2379;p339">
            <a:extLst>
              <a:ext uri="{FF2B5EF4-FFF2-40B4-BE49-F238E27FC236}">
                <a16:creationId xmlns:a16="http://schemas.microsoft.com/office/drawing/2014/main" id="{EFA60F93-EE33-29CD-0AD7-E1DCE4708E50}"/>
              </a:ext>
            </a:extLst>
          </p:cNvPr>
          <p:cNvSpPr txBox="1">
            <a:spLocks/>
          </p:cNvSpPr>
          <p:nvPr/>
        </p:nvSpPr>
        <p:spPr>
          <a:xfrm>
            <a:off x="397667" y="402338"/>
            <a:ext cx="11403809" cy="5152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customer's AI already knows what they want.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Does your front office?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D01537-9891-27C5-AF54-57851104B49C}"/>
              </a:ext>
            </a:extLst>
          </p:cNvPr>
          <p:cNvSpPr txBox="1"/>
          <p:nvPr/>
        </p:nvSpPr>
        <p:spPr>
          <a:xfrm>
            <a:off x="598558" y="1821101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Today's customers are </a:t>
            </a:r>
            <a:r>
              <a:rPr lang="en-US" b="1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faster, more informed, and increasingly AI-assisted. </a:t>
            </a: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They expect seamless, relevant experiences — and when your commercial organization fails to deliver, they don't forgive it. They just leave.</a:t>
            </a:r>
          </a:p>
          <a:p>
            <a:endParaRPr lang="en-US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The companies that win the next decade will rebuild around the customer's reality — not their own org chart.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936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B22CB-286F-1175-1FE4-F8A23FF0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3009C62F-8478-EA32-99F2-8EB4E1EF9B4F}"/>
              </a:ext>
            </a:extLst>
          </p:cNvPr>
          <p:cNvSpPr/>
          <p:nvPr/>
        </p:nvSpPr>
        <p:spPr>
          <a:xfrm>
            <a:off x="281972" y="1380714"/>
            <a:ext cx="11628055" cy="60039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Google Shape;2379;p339">
            <a:extLst>
              <a:ext uri="{FF2B5EF4-FFF2-40B4-BE49-F238E27FC236}">
                <a16:creationId xmlns:a16="http://schemas.microsoft.com/office/drawing/2014/main" id="{E20D6F0B-4CE7-941D-745F-79AB1E168AAD}"/>
              </a:ext>
            </a:extLst>
          </p:cNvPr>
          <p:cNvSpPr txBox="1">
            <a:spLocks/>
          </p:cNvSpPr>
          <p:nvPr/>
        </p:nvSpPr>
        <p:spPr>
          <a:xfrm>
            <a:off x="397667" y="402338"/>
            <a:ext cx="11403809" cy="5152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CHALLENGE</a:t>
            </a:r>
            <a:b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Forces are converging on a front office that hasn’t fundamentally changed in 50 years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CA70D-D06A-F537-6675-91C43A25A745}"/>
              </a:ext>
            </a:extLst>
          </p:cNvPr>
          <p:cNvSpPr txBox="1"/>
          <p:nvPr/>
        </p:nvSpPr>
        <p:spPr>
          <a:xfrm>
            <a:off x="457215" y="1383620"/>
            <a:ext cx="112348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Disruption isn’t new. Google changed search. Amazon changed purchasing. But the AI-driven disruption we see today is targeting a part of your business that </a:t>
            </a: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hasn’t fundamentally changed in 50 years: your front office.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396A26-BB4D-E68A-4347-2104C2A09C8C}"/>
              </a:ext>
            </a:extLst>
          </p:cNvPr>
          <p:cNvSpPr txBox="1"/>
          <p:nvPr/>
        </p:nvSpPr>
        <p:spPr>
          <a:xfrm>
            <a:off x="622732" y="2033238"/>
            <a:ext cx="54732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Customer Behavior Shift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D38F051-20F6-7F72-2C77-DA02CA277F62}"/>
              </a:ext>
            </a:extLst>
          </p:cNvPr>
          <p:cNvCxnSpPr>
            <a:cxnSpLocks/>
          </p:cNvCxnSpPr>
          <p:nvPr/>
        </p:nvCxnSpPr>
        <p:spPr>
          <a:xfrm>
            <a:off x="622732" y="2402570"/>
            <a:ext cx="50213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968ED9F-AF30-02BF-606D-DDEF4B6D14EB}"/>
              </a:ext>
            </a:extLst>
          </p:cNvPr>
          <p:cNvSpPr/>
          <p:nvPr/>
        </p:nvSpPr>
        <p:spPr>
          <a:xfrm>
            <a:off x="1111170" y="2510520"/>
            <a:ext cx="4854938" cy="6952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AI-mediated buyer </a:t>
            </a:r>
          </a:p>
          <a:p>
            <a:r>
              <a: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customers’ agents are making decisions before your sales team can engage. The path-to-purchase has become real-time, contextual, and non-linear </a:t>
            </a: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9CFC08-BE1C-43D5-E4D1-6463DA14EB4A}"/>
              </a:ext>
            </a:extLst>
          </p:cNvPr>
          <p:cNvSpPr/>
          <p:nvPr/>
        </p:nvSpPr>
        <p:spPr>
          <a:xfrm>
            <a:off x="622732" y="2599523"/>
            <a:ext cx="361116" cy="3596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49000">
                <a:schemeClr val="accent2"/>
              </a:gs>
              <a:gs pos="100000">
                <a:schemeClr val="accent3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F9572FC-78AD-5674-C38B-666EABFFF67B}"/>
              </a:ext>
            </a:extLst>
          </p:cNvPr>
          <p:cNvCxnSpPr/>
          <p:nvPr/>
        </p:nvCxnSpPr>
        <p:spPr>
          <a:xfrm>
            <a:off x="622732" y="3515123"/>
            <a:ext cx="5021323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6D90BBB3-2553-7511-BFE7-DF3203E7CA5D}"/>
              </a:ext>
            </a:extLst>
          </p:cNvPr>
          <p:cNvSpPr/>
          <p:nvPr/>
        </p:nvSpPr>
        <p:spPr>
          <a:xfrm>
            <a:off x="1111170" y="3551198"/>
            <a:ext cx="4854938" cy="6952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B2B is becoming A2A</a:t>
            </a:r>
          </a:p>
          <a:p>
            <a:r>
              <a: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Procurement agents are already buying on behalf of humas. Organizations not built for agent-to-agent commerce will be invisible at moment of decision.</a:t>
            </a: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4E9E80-14A6-6C27-7A20-A3AD60B23BE8}"/>
              </a:ext>
            </a:extLst>
          </p:cNvPr>
          <p:cNvSpPr/>
          <p:nvPr/>
        </p:nvSpPr>
        <p:spPr>
          <a:xfrm>
            <a:off x="622732" y="3640201"/>
            <a:ext cx="361116" cy="3596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49000">
                <a:schemeClr val="accent2"/>
              </a:gs>
              <a:gs pos="100000">
                <a:schemeClr val="accent3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E07C9CF-B552-8C8A-219D-33CC6565BB21}"/>
              </a:ext>
            </a:extLst>
          </p:cNvPr>
          <p:cNvCxnSpPr/>
          <p:nvPr/>
        </p:nvCxnSpPr>
        <p:spPr>
          <a:xfrm>
            <a:off x="622732" y="4555801"/>
            <a:ext cx="5021323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79521BBB-6E34-558D-B28D-A69CB5363BC8}"/>
              </a:ext>
            </a:extLst>
          </p:cNvPr>
          <p:cNvSpPr/>
          <p:nvPr/>
        </p:nvSpPr>
        <p:spPr>
          <a:xfrm>
            <a:off x="1111170" y="4591876"/>
            <a:ext cx="4854938" cy="6952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Broken seams &amp; systems</a:t>
            </a:r>
          </a:p>
          <a:p>
            <a:r>
              <a: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has advanced, but processes haven’t kept pace. Deep fracturs between functions leak revenue, context, and loyalty at every handoff.  </a:t>
            </a: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A359BF-AE79-C3DF-BB52-037B66D8F893}"/>
              </a:ext>
            </a:extLst>
          </p:cNvPr>
          <p:cNvSpPr/>
          <p:nvPr/>
        </p:nvSpPr>
        <p:spPr>
          <a:xfrm>
            <a:off x="622732" y="4680879"/>
            <a:ext cx="361116" cy="3596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49000">
                <a:schemeClr val="accent2"/>
              </a:gs>
              <a:gs pos="100000">
                <a:schemeClr val="accent3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74F485-E456-94BA-1044-FAE4ADC841A1}"/>
              </a:ext>
            </a:extLst>
          </p:cNvPr>
          <p:cNvSpPr/>
          <p:nvPr/>
        </p:nvSpPr>
        <p:spPr>
          <a:xfrm>
            <a:off x="622732" y="5467802"/>
            <a:ext cx="5473262" cy="1002949"/>
          </a:xfrm>
          <a:prstGeom prst="rect">
            <a:avLst/>
          </a:prstGeom>
          <a:solidFill>
            <a:srgbClr val="FFF5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 the path to purchase for consumers stopped being a funnel years ago, </a:t>
            </a:r>
          </a:p>
          <a:p>
            <a:pPr algn="ctr"/>
            <a:r>
              <a:rPr lang="en-US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are our organizations still structured as if nothing has changed? </a:t>
            </a:r>
            <a:endParaRPr lang="en-US" sz="1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74EB0CA-7D8C-32DF-FDCD-8C55DFC30A5E}"/>
              </a:ext>
            </a:extLst>
          </p:cNvPr>
          <p:cNvCxnSpPr>
            <a:cxnSpLocks/>
          </p:cNvCxnSpPr>
          <p:nvPr/>
        </p:nvCxnSpPr>
        <p:spPr>
          <a:xfrm>
            <a:off x="622732" y="5469938"/>
            <a:ext cx="0" cy="998676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72">
            <a:extLst>
              <a:ext uri="{FF2B5EF4-FFF2-40B4-BE49-F238E27FC236}">
                <a16:creationId xmlns:a16="http://schemas.microsoft.com/office/drawing/2014/main" id="{0F2ECF15-D4C1-5870-C30B-EE3E675AFA28}"/>
              </a:ext>
            </a:extLst>
          </p:cNvPr>
          <p:cNvSpPr/>
          <p:nvPr/>
        </p:nvSpPr>
        <p:spPr>
          <a:xfrm>
            <a:off x="6547947" y="2578243"/>
            <a:ext cx="2549161" cy="1611572"/>
          </a:xfrm>
          <a:prstGeom prst="roundRect">
            <a:avLst/>
          </a:prstGeom>
          <a:solidFill>
            <a:schemeClr val="bg1">
              <a:lumMod val="95000"/>
              <a:alpha val="41961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000" b="1">
                <a:solidFill>
                  <a:schemeClr val="accent1"/>
                </a:solidFill>
              </a:rPr>
              <a:t>30% </a:t>
            </a:r>
            <a:r>
              <a:rPr lang="en-US" sz="1600">
                <a:solidFill>
                  <a:schemeClr val="tx1"/>
                </a:solidFill>
              </a:rPr>
              <a:t>of CEOs confident in organic revenue growth over the next 12 months</a:t>
            </a:r>
            <a:r>
              <a:rPr lang="en-US" sz="1600" baseline="30000">
                <a:solidFill>
                  <a:schemeClr val="tx1"/>
                </a:solidFill>
              </a:rPr>
              <a:t>1 </a:t>
            </a:r>
            <a:r>
              <a:rPr lang="en-US" sz="1600">
                <a:solidFill>
                  <a:schemeClr val="tx1"/>
                </a:solidFill>
              </a:rPr>
              <a:t>  </a:t>
            </a:r>
          </a:p>
        </p:txBody>
      </p:sp>
      <p:sp>
        <p:nvSpPr>
          <p:cNvPr id="35" name="Rectangle: Rounded Corners 72">
            <a:extLst>
              <a:ext uri="{FF2B5EF4-FFF2-40B4-BE49-F238E27FC236}">
                <a16:creationId xmlns:a16="http://schemas.microsoft.com/office/drawing/2014/main" id="{4A585A65-1A67-042C-90AC-D7D3ADFCDAE8}"/>
              </a:ext>
            </a:extLst>
          </p:cNvPr>
          <p:cNvSpPr/>
          <p:nvPr/>
        </p:nvSpPr>
        <p:spPr>
          <a:xfrm>
            <a:off x="9360866" y="2578241"/>
            <a:ext cx="2549161" cy="1611573"/>
          </a:xfrm>
          <a:prstGeom prst="roundRect">
            <a:avLst/>
          </a:prstGeom>
          <a:solidFill>
            <a:schemeClr val="bg1">
              <a:lumMod val="95000"/>
              <a:alpha val="41961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000" b="1">
                <a:solidFill>
                  <a:schemeClr val="accent1"/>
                </a:solidFill>
              </a:rPr>
              <a:t>56% </a:t>
            </a:r>
            <a:r>
              <a:rPr lang="en-US" sz="1600">
                <a:solidFill>
                  <a:schemeClr val="tx1"/>
                </a:solidFill>
              </a:rPr>
              <a:t>of CFOs rank cost optimization in their top 5 priorities for 2026</a:t>
            </a:r>
            <a:r>
              <a:rPr lang="en-US" sz="1600" baseline="30000">
                <a:solidFill>
                  <a:schemeClr val="tx1"/>
                </a:solidFill>
              </a:rPr>
              <a:t>2</a:t>
            </a:r>
            <a:r>
              <a:rPr lang="en-US" sz="1600">
                <a:solidFill>
                  <a:schemeClr val="tx1"/>
                </a:solidFill>
              </a:rPr>
              <a:t>  </a:t>
            </a:r>
          </a:p>
        </p:txBody>
      </p:sp>
      <p:sp>
        <p:nvSpPr>
          <p:cNvPr id="36" name="Rectangle: Rounded Corners 72">
            <a:extLst>
              <a:ext uri="{FF2B5EF4-FFF2-40B4-BE49-F238E27FC236}">
                <a16:creationId xmlns:a16="http://schemas.microsoft.com/office/drawing/2014/main" id="{18277376-2463-0EEF-2A93-0DCED76CACC5}"/>
              </a:ext>
            </a:extLst>
          </p:cNvPr>
          <p:cNvSpPr/>
          <p:nvPr/>
        </p:nvSpPr>
        <p:spPr>
          <a:xfrm>
            <a:off x="6547947" y="4330501"/>
            <a:ext cx="2549161" cy="1611572"/>
          </a:xfrm>
          <a:prstGeom prst="roundRect">
            <a:avLst/>
          </a:prstGeom>
          <a:solidFill>
            <a:schemeClr val="bg1">
              <a:lumMod val="95000"/>
              <a:alpha val="41961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000" b="1">
                <a:solidFill>
                  <a:schemeClr val="accent1"/>
                </a:solidFill>
              </a:rPr>
              <a:t>~30% </a:t>
            </a:r>
            <a:r>
              <a:rPr lang="en-US" sz="1600">
                <a:solidFill>
                  <a:schemeClr val="tx1"/>
                </a:solidFill>
              </a:rPr>
              <a:t>of revenue consumed by sales, marketing &amp; service operating costs</a:t>
            </a:r>
            <a:r>
              <a:rPr lang="en-US" sz="1600" baseline="300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7" name="Rectangle: Rounded Corners 72">
            <a:extLst>
              <a:ext uri="{FF2B5EF4-FFF2-40B4-BE49-F238E27FC236}">
                <a16:creationId xmlns:a16="http://schemas.microsoft.com/office/drawing/2014/main" id="{0CD68B64-A900-6645-4384-D8C344BAA4C4}"/>
              </a:ext>
            </a:extLst>
          </p:cNvPr>
          <p:cNvSpPr/>
          <p:nvPr/>
        </p:nvSpPr>
        <p:spPr>
          <a:xfrm>
            <a:off x="9360866" y="4330500"/>
            <a:ext cx="2549161" cy="1611572"/>
          </a:xfrm>
          <a:prstGeom prst="roundRect">
            <a:avLst/>
          </a:prstGeom>
          <a:solidFill>
            <a:schemeClr val="bg1">
              <a:lumMod val="95000"/>
              <a:alpha val="41961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000" b="1">
                <a:solidFill>
                  <a:schemeClr val="accent1"/>
                </a:solidFill>
              </a:rPr>
              <a:t>75% </a:t>
            </a:r>
            <a:r>
              <a:rPr lang="en-US" sz="1600">
                <a:solidFill>
                  <a:schemeClr val="tx1"/>
                </a:solidFill>
              </a:rPr>
              <a:t>of executives cite AI as top-3 priority, yet 3 in 4 see no tangible value</a:t>
            </a:r>
            <a:r>
              <a:rPr lang="en-US" sz="1600" baseline="30000">
                <a:solidFill>
                  <a:schemeClr val="tx1"/>
                </a:solidFill>
              </a:rPr>
              <a:t>3</a:t>
            </a:r>
            <a:endParaRPr lang="en-US" sz="1600" baseline="30000">
              <a:solidFill>
                <a:schemeClr val="tx1"/>
              </a:solidFill>
              <a:cs typeface="Arial"/>
            </a:endParaRPr>
          </a:p>
        </p:txBody>
      </p:sp>
      <p:pic>
        <p:nvPicPr>
          <p:cNvPr id="50" name="Graphic 49" descr="Disconnected outline">
            <a:extLst>
              <a:ext uri="{FF2B5EF4-FFF2-40B4-BE49-F238E27FC236}">
                <a16:creationId xmlns:a16="http://schemas.microsoft.com/office/drawing/2014/main" id="{07C5A8D0-09A2-D2D0-A7C1-75C584D105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121" y="4702637"/>
            <a:ext cx="318336" cy="318336"/>
          </a:xfrm>
          <a:prstGeom prst="rect">
            <a:avLst/>
          </a:prstGeom>
        </p:spPr>
      </p:pic>
      <p:pic>
        <p:nvPicPr>
          <p:cNvPr id="51" name="Graphic 50" descr="Robot outline">
            <a:extLst>
              <a:ext uri="{FF2B5EF4-FFF2-40B4-BE49-F238E27FC236}">
                <a16:creationId xmlns:a16="http://schemas.microsoft.com/office/drawing/2014/main" id="{659D49C5-13AD-8F2F-00B2-957ED42382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129" y="2642169"/>
            <a:ext cx="274320" cy="274320"/>
          </a:xfrm>
          <a:prstGeom prst="rect">
            <a:avLst/>
          </a:prstGeom>
        </p:spPr>
      </p:pic>
      <p:pic>
        <p:nvPicPr>
          <p:cNvPr id="58" name="Graphic 57" descr="Shuffle outline">
            <a:extLst>
              <a:ext uri="{FF2B5EF4-FFF2-40B4-BE49-F238E27FC236}">
                <a16:creationId xmlns:a16="http://schemas.microsoft.com/office/drawing/2014/main" id="{2B22870E-7386-3E06-A602-0B9197F8AB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539" y="3700639"/>
            <a:ext cx="247871" cy="247871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23573F-2888-7A2D-86CC-57ACB976D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11624" y="6553472"/>
            <a:ext cx="8814816" cy="161583"/>
          </a:xfrm>
        </p:spPr>
        <p:txBody>
          <a:bodyPr/>
          <a:lstStyle/>
          <a:p>
            <a:r>
              <a:rPr lang="en-US" baseline="30000">
                <a:cs typeface="Arial"/>
              </a:rPr>
              <a:t>1</a:t>
            </a:r>
            <a:r>
              <a:rPr lang="en-US">
                <a:cs typeface="Arial"/>
              </a:rPr>
              <a:t>PwC Global CEO Survey, 2025; </a:t>
            </a:r>
            <a:r>
              <a:rPr lang="en-US" baseline="30000">
                <a:cs typeface="Arial"/>
              </a:rPr>
              <a:t>2</a:t>
            </a:r>
            <a:r>
              <a:rPr lang="en-US">
                <a:cs typeface="Arial"/>
              </a:rPr>
              <a:t>Gartner CFO Priorities Survey, August 2025; </a:t>
            </a:r>
            <a:r>
              <a:rPr lang="en-US" baseline="30000">
                <a:cs typeface="Arial"/>
              </a:rPr>
              <a:t>3</a:t>
            </a:r>
            <a:r>
              <a:rPr lang="en-US">
                <a:cs typeface="Arial"/>
              </a:rPr>
              <a:t>BCG, 2025</a:t>
            </a:r>
          </a:p>
        </p:txBody>
      </p:sp>
    </p:spTree>
    <p:extLst>
      <p:ext uri="{BB962C8B-B14F-4D97-AF65-F5344CB8AC3E}">
        <p14:creationId xmlns:p14="http://schemas.microsoft.com/office/powerpoint/2010/main" val="52468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FAEA2-0800-7F57-E2BB-2D56C74BD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06;p73">
            <a:extLst>
              <a:ext uri="{FF2B5EF4-FFF2-40B4-BE49-F238E27FC236}">
                <a16:creationId xmlns:a16="http://schemas.microsoft.com/office/drawing/2014/main" id="{A38C0BB5-4D05-9E38-C81E-74D176757ACC}"/>
              </a:ext>
            </a:extLst>
          </p:cNvPr>
          <p:cNvSpPr/>
          <p:nvPr/>
        </p:nvSpPr>
        <p:spPr>
          <a:xfrm>
            <a:off x="0" y="1801069"/>
            <a:ext cx="12192000" cy="3887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2379;p339">
            <a:extLst>
              <a:ext uri="{FF2B5EF4-FFF2-40B4-BE49-F238E27FC236}">
                <a16:creationId xmlns:a16="http://schemas.microsoft.com/office/drawing/2014/main" id="{FF9E4F35-9EFE-BBA3-E92B-5C6D1E1606D9}"/>
              </a:ext>
            </a:extLst>
          </p:cNvPr>
          <p:cNvSpPr txBox="1">
            <a:spLocks/>
          </p:cNvSpPr>
          <p:nvPr/>
        </p:nvSpPr>
        <p:spPr>
          <a:xfrm>
            <a:off x="397667" y="402338"/>
            <a:ext cx="11403809" cy="5152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OPPORTUNITY</a:t>
            </a:r>
            <a:endParaRPr lang="en-US" sz="11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In an agentic market, the companies that move first capture a structural advantage 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61DF9DE-EA6C-383B-A1A4-E44D52C8164F}"/>
              </a:ext>
            </a:extLst>
          </p:cNvPr>
          <p:cNvGrpSpPr/>
          <p:nvPr/>
        </p:nvGrpSpPr>
        <p:grpSpPr>
          <a:xfrm>
            <a:off x="3784771" y="1357834"/>
            <a:ext cx="4763160" cy="5065668"/>
            <a:chOff x="4212721" y="1200424"/>
            <a:chExt cx="3766558" cy="4457087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7E85DC7-5B31-941C-B852-D9F2B6DE5307}"/>
                </a:ext>
              </a:extLst>
            </p:cNvPr>
            <p:cNvSpPr/>
            <p:nvPr/>
          </p:nvSpPr>
          <p:spPr>
            <a:xfrm>
              <a:off x="5569992" y="4429760"/>
              <a:ext cx="507649" cy="1227751"/>
            </a:xfrm>
            <a:custGeom>
              <a:avLst/>
              <a:gdLst>
                <a:gd name="connsiteX0" fmla="*/ 243347 w 507649"/>
                <a:gd name="connsiteY0" fmla="*/ 232118 h 1227751"/>
                <a:gd name="connsiteX1" fmla="*/ 284976 w 507649"/>
                <a:gd name="connsiteY1" fmla="*/ 343909 h 1227751"/>
                <a:gd name="connsiteX2" fmla="*/ 284976 w 507649"/>
                <a:gd name="connsiteY2" fmla="*/ 250661 h 1227751"/>
                <a:gd name="connsiteX3" fmla="*/ 172176 w 507649"/>
                <a:gd name="connsiteY3" fmla="*/ 23 h 1227751"/>
                <a:gd name="connsiteX4" fmla="*/ 428013 w 507649"/>
                <a:gd name="connsiteY4" fmla="*/ 479787 h 1227751"/>
                <a:gd name="connsiteX5" fmla="*/ 444002 w 507649"/>
                <a:gd name="connsiteY5" fmla="*/ 571069 h 1227751"/>
                <a:gd name="connsiteX6" fmla="*/ 355599 w 507649"/>
                <a:gd name="connsiteY6" fmla="*/ 571069 h 1227751"/>
                <a:gd name="connsiteX7" fmla="*/ 407121 w 507649"/>
                <a:gd name="connsiteY7" fmla="*/ 757510 h 1227751"/>
                <a:gd name="connsiteX8" fmla="*/ 412511 w 507649"/>
                <a:gd name="connsiteY8" fmla="*/ 779242 h 1227751"/>
                <a:gd name="connsiteX9" fmla="*/ 472689 w 507649"/>
                <a:gd name="connsiteY9" fmla="*/ 780407 h 1227751"/>
                <a:gd name="connsiteX10" fmla="*/ 481036 w 507649"/>
                <a:gd name="connsiteY10" fmla="*/ 852633 h 1227751"/>
                <a:gd name="connsiteX11" fmla="*/ 507551 w 507649"/>
                <a:gd name="connsiteY11" fmla="*/ 1179858 h 1227751"/>
                <a:gd name="connsiteX12" fmla="*/ 420193 w 507649"/>
                <a:gd name="connsiteY12" fmla="*/ 1198565 h 1227751"/>
                <a:gd name="connsiteX13" fmla="*/ 262100 w 507649"/>
                <a:gd name="connsiteY13" fmla="*/ 776329 h 1227751"/>
                <a:gd name="connsiteX14" fmla="*/ 314275 w 507649"/>
                <a:gd name="connsiteY14" fmla="*/ 777340 h 1227751"/>
                <a:gd name="connsiteX15" fmla="*/ 255088 w 507649"/>
                <a:gd name="connsiteY15" fmla="*/ 639056 h 1227751"/>
                <a:gd name="connsiteX16" fmla="*/ 288775 w 507649"/>
                <a:gd name="connsiteY16" fmla="*/ 632304 h 1227751"/>
                <a:gd name="connsiteX17" fmla="*/ 212355 w 507649"/>
                <a:gd name="connsiteY17" fmla="*/ 251012 h 1227751"/>
                <a:gd name="connsiteX18" fmla="*/ 43358 w 507649"/>
                <a:gd name="connsiteY18" fmla="*/ 166458 h 1227751"/>
                <a:gd name="connsiteX19" fmla="*/ 46532 w 507649"/>
                <a:gd name="connsiteY19" fmla="*/ 147958 h 1227751"/>
                <a:gd name="connsiteX20" fmla="*/ 47335 w 507649"/>
                <a:gd name="connsiteY20" fmla="*/ 144809 h 1227751"/>
                <a:gd name="connsiteX21" fmla="*/ 0 w 507649"/>
                <a:gd name="connsiteY21" fmla="*/ 123724 h 1227751"/>
                <a:gd name="connsiteX22" fmla="*/ 172176 w 507649"/>
                <a:gd name="connsiteY22" fmla="*/ 23 h 1227751"/>
                <a:gd name="connsiteX0" fmla="*/ 243347 w 507649"/>
                <a:gd name="connsiteY0" fmla="*/ 232118 h 1227751"/>
                <a:gd name="connsiteX1" fmla="*/ 284976 w 507649"/>
                <a:gd name="connsiteY1" fmla="*/ 343909 h 1227751"/>
                <a:gd name="connsiteX2" fmla="*/ 284976 w 507649"/>
                <a:gd name="connsiteY2" fmla="*/ 250661 h 1227751"/>
                <a:gd name="connsiteX3" fmla="*/ 243347 w 507649"/>
                <a:gd name="connsiteY3" fmla="*/ 232118 h 1227751"/>
                <a:gd name="connsiteX4" fmla="*/ 172176 w 507649"/>
                <a:gd name="connsiteY4" fmla="*/ 23 h 1227751"/>
                <a:gd name="connsiteX5" fmla="*/ 428013 w 507649"/>
                <a:gd name="connsiteY5" fmla="*/ 479787 h 1227751"/>
                <a:gd name="connsiteX6" fmla="*/ 444002 w 507649"/>
                <a:gd name="connsiteY6" fmla="*/ 571069 h 1227751"/>
                <a:gd name="connsiteX7" fmla="*/ 355599 w 507649"/>
                <a:gd name="connsiteY7" fmla="*/ 571069 h 1227751"/>
                <a:gd name="connsiteX8" fmla="*/ 407121 w 507649"/>
                <a:gd name="connsiteY8" fmla="*/ 757510 h 1227751"/>
                <a:gd name="connsiteX9" fmla="*/ 412511 w 507649"/>
                <a:gd name="connsiteY9" fmla="*/ 779242 h 1227751"/>
                <a:gd name="connsiteX10" fmla="*/ 472689 w 507649"/>
                <a:gd name="connsiteY10" fmla="*/ 780407 h 1227751"/>
                <a:gd name="connsiteX11" fmla="*/ 481036 w 507649"/>
                <a:gd name="connsiteY11" fmla="*/ 852633 h 1227751"/>
                <a:gd name="connsiteX12" fmla="*/ 507551 w 507649"/>
                <a:gd name="connsiteY12" fmla="*/ 1179858 h 1227751"/>
                <a:gd name="connsiteX13" fmla="*/ 420193 w 507649"/>
                <a:gd name="connsiteY13" fmla="*/ 1198565 h 1227751"/>
                <a:gd name="connsiteX14" fmla="*/ 262100 w 507649"/>
                <a:gd name="connsiteY14" fmla="*/ 776329 h 1227751"/>
                <a:gd name="connsiteX15" fmla="*/ 255088 w 507649"/>
                <a:gd name="connsiteY15" fmla="*/ 639056 h 1227751"/>
                <a:gd name="connsiteX16" fmla="*/ 288775 w 507649"/>
                <a:gd name="connsiteY16" fmla="*/ 632304 h 1227751"/>
                <a:gd name="connsiteX17" fmla="*/ 212355 w 507649"/>
                <a:gd name="connsiteY17" fmla="*/ 251012 h 1227751"/>
                <a:gd name="connsiteX18" fmla="*/ 43358 w 507649"/>
                <a:gd name="connsiteY18" fmla="*/ 166458 h 1227751"/>
                <a:gd name="connsiteX19" fmla="*/ 46532 w 507649"/>
                <a:gd name="connsiteY19" fmla="*/ 147958 h 1227751"/>
                <a:gd name="connsiteX20" fmla="*/ 47335 w 507649"/>
                <a:gd name="connsiteY20" fmla="*/ 144809 h 1227751"/>
                <a:gd name="connsiteX21" fmla="*/ 0 w 507649"/>
                <a:gd name="connsiteY21" fmla="*/ 123724 h 1227751"/>
                <a:gd name="connsiteX22" fmla="*/ 172176 w 507649"/>
                <a:gd name="connsiteY22" fmla="*/ 23 h 1227751"/>
                <a:gd name="connsiteX0" fmla="*/ 243347 w 507649"/>
                <a:gd name="connsiteY0" fmla="*/ 232118 h 1227751"/>
                <a:gd name="connsiteX1" fmla="*/ 284976 w 507649"/>
                <a:gd name="connsiteY1" fmla="*/ 343909 h 1227751"/>
                <a:gd name="connsiteX2" fmla="*/ 284976 w 507649"/>
                <a:gd name="connsiteY2" fmla="*/ 250661 h 1227751"/>
                <a:gd name="connsiteX3" fmla="*/ 243347 w 507649"/>
                <a:gd name="connsiteY3" fmla="*/ 232118 h 1227751"/>
                <a:gd name="connsiteX4" fmla="*/ 172176 w 507649"/>
                <a:gd name="connsiteY4" fmla="*/ 23 h 1227751"/>
                <a:gd name="connsiteX5" fmla="*/ 428013 w 507649"/>
                <a:gd name="connsiteY5" fmla="*/ 479787 h 1227751"/>
                <a:gd name="connsiteX6" fmla="*/ 444002 w 507649"/>
                <a:gd name="connsiteY6" fmla="*/ 571069 h 1227751"/>
                <a:gd name="connsiteX7" fmla="*/ 355599 w 507649"/>
                <a:gd name="connsiteY7" fmla="*/ 571069 h 1227751"/>
                <a:gd name="connsiteX8" fmla="*/ 407121 w 507649"/>
                <a:gd name="connsiteY8" fmla="*/ 757510 h 1227751"/>
                <a:gd name="connsiteX9" fmla="*/ 412511 w 507649"/>
                <a:gd name="connsiteY9" fmla="*/ 779242 h 1227751"/>
                <a:gd name="connsiteX10" fmla="*/ 472689 w 507649"/>
                <a:gd name="connsiteY10" fmla="*/ 780407 h 1227751"/>
                <a:gd name="connsiteX11" fmla="*/ 481036 w 507649"/>
                <a:gd name="connsiteY11" fmla="*/ 852633 h 1227751"/>
                <a:gd name="connsiteX12" fmla="*/ 507551 w 507649"/>
                <a:gd name="connsiteY12" fmla="*/ 1179858 h 1227751"/>
                <a:gd name="connsiteX13" fmla="*/ 420193 w 507649"/>
                <a:gd name="connsiteY13" fmla="*/ 1198565 h 1227751"/>
                <a:gd name="connsiteX14" fmla="*/ 262100 w 507649"/>
                <a:gd name="connsiteY14" fmla="*/ 776329 h 1227751"/>
                <a:gd name="connsiteX15" fmla="*/ 255088 w 507649"/>
                <a:gd name="connsiteY15" fmla="*/ 639056 h 1227751"/>
                <a:gd name="connsiteX16" fmla="*/ 212355 w 507649"/>
                <a:gd name="connsiteY16" fmla="*/ 251012 h 1227751"/>
                <a:gd name="connsiteX17" fmla="*/ 43358 w 507649"/>
                <a:gd name="connsiteY17" fmla="*/ 166458 h 1227751"/>
                <a:gd name="connsiteX18" fmla="*/ 46532 w 507649"/>
                <a:gd name="connsiteY18" fmla="*/ 147958 h 1227751"/>
                <a:gd name="connsiteX19" fmla="*/ 47335 w 507649"/>
                <a:gd name="connsiteY19" fmla="*/ 144809 h 1227751"/>
                <a:gd name="connsiteX20" fmla="*/ 0 w 507649"/>
                <a:gd name="connsiteY20" fmla="*/ 123724 h 1227751"/>
                <a:gd name="connsiteX21" fmla="*/ 172176 w 507649"/>
                <a:gd name="connsiteY21" fmla="*/ 23 h 1227751"/>
                <a:gd name="connsiteX0" fmla="*/ 243347 w 507649"/>
                <a:gd name="connsiteY0" fmla="*/ 232118 h 1227751"/>
                <a:gd name="connsiteX1" fmla="*/ 284976 w 507649"/>
                <a:gd name="connsiteY1" fmla="*/ 343909 h 1227751"/>
                <a:gd name="connsiteX2" fmla="*/ 284976 w 507649"/>
                <a:gd name="connsiteY2" fmla="*/ 250661 h 1227751"/>
                <a:gd name="connsiteX3" fmla="*/ 243347 w 507649"/>
                <a:gd name="connsiteY3" fmla="*/ 232118 h 1227751"/>
                <a:gd name="connsiteX4" fmla="*/ 172176 w 507649"/>
                <a:gd name="connsiteY4" fmla="*/ 23 h 1227751"/>
                <a:gd name="connsiteX5" fmla="*/ 428013 w 507649"/>
                <a:gd name="connsiteY5" fmla="*/ 479787 h 1227751"/>
                <a:gd name="connsiteX6" fmla="*/ 444002 w 507649"/>
                <a:gd name="connsiteY6" fmla="*/ 571069 h 1227751"/>
                <a:gd name="connsiteX7" fmla="*/ 355599 w 507649"/>
                <a:gd name="connsiteY7" fmla="*/ 571069 h 1227751"/>
                <a:gd name="connsiteX8" fmla="*/ 407121 w 507649"/>
                <a:gd name="connsiteY8" fmla="*/ 757510 h 1227751"/>
                <a:gd name="connsiteX9" fmla="*/ 412511 w 507649"/>
                <a:gd name="connsiteY9" fmla="*/ 779242 h 1227751"/>
                <a:gd name="connsiteX10" fmla="*/ 472689 w 507649"/>
                <a:gd name="connsiteY10" fmla="*/ 780407 h 1227751"/>
                <a:gd name="connsiteX11" fmla="*/ 481036 w 507649"/>
                <a:gd name="connsiteY11" fmla="*/ 852633 h 1227751"/>
                <a:gd name="connsiteX12" fmla="*/ 507551 w 507649"/>
                <a:gd name="connsiteY12" fmla="*/ 1179858 h 1227751"/>
                <a:gd name="connsiteX13" fmla="*/ 420193 w 507649"/>
                <a:gd name="connsiteY13" fmla="*/ 1198565 h 1227751"/>
                <a:gd name="connsiteX14" fmla="*/ 262100 w 507649"/>
                <a:gd name="connsiteY14" fmla="*/ 776329 h 1227751"/>
                <a:gd name="connsiteX15" fmla="*/ 255088 w 507649"/>
                <a:gd name="connsiteY15" fmla="*/ 639056 h 1227751"/>
                <a:gd name="connsiteX16" fmla="*/ 212355 w 507649"/>
                <a:gd name="connsiteY16" fmla="*/ 251012 h 1227751"/>
                <a:gd name="connsiteX17" fmla="*/ 43358 w 507649"/>
                <a:gd name="connsiteY17" fmla="*/ 166458 h 1227751"/>
                <a:gd name="connsiteX18" fmla="*/ 44996 w 507649"/>
                <a:gd name="connsiteY18" fmla="*/ 166053 h 1227751"/>
                <a:gd name="connsiteX19" fmla="*/ 46532 w 507649"/>
                <a:gd name="connsiteY19" fmla="*/ 147958 h 1227751"/>
                <a:gd name="connsiteX20" fmla="*/ 47335 w 507649"/>
                <a:gd name="connsiteY20" fmla="*/ 144809 h 1227751"/>
                <a:gd name="connsiteX21" fmla="*/ 0 w 507649"/>
                <a:gd name="connsiteY21" fmla="*/ 123724 h 1227751"/>
                <a:gd name="connsiteX22" fmla="*/ 172176 w 507649"/>
                <a:gd name="connsiteY22" fmla="*/ 23 h 1227751"/>
                <a:gd name="connsiteX0" fmla="*/ 243347 w 507649"/>
                <a:gd name="connsiteY0" fmla="*/ 232118 h 1227751"/>
                <a:gd name="connsiteX1" fmla="*/ 284976 w 507649"/>
                <a:gd name="connsiteY1" fmla="*/ 343909 h 1227751"/>
                <a:gd name="connsiteX2" fmla="*/ 284976 w 507649"/>
                <a:gd name="connsiteY2" fmla="*/ 250661 h 1227751"/>
                <a:gd name="connsiteX3" fmla="*/ 243347 w 507649"/>
                <a:gd name="connsiteY3" fmla="*/ 232118 h 1227751"/>
                <a:gd name="connsiteX4" fmla="*/ 172176 w 507649"/>
                <a:gd name="connsiteY4" fmla="*/ 23 h 1227751"/>
                <a:gd name="connsiteX5" fmla="*/ 428013 w 507649"/>
                <a:gd name="connsiteY5" fmla="*/ 479787 h 1227751"/>
                <a:gd name="connsiteX6" fmla="*/ 444002 w 507649"/>
                <a:gd name="connsiteY6" fmla="*/ 571069 h 1227751"/>
                <a:gd name="connsiteX7" fmla="*/ 355599 w 507649"/>
                <a:gd name="connsiteY7" fmla="*/ 571069 h 1227751"/>
                <a:gd name="connsiteX8" fmla="*/ 407121 w 507649"/>
                <a:gd name="connsiteY8" fmla="*/ 757510 h 1227751"/>
                <a:gd name="connsiteX9" fmla="*/ 412511 w 507649"/>
                <a:gd name="connsiteY9" fmla="*/ 779242 h 1227751"/>
                <a:gd name="connsiteX10" fmla="*/ 472689 w 507649"/>
                <a:gd name="connsiteY10" fmla="*/ 780407 h 1227751"/>
                <a:gd name="connsiteX11" fmla="*/ 481036 w 507649"/>
                <a:gd name="connsiteY11" fmla="*/ 852633 h 1227751"/>
                <a:gd name="connsiteX12" fmla="*/ 507551 w 507649"/>
                <a:gd name="connsiteY12" fmla="*/ 1179858 h 1227751"/>
                <a:gd name="connsiteX13" fmla="*/ 420193 w 507649"/>
                <a:gd name="connsiteY13" fmla="*/ 1198565 h 1227751"/>
                <a:gd name="connsiteX14" fmla="*/ 262100 w 507649"/>
                <a:gd name="connsiteY14" fmla="*/ 776329 h 1227751"/>
                <a:gd name="connsiteX15" fmla="*/ 255088 w 507649"/>
                <a:gd name="connsiteY15" fmla="*/ 639056 h 1227751"/>
                <a:gd name="connsiteX16" fmla="*/ 212355 w 507649"/>
                <a:gd name="connsiteY16" fmla="*/ 251012 h 1227751"/>
                <a:gd name="connsiteX17" fmla="*/ 43358 w 507649"/>
                <a:gd name="connsiteY17" fmla="*/ 166458 h 1227751"/>
                <a:gd name="connsiteX18" fmla="*/ 46532 w 507649"/>
                <a:gd name="connsiteY18" fmla="*/ 147958 h 1227751"/>
                <a:gd name="connsiteX19" fmla="*/ 47335 w 507649"/>
                <a:gd name="connsiteY19" fmla="*/ 144809 h 1227751"/>
                <a:gd name="connsiteX20" fmla="*/ 0 w 507649"/>
                <a:gd name="connsiteY20" fmla="*/ 123724 h 1227751"/>
                <a:gd name="connsiteX21" fmla="*/ 172176 w 507649"/>
                <a:gd name="connsiteY21" fmla="*/ 23 h 1227751"/>
                <a:gd name="connsiteX0" fmla="*/ 243347 w 507649"/>
                <a:gd name="connsiteY0" fmla="*/ 232118 h 1227751"/>
                <a:gd name="connsiteX1" fmla="*/ 284976 w 507649"/>
                <a:gd name="connsiteY1" fmla="*/ 343909 h 1227751"/>
                <a:gd name="connsiteX2" fmla="*/ 284976 w 507649"/>
                <a:gd name="connsiteY2" fmla="*/ 250661 h 1227751"/>
                <a:gd name="connsiteX3" fmla="*/ 243347 w 507649"/>
                <a:gd name="connsiteY3" fmla="*/ 232118 h 1227751"/>
                <a:gd name="connsiteX4" fmla="*/ 172176 w 507649"/>
                <a:gd name="connsiteY4" fmla="*/ 23 h 1227751"/>
                <a:gd name="connsiteX5" fmla="*/ 428013 w 507649"/>
                <a:gd name="connsiteY5" fmla="*/ 479787 h 1227751"/>
                <a:gd name="connsiteX6" fmla="*/ 444002 w 507649"/>
                <a:gd name="connsiteY6" fmla="*/ 571069 h 1227751"/>
                <a:gd name="connsiteX7" fmla="*/ 355599 w 507649"/>
                <a:gd name="connsiteY7" fmla="*/ 571069 h 1227751"/>
                <a:gd name="connsiteX8" fmla="*/ 407121 w 507649"/>
                <a:gd name="connsiteY8" fmla="*/ 757510 h 1227751"/>
                <a:gd name="connsiteX9" fmla="*/ 412511 w 507649"/>
                <a:gd name="connsiteY9" fmla="*/ 779242 h 1227751"/>
                <a:gd name="connsiteX10" fmla="*/ 472689 w 507649"/>
                <a:gd name="connsiteY10" fmla="*/ 780407 h 1227751"/>
                <a:gd name="connsiteX11" fmla="*/ 481036 w 507649"/>
                <a:gd name="connsiteY11" fmla="*/ 852633 h 1227751"/>
                <a:gd name="connsiteX12" fmla="*/ 507551 w 507649"/>
                <a:gd name="connsiteY12" fmla="*/ 1179858 h 1227751"/>
                <a:gd name="connsiteX13" fmla="*/ 420193 w 507649"/>
                <a:gd name="connsiteY13" fmla="*/ 1198565 h 1227751"/>
                <a:gd name="connsiteX14" fmla="*/ 262100 w 507649"/>
                <a:gd name="connsiteY14" fmla="*/ 776329 h 1227751"/>
                <a:gd name="connsiteX15" fmla="*/ 255088 w 507649"/>
                <a:gd name="connsiteY15" fmla="*/ 639056 h 1227751"/>
                <a:gd name="connsiteX16" fmla="*/ 212355 w 507649"/>
                <a:gd name="connsiteY16" fmla="*/ 251012 h 1227751"/>
                <a:gd name="connsiteX17" fmla="*/ 46532 w 507649"/>
                <a:gd name="connsiteY17" fmla="*/ 147958 h 1227751"/>
                <a:gd name="connsiteX18" fmla="*/ 47335 w 507649"/>
                <a:gd name="connsiteY18" fmla="*/ 144809 h 1227751"/>
                <a:gd name="connsiteX19" fmla="*/ 0 w 507649"/>
                <a:gd name="connsiteY19" fmla="*/ 123724 h 1227751"/>
                <a:gd name="connsiteX20" fmla="*/ 172176 w 507649"/>
                <a:gd name="connsiteY20" fmla="*/ 23 h 1227751"/>
                <a:gd name="connsiteX0" fmla="*/ 243347 w 507649"/>
                <a:gd name="connsiteY0" fmla="*/ 232118 h 1227751"/>
                <a:gd name="connsiteX1" fmla="*/ 284976 w 507649"/>
                <a:gd name="connsiteY1" fmla="*/ 343909 h 1227751"/>
                <a:gd name="connsiteX2" fmla="*/ 284976 w 507649"/>
                <a:gd name="connsiteY2" fmla="*/ 250661 h 1227751"/>
                <a:gd name="connsiteX3" fmla="*/ 243347 w 507649"/>
                <a:gd name="connsiteY3" fmla="*/ 232118 h 1227751"/>
                <a:gd name="connsiteX4" fmla="*/ 172176 w 507649"/>
                <a:gd name="connsiteY4" fmla="*/ 23 h 1227751"/>
                <a:gd name="connsiteX5" fmla="*/ 428013 w 507649"/>
                <a:gd name="connsiteY5" fmla="*/ 479787 h 1227751"/>
                <a:gd name="connsiteX6" fmla="*/ 444002 w 507649"/>
                <a:gd name="connsiteY6" fmla="*/ 571069 h 1227751"/>
                <a:gd name="connsiteX7" fmla="*/ 355599 w 507649"/>
                <a:gd name="connsiteY7" fmla="*/ 571069 h 1227751"/>
                <a:gd name="connsiteX8" fmla="*/ 407121 w 507649"/>
                <a:gd name="connsiteY8" fmla="*/ 757510 h 1227751"/>
                <a:gd name="connsiteX9" fmla="*/ 412511 w 507649"/>
                <a:gd name="connsiteY9" fmla="*/ 779242 h 1227751"/>
                <a:gd name="connsiteX10" fmla="*/ 472689 w 507649"/>
                <a:gd name="connsiteY10" fmla="*/ 780407 h 1227751"/>
                <a:gd name="connsiteX11" fmla="*/ 481036 w 507649"/>
                <a:gd name="connsiteY11" fmla="*/ 852633 h 1227751"/>
                <a:gd name="connsiteX12" fmla="*/ 507551 w 507649"/>
                <a:gd name="connsiteY12" fmla="*/ 1179858 h 1227751"/>
                <a:gd name="connsiteX13" fmla="*/ 420193 w 507649"/>
                <a:gd name="connsiteY13" fmla="*/ 1198565 h 1227751"/>
                <a:gd name="connsiteX14" fmla="*/ 262100 w 507649"/>
                <a:gd name="connsiteY14" fmla="*/ 776329 h 1227751"/>
                <a:gd name="connsiteX15" fmla="*/ 255088 w 507649"/>
                <a:gd name="connsiteY15" fmla="*/ 639056 h 1227751"/>
                <a:gd name="connsiteX16" fmla="*/ 212355 w 507649"/>
                <a:gd name="connsiteY16" fmla="*/ 251012 h 1227751"/>
                <a:gd name="connsiteX17" fmla="*/ 46532 w 507649"/>
                <a:gd name="connsiteY17" fmla="*/ 147958 h 1227751"/>
                <a:gd name="connsiteX18" fmla="*/ 0 w 507649"/>
                <a:gd name="connsiteY18" fmla="*/ 123724 h 1227751"/>
                <a:gd name="connsiteX19" fmla="*/ 172176 w 507649"/>
                <a:gd name="connsiteY19" fmla="*/ 23 h 1227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07649" h="1227751">
                  <a:moveTo>
                    <a:pt x="243347" y="232118"/>
                  </a:moveTo>
                  <a:lnTo>
                    <a:pt x="284976" y="343909"/>
                  </a:lnTo>
                  <a:lnTo>
                    <a:pt x="284976" y="250661"/>
                  </a:lnTo>
                  <a:lnTo>
                    <a:pt x="243347" y="232118"/>
                  </a:lnTo>
                  <a:close/>
                  <a:moveTo>
                    <a:pt x="172176" y="23"/>
                  </a:moveTo>
                  <a:cubicBezTo>
                    <a:pt x="256443" y="1803"/>
                    <a:pt x="355156" y="103379"/>
                    <a:pt x="428013" y="479787"/>
                  </a:cubicBezTo>
                  <a:lnTo>
                    <a:pt x="444002" y="571069"/>
                  </a:lnTo>
                  <a:lnTo>
                    <a:pt x="355599" y="571069"/>
                  </a:lnTo>
                  <a:lnTo>
                    <a:pt x="407121" y="757510"/>
                  </a:lnTo>
                  <a:lnTo>
                    <a:pt x="412511" y="779242"/>
                  </a:lnTo>
                  <a:lnTo>
                    <a:pt x="472689" y="780407"/>
                  </a:lnTo>
                  <a:lnTo>
                    <a:pt x="481036" y="852633"/>
                  </a:lnTo>
                  <a:cubicBezTo>
                    <a:pt x="491173" y="950694"/>
                    <a:pt x="500092" y="1059418"/>
                    <a:pt x="507551" y="1179858"/>
                  </a:cubicBezTo>
                  <a:cubicBezTo>
                    <a:pt x="510671" y="1231363"/>
                    <a:pt x="438397" y="1246938"/>
                    <a:pt x="420193" y="1198565"/>
                  </a:cubicBezTo>
                  <a:lnTo>
                    <a:pt x="262100" y="776329"/>
                  </a:lnTo>
                  <a:lnTo>
                    <a:pt x="255088" y="639056"/>
                  </a:lnTo>
                  <a:lnTo>
                    <a:pt x="212355" y="251012"/>
                  </a:lnTo>
                  <a:lnTo>
                    <a:pt x="46532" y="147958"/>
                  </a:lnTo>
                  <a:lnTo>
                    <a:pt x="0" y="123724"/>
                  </a:lnTo>
                  <a:cubicBezTo>
                    <a:pt x="0" y="123724"/>
                    <a:pt x="76844" y="-1990"/>
                    <a:pt x="172176" y="2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28575" tIns="28575" rIns="28575" bIns="28575" anchor="ctr" anchorCtr="0">
              <a:noAutofit/>
            </a:bodyPr>
            <a:lstStyle/>
            <a:p>
              <a:endParaRPr sz="1350">
                <a:solidFill>
                  <a:schemeClr val="bg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011930E-DC83-C135-084E-E36AFDB7EB7A}"/>
                </a:ext>
              </a:extLst>
            </p:cNvPr>
            <p:cNvSpPr/>
            <p:nvPr/>
          </p:nvSpPr>
          <p:spPr>
            <a:xfrm>
              <a:off x="4212721" y="1200424"/>
              <a:ext cx="3293854" cy="1681897"/>
            </a:xfrm>
            <a:custGeom>
              <a:avLst/>
              <a:gdLst>
                <a:gd name="connsiteX0" fmla="*/ 639350 w 3293854"/>
                <a:gd name="connsiteY0" fmla="*/ 100 h 1681897"/>
                <a:gd name="connsiteX1" fmla="*/ 3293854 w 3293854"/>
                <a:gd name="connsiteY1" fmla="*/ 1203949 h 1681897"/>
                <a:gd name="connsiteX2" fmla="*/ 3204851 w 3293854"/>
                <a:gd name="connsiteY2" fmla="*/ 1419269 h 1681897"/>
                <a:gd name="connsiteX3" fmla="*/ 2779775 w 3293854"/>
                <a:gd name="connsiteY3" fmla="*/ 1419269 h 1681897"/>
                <a:gd name="connsiteX4" fmla="*/ 2779775 w 3293854"/>
                <a:gd name="connsiteY4" fmla="*/ 1681897 h 1681897"/>
                <a:gd name="connsiteX5" fmla="*/ 2722295 w 3293854"/>
                <a:gd name="connsiteY5" fmla="*/ 1627704 h 1681897"/>
                <a:gd name="connsiteX6" fmla="*/ 799922 w 3293854"/>
                <a:gd name="connsiteY6" fmla="*/ 714247 h 1681897"/>
                <a:gd name="connsiteX7" fmla="*/ 741734 w 3293854"/>
                <a:gd name="connsiteY7" fmla="*/ 717507 h 1681897"/>
                <a:gd name="connsiteX8" fmla="*/ 741734 w 3293854"/>
                <a:gd name="connsiteY8" fmla="*/ 518882 h 1681897"/>
                <a:gd name="connsiteX9" fmla="*/ 0 w 3293854"/>
                <a:gd name="connsiteY9" fmla="*/ 62478 h 1681897"/>
                <a:gd name="connsiteX10" fmla="*/ 639350 w 3293854"/>
                <a:gd name="connsiteY10" fmla="*/ 100 h 1681897"/>
                <a:gd name="connsiteX0" fmla="*/ 639350 w 3293854"/>
                <a:gd name="connsiteY0" fmla="*/ 100 h 1681897"/>
                <a:gd name="connsiteX1" fmla="*/ 3293854 w 3293854"/>
                <a:gd name="connsiteY1" fmla="*/ 1203949 h 1681897"/>
                <a:gd name="connsiteX2" fmla="*/ 2779775 w 3293854"/>
                <a:gd name="connsiteY2" fmla="*/ 1419269 h 1681897"/>
                <a:gd name="connsiteX3" fmla="*/ 2779775 w 3293854"/>
                <a:gd name="connsiteY3" fmla="*/ 1681897 h 1681897"/>
                <a:gd name="connsiteX4" fmla="*/ 2722295 w 3293854"/>
                <a:gd name="connsiteY4" fmla="*/ 1627704 h 1681897"/>
                <a:gd name="connsiteX5" fmla="*/ 799922 w 3293854"/>
                <a:gd name="connsiteY5" fmla="*/ 714247 h 1681897"/>
                <a:gd name="connsiteX6" fmla="*/ 741734 w 3293854"/>
                <a:gd name="connsiteY6" fmla="*/ 717507 h 1681897"/>
                <a:gd name="connsiteX7" fmla="*/ 741734 w 3293854"/>
                <a:gd name="connsiteY7" fmla="*/ 518882 h 1681897"/>
                <a:gd name="connsiteX8" fmla="*/ 0 w 3293854"/>
                <a:gd name="connsiteY8" fmla="*/ 62478 h 1681897"/>
                <a:gd name="connsiteX9" fmla="*/ 639350 w 3293854"/>
                <a:gd name="connsiteY9" fmla="*/ 100 h 1681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93854" h="1681897">
                  <a:moveTo>
                    <a:pt x="639350" y="100"/>
                  </a:moveTo>
                  <a:cubicBezTo>
                    <a:pt x="1291022" y="5090"/>
                    <a:pt x="2338961" y="199986"/>
                    <a:pt x="3293854" y="1203949"/>
                  </a:cubicBezTo>
                  <a:lnTo>
                    <a:pt x="2779775" y="1419269"/>
                  </a:lnTo>
                  <a:lnTo>
                    <a:pt x="2779775" y="1681897"/>
                  </a:lnTo>
                  <a:lnTo>
                    <a:pt x="2722295" y="1627704"/>
                  </a:lnTo>
                  <a:cubicBezTo>
                    <a:pt x="2332923" y="1270498"/>
                    <a:pt x="1586954" y="701034"/>
                    <a:pt x="799922" y="714247"/>
                  </a:cubicBezTo>
                  <a:lnTo>
                    <a:pt x="741734" y="717507"/>
                  </a:lnTo>
                  <a:lnTo>
                    <a:pt x="741734" y="518882"/>
                  </a:lnTo>
                  <a:lnTo>
                    <a:pt x="0" y="62478"/>
                  </a:lnTo>
                  <a:cubicBezTo>
                    <a:pt x="0" y="62478"/>
                    <a:pt x="248347" y="-2894"/>
                    <a:pt x="639350" y="10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8575" tIns="28575" rIns="28575" bIns="28575" anchor="ctr" anchorCtr="0">
              <a:noAutofit/>
            </a:bodyPr>
            <a:lstStyle/>
            <a:p>
              <a:endParaRPr sz="1350">
                <a:solidFill>
                  <a:schemeClr val="bg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5A895EC-33CB-F17C-9161-EDBAE9F0DC21}"/>
                </a:ext>
              </a:extLst>
            </p:cNvPr>
            <p:cNvSpPr/>
            <p:nvPr/>
          </p:nvSpPr>
          <p:spPr>
            <a:xfrm>
              <a:off x="4679706" y="2316083"/>
              <a:ext cx="2370804" cy="1658590"/>
            </a:xfrm>
            <a:custGeom>
              <a:avLst/>
              <a:gdLst>
                <a:gd name="connsiteX0" fmla="*/ 414486 w 2370804"/>
                <a:gd name="connsiteY0" fmla="*/ 653 h 1658590"/>
                <a:gd name="connsiteX1" fmla="*/ 2370804 w 2370804"/>
                <a:gd name="connsiteY1" fmla="*/ 1185257 h 1658590"/>
                <a:gd name="connsiteX2" fmla="*/ 2297879 w 2370804"/>
                <a:gd name="connsiteY2" fmla="*/ 1361891 h 1658590"/>
                <a:gd name="connsiteX3" fmla="*/ 1951242 w 2370804"/>
                <a:gd name="connsiteY3" fmla="*/ 1361891 h 1658590"/>
                <a:gd name="connsiteX4" fmla="*/ 1951242 w 2370804"/>
                <a:gd name="connsiteY4" fmla="*/ 1658590 h 1658590"/>
                <a:gd name="connsiteX5" fmla="*/ 1878164 w 2370804"/>
                <a:gd name="connsiteY5" fmla="*/ 1562594 h 1658590"/>
                <a:gd name="connsiteX6" fmla="*/ 572326 w 2370804"/>
                <a:gd name="connsiteY6" fmla="*/ 656960 h 1658590"/>
                <a:gd name="connsiteX7" fmla="*/ 545977 w 2370804"/>
                <a:gd name="connsiteY7" fmla="*/ 662325 h 1658590"/>
                <a:gd name="connsiteX8" fmla="*/ 545977 w 2370804"/>
                <a:gd name="connsiteY8" fmla="*/ 460215 h 1658590"/>
                <a:gd name="connsiteX9" fmla="*/ 0 w 2370804"/>
                <a:gd name="connsiteY9" fmla="*/ 83789 h 1658590"/>
                <a:gd name="connsiteX10" fmla="*/ 414486 w 2370804"/>
                <a:gd name="connsiteY10" fmla="*/ 653 h 1658590"/>
                <a:gd name="connsiteX0" fmla="*/ 414486 w 2370804"/>
                <a:gd name="connsiteY0" fmla="*/ 653 h 1658590"/>
                <a:gd name="connsiteX1" fmla="*/ 2370804 w 2370804"/>
                <a:gd name="connsiteY1" fmla="*/ 1185257 h 1658590"/>
                <a:gd name="connsiteX2" fmla="*/ 1951242 w 2370804"/>
                <a:gd name="connsiteY2" fmla="*/ 1361891 h 1658590"/>
                <a:gd name="connsiteX3" fmla="*/ 1951242 w 2370804"/>
                <a:gd name="connsiteY3" fmla="*/ 1658590 h 1658590"/>
                <a:gd name="connsiteX4" fmla="*/ 1878164 w 2370804"/>
                <a:gd name="connsiteY4" fmla="*/ 1562594 h 1658590"/>
                <a:gd name="connsiteX5" fmla="*/ 572326 w 2370804"/>
                <a:gd name="connsiteY5" fmla="*/ 656960 h 1658590"/>
                <a:gd name="connsiteX6" fmla="*/ 545977 w 2370804"/>
                <a:gd name="connsiteY6" fmla="*/ 662325 h 1658590"/>
                <a:gd name="connsiteX7" fmla="*/ 545977 w 2370804"/>
                <a:gd name="connsiteY7" fmla="*/ 460215 h 1658590"/>
                <a:gd name="connsiteX8" fmla="*/ 0 w 2370804"/>
                <a:gd name="connsiteY8" fmla="*/ 83789 h 1658590"/>
                <a:gd name="connsiteX9" fmla="*/ 414486 w 2370804"/>
                <a:gd name="connsiteY9" fmla="*/ 653 h 165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70804" h="1658590">
                  <a:moveTo>
                    <a:pt x="414486" y="653"/>
                  </a:moveTo>
                  <a:cubicBezTo>
                    <a:pt x="847995" y="-12378"/>
                    <a:pt x="1575185" y="162093"/>
                    <a:pt x="2370804" y="1185257"/>
                  </a:cubicBezTo>
                  <a:lnTo>
                    <a:pt x="1951242" y="1361891"/>
                  </a:lnTo>
                  <a:lnTo>
                    <a:pt x="1951242" y="1658590"/>
                  </a:lnTo>
                  <a:lnTo>
                    <a:pt x="1878164" y="1562594"/>
                  </a:lnTo>
                  <a:cubicBezTo>
                    <a:pt x="1585690" y="1187316"/>
                    <a:pt x="1044028" y="596343"/>
                    <a:pt x="572326" y="656960"/>
                  </a:cubicBezTo>
                  <a:lnTo>
                    <a:pt x="545977" y="662325"/>
                  </a:lnTo>
                  <a:lnTo>
                    <a:pt x="545977" y="460215"/>
                  </a:lnTo>
                  <a:lnTo>
                    <a:pt x="0" y="83789"/>
                  </a:lnTo>
                  <a:cubicBezTo>
                    <a:pt x="0" y="83789"/>
                    <a:pt x="154380" y="8471"/>
                    <a:pt x="414486" y="653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spcFirstLastPara="1" wrap="square" lIns="28575" tIns="28575" rIns="28575" bIns="28575" anchor="ctr" anchorCtr="0">
              <a:noAutofit/>
            </a:bodyPr>
            <a:lstStyle/>
            <a:p>
              <a:endParaRPr sz="1350">
                <a:solidFill>
                  <a:schemeClr val="bg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410E976-DBDC-2D28-CCD1-8C577E59FDE9}"/>
                </a:ext>
              </a:extLst>
            </p:cNvPr>
            <p:cNvSpPr/>
            <p:nvPr/>
          </p:nvSpPr>
          <p:spPr>
            <a:xfrm>
              <a:off x="5131609" y="3389780"/>
              <a:ext cx="1481557" cy="1314317"/>
            </a:xfrm>
            <a:custGeom>
              <a:avLst/>
              <a:gdLst>
                <a:gd name="connsiteX0" fmla="*/ 313710 w 1481557"/>
                <a:gd name="connsiteY0" fmla="*/ 736 h 1314317"/>
                <a:gd name="connsiteX1" fmla="*/ 1481557 w 1481557"/>
                <a:gd name="connsiteY1" fmla="*/ 1169829 h 1314317"/>
                <a:gd name="connsiteX2" fmla="*/ 1421885 w 1481557"/>
                <a:gd name="connsiteY2" fmla="*/ 1314317 h 1314317"/>
                <a:gd name="connsiteX3" fmla="*/ 983324 w 1481557"/>
                <a:gd name="connsiteY3" fmla="*/ 1314317 h 1314317"/>
                <a:gd name="connsiteX4" fmla="*/ 957122 w 1481557"/>
                <a:gd name="connsiteY4" fmla="*/ 1262618 h 1314317"/>
                <a:gd name="connsiteX5" fmla="*/ 654750 w 1481557"/>
                <a:gd name="connsiteY5" fmla="*/ 815113 h 1314317"/>
                <a:gd name="connsiteX6" fmla="*/ 640571 w 1481557"/>
                <a:gd name="connsiteY6" fmla="*/ 802608 h 1314317"/>
                <a:gd name="connsiteX7" fmla="*/ 640571 w 1481557"/>
                <a:gd name="connsiteY7" fmla="*/ 429132 h 1314317"/>
                <a:gd name="connsiteX8" fmla="*/ 0 w 1481557"/>
                <a:gd name="connsiteY8" fmla="*/ 103807 h 1314317"/>
                <a:gd name="connsiteX9" fmla="*/ 313710 w 1481557"/>
                <a:gd name="connsiteY9" fmla="*/ 736 h 1314317"/>
                <a:gd name="connsiteX0" fmla="*/ 313710 w 1481557"/>
                <a:gd name="connsiteY0" fmla="*/ 736 h 1314317"/>
                <a:gd name="connsiteX1" fmla="*/ 1481557 w 1481557"/>
                <a:gd name="connsiteY1" fmla="*/ 1169829 h 1314317"/>
                <a:gd name="connsiteX2" fmla="*/ 983324 w 1481557"/>
                <a:gd name="connsiteY2" fmla="*/ 1314317 h 1314317"/>
                <a:gd name="connsiteX3" fmla="*/ 957122 w 1481557"/>
                <a:gd name="connsiteY3" fmla="*/ 1262618 h 1314317"/>
                <a:gd name="connsiteX4" fmla="*/ 654750 w 1481557"/>
                <a:gd name="connsiteY4" fmla="*/ 815113 h 1314317"/>
                <a:gd name="connsiteX5" fmla="*/ 640571 w 1481557"/>
                <a:gd name="connsiteY5" fmla="*/ 802608 h 1314317"/>
                <a:gd name="connsiteX6" fmla="*/ 640571 w 1481557"/>
                <a:gd name="connsiteY6" fmla="*/ 429132 h 1314317"/>
                <a:gd name="connsiteX7" fmla="*/ 0 w 1481557"/>
                <a:gd name="connsiteY7" fmla="*/ 103807 h 1314317"/>
                <a:gd name="connsiteX8" fmla="*/ 313710 w 1481557"/>
                <a:gd name="connsiteY8" fmla="*/ 736 h 1314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81557" h="1314317">
                  <a:moveTo>
                    <a:pt x="313710" y="736"/>
                  </a:moveTo>
                  <a:cubicBezTo>
                    <a:pt x="572560" y="14761"/>
                    <a:pt x="978445" y="235233"/>
                    <a:pt x="1481557" y="1169829"/>
                  </a:cubicBezTo>
                  <a:lnTo>
                    <a:pt x="983324" y="1314317"/>
                  </a:lnTo>
                  <a:lnTo>
                    <a:pt x="957122" y="1262618"/>
                  </a:lnTo>
                  <a:cubicBezTo>
                    <a:pt x="867437" y="1094442"/>
                    <a:pt x="762132" y="925428"/>
                    <a:pt x="654750" y="815113"/>
                  </a:cubicBezTo>
                  <a:lnTo>
                    <a:pt x="640571" y="802608"/>
                  </a:lnTo>
                  <a:lnTo>
                    <a:pt x="640571" y="429132"/>
                  </a:lnTo>
                  <a:lnTo>
                    <a:pt x="0" y="103807"/>
                  </a:lnTo>
                  <a:cubicBezTo>
                    <a:pt x="0" y="103807"/>
                    <a:pt x="112382" y="-10172"/>
                    <a:pt x="313710" y="73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8575" tIns="28575" rIns="28575" bIns="28575" anchor="ctr" anchorCtr="0">
              <a:noAutofit/>
            </a:bodyPr>
            <a:lstStyle/>
            <a:p>
              <a:endParaRPr sz="1350">
                <a:solidFill>
                  <a:schemeClr val="bg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5A22A83-758D-ED97-7229-D339C1773DCD}"/>
                </a:ext>
              </a:extLst>
            </p:cNvPr>
            <p:cNvSpPr/>
            <p:nvPr/>
          </p:nvSpPr>
          <p:spPr>
            <a:xfrm>
              <a:off x="5716083" y="4639591"/>
              <a:ext cx="335326" cy="646945"/>
            </a:xfrm>
            <a:custGeom>
              <a:avLst/>
              <a:gdLst>
                <a:gd name="connsiteX0" fmla="*/ 97256 w 335326"/>
                <a:gd name="connsiteY0" fmla="*/ 22287 h 646945"/>
                <a:gd name="connsiteX1" fmla="*/ 138885 w 335326"/>
                <a:gd name="connsiteY1" fmla="*/ 134078 h 646945"/>
                <a:gd name="connsiteX2" fmla="*/ 138885 w 335326"/>
                <a:gd name="connsiteY2" fmla="*/ 40830 h 646945"/>
                <a:gd name="connsiteX3" fmla="*/ 0 w 335326"/>
                <a:gd name="connsiteY3" fmla="*/ 0 h 646945"/>
                <a:gd name="connsiteX4" fmla="*/ 70372 w 335326"/>
                <a:gd name="connsiteY4" fmla="*/ 4622 h 646945"/>
                <a:gd name="connsiteX5" fmla="*/ 180753 w 335326"/>
                <a:gd name="connsiteY5" fmla="*/ 7855 h 646945"/>
                <a:gd name="connsiteX6" fmla="*/ 212464 w 335326"/>
                <a:gd name="connsiteY6" fmla="*/ 8784 h 646945"/>
                <a:gd name="connsiteX7" fmla="*/ 223061 w 335326"/>
                <a:gd name="connsiteY7" fmla="*/ 36446 h 646945"/>
                <a:gd name="connsiteX8" fmla="*/ 281922 w 335326"/>
                <a:gd name="connsiteY8" fmla="*/ 269956 h 646945"/>
                <a:gd name="connsiteX9" fmla="*/ 297911 w 335326"/>
                <a:gd name="connsiteY9" fmla="*/ 361238 h 646945"/>
                <a:gd name="connsiteX10" fmla="*/ 209508 w 335326"/>
                <a:gd name="connsiteY10" fmla="*/ 361238 h 646945"/>
                <a:gd name="connsiteX11" fmla="*/ 261030 w 335326"/>
                <a:gd name="connsiteY11" fmla="*/ 547679 h 646945"/>
                <a:gd name="connsiteX12" fmla="*/ 266420 w 335326"/>
                <a:gd name="connsiteY12" fmla="*/ 569411 h 646945"/>
                <a:gd name="connsiteX13" fmla="*/ 326598 w 335326"/>
                <a:gd name="connsiteY13" fmla="*/ 570576 h 646945"/>
                <a:gd name="connsiteX14" fmla="*/ 334945 w 335326"/>
                <a:gd name="connsiteY14" fmla="*/ 642802 h 646945"/>
                <a:gd name="connsiteX15" fmla="*/ 335326 w 335326"/>
                <a:gd name="connsiteY15" fmla="*/ 646945 h 646945"/>
                <a:gd name="connsiteX16" fmla="*/ 326836 w 335326"/>
                <a:gd name="connsiteY16" fmla="*/ 646780 h 646945"/>
                <a:gd name="connsiteX17" fmla="*/ 144748 w 335326"/>
                <a:gd name="connsiteY17" fmla="*/ 643255 h 646945"/>
                <a:gd name="connsiteX18" fmla="*/ 116009 w 335326"/>
                <a:gd name="connsiteY18" fmla="*/ 566498 h 646945"/>
                <a:gd name="connsiteX19" fmla="*/ 108997 w 335326"/>
                <a:gd name="connsiteY19" fmla="*/ 429225 h 646945"/>
                <a:gd name="connsiteX20" fmla="*/ 66264 w 335326"/>
                <a:gd name="connsiteY20" fmla="*/ 41181 h 646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35326" h="646945">
                  <a:moveTo>
                    <a:pt x="97256" y="22287"/>
                  </a:moveTo>
                  <a:lnTo>
                    <a:pt x="138885" y="134078"/>
                  </a:lnTo>
                  <a:lnTo>
                    <a:pt x="138885" y="40830"/>
                  </a:lnTo>
                  <a:close/>
                  <a:moveTo>
                    <a:pt x="0" y="0"/>
                  </a:moveTo>
                  <a:lnTo>
                    <a:pt x="70372" y="4622"/>
                  </a:lnTo>
                  <a:lnTo>
                    <a:pt x="180753" y="7855"/>
                  </a:lnTo>
                  <a:lnTo>
                    <a:pt x="212464" y="8784"/>
                  </a:lnTo>
                  <a:lnTo>
                    <a:pt x="223061" y="36446"/>
                  </a:lnTo>
                  <a:cubicBezTo>
                    <a:pt x="243878" y="98929"/>
                    <a:pt x="263708" y="175854"/>
                    <a:pt x="281922" y="269956"/>
                  </a:cubicBezTo>
                  <a:lnTo>
                    <a:pt x="297911" y="361238"/>
                  </a:lnTo>
                  <a:lnTo>
                    <a:pt x="209508" y="361238"/>
                  </a:lnTo>
                  <a:lnTo>
                    <a:pt x="261030" y="547679"/>
                  </a:lnTo>
                  <a:lnTo>
                    <a:pt x="266420" y="569411"/>
                  </a:lnTo>
                  <a:lnTo>
                    <a:pt x="326598" y="570576"/>
                  </a:lnTo>
                  <a:lnTo>
                    <a:pt x="334945" y="642802"/>
                  </a:lnTo>
                  <a:lnTo>
                    <a:pt x="335326" y="646945"/>
                  </a:lnTo>
                  <a:lnTo>
                    <a:pt x="326836" y="646780"/>
                  </a:lnTo>
                  <a:lnTo>
                    <a:pt x="144748" y="643255"/>
                  </a:lnTo>
                  <a:lnTo>
                    <a:pt x="116009" y="566498"/>
                  </a:lnTo>
                  <a:lnTo>
                    <a:pt x="108997" y="429225"/>
                  </a:lnTo>
                  <a:lnTo>
                    <a:pt x="66264" y="41181"/>
                  </a:lnTo>
                  <a:close/>
                </a:path>
              </a:pathLst>
            </a:custGeom>
            <a:solidFill>
              <a:schemeClr val="tx1">
                <a:alpha val="25000"/>
              </a:schemeClr>
            </a:solidFill>
            <a:ln>
              <a:noFill/>
            </a:ln>
          </p:spPr>
          <p:txBody>
            <a:bodyPr spcFirstLastPara="1" wrap="square" lIns="28575" tIns="28575" rIns="28575" bIns="28575" anchor="ctr" anchorCtr="0">
              <a:noAutofit/>
            </a:bodyPr>
            <a:lstStyle/>
            <a:p>
              <a:endParaRPr sz="1350">
                <a:solidFill>
                  <a:schemeClr val="bg1"/>
                </a:solidFill>
                <a:cs typeface="Calibri"/>
                <a:sym typeface="Calibri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43B88D3-5364-B7A9-89D8-978B6CF5F0F9}"/>
                </a:ext>
              </a:extLst>
            </p:cNvPr>
            <p:cNvSpPr/>
            <p:nvPr/>
          </p:nvSpPr>
          <p:spPr>
            <a:xfrm>
              <a:off x="4455356" y="1412200"/>
              <a:ext cx="2806622" cy="850152"/>
            </a:xfrm>
            <a:custGeom>
              <a:avLst/>
              <a:gdLst>
                <a:gd name="connsiteX0" fmla="*/ 0 w 2806622"/>
                <a:gd name="connsiteY0" fmla="*/ 0 h 850152"/>
                <a:gd name="connsiteX1" fmla="*/ 114055 w 2806622"/>
                <a:gd name="connsiteY1" fmla="*/ 29274 h 850152"/>
                <a:gd name="connsiteX2" fmla="*/ 921162 w 2806622"/>
                <a:gd name="connsiteY2" fmla="*/ 172272 h 850152"/>
                <a:gd name="connsiteX3" fmla="*/ 1761121 w 2806622"/>
                <a:gd name="connsiteY3" fmla="*/ 215141 h 850152"/>
                <a:gd name="connsiteX4" fmla="*/ 2025477 w 2806622"/>
                <a:gd name="connsiteY4" fmla="*/ 204992 h 850152"/>
                <a:gd name="connsiteX5" fmla="*/ 2143680 w 2806622"/>
                <a:gd name="connsiteY5" fmla="*/ 269094 h 850152"/>
                <a:gd name="connsiteX6" fmla="*/ 2689729 w 2806622"/>
                <a:gd name="connsiteY6" fmla="*/ 652403 h 850152"/>
                <a:gd name="connsiteX7" fmla="*/ 2806622 w 2806622"/>
                <a:gd name="connsiteY7" fmla="*/ 756014 h 850152"/>
                <a:gd name="connsiteX8" fmla="*/ 2513404 w 2806622"/>
                <a:gd name="connsiteY8" fmla="*/ 800535 h 850152"/>
                <a:gd name="connsiteX9" fmla="*/ 2110848 w 2806622"/>
                <a:gd name="connsiteY9" fmla="*/ 837854 h 850152"/>
                <a:gd name="connsiteX10" fmla="*/ 1716675 w 2806622"/>
                <a:gd name="connsiteY10" fmla="*/ 850152 h 850152"/>
                <a:gd name="connsiteX11" fmla="*/ 1667596 w 2806622"/>
                <a:gd name="connsiteY11" fmla="*/ 820293 h 850152"/>
                <a:gd name="connsiteX12" fmla="*/ 557287 w 2806622"/>
                <a:gd name="connsiteY12" fmla="*/ 502471 h 850152"/>
                <a:gd name="connsiteX13" fmla="*/ 499099 w 2806622"/>
                <a:gd name="connsiteY13" fmla="*/ 505731 h 850152"/>
                <a:gd name="connsiteX14" fmla="*/ 499099 w 2806622"/>
                <a:gd name="connsiteY14" fmla="*/ 307106 h 85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06622" h="850152">
                  <a:moveTo>
                    <a:pt x="0" y="0"/>
                  </a:moveTo>
                  <a:lnTo>
                    <a:pt x="114055" y="29274"/>
                  </a:lnTo>
                  <a:cubicBezTo>
                    <a:pt x="315897" y="78420"/>
                    <a:pt x="592809" y="134582"/>
                    <a:pt x="921162" y="172272"/>
                  </a:cubicBezTo>
                  <a:cubicBezTo>
                    <a:pt x="1159841" y="199770"/>
                    <a:pt x="1445112" y="219225"/>
                    <a:pt x="1761121" y="215141"/>
                  </a:cubicBezTo>
                  <a:lnTo>
                    <a:pt x="2025477" y="204992"/>
                  </a:lnTo>
                  <a:lnTo>
                    <a:pt x="2143680" y="269094"/>
                  </a:lnTo>
                  <a:cubicBezTo>
                    <a:pt x="2324667" y="373862"/>
                    <a:pt x="2507758" y="500271"/>
                    <a:pt x="2689729" y="652403"/>
                  </a:cubicBezTo>
                  <a:lnTo>
                    <a:pt x="2806622" y="756014"/>
                  </a:lnTo>
                  <a:lnTo>
                    <a:pt x="2513404" y="800535"/>
                  </a:lnTo>
                  <a:cubicBezTo>
                    <a:pt x="2384823" y="816362"/>
                    <a:pt x="2250552" y="829086"/>
                    <a:pt x="2110848" y="837854"/>
                  </a:cubicBezTo>
                  <a:lnTo>
                    <a:pt x="1716675" y="850152"/>
                  </a:lnTo>
                  <a:lnTo>
                    <a:pt x="1667596" y="820293"/>
                  </a:lnTo>
                  <a:cubicBezTo>
                    <a:pt x="1334054" y="634927"/>
                    <a:pt x="950803" y="495865"/>
                    <a:pt x="557287" y="502471"/>
                  </a:cubicBezTo>
                  <a:lnTo>
                    <a:pt x="499099" y="505731"/>
                  </a:lnTo>
                  <a:lnTo>
                    <a:pt x="499099" y="307106"/>
                  </a:lnTo>
                  <a:close/>
                </a:path>
              </a:pathLst>
            </a:custGeom>
            <a:solidFill>
              <a:schemeClr val="tx1">
                <a:alpha val="25000"/>
              </a:schemeClr>
            </a:solidFill>
            <a:ln>
              <a:noFill/>
            </a:ln>
          </p:spPr>
          <p:txBody>
            <a:bodyPr spcFirstLastPara="1" wrap="square" lIns="28575" tIns="28575" rIns="28575" bIns="28575" anchor="ctr" anchorCtr="0">
              <a:noAutofit/>
            </a:bodyPr>
            <a:lstStyle/>
            <a:p>
              <a:endParaRPr sz="1350">
                <a:solidFill>
                  <a:schemeClr val="bg1"/>
                </a:solidFill>
                <a:cs typeface="Calibri"/>
                <a:sym typeface="Calibri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38585E1D-C91C-A07C-F0F3-B8FCB9345C0F}"/>
                </a:ext>
              </a:extLst>
            </p:cNvPr>
            <p:cNvSpPr/>
            <p:nvPr/>
          </p:nvSpPr>
          <p:spPr>
            <a:xfrm>
              <a:off x="4841731" y="2511581"/>
              <a:ext cx="1986672" cy="761944"/>
            </a:xfrm>
            <a:custGeom>
              <a:avLst/>
              <a:gdLst>
                <a:gd name="connsiteX0" fmla="*/ 0 w 1986672"/>
                <a:gd name="connsiteY0" fmla="*/ 0 h 761944"/>
                <a:gd name="connsiteX1" fmla="*/ 154931 w 1986672"/>
                <a:gd name="connsiteY1" fmla="*/ 28641 h 761944"/>
                <a:gd name="connsiteX2" fmla="*/ 533315 w 1986672"/>
                <a:gd name="connsiteY2" fmla="*/ 82775 h 761944"/>
                <a:gd name="connsiteX3" fmla="*/ 1224994 w 1986672"/>
                <a:gd name="connsiteY3" fmla="*/ 125680 h 761944"/>
                <a:gd name="connsiteX4" fmla="*/ 1295842 w 1986672"/>
                <a:gd name="connsiteY4" fmla="*/ 124933 h 761944"/>
                <a:gd name="connsiteX5" fmla="*/ 1354455 w 1986672"/>
                <a:gd name="connsiteY5" fmla="*/ 161875 h 761944"/>
                <a:gd name="connsiteX6" fmla="*/ 1914070 w 1986672"/>
                <a:gd name="connsiteY6" fmla="*/ 644564 h 761944"/>
                <a:gd name="connsiteX7" fmla="*/ 1986672 w 1986672"/>
                <a:gd name="connsiteY7" fmla="*/ 725473 h 761944"/>
                <a:gd name="connsiteX8" fmla="*/ 1859201 w 1986672"/>
                <a:gd name="connsiteY8" fmla="*/ 738540 h 761944"/>
                <a:gd name="connsiteX9" fmla="*/ 1287761 w 1986672"/>
                <a:gd name="connsiteY9" fmla="*/ 761944 h 761944"/>
                <a:gd name="connsiteX10" fmla="*/ 1138130 w 1986672"/>
                <a:gd name="connsiteY10" fmla="*/ 757624 h 761944"/>
                <a:gd name="connsiteX11" fmla="*/ 1130431 w 1986672"/>
                <a:gd name="connsiteY11" fmla="*/ 750819 h 761944"/>
                <a:gd name="connsiteX12" fmla="*/ 410301 w 1986672"/>
                <a:gd name="connsiteY12" fmla="*/ 461462 h 761944"/>
                <a:gd name="connsiteX13" fmla="*/ 383952 w 1986672"/>
                <a:gd name="connsiteY13" fmla="*/ 466827 h 761944"/>
                <a:gd name="connsiteX14" fmla="*/ 383952 w 1986672"/>
                <a:gd name="connsiteY14" fmla="*/ 264717 h 761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986672" h="761944">
                  <a:moveTo>
                    <a:pt x="0" y="0"/>
                  </a:moveTo>
                  <a:lnTo>
                    <a:pt x="154931" y="28641"/>
                  </a:lnTo>
                  <a:cubicBezTo>
                    <a:pt x="271155" y="48592"/>
                    <a:pt x="397789" y="67176"/>
                    <a:pt x="533315" y="82775"/>
                  </a:cubicBezTo>
                  <a:cubicBezTo>
                    <a:pt x="734152" y="105788"/>
                    <a:pt x="967828" y="123170"/>
                    <a:pt x="1224994" y="125680"/>
                  </a:cubicBezTo>
                  <a:lnTo>
                    <a:pt x="1295842" y="124933"/>
                  </a:lnTo>
                  <a:lnTo>
                    <a:pt x="1354455" y="161875"/>
                  </a:lnTo>
                  <a:cubicBezTo>
                    <a:pt x="1532610" y="281781"/>
                    <a:pt x="1720322" y="439233"/>
                    <a:pt x="1914070" y="644564"/>
                  </a:cubicBezTo>
                  <a:lnTo>
                    <a:pt x="1986672" y="725473"/>
                  </a:lnTo>
                  <a:lnTo>
                    <a:pt x="1859201" y="738540"/>
                  </a:lnTo>
                  <a:cubicBezTo>
                    <a:pt x="1678353" y="753490"/>
                    <a:pt x="1487748" y="761944"/>
                    <a:pt x="1287761" y="761944"/>
                  </a:cubicBezTo>
                  <a:lnTo>
                    <a:pt x="1138130" y="757624"/>
                  </a:lnTo>
                  <a:lnTo>
                    <a:pt x="1130431" y="750819"/>
                  </a:lnTo>
                  <a:cubicBezTo>
                    <a:pt x="899493" y="563743"/>
                    <a:pt x="646152" y="431154"/>
                    <a:pt x="410301" y="461462"/>
                  </a:cubicBezTo>
                  <a:lnTo>
                    <a:pt x="383952" y="466827"/>
                  </a:lnTo>
                  <a:lnTo>
                    <a:pt x="383952" y="264717"/>
                  </a:lnTo>
                  <a:close/>
                </a:path>
              </a:pathLst>
            </a:custGeom>
            <a:solidFill>
              <a:schemeClr val="tx1">
                <a:alpha val="25000"/>
              </a:schemeClr>
            </a:solidFill>
            <a:ln>
              <a:noFill/>
            </a:ln>
          </p:spPr>
          <p:txBody>
            <a:bodyPr spcFirstLastPara="1" wrap="square" lIns="28575" tIns="28575" rIns="28575" bIns="28575" anchor="ctr" anchorCtr="0">
              <a:noAutofit/>
            </a:bodyPr>
            <a:lstStyle/>
            <a:p>
              <a:endParaRPr sz="1350">
                <a:solidFill>
                  <a:schemeClr val="bg1"/>
                </a:solidFill>
                <a:cs typeface="Calibri"/>
                <a:sym typeface="Calibri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64DFFB-38A9-0125-B6B3-188FDC9B3AC0}"/>
                </a:ext>
              </a:extLst>
            </p:cNvPr>
            <p:cNvSpPr/>
            <p:nvPr/>
          </p:nvSpPr>
          <p:spPr>
            <a:xfrm>
              <a:off x="5335313" y="3597042"/>
              <a:ext cx="1113156" cy="684294"/>
            </a:xfrm>
            <a:custGeom>
              <a:avLst/>
              <a:gdLst>
                <a:gd name="connsiteX0" fmla="*/ 0 w 1113156"/>
                <a:gd name="connsiteY0" fmla="*/ 0 h 684294"/>
                <a:gd name="connsiteX1" fmla="*/ 38646 w 1113156"/>
                <a:gd name="connsiteY1" fmla="*/ 5141 h 684294"/>
                <a:gd name="connsiteX2" fmla="*/ 589356 w 1113156"/>
                <a:gd name="connsiteY2" fmla="*/ 45097 h 684294"/>
                <a:gd name="connsiteX3" fmla="*/ 615838 w 1113156"/>
                <a:gd name="connsiteY3" fmla="*/ 45498 h 684294"/>
                <a:gd name="connsiteX4" fmla="*/ 677519 w 1113156"/>
                <a:gd name="connsiteY4" fmla="*/ 103460 h 684294"/>
                <a:gd name="connsiteX5" fmla="*/ 1093841 w 1113156"/>
                <a:gd name="connsiteY5" fmla="*/ 644577 h 684294"/>
                <a:gd name="connsiteX6" fmla="*/ 1113156 w 1113156"/>
                <a:gd name="connsiteY6" fmla="*/ 676686 h 684294"/>
                <a:gd name="connsiteX7" fmla="*/ 793148 w 1113156"/>
                <a:gd name="connsiteY7" fmla="*/ 684294 h 684294"/>
                <a:gd name="connsiteX8" fmla="*/ 510926 w 1113156"/>
                <a:gd name="connsiteY8" fmla="*/ 677377 h 684294"/>
                <a:gd name="connsiteX9" fmla="*/ 451046 w 1113156"/>
                <a:gd name="connsiteY9" fmla="*/ 607851 h 684294"/>
                <a:gd name="connsiteX10" fmla="*/ 436867 w 1113156"/>
                <a:gd name="connsiteY10" fmla="*/ 595346 h 684294"/>
                <a:gd name="connsiteX11" fmla="*/ 436867 w 1113156"/>
                <a:gd name="connsiteY11" fmla="*/ 221870 h 68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13156" h="684294">
                  <a:moveTo>
                    <a:pt x="0" y="0"/>
                  </a:moveTo>
                  <a:lnTo>
                    <a:pt x="38646" y="5141"/>
                  </a:lnTo>
                  <a:cubicBezTo>
                    <a:pt x="202053" y="23865"/>
                    <a:pt x="387334" y="38856"/>
                    <a:pt x="589356" y="45097"/>
                  </a:cubicBezTo>
                  <a:lnTo>
                    <a:pt x="615838" y="45498"/>
                  </a:lnTo>
                  <a:lnTo>
                    <a:pt x="677519" y="103460"/>
                  </a:lnTo>
                  <a:cubicBezTo>
                    <a:pt x="805177" y="230620"/>
                    <a:pt x="944458" y="405827"/>
                    <a:pt x="1093841" y="644577"/>
                  </a:cubicBezTo>
                  <a:lnTo>
                    <a:pt x="1113156" y="676686"/>
                  </a:lnTo>
                  <a:lnTo>
                    <a:pt x="793148" y="684294"/>
                  </a:lnTo>
                  <a:lnTo>
                    <a:pt x="510926" y="677377"/>
                  </a:lnTo>
                  <a:lnTo>
                    <a:pt x="451046" y="607851"/>
                  </a:lnTo>
                  <a:lnTo>
                    <a:pt x="436867" y="595346"/>
                  </a:lnTo>
                  <a:lnTo>
                    <a:pt x="436867" y="221870"/>
                  </a:lnTo>
                  <a:close/>
                </a:path>
              </a:pathLst>
            </a:custGeom>
            <a:solidFill>
              <a:schemeClr val="tx1">
                <a:alpha val="25000"/>
              </a:schemeClr>
            </a:solidFill>
            <a:ln>
              <a:noFill/>
            </a:ln>
          </p:spPr>
          <p:txBody>
            <a:bodyPr spcFirstLastPara="1" wrap="square" lIns="28575" tIns="28575" rIns="28575" bIns="28575" anchor="ctr" anchorCtr="0">
              <a:noAutofit/>
            </a:bodyPr>
            <a:lstStyle/>
            <a:p>
              <a:endParaRPr sz="1350">
                <a:solidFill>
                  <a:schemeClr val="bg1"/>
                </a:solidFill>
                <a:cs typeface="Calibri"/>
                <a:sym typeface="Calibri"/>
              </a:endParaRPr>
            </a:p>
          </p:txBody>
        </p:sp>
        <p:sp>
          <p:nvSpPr>
            <p:cNvPr id="55" name="Google Shape;703;p18">
              <a:extLst>
                <a:ext uri="{FF2B5EF4-FFF2-40B4-BE49-F238E27FC236}">
                  <a16:creationId xmlns:a16="http://schemas.microsoft.com/office/drawing/2014/main" id="{22AD6CC1-22DD-7D88-8281-2C65B185738C}"/>
                </a:ext>
              </a:extLst>
            </p:cNvPr>
            <p:cNvSpPr/>
            <p:nvPr/>
          </p:nvSpPr>
          <p:spPr>
            <a:xfrm>
              <a:off x="4212721" y="1262823"/>
              <a:ext cx="3766558" cy="92460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1001" y="21600"/>
                  </a:moveTo>
                  <a:cubicBezTo>
                    <a:pt x="14449" y="21600"/>
                    <a:pt x="17422" y="19802"/>
                    <a:pt x="19826" y="17482"/>
                  </a:cubicBezTo>
                  <a:lnTo>
                    <a:pt x="21600" y="0"/>
                  </a:lnTo>
                  <a:cubicBezTo>
                    <a:pt x="15874" y="7824"/>
                    <a:pt x="10324" y="7447"/>
                    <a:pt x="6674" y="5734"/>
                  </a:cubicBezTo>
                  <a:cubicBezTo>
                    <a:pt x="2908" y="3973"/>
                    <a:pt x="322" y="486"/>
                    <a:pt x="0" y="36"/>
                  </a:cubicBezTo>
                  <a:lnTo>
                    <a:pt x="1759" y="17372"/>
                  </a:lnTo>
                  <a:cubicBezTo>
                    <a:pt x="2943" y="18466"/>
                    <a:pt x="4429" y="19608"/>
                    <a:pt x="6143" y="20422"/>
                  </a:cubicBezTo>
                  <a:cubicBezTo>
                    <a:pt x="7852" y="21248"/>
                    <a:pt x="9471" y="21600"/>
                    <a:pt x="11001" y="2160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28575" tIns="28575" rIns="28575" bIns="28575" anchor="ctr" anchorCtr="0">
              <a:noAutofit/>
            </a:bodyPr>
            <a:lstStyle/>
            <a:p>
              <a:endParaRPr sz="1350">
                <a:solidFill>
                  <a:schemeClr val="bg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719;p18">
              <a:extLst>
                <a:ext uri="{FF2B5EF4-FFF2-40B4-BE49-F238E27FC236}">
                  <a16:creationId xmlns:a16="http://schemas.microsoft.com/office/drawing/2014/main" id="{CE1D68E0-1FB7-380E-8EB4-A9FDA764D9E3}"/>
                </a:ext>
              </a:extLst>
            </p:cNvPr>
            <p:cNvSpPr txBox="1"/>
            <p:nvPr/>
          </p:nvSpPr>
          <p:spPr>
            <a:xfrm>
              <a:off x="4400488" y="1540519"/>
              <a:ext cx="547420" cy="293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4275" rIns="0" bIns="34275" anchor="ctr" anchorCtr="0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ea typeface="Calibri"/>
                  <a:cs typeface="Calibri"/>
                  <a:sym typeface="Calibri"/>
                </a:rPr>
                <a:t>01</a:t>
              </a:r>
              <a:endParaRPr sz="1350">
                <a:solidFill>
                  <a:schemeClr val="bg1"/>
                </a:solidFill>
              </a:endParaRPr>
            </a:p>
          </p:txBody>
        </p:sp>
        <p:sp>
          <p:nvSpPr>
            <p:cNvPr id="62" name="Google Shape;706;p18">
              <a:extLst>
                <a:ext uri="{FF2B5EF4-FFF2-40B4-BE49-F238E27FC236}">
                  <a16:creationId xmlns:a16="http://schemas.microsoft.com/office/drawing/2014/main" id="{F042BEB6-5FA0-123C-84CE-A878E5342254}"/>
                </a:ext>
              </a:extLst>
            </p:cNvPr>
            <p:cNvSpPr/>
            <p:nvPr/>
          </p:nvSpPr>
          <p:spPr>
            <a:xfrm>
              <a:off x="4680746" y="2401683"/>
              <a:ext cx="2824269" cy="79564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1080" y="21600"/>
                  </a:moveTo>
                  <a:cubicBezTo>
                    <a:pt x="14139" y="21600"/>
                    <a:pt x="16911" y="20682"/>
                    <a:pt x="19373" y="19271"/>
                  </a:cubicBezTo>
                  <a:lnTo>
                    <a:pt x="21600" y="141"/>
                  </a:lnTo>
                  <a:cubicBezTo>
                    <a:pt x="15288" y="5407"/>
                    <a:pt x="9406" y="4828"/>
                    <a:pt x="5310" y="3162"/>
                  </a:cubicBezTo>
                  <a:cubicBezTo>
                    <a:pt x="3237" y="2315"/>
                    <a:pt x="1436" y="1144"/>
                    <a:pt x="0" y="0"/>
                  </a:cubicBezTo>
                  <a:lnTo>
                    <a:pt x="2219" y="19073"/>
                  </a:lnTo>
                  <a:cubicBezTo>
                    <a:pt x="2971" y="19496"/>
                    <a:pt x="3762" y="19892"/>
                    <a:pt x="4602" y="20245"/>
                  </a:cubicBezTo>
                  <a:cubicBezTo>
                    <a:pt x="6881" y="21191"/>
                    <a:pt x="9040" y="21600"/>
                    <a:pt x="11080" y="2160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28575" tIns="28575" rIns="28575" bIns="28575" anchor="ctr" anchorCtr="0">
              <a:noAutofit/>
            </a:bodyPr>
            <a:lstStyle/>
            <a:p>
              <a:endParaRPr sz="1350">
                <a:solidFill>
                  <a:schemeClr val="bg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720;p18">
              <a:extLst>
                <a:ext uri="{FF2B5EF4-FFF2-40B4-BE49-F238E27FC236}">
                  <a16:creationId xmlns:a16="http://schemas.microsoft.com/office/drawing/2014/main" id="{AC52F639-C1DF-9B38-D413-AE13AFDEF1F7}"/>
                </a:ext>
              </a:extLst>
            </p:cNvPr>
            <p:cNvSpPr txBox="1"/>
            <p:nvPr/>
          </p:nvSpPr>
          <p:spPr>
            <a:xfrm>
              <a:off x="4868512" y="2677925"/>
              <a:ext cx="547420" cy="293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4275" rIns="0" bIns="34275" anchor="ctr" anchorCtr="0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ea typeface="Calibri"/>
                  <a:cs typeface="Calibri"/>
                  <a:sym typeface="Calibri"/>
                </a:rPr>
                <a:t>02</a:t>
              </a:r>
              <a:endParaRPr sz="1350">
                <a:solidFill>
                  <a:schemeClr val="bg1"/>
                </a:solidFill>
              </a:endParaRPr>
            </a:p>
          </p:txBody>
        </p:sp>
        <p:sp>
          <p:nvSpPr>
            <p:cNvPr id="64" name="Google Shape;705;p18">
              <a:extLst>
                <a:ext uri="{FF2B5EF4-FFF2-40B4-BE49-F238E27FC236}">
                  <a16:creationId xmlns:a16="http://schemas.microsoft.com/office/drawing/2014/main" id="{E01FED45-1822-F08B-C3BE-03501CE32107}"/>
                </a:ext>
              </a:extLst>
            </p:cNvPr>
            <p:cNvSpPr/>
            <p:nvPr/>
          </p:nvSpPr>
          <p:spPr>
            <a:xfrm>
              <a:off x="5131609" y="3493740"/>
              <a:ext cx="1918901" cy="711396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728" y="979"/>
                  </a:moveTo>
                  <a:cubicBezTo>
                    <a:pt x="1780" y="679"/>
                    <a:pt x="872" y="363"/>
                    <a:pt x="0" y="0"/>
                  </a:cubicBezTo>
                  <a:lnTo>
                    <a:pt x="3143" y="20511"/>
                  </a:lnTo>
                  <a:cubicBezTo>
                    <a:pt x="5965" y="21268"/>
                    <a:pt x="8658" y="21600"/>
                    <a:pt x="11221" y="21600"/>
                  </a:cubicBezTo>
                  <a:cubicBezTo>
                    <a:pt x="13774" y="21600"/>
                    <a:pt x="16191" y="21268"/>
                    <a:pt x="18468" y="20684"/>
                  </a:cubicBezTo>
                  <a:lnTo>
                    <a:pt x="21600" y="221"/>
                  </a:lnTo>
                  <a:cubicBezTo>
                    <a:pt x="14289" y="3205"/>
                    <a:pt x="7633" y="2495"/>
                    <a:pt x="2728" y="9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28575" tIns="28575" rIns="28575" bIns="28575" anchor="ctr" anchorCtr="0">
              <a:noAutofit/>
            </a:bodyPr>
            <a:lstStyle/>
            <a:p>
              <a:endParaRPr sz="1350">
                <a:solidFill>
                  <a:schemeClr val="bg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721;p18">
              <a:extLst>
                <a:ext uri="{FF2B5EF4-FFF2-40B4-BE49-F238E27FC236}">
                  <a16:creationId xmlns:a16="http://schemas.microsoft.com/office/drawing/2014/main" id="{E5163619-AEC8-29FF-556F-BBDC134A1B18}"/>
                </a:ext>
              </a:extLst>
            </p:cNvPr>
            <p:cNvSpPr txBox="1"/>
            <p:nvPr/>
          </p:nvSpPr>
          <p:spPr>
            <a:xfrm>
              <a:off x="5319375" y="3730420"/>
              <a:ext cx="547420" cy="293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4275" rIns="0" bIns="34275" anchor="ctr" anchorCtr="0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ea typeface="Calibri"/>
                  <a:cs typeface="Calibri"/>
                  <a:sym typeface="Calibri"/>
                </a:rPr>
                <a:t>03</a:t>
              </a:r>
              <a:endParaRPr sz="1350">
                <a:solidFill>
                  <a:schemeClr val="bg1"/>
                </a:solidFill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DC844B8-E7DD-6BD4-FD48-437BE3917754}"/>
                </a:ext>
              </a:extLst>
            </p:cNvPr>
            <p:cNvSpPr/>
            <p:nvPr/>
          </p:nvSpPr>
          <p:spPr>
            <a:xfrm>
              <a:off x="5570124" y="4553804"/>
              <a:ext cx="1043042" cy="657808"/>
            </a:xfrm>
            <a:custGeom>
              <a:avLst/>
              <a:gdLst>
                <a:gd name="connsiteX0" fmla="*/ 0 w 1043042"/>
                <a:gd name="connsiteY0" fmla="*/ 0 h 657808"/>
                <a:gd name="connsiteX1" fmla="*/ 216331 w 1043042"/>
                <a:gd name="connsiteY1" fmla="*/ 14209 h 657808"/>
                <a:gd name="connsiteX2" fmla="*/ 326712 w 1043042"/>
                <a:gd name="connsiteY2" fmla="*/ 17442 h 657808"/>
                <a:gd name="connsiteX3" fmla="*/ 475907 w 1043042"/>
                <a:gd name="connsiteY3" fmla="*/ 21811 h 657808"/>
                <a:gd name="connsiteX4" fmla="*/ 1043042 w 1043042"/>
                <a:gd name="connsiteY4" fmla="*/ 3082 h 657808"/>
                <a:gd name="connsiteX5" fmla="*/ 767982 w 1043042"/>
                <a:gd name="connsiteY5" fmla="*/ 654175 h 657808"/>
                <a:gd name="connsiteX6" fmla="*/ 547223 w 1043042"/>
                <a:gd name="connsiteY6" fmla="*/ 657808 h 657808"/>
                <a:gd name="connsiteX7" fmla="*/ 472795 w 1043042"/>
                <a:gd name="connsiteY7" fmla="*/ 656367 h 657808"/>
                <a:gd name="connsiteX8" fmla="*/ 261968 w 1043042"/>
                <a:gd name="connsiteY8" fmla="*/ 652285 h 657808"/>
                <a:gd name="connsiteX9" fmla="*/ 196949 w 1043042"/>
                <a:gd name="connsiteY9" fmla="*/ 478632 h 657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3042" h="657808">
                  <a:moveTo>
                    <a:pt x="0" y="0"/>
                  </a:moveTo>
                  <a:lnTo>
                    <a:pt x="216331" y="14209"/>
                  </a:lnTo>
                  <a:lnTo>
                    <a:pt x="326712" y="17442"/>
                  </a:lnTo>
                  <a:lnTo>
                    <a:pt x="475907" y="21811"/>
                  </a:lnTo>
                  <a:cubicBezTo>
                    <a:pt x="654799" y="23627"/>
                    <a:pt x="844863" y="18422"/>
                    <a:pt x="1043042" y="3082"/>
                  </a:cubicBezTo>
                  <a:lnTo>
                    <a:pt x="767982" y="654175"/>
                  </a:lnTo>
                  <a:cubicBezTo>
                    <a:pt x="695647" y="656770"/>
                    <a:pt x="622226" y="657808"/>
                    <a:pt x="547223" y="657808"/>
                  </a:cubicBezTo>
                  <a:lnTo>
                    <a:pt x="472795" y="656367"/>
                  </a:lnTo>
                  <a:lnTo>
                    <a:pt x="261968" y="652285"/>
                  </a:lnTo>
                  <a:lnTo>
                    <a:pt x="196949" y="4786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28575" tIns="28575" rIns="28575" bIns="28575" anchor="ctr" anchorCtr="0">
              <a:noAutofit/>
            </a:bodyPr>
            <a:lstStyle/>
            <a:p>
              <a:endParaRPr sz="1350">
                <a:solidFill>
                  <a:schemeClr val="bg1"/>
                </a:solidFill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722;p18">
              <a:extLst>
                <a:ext uri="{FF2B5EF4-FFF2-40B4-BE49-F238E27FC236}">
                  <a16:creationId xmlns:a16="http://schemas.microsoft.com/office/drawing/2014/main" id="{46B3CD25-50EF-B393-E134-9667ADAAFA7C}"/>
                </a:ext>
              </a:extLst>
            </p:cNvPr>
            <p:cNvSpPr txBox="1"/>
            <p:nvPr/>
          </p:nvSpPr>
          <p:spPr>
            <a:xfrm>
              <a:off x="5757890" y="4742933"/>
              <a:ext cx="547420" cy="293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34275" rIns="0" bIns="34275" anchor="ctr" anchorCtr="0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ea typeface="Calibri"/>
                  <a:cs typeface="Calibri"/>
                  <a:sym typeface="Calibri"/>
                </a:rPr>
                <a:t>04</a:t>
              </a:r>
              <a:endParaRPr sz="1350">
                <a:solidFill>
                  <a:schemeClr val="bg1"/>
                </a:solidFill>
              </a:endParaRPr>
            </a:p>
          </p:txBody>
        </p:sp>
      </p:grpSp>
      <p:sp>
        <p:nvSpPr>
          <p:cNvPr id="3" name="Triangle 2">
            <a:extLst>
              <a:ext uri="{FF2B5EF4-FFF2-40B4-BE49-F238E27FC236}">
                <a16:creationId xmlns:a16="http://schemas.microsoft.com/office/drawing/2014/main" id="{79C4D5B4-E1F6-91A1-4577-0BEE6AB603E3}"/>
              </a:ext>
            </a:extLst>
          </p:cNvPr>
          <p:cNvSpPr/>
          <p:nvPr/>
        </p:nvSpPr>
        <p:spPr>
          <a:xfrm rot="10800000">
            <a:off x="5850029" y="6372282"/>
            <a:ext cx="469753" cy="14872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70">
            <a:extLst>
              <a:ext uri="{FF2B5EF4-FFF2-40B4-BE49-F238E27FC236}">
                <a16:creationId xmlns:a16="http://schemas.microsoft.com/office/drawing/2014/main" id="{8CC32C92-864B-332E-319C-403C1F364305}"/>
              </a:ext>
            </a:extLst>
          </p:cNvPr>
          <p:cNvSpPr/>
          <p:nvPr/>
        </p:nvSpPr>
        <p:spPr>
          <a:xfrm>
            <a:off x="8044753" y="4037926"/>
            <a:ext cx="3440925" cy="2201631"/>
          </a:xfrm>
          <a:prstGeom prst="roundRect">
            <a:avLst/>
          </a:prstGeom>
          <a:solidFill>
            <a:srgbClr val="FFFFFF">
              <a:alpha val="41961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72">
            <a:extLst>
              <a:ext uri="{FF2B5EF4-FFF2-40B4-BE49-F238E27FC236}">
                <a16:creationId xmlns:a16="http://schemas.microsoft.com/office/drawing/2014/main" id="{AFFB5992-6DA5-7F6C-B91A-E044CFAB3FEF}"/>
              </a:ext>
            </a:extLst>
          </p:cNvPr>
          <p:cNvSpPr/>
          <p:nvPr/>
        </p:nvSpPr>
        <p:spPr>
          <a:xfrm>
            <a:off x="8611143" y="1241348"/>
            <a:ext cx="3332921" cy="2201631"/>
          </a:xfrm>
          <a:prstGeom prst="roundRect">
            <a:avLst/>
          </a:prstGeom>
          <a:solidFill>
            <a:srgbClr val="FFFFFF">
              <a:alpha val="41961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73">
            <a:extLst>
              <a:ext uri="{FF2B5EF4-FFF2-40B4-BE49-F238E27FC236}">
                <a16:creationId xmlns:a16="http://schemas.microsoft.com/office/drawing/2014/main" id="{3438B3A6-2A7F-28DC-E421-C81471BC0E26}"/>
              </a:ext>
            </a:extLst>
          </p:cNvPr>
          <p:cNvSpPr/>
          <p:nvPr/>
        </p:nvSpPr>
        <p:spPr>
          <a:xfrm>
            <a:off x="678612" y="3921440"/>
            <a:ext cx="3440925" cy="2201631"/>
          </a:xfrm>
          <a:prstGeom prst="roundRect">
            <a:avLst/>
          </a:prstGeom>
          <a:solidFill>
            <a:srgbClr val="FFFFFF">
              <a:alpha val="41961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4">
            <a:extLst>
              <a:ext uri="{FF2B5EF4-FFF2-40B4-BE49-F238E27FC236}">
                <a16:creationId xmlns:a16="http://schemas.microsoft.com/office/drawing/2014/main" id="{BF6D4F9A-8851-B29D-FF3D-740180ED9A66}"/>
              </a:ext>
            </a:extLst>
          </p:cNvPr>
          <p:cNvSpPr/>
          <p:nvPr/>
        </p:nvSpPr>
        <p:spPr>
          <a:xfrm>
            <a:off x="247936" y="1481143"/>
            <a:ext cx="3332921" cy="2201631"/>
          </a:xfrm>
          <a:prstGeom prst="roundRect">
            <a:avLst/>
          </a:prstGeom>
          <a:solidFill>
            <a:srgbClr val="FFFFFF">
              <a:alpha val="41961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458CD16-93D7-C0EB-A87E-B728CF09FBC5}"/>
              </a:ext>
            </a:extLst>
          </p:cNvPr>
          <p:cNvSpPr/>
          <p:nvPr/>
        </p:nvSpPr>
        <p:spPr>
          <a:xfrm>
            <a:off x="881925" y="4184641"/>
            <a:ext cx="182880" cy="182880"/>
          </a:xfrm>
          <a:prstGeom prst="ellipse">
            <a:avLst/>
          </a:prstGeom>
          <a:solidFill>
            <a:schemeClr val="accent1"/>
          </a:solidFill>
          <a:ln w="38100" cap="flat" cmpd="sng" algn="ctr">
            <a:solidFill>
              <a:srgbClr val="FFFFFF"/>
            </a:solidFill>
            <a:prstDash val="solid"/>
          </a:ln>
          <a:effectLst>
            <a:outerShdw blurRad="127000" dist="254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932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BC5C508-3BDA-EF2C-647C-7EE9AB06A982}"/>
              </a:ext>
            </a:extLst>
          </p:cNvPr>
          <p:cNvSpPr/>
          <p:nvPr/>
        </p:nvSpPr>
        <p:spPr>
          <a:xfrm>
            <a:off x="417611" y="1685072"/>
            <a:ext cx="182880" cy="1828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8100" cap="flat" cmpd="sng" algn="ctr">
            <a:solidFill>
              <a:srgbClr val="FFFFFF"/>
            </a:solidFill>
            <a:prstDash val="solid"/>
          </a:ln>
          <a:effectLst>
            <a:outerShdw blurRad="127000" dist="254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932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4D9ADF1-3CB6-FFEC-BDB2-89DD71BD822C}"/>
              </a:ext>
            </a:extLst>
          </p:cNvPr>
          <p:cNvSpPr/>
          <p:nvPr/>
        </p:nvSpPr>
        <p:spPr>
          <a:xfrm>
            <a:off x="8771643" y="1500910"/>
            <a:ext cx="182880" cy="182880"/>
          </a:xfrm>
          <a:prstGeom prst="ellipse">
            <a:avLst/>
          </a:prstGeom>
          <a:solidFill>
            <a:schemeClr val="accent2"/>
          </a:solidFill>
          <a:ln w="38100" cap="flat" cmpd="sng" algn="ctr">
            <a:solidFill>
              <a:srgbClr val="FFFFFF"/>
            </a:solidFill>
            <a:prstDash val="solid"/>
          </a:ln>
          <a:effectLst>
            <a:outerShdw blurRad="127000" dist="254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932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5BB479-76CF-BCBF-A770-54C8F5311FC3}"/>
              </a:ext>
            </a:extLst>
          </p:cNvPr>
          <p:cNvSpPr/>
          <p:nvPr/>
        </p:nvSpPr>
        <p:spPr>
          <a:xfrm>
            <a:off x="8329299" y="4258057"/>
            <a:ext cx="182880" cy="182880"/>
          </a:xfrm>
          <a:prstGeom prst="ellipse">
            <a:avLst/>
          </a:prstGeom>
          <a:solidFill>
            <a:schemeClr val="accent3"/>
          </a:solidFill>
          <a:ln w="38100" cap="flat" cmpd="sng" algn="ctr">
            <a:solidFill>
              <a:srgbClr val="FFFFFF"/>
            </a:solidFill>
            <a:prstDash val="solid"/>
          </a:ln>
          <a:effectLst>
            <a:outerShdw blurRad="127000" dist="254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932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D39101-2263-6732-A073-4B35E6235597}"/>
              </a:ext>
            </a:extLst>
          </p:cNvPr>
          <p:cNvSpPr txBox="1"/>
          <p:nvPr/>
        </p:nvSpPr>
        <p:spPr>
          <a:xfrm>
            <a:off x="741491" y="1575568"/>
            <a:ext cx="24508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/>
              <a:t>Revenue Acceleration</a:t>
            </a:r>
          </a:p>
        </p:txBody>
      </p:sp>
      <p:sp>
        <p:nvSpPr>
          <p:cNvPr id="19" name="Google Shape;1556;p231">
            <a:extLst>
              <a:ext uri="{FF2B5EF4-FFF2-40B4-BE49-F238E27FC236}">
                <a16:creationId xmlns:a16="http://schemas.microsoft.com/office/drawing/2014/main" id="{F6C5D201-A019-69B8-7B35-C716FE087953}"/>
              </a:ext>
            </a:extLst>
          </p:cNvPr>
          <p:cNvSpPr txBox="1"/>
          <p:nvPr/>
        </p:nvSpPr>
        <p:spPr>
          <a:xfrm>
            <a:off x="454318" y="1989778"/>
            <a:ext cx="30251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/>
              <a:t>Fragmentation loses deals. Integration wins them.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Pipeline captured at every handoff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Upsell &amp; renewal signals acted on in real time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Speed to response becomes a competitive edge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AI-driven growth becomes the norm, not the exception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600"/>
          </a:p>
          <a:p>
            <a:r>
              <a:rPr lang="en-US" sz="1050" b="1"/>
              <a:t>Competitors can’t capture what you see first.</a:t>
            </a:r>
            <a:endParaRPr lang="en-US" sz="10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90BC39-47E5-93C2-734C-ABA2F4558CB8}"/>
              </a:ext>
            </a:extLst>
          </p:cNvPr>
          <p:cNvSpPr txBox="1"/>
          <p:nvPr/>
        </p:nvSpPr>
        <p:spPr>
          <a:xfrm>
            <a:off x="1224458" y="4093201"/>
            <a:ext cx="29061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/>
              <a:t>Efficiency That Scales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206242-9B02-80F6-5D29-6E289F10B968}"/>
              </a:ext>
            </a:extLst>
          </p:cNvPr>
          <p:cNvSpPr txBox="1"/>
          <p:nvPr/>
        </p:nvSpPr>
        <p:spPr>
          <a:xfrm>
            <a:off x="8560614" y="4169392"/>
            <a:ext cx="25435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/>
              <a:t>Structural Speed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931FB3-A4FC-546B-5A19-F4FAFD1A16B7}"/>
              </a:ext>
            </a:extLst>
          </p:cNvPr>
          <p:cNvSpPr txBox="1"/>
          <p:nvPr/>
        </p:nvSpPr>
        <p:spPr>
          <a:xfrm>
            <a:off x="9019579" y="1413392"/>
            <a:ext cx="2829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/>
              <a:t>Loyalty That Compounds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36C506-4F7A-BE33-FDB2-587CD422D17E}"/>
              </a:ext>
            </a:extLst>
          </p:cNvPr>
          <p:cNvSpPr txBox="1"/>
          <p:nvPr/>
        </p:nvSpPr>
        <p:spPr>
          <a:xfrm>
            <a:off x="6132248" y="6475829"/>
            <a:ext cx="58611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/>
              <a:t>Every one of these is winnable. The Agentic Front Office is how.</a:t>
            </a:r>
          </a:p>
        </p:txBody>
      </p:sp>
      <p:sp>
        <p:nvSpPr>
          <p:cNvPr id="26" name="Google Shape;1556;p231">
            <a:extLst>
              <a:ext uri="{FF2B5EF4-FFF2-40B4-BE49-F238E27FC236}">
                <a16:creationId xmlns:a16="http://schemas.microsoft.com/office/drawing/2014/main" id="{B4E91A9D-C016-85B3-2D16-3D7E1A905229}"/>
              </a:ext>
            </a:extLst>
          </p:cNvPr>
          <p:cNvSpPr txBox="1"/>
          <p:nvPr/>
        </p:nvSpPr>
        <p:spPr>
          <a:xfrm>
            <a:off x="8823873" y="1911041"/>
            <a:ext cx="30251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/>
              <a:t>Friction drives churn. Relevance drives retention.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Consistent experience across every touchpoint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Competing on insight, not just price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Knowing your customer better than the AI-native rivals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Loyalty advantage built and defended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600"/>
          </a:p>
          <a:p>
            <a:r>
              <a:rPr lang="en-US" sz="1050" b="1"/>
              <a:t>Seamlessness compounds over time.</a:t>
            </a:r>
            <a:endParaRPr lang="en-US" sz="1050"/>
          </a:p>
        </p:txBody>
      </p:sp>
      <p:sp>
        <p:nvSpPr>
          <p:cNvPr id="27" name="Google Shape;1556;p231">
            <a:extLst>
              <a:ext uri="{FF2B5EF4-FFF2-40B4-BE49-F238E27FC236}">
                <a16:creationId xmlns:a16="http://schemas.microsoft.com/office/drawing/2014/main" id="{5B0CCF1D-B55C-6A7B-5DE0-C5F0E293FE47}"/>
              </a:ext>
            </a:extLst>
          </p:cNvPr>
          <p:cNvSpPr txBox="1"/>
          <p:nvPr/>
        </p:nvSpPr>
        <p:spPr>
          <a:xfrm>
            <a:off x="890211" y="4506594"/>
            <a:ext cx="30251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/>
              <a:t>Manual gaps inflate cost. Automation bends the curve.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Headcount focused on value, not system friction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Revenue growth without linear cost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Preventable errors eliminated at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00"/>
              <a:t>Output scales faster than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600"/>
          </a:p>
          <a:p>
            <a:r>
              <a:rPr lang="en-US" sz="1050" b="1"/>
              <a:t>The math starts working in your favor.</a:t>
            </a:r>
          </a:p>
        </p:txBody>
      </p:sp>
      <p:sp>
        <p:nvSpPr>
          <p:cNvPr id="28" name="Google Shape;1556;p231">
            <a:extLst>
              <a:ext uri="{FF2B5EF4-FFF2-40B4-BE49-F238E27FC236}">
                <a16:creationId xmlns:a16="http://schemas.microsoft.com/office/drawing/2014/main" id="{A54A3E33-0F9C-E5BD-FC4E-3A3623BC0930}"/>
              </a:ext>
            </a:extLst>
          </p:cNvPr>
          <p:cNvSpPr txBox="1"/>
          <p:nvPr/>
        </p:nvSpPr>
        <p:spPr>
          <a:xfrm>
            <a:off x="8319805" y="4588556"/>
            <a:ext cx="30251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/>
              <a:t>Slow processes cede ground. Connected systems win 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/>
              <a:t>Marketing, sales &amp; service move as one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/>
              <a:t>Demand generated and converted in the same motion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/>
              <a:t>Real-time decisions vs. manual approvals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/>
              <a:t>Built for a non-linear world</a:t>
            </a:r>
          </a:p>
          <a:p>
            <a:endParaRPr lang="en-US" sz="600"/>
          </a:p>
          <a:p>
            <a:r>
              <a:rPr lang="en-US" sz="1050" b="1"/>
              <a:t>The organization moves as the market moves.</a:t>
            </a:r>
          </a:p>
        </p:txBody>
      </p:sp>
    </p:spTree>
    <p:extLst>
      <p:ext uri="{BB962C8B-B14F-4D97-AF65-F5344CB8AC3E}">
        <p14:creationId xmlns:p14="http://schemas.microsoft.com/office/powerpoint/2010/main" val="3488079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C2784-2343-C255-3815-B1315B970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2379;p339">
            <a:extLst>
              <a:ext uri="{FF2B5EF4-FFF2-40B4-BE49-F238E27FC236}">
                <a16:creationId xmlns:a16="http://schemas.microsoft.com/office/drawing/2014/main" id="{0AF7D543-7DB1-C0F6-CCD9-FFDA63DC7307}"/>
              </a:ext>
            </a:extLst>
          </p:cNvPr>
          <p:cNvSpPr txBox="1">
            <a:spLocks/>
          </p:cNvSpPr>
          <p:nvPr/>
        </p:nvSpPr>
        <p:spPr>
          <a:xfrm>
            <a:off x="397667" y="402338"/>
            <a:ext cx="11403809" cy="5152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 AGENTIC FRONT OFFICE</a:t>
            </a:r>
            <a:br>
              <a:rPr lang="en-US" sz="11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399" b="1">
                <a:latin typeface="Arial"/>
                <a:ea typeface="+mj-lt"/>
                <a:cs typeface="Arial"/>
              </a:rPr>
              <a:t>We envision a new commercial operating model – a self-orchestrating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399" b="1">
                <a:latin typeface="Arial"/>
                <a:ea typeface="+mj-lt"/>
                <a:cs typeface="Arial"/>
              </a:rPr>
              <a:t>growth system that compounds value across every customer interaction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A1D69C-A1D8-351A-B050-86C21A405EF8}"/>
              </a:ext>
            </a:extLst>
          </p:cNvPr>
          <p:cNvSpPr txBox="1"/>
          <p:nvPr/>
        </p:nvSpPr>
        <p:spPr>
          <a:xfrm>
            <a:off x="397667" y="1358139"/>
            <a:ext cx="1097465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The Agentic Front Office: an intelligent commercial ecosystem that senses, activates, and scales – powered by a self-learning Commercial Brain</a:t>
            </a:r>
            <a:endParaRPr lang="en-US" sz="1100" b="1">
              <a:latin typeface="Arial"/>
              <a:cs typeface="Arial"/>
            </a:endParaRPr>
          </a:p>
        </p:txBody>
      </p:sp>
      <p:sp>
        <p:nvSpPr>
          <p:cNvPr id="36" name="Google Shape;71;p15">
            <a:extLst>
              <a:ext uri="{FF2B5EF4-FFF2-40B4-BE49-F238E27FC236}">
                <a16:creationId xmlns:a16="http://schemas.microsoft.com/office/drawing/2014/main" id="{7C7BD1BF-AA71-C587-D8B3-E27BDD9499DC}"/>
              </a:ext>
            </a:extLst>
          </p:cNvPr>
          <p:cNvSpPr/>
          <p:nvPr/>
        </p:nvSpPr>
        <p:spPr>
          <a:xfrm rot="18480000">
            <a:off x="5991165" y="1719498"/>
            <a:ext cx="1523758" cy="55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68" tIns="60917" rIns="121868" bIns="60917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50" i="1">
                <a:solidFill>
                  <a:srgbClr val="FFFFFF"/>
                </a:solidFill>
                <a:latin typeface="+mn-lt"/>
              </a:rPr>
              <a:t>Continuous Commercial Intelligence </a:t>
            </a:r>
            <a:endParaRPr lang="en" sz="1050" i="1">
              <a:solidFill>
                <a:srgbClr val="FFFFFF"/>
              </a:solidFill>
              <a:latin typeface="+mn-lt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FAA45B5-B80E-3E7E-F89B-D7157ABBEC4A}"/>
              </a:ext>
            </a:extLst>
          </p:cNvPr>
          <p:cNvGrpSpPr>
            <a:grpSpLocks noChangeAspect="1"/>
          </p:cNvGrpSpPr>
          <p:nvPr/>
        </p:nvGrpSpPr>
        <p:grpSpPr>
          <a:xfrm>
            <a:off x="936952" y="1852240"/>
            <a:ext cx="10318096" cy="3983221"/>
            <a:chOff x="1638794" y="2170064"/>
            <a:chExt cx="8453818" cy="326353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0FD413C-B3A6-1A6F-45BF-36C6DE5179CB}"/>
                </a:ext>
              </a:extLst>
            </p:cNvPr>
            <p:cNvSpPr/>
            <p:nvPr/>
          </p:nvSpPr>
          <p:spPr>
            <a:xfrm>
              <a:off x="1638795" y="2170064"/>
              <a:ext cx="4156363" cy="156457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/>
              </a:solidFill>
            </a:ln>
            <a:effectLst>
              <a:outerShdw blurRad="50800" dist="50800" dir="5400000" algn="ctr" rotWithShape="0">
                <a:schemeClr val="accent1">
                  <a:alpha val="4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t"/>
            <a:lstStyle/>
            <a:p>
              <a:r>
                <a:rPr lang="en-US" sz="1200" b="1">
                  <a:solidFill>
                    <a:schemeClr val="bg1"/>
                  </a:solidFill>
                </a:rPr>
                <a:t>d</a:t>
              </a:r>
              <a:br>
                <a:rPr lang="en-US" b="1"/>
              </a:br>
              <a:r>
                <a:rPr lang="en-US" b="1">
                  <a:solidFill>
                    <a:schemeClr val="tx1"/>
                  </a:solidFill>
                  <a:highlight>
                    <a:srgbClr val="FFAA72"/>
                  </a:highlight>
                </a:rPr>
                <a:t>Unified Commercial Operating Model</a:t>
              </a:r>
            </a:p>
            <a:p>
              <a:r>
                <a:rPr lang="en-US" sz="1100" b="1">
                  <a:solidFill>
                    <a:schemeClr val="bg1"/>
                  </a:solidFill>
                </a:rPr>
                <a:t>d</a:t>
              </a:r>
              <a:br>
                <a:rPr lang="en-US" b="1"/>
              </a:br>
              <a:r>
                <a:rPr lang="en-US" sz="1400">
                  <a:solidFill>
                    <a:schemeClr val="tx1"/>
                  </a:solidFill>
                </a:rPr>
                <a:t>This redesign shifts your commercial organization from siloed functions to a unified growth engine. The Connected Growth Core aligns marketing, sales, commerce, and service in real time.</a:t>
              </a:r>
              <a:endParaRPr lang="en-US" sz="1400">
                <a:solidFill>
                  <a:schemeClr val="tx1"/>
                </a:solidFill>
                <a:cs typeface="Arial"/>
              </a:endParaRPr>
            </a:p>
            <a:p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270F7A1-93BE-6556-6910-A1A7A26E3060}"/>
                </a:ext>
              </a:extLst>
            </p:cNvPr>
            <p:cNvSpPr/>
            <p:nvPr/>
          </p:nvSpPr>
          <p:spPr>
            <a:xfrm>
              <a:off x="1638794" y="3869022"/>
              <a:ext cx="4156363" cy="156457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/>
              </a:solidFill>
            </a:ln>
            <a:effectLst>
              <a:outerShdw blurRad="50800" dist="50800" dir="5400000" algn="ctr" rotWithShape="0">
                <a:schemeClr val="accent1">
                  <a:alpha val="4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b="1">
                  <a:solidFill>
                    <a:schemeClr val="tx1"/>
                  </a:solidFill>
                  <a:highlight>
                    <a:srgbClr val="FFAA72"/>
                  </a:highlight>
                </a:rPr>
                <a:t>Designed to Augment Human Potential</a:t>
              </a:r>
            </a:p>
            <a:p>
              <a:r>
                <a:rPr lang="en-US" sz="1100" b="1">
                  <a:solidFill>
                    <a:schemeClr val="bg1"/>
                  </a:solidFill>
                </a:rPr>
                <a:t>d</a:t>
              </a:r>
              <a:br>
                <a:rPr lang="en-US" b="1">
                  <a:solidFill>
                    <a:schemeClr val="tx1"/>
                  </a:solidFill>
                </a:rPr>
              </a:br>
              <a:r>
                <a:rPr lang="en-US" sz="1400">
                  <a:solidFill>
                    <a:schemeClr val="tx1"/>
                  </a:solidFill>
                </a:rPr>
                <a:t>Designed to elevate, not replace, your talent — automation enables humans to focus on judgment, strategy, and relationships. </a:t>
              </a:r>
              <a:r>
                <a:rPr lang="en-US" sz="1400" i="1">
                  <a:solidFill>
                    <a:schemeClr val="tx1"/>
                  </a:solidFill>
                </a:rPr>
                <a:t>Humans for judgment. Agents for execution.</a:t>
              </a:r>
              <a:br>
                <a:rPr lang="en-US" sz="1400" i="1">
                  <a:solidFill>
                    <a:schemeClr val="tx1"/>
                  </a:solidFill>
                </a:rPr>
              </a:br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661996-DABD-45C7-38B2-31E3ADD073A6}"/>
                </a:ext>
              </a:extLst>
            </p:cNvPr>
            <p:cNvSpPr/>
            <p:nvPr/>
          </p:nvSpPr>
          <p:spPr>
            <a:xfrm>
              <a:off x="5936249" y="2170064"/>
              <a:ext cx="4156363" cy="156457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/>
              </a:solidFill>
            </a:ln>
            <a:effectLst>
              <a:outerShdw blurRad="50800" dist="50800" dir="5400000" algn="ctr" rotWithShape="0">
                <a:schemeClr val="accent1">
                  <a:alpha val="4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US" sz="1200" b="1">
                  <a:solidFill>
                    <a:schemeClr val="bg1"/>
                  </a:solidFill>
                </a:rPr>
                <a:t>d</a:t>
              </a:r>
              <a:endParaRPr lang="en-US" sz="1200" b="1">
                <a:solidFill>
                  <a:schemeClr val="tx1"/>
                </a:solidFill>
              </a:endParaRPr>
            </a:p>
            <a:p>
              <a:pPr algn="r"/>
              <a:r>
                <a:rPr lang="en-US" b="1">
                  <a:solidFill>
                    <a:schemeClr val="tx1"/>
                  </a:solidFill>
                  <a:highlight>
                    <a:srgbClr val="FFAA72"/>
                  </a:highlight>
                </a:rPr>
                <a:t>Powered by a "Commercial Brain”</a:t>
              </a:r>
              <a:br>
                <a:rPr lang="en-US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100" b="1">
                  <a:solidFill>
                    <a:schemeClr val="bg1"/>
                  </a:solidFill>
                </a:rPr>
                <a:t>d</a:t>
              </a:r>
              <a:br>
                <a:rPr lang="en-US" sz="1400" b="1">
                  <a:solidFill>
                    <a:schemeClr val="tx1"/>
                  </a:solidFill>
                </a:rPr>
              </a:br>
              <a:r>
                <a:rPr lang="en-US" sz="1400">
                  <a:solidFill>
                    <a:schemeClr val="tx1"/>
                  </a:solidFill>
                </a:rPr>
                <a:t>The Commercial Brain converts your proprietary customer data and relationships into a self-reinforcing intelligence advantage competitors can’t replicate.</a:t>
              </a:r>
            </a:p>
            <a:p>
              <a:pPr algn="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A3C8B53-1F9E-991A-FA1D-1EC6CD3F0AAC}"/>
                </a:ext>
              </a:extLst>
            </p:cNvPr>
            <p:cNvSpPr/>
            <p:nvPr/>
          </p:nvSpPr>
          <p:spPr>
            <a:xfrm>
              <a:off x="5936248" y="3869022"/>
              <a:ext cx="4156363" cy="156457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/>
              </a:solidFill>
            </a:ln>
            <a:effectLst>
              <a:outerShdw blurRad="50800" dist="50800" dir="5400000" algn="ctr" rotWithShape="0">
                <a:schemeClr val="accent1">
                  <a:alpha val="4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b"/>
            <a:lstStyle/>
            <a:p>
              <a:pPr algn="r"/>
              <a:r>
                <a:rPr lang="en-US" b="1">
                  <a:solidFill>
                    <a:schemeClr val="tx1"/>
                  </a:solidFill>
                  <a:highlight>
                    <a:srgbClr val="FFAA72"/>
                  </a:highlight>
                </a:rPr>
                <a:t>Compounding Growth at Enterprise Scale</a:t>
              </a:r>
            </a:p>
            <a:p>
              <a:pPr algn="r"/>
              <a:r>
                <a:rPr lang="en-US" sz="1100" b="1">
                  <a:solidFill>
                    <a:schemeClr val="bg1"/>
                  </a:solidFill>
                </a:rPr>
                <a:t>d</a:t>
              </a:r>
              <a:br>
                <a:rPr lang="en-US" sz="1100" b="1"/>
              </a:br>
              <a:r>
                <a:rPr lang="en-US" sz="1400">
                  <a:solidFill>
                    <a:schemeClr val="tx1"/>
                  </a:solidFill>
                </a:rPr>
                <a:t>The AFO unlocks compounding, always-on growth by decoupling revenue from headcount and powering continuous, enterprise-wide performance acceleration.</a:t>
              </a:r>
            </a:p>
            <a:p>
              <a:pPr algn="r"/>
              <a:endParaRPr lang="en-US" sz="1400">
                <a:solidFill>
                  <a:schemeClr val="tx1"/>
                </a:solidFill>
                <a:cs typeface="Arial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2813294-397A-04D2-1180-A83586B7637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271222" y="3197692"/>
              <a:ext cx="1227548" cy="1219585"/>
              <a:chOff x="4733865" y="2434652"/>
              <a:chExt cx="2724269" cy="2706598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EE57E37-A28E-CCE0-2E6A-7A8ABC03AF44}"/>
                  </a:ext>
                </a:extLst>
              </p:cNvPr>
              <p:cNvSpPr/>
              <p:nvPr/>
            </p:nvSpPr>
            <p:spPr>
              <a:xfrm>
                <a:off x="4733865" y="2434652"/>
                <a:ext cx="2724269" cy="2706598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accent1"/>
                </a:solidFill>
              </a:ln>
              <a:effectLst>
                <a:outerShdw blurRad="50800" dist="50800" dir="5400000" algn="ctr" rotWithShape="0">
                  <a:schemeClr val="accent1">
                    <a:alpha val="44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" name="Graphic 5">
                <a:extLst>
                  <a:ext uri="{FF2B5EF4-FFF2-40B4-BE49-F238E27FC236}">
                    <a16:creationId xmlns:a16="http://schemas.microsoft.com/office/drawing/2014/main" id="{A5FB7EFB-7E50-D08B-D3FE-CA4153C6CA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5046988" y="2732888"/>
                <a:ext cx="2098021" cy="2098021"/>
              </a:xfrm>
              <a:prstGeom prst="rect">
                <a:avLst/>
              </a:prstGeom>
            </p:spPr>
          </p:pic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7C46B94-625C-6241-A382-B34D25F5589F}"/>
              </a:ext>
            </a:extLst>
          </p:cNvPr>
          <p:cNvGrpSpPr>
            <a:grpSpLocks noChangeAspect="1"/>
          </p:cNvGrpSpPr>
          <p:nvPr/>
        </p:nvGrpSpPr>
        <p:grpSpPr>
          <a:xfrm>
            <a:off x="10898982" y="92243"/>
            <a:ext cx="1181661" cy="456171"/>
            <a:chOff x="1089352" y="2004641"/>
            <a:chExt cx="10318096" cy="398322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5788B7B-0D90-64E6-16BB-0A064B137F37}"/>
                </a:ext>
              </a:extLst>
            </p:cNvPr>
            <p:cNvSpPr/>
            <p:nvPr/>
          </p:nvSpPr>
          <p:spPr>
            <a:xfrm>
              <a:off x="1089353" y="2004641"/>
              <a:ext cx="5072945" cy="190960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/>
              </a:solidFill>
            </a:ln>
            <a:effectLst>
              <a:outerShdw blurRad="50800" dist="50800" dir="5400000" algn="ctr" rotWithShape="0">
                <a:schemeClr val="accent1">
                  <a:alpha val="4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b="1">
                <a:solidFill>
                  <a:schemeClr val="tx1"/>
                </a:solidFill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F756682-6849-8786-246D-C9182DAC2ECA}"/>
                </a:ext>
              </a:extLst>
            </p:cNvPr>
            <p:cNvSpPr/>
            <p:nvPr/>
          </p:nvSpPr>
          <p:spPr>
            <a:xfrm>
              <a:off x="1089352" y="4078262"/>
              <a:ext cx="5072945" cy="190960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/>
              </a:solidFill>
            </a:ln>
            <a:effectLst>
              <a:outerShdw blurRad="50800" dist="50800" dir="5400000" algn="ctr" rotWithShape="0">
                <a:schemeClr val="accent1">
                  <a:alpha val="4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555BD1-9FFE-BF45-AFA5-89C711BBF899}"/>
                </a:ext>
              </a:extLst>
            </p:cNvPr>
            <p:cNvSpPr/>
            <p:nvPr/>
          </p:nvSpPr>
          <p:spPr>
            <a:xfrm>
              <a:off x="6334503" y="2004641"/>
              <a:ext cx="5072945" cy="190960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/>
              </a:solidFill>
            </a:ln>
            <a:effectLst>
              <a:outerShdw blurRad="50800" dist="50800" dir="5400000" algn="ctr" rotWithShape="0">
                <a:schemeClr val="accent1">
                  <a:alpha val="4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1FEFA5-ADDB-967D-4A0D-BB0F6DF05352}"/>
                </a:ext>
              </a:extLst>
            </p:cNvPr>
            <p:cNvSpPr/>
            <p:nvPr/>
          </p:nvSpPr>
          <p:spPr>
            <a:xfrm>
              <a:off x="6334502" y="4078262"/>
              <a:ext cx="5072945" cy="190960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/>
              </a:solidFill>
            </a:ln>
            <a:effectLst>
              <a:outerShdw blurRad="50800" dist="50800" dir="5400000" algn="ctr" rotWithShape="0">
                <a:schemeClr val="accent1">
                  <a:alpha val="4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4C9E01B-4BD7-1079-07BE-AAFA28961E75}"/>
              </a:ext>
            </a:extLst>
          </p:cNvPr>
          <p:cNvSpPr txBox="1"/>
          <p:nvPr/>
        </p:nvSpPr>
        <p:spPr>
          <a:xfrm>
            <a:off x="6121400" y="39243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60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82912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CFE70-AB8E-64B4-982A-DDDED479E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2379;p339">
            <a:extLst>
              <a:ext uri="{FF2B5EF4-FFF2-40B4-BE49-F238E27FC236}">
                <a16:creationId xmlns:a16="http://schemas.microsoft.com/office/drawing/2014/main" id="{52D401CF-C53E-2F2D-4C70-1CC59CDDC76E}"/>
              </a:ext>
            </a:extLst>
          </p:cNvPr>
          <p:cNvSpPr txBox="1">
            <a:spLocks/>
          </p:cNvSpPr>
          <p:nvPr/>
        </p:nvSpPr>
        <p:spPr>
          <a:xfrm>
            <a:off x="397667" y="402338"/>
            <a:ext cx="11403809" cy="5152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UNIFIED COMMERCIAL OPERATING MODEL </a:t>
            </a:r>
            <a:b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We are leading a fundamental shift in how commercial organizations work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9E81FDB-4A94-690D-82B1-213FE88A6D33}"/>
              </a:ext>
            </a:extLst>
          </p:cNvPr>
          <p:cNvGrpSpPr/>
          <p:nvPr/>
        </p:nvGrpSpPr>
        <p:grpSpPr>
          <a:xfrm>
            <a:off x="973538" y="1310695"/>
            <a:ext cx="10244924" cy="4954180"/>
            <a:chOff x="393900" y="1300243"/>
            <a:chExt cx="11407975" cy="4975863"/>
          </a:xfrm>
        </p:grpSpPr>
        <p:sp>
          <p:nvSpPr>
            <p:cNvPr id="9" name="Google Shape;607;p73">
              <a:extLst>
                <a:ext uri="{FF2B5EF4-FFF2-40B4-BE49-F238E27FC236}">
                  <a16:creationId xmlns:a16="http://schemas.microsoft.com/office/drawing/2014/main" id="{E64B2BE7-5485-5BF0-9387-C50B1CA74F94}"/>
                </a:ext>
              </a:extLst>
            </p:cNvPr>
            <p:cNvSpPr txBox="1"/>
            <p:nvPr/>
          </p:nvSpPr>
          <p:spPr>
            <a:xfrm>
              <a:off x="397675" y="1300243"/>
              <a:ext cx="11404200" cy="49758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77800" dist="38100" dir="5400000" sx="101000" sy="101000" algn="t" rotWithShape="0">
                <a:srgbClr val="000000">
                  <a:alpha val="24710"/>
                </a:srgbClr>
              </a:outerShdw>
            </a:effectLst>
          </p:spPr>
          <p:txBody>
            <a:bodyPr spcFirstLastPara="1" wrap="square" lIns="243825" tIns="2682225" rIns="243825" bIns="243825" anchor="t" anchorCtr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7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" name="Google Shape;624;p73">
              <a:extLst>
                <a:ext uri="{FF2B5EF4-FFF2-40B4-BE49-F238E27FC236}">
                  <a16:creationId xmlns:a16="http://schemas.microsoft.com/office/drawing/2014/main" id="{292AB84C-3D3C-8968-53C2-25AC04943B34}"/>
                </a:ext>
              </a:extLst>
            </p:cNvPr>
            <p:cNvCxnSpPr>
              <a:cxnSpLocks/>
            </p:cNvCxnSpPr>
            <p:nvPr/>
          </p:nvCxnSpPr>
          <p:spPr>
            <a:xfrm>
              <a:off x="393900" y="6276106"/>
              <a:ext cx="114042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624;p73">
              <a:extLst>
                <a:ext uri="{FF2B5EF4-FFF2-40B4-BE49-F238E27FC236}">
                  <a16:creationId xmlns:a16="http://schemas.microsoft.com/office/drawing/2014/main" id="{D7E75E81-7572-A699-9155-6E2F0DAE3C0F}"/>
                </a:ext>
              </a:extLst>
            </p:cNvPr>
            <p:cNvCxnSpPr>
              <a:cxnSpLocks/>
            </p:cNvCxnSpPr>
            <p:nvPr/>
          </p:nvCxnSpPr>
          <p:spPr>
            <a:xfrm>
              <a:off x="393900" y="1300243"/>
              <a:ext cx="11404200" cy="0"/>
            </a:xfrm>
            <a:prstGeom prst="straightConnector1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67AE707-EAC6-9074-E72F-0A29B7A54918}"/>
              </a:ext>
            </a:extLst>
          </p:cNvPr>
          <p:cNvGrpSpPr/>
          <p:nvPr/>
        </p:nvGrpSpPr>
        <p:grpSpPr>
          <a:xfrm>
            <a:off x="1242474" y="1464413"/>
            <a:ext cx="9703662" cy="4407344"/>
            <a:chOff x="1242474" y="1244282"/>
            <a:chExt cx="9703662" cy="440734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C20EA65-F5E0-DD41-E687-87477D66F97A}"/>
                </a:ext>
              </a:extLst>
            </p:cNvPr>
            <p:cNvSpPr/>
            <p:nvPr/>
          </p:nvSpPr>
          <p:spPr>
            <a:xfrm>
              <a:off x="1242474" y="2396316"/>
              <a:ext cx="2164596" cy="13098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B2C and B2B – human-to-human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Linear, sequential buying process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Episodic, transactional touchpoints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A25710E-841C-95B6-68F5-01B48EABC299}"/>
                </a:ext>
              </a:extLst>
            </p:cNvPr>
            <p:cNvSpPr/>
            <p:nvPr/>
          </p:nvSpPr>
          <p:spPr>
            <a:xfrm>
              <a:off x="3609945" y="2396316"/>
              <a:ext cx="2164596" cy="13098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B2C, B2B, A2A – human and AI-to-AI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Multi-pronged, dynamic, adaptive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Continuous, connected commercial relationship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7AB193B-A264-EFD6-30B0-51583AD41AD4}"/>
                </a:ext>
              </a:extLst>
            </p:cNvPr>
            <p:cNvSpPr/>
            <p:nvPr/>
          </p:nvSpPr>
          <p:spPr>
            <a:xfrm>
              <a:off x="1242474" y="4642132"/>
              <a:ext cx="2164596" cy="10094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Siloed functions with manual handoffs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Human-gated, reactive, volume-constrained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Every handoff requires intervention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61107F2-C4C1-BB07-2CDA-7E451A2A2D7D}"/>
                </a:ext>
              </a:extLst>
            </p:cNvPr>
            <p:cNvSpPr/>
            <p:nvPr/>
          </p:nvSpPr>
          <p:spPr>
            <a:xfrm>
              <a:off x="3609945" y="4642132"/>
              <a:ext cx="2164596" cy="10094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Integrated commercial engine with cross-functional orchestration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Agent-led, proactive, infinitely scalable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Agents trigger and hand off autonomously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4D9F970-81D5-C2B7-F164-463B86B94D61}"/>
                </a:ext>
              </a:extLst>
            </p:cNvPr>
            <p:cNvSpPr/>
            <p:nvPr/>
          </p:nvSpPr>
          <p:spPr>
            <a:xfrm>
              <a:off x="6143601" y="2396316"/>
              <a:ext cx="2164596" cy="13098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Stage-based linear funnel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Disconnected touchpoints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Customers experience your org chart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8DD08DB-B139-F32C-075F-3BFD6F4FF40E}"/>
                </a:ext>
              </a:extLst>
            </p:cNvPr>
            <p:cNvSpPr/>
            <p:nvPr/>
          </p:nvSpPr>
          <p:spPr>
            <a:xfrm>
              <a:off x="8511072" y="2396316"/>
              <a:ext cx="2164596" cy="13098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Signal-based real-time journey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Connected, contextual moments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Seamless single commercial intelligence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DDF4B6C-C6F4-69E3-87B4-8B072B6900CC}"/>
                </a:ext>
              </a:extLst>
            </p:cNvPr>
            <p:cNvSpPr/>
            <p:nvPr/>
          </p:nvSpPr>
          <p:spPr>
            <a:xfrm>
              <a:off x="6143601" y="4642132"/>
              <a:ext cx="2164596" cy="10094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Fragmented point solutions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No unified customer view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CRM as a system of record – data goes in, insight rarely comes out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2E44583-3B68-347D-F5AA-450E59142139}"/>
                </a:ext>
              </a:extLst>
            </p:cNvPr>
            <p:cNvSpPr/>
            <p:nvPr/>
          </p:nvSpPr>
          <p:spPr>
            <a:xfrm>
              <a:off x="8511072" y="4642132"/>
              <a:ext cx="2164596" cy="10094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Unified data, intelligence, and agent layer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Commercial Brain: unified, API-accessible, continuously enriched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CRM as a system of action</a:t>
              </a: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B7756043-08AD-EDCE-4D5D-CFA5DD291798}"/>
                </a:ext>
              </a:extLst>
            </p:cNvPr>
            <p:cNvSpPr/>
            <p:nvPr/>
          </p:nvSpPr>
          <p:spPr>
            <a:xfrm>
              <a:off x="3220898" y="3507392"/>
              <a:ext cx="705861" cy="71669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: Rounded Corners 57">
              <a:extLst>
                <a:ext uri="{FF2B5EF4-FFF2-40B4-BE49-F238E27FC236}">
                  <a16:creationId xmlns:a16="http://schemas.microsoft.com/office/drawing/2014/main" id="{25651FD2-3B29-0618-9DD0-D5944C2F00A0}"/>
                </a:ext>
              </a:extLst>
            </p:cNvPr>
            <p:cNvSpPr/>
            <p:nvPr/>
          </p:nvSpPr>
          <p:spPr>
            <a:xfrm>
              <a:off x="1242474" y="4055656"/>
              <a:ext cx="4662711" cy="353124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PROCESS &amp; OPERATING MODEL</a:t>
              </a:r>
              <a:endParaRPr lang="en-US" sz="1100" b="1">
                <a:solidFill>
                  <a:schemeClr val="accent2"/>
                </a:solidFill>
              </a:endParaRPr>
            </a:p>
          </p:txBody>
        </p:sp>
        <p:sp>
          <p:nvSpPr>
            <p:cNvPr id="31" name="Right Arrow 30">
              <a:extLst>
                <a:ext uri="{FF2B5EF4-FFF2-40B4-BE49-F238E27FC236}">
                  <a16:creationId xmlns:a16="http://schemas.microsoft.com/office/drawing/2014/main" id="{4C82AB66-27C6-5489-8280-37EA23AD48CB}"/>
                </a:ext>
              </a:extLst>
            </p:cNvPr>
            <p:cNvSpPr/>
            <p:nvPr/>
          </p:nvSpPr>
          <p:spPr>
            <a:xfrm>
              <a:off x="1242474" y="4251615"/>
              <a:ext cx="4802535" cy="457200"/>
            </a:xfrm>
            <a:prstGeom prst="rightArrow">
              <a:avLst/>
            </a:prstGeom>
            <a:gradFill>
              <a:gsLst>
                <a:gs pos="0">
                  <a:schemeClr val="bg1"/>
                </a:gs>
                <a:gs pos="9000">
                  <a:schemeClr val="accent3">
                    <a:lumMod val="20000"/>
                    <a:lumOff val="80000"/>
                  </a:schemeClr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59B07BD-F2CF-8D9F-E6D9-D36BA16BB70F}"/>
                </a:ext>
              </a:extLst>
            </p:cNvPr>
            <p:cNvSpPr txBox="1"/>
            <p:nvPr/>
          </p:nvSpPr>
          <p:spPr>
            <a:xfrm>
              <a:off x="1291655" y="4263782"/>
              <a:ext cx="2016560" cy="43286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 b="1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FROM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441CA7A-BA89-B88D-EF67-2B58E1079C33}"/>
                </a:ext>
              </a:extLst>
            </p:cNvPr>
            <p:cNvSpPr txBox="1"/>
            <p:nvPr/>
          </p:nvSpPr>
          <p:spPr>
            <a:xfrm>
              <a:off x="3659126" y="4263782"/>
              <a:ext cx="2016560" cy="43286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 b="1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</a:t>
              </a:r>
            </a:p>
          </p:txBody>
        </p:sp>
        <p:pic>
          <p:nvPicPr>
            <p:cNvPr id="86" name="Graphic 85" descr="Connections outline">
              <a:extLst>
                <a:ext uri="{FF2B5EF4-FFF2-40B4-BE49-F238E27FC236}">
                  <a16:creationId xmlns:a16="http://schemas.microsoft.com/office/drawing/2014/main" id="{63A6B248-A940-DF36-F86B-D847D82D611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318605" y="3592898"/>
              <a:ext cx="504801" cy="504801"/>
            </a:xfrm>
            <a:prstGeom prst="rect">
              <a:avLst/>
            </a:prstGeom>
          </p:spPr>
        </p:pic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9E840EF6-45C1-CA35-9E7A-51A11683FC37}"/>
                </a:ext>
              </a:extLst>
            </p:cNvPr>
            <p:cNvSpPr/>
            <p:nvPr/>
          </p:nvSpPr>
          <p:spPr>
            <a:xfrm>
              <a:off x="3218074" y="1244282"/>
              <a:ext cx="705861" cy="71669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57">
              <a:extLst>
                <a:ext uri="{FF2B5EF4-FFF2-40B4-BE49-F238E27FC236}">
                  <a16:creationId xmlns:a16="http://schemas.microsoft.com/office/drawing/2014/main" id="{215FAD98-2C23-26BD-0590-8EB7946CAF6E}"/>
                </a:ext>
              </a:extLst>
            </p:cNvPr>
            <p:cNvSpPr/>
            <p:nvPr/>
          </p:nvSpPr>
          <p:spPr>
            <a:xfrm>
              <a:off x="1242474" y="1809839"/>
              <a:ext cx="4662711" cy="353121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CUSTOMER ENGAGEMENT MODEL</a:t>
              </a:r>
              <a:endParaRPr lang="en-US" sz="1100" b="1">
                <a:solidFill>
                  <a:schemeClr val="accent2"/>
                </a:solidFill>
              </a:endParaRPr>
            </a:p>
          </p:txBody>
        </p:sp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8352E148-EB64-5608-F4FC-5F4BD03E1BDA}"/>
                </a:ext>
              </a:extLst>
            </p:cNvPr>
            <p:cNvSpPr/>
            <p:nvPr/>
          </p:nvSpPr>
          <p:spPr>
            <a:xfrm>
              <a:off x="1242474" y="2005799"/>
              <a:ext cx="4802535" cy="457200"/>
            </a:xfrm>
            <a:prstGeom prst="rightArrow">
              <a:avLst/>
            </a:prstGeom>
            <a:gradFill>
              <a:gsLst>
                <a:gs pos="0">
                  <a:schemeClr val="bg1"/>
                </a:gs>
                <a:gs pos="9000">
                  <a:schemeClr val="accent3">
                    <a:lumMod val="20000"/>
                    <a:lumOff val="80000"/>
                  </a:schemeClr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52DD4AD-C8AC-1E1A-A50C-BA55448E09CC}"/>
                </a:ext>
              </a:extLst>
            </p:cNvPr>
            <p:cNvSpPr txBox="1"/>
            <p:nvPr/>
          </p:nvSpPr>
          <p:spPr>
            <a:xfrm>
              <a:off x="1291655" y="2017966"/>
              <a:ext cx="2016560" cy="43286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 b="1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FROM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4943BEB-4CE9-D312-C6FB-C96EA6620D7A}"/>
                </a:ext>
              </a:extLst>
            </p:cNvPr>
            <p:cNvSpPr txBox="1"/>
            <p:nvPr/>
          </p:nvSpPr>
          <p:spPr>
            <a:xfrm>
              <a:off x="3659126" y="2017966"/>
              <a:ext cx="2016560" cy="43286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 b="1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AFF33EC6-B0D4-2D9A-C9D0-A116CBDAF89D}"/>
                </a:ext>
              </a:extLst>
            </p:cNvPr>
            <p:cNvSpPr/>
            <p:nvPr/>
          </p:nvSpPr>
          <p:spPr>
            <a:xfrm>
              <a:off x="8122024" y="1246065"/>
              <a:ext cx="705861" cy="71669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8F93344E-DC78-DD27-B04F-1BAFE392BA42}"/>
                </a:ext>
              </a:extLst>
            </p:cNvPr>
            <p:cNvSpPr/>
            <p:nvPr/>
          </p:nvSpPr>
          <p:spPr>
            <a:xfrm>
              <a:off x="8122025" y="3507392"/>
              <a:ext cx="705861" cy="71669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: Rounded Corners 57">
              <a:extLst>
                <a:ext uri="{FF2B5EF4-FFF2-40B4-BE49-F238E27FC236}">
                  <a16:creationId xmlns:a16="http://schemas.microsoft.com/office/drawing/2014/main" id="{1421BA9B-4722-9C22-DD9D-1EECFFA24A90}"/>
                </a:ext>
              </a:extLst>
            </p:cNvPr>
            <p:cNvSpPr/>
            <p:nvPr/>
          </p:nvSpPr>
          <p:spPr>
            <a:xfrm>
              <a:off x="6143601" y="1809839"/>
              <a:ext cx="4662711" cy="353121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CUSTOMER EXPERIENCE</a:t>
              </a:r>
              <a:endParaRPr lang="en-US" sz="1100" b="1">
                <a:solidFill>
                  <a:schemeClr val="accent2"/>
                </a:solidFill>
              </a:endParaRPr>
            </a:p>
          </p:txBody>
        </p:sp>
        <p:sp>
          <p:nvSpPr>
            <p:cNvPr id="68" name="Right Arrow 67">
              <a:extLst>
                <a:ext uri="{FF2B5EF4-FFF2-40B4-BE49-F238E27FC236}">
                  <a16:creationId xmlns:a16="http://schemas.microsoft.com/office/drawing/2014/main" id="{32C95C85-BDA9-D79B-90BC-2E01A816F383}"/>
                </a:ext>
              </a:extLst>
            </p:cNvPr>
            <p:cNvSpPr/>
            <p:nvPr/>
          </p:nvSpPr>
          <p:spPr>
            <a:xfrm>
              <a:off x="6143601" y="2005799"/>
              <a:ext cx="4802535" cy="457200"/>
            </a:xfrm>
            <a:prstGeom prst="rightArrow">
              <a:avLst/>
            </a:prstGeom>
            <a:gradFill>
              <a:gsLst>
                <a:gs pos="0">
                  <a:schemeClr val="bg1"/>
                </a:gs>
                <a:gs pos="9000">
                  <a:schemeClr val="accent3">
                    <a:lumMod val="20000"/>
                    <a:lumOff val="80000"/>
                  </a:schemeClr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3E6F152-ECED-1FAD-8EA1-872F15FDB041}"/>
                </a:ext>
              </a:extLst>
            </p:cNvPr>
            <p:cNvSpPr txBox="1"/>
            <p:nvPr/>
          </p:nvSpPr>
          <p:spPr>
            <a:xfrm>
              <a:off x="6192782" y="2017966"/>
              <a:ext cx="2016560" cy="43286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 b="1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FROM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D0E8DBF-DBE8-9384-813D-4698593F678B}"/>
                </a:ext>
              </a:extLst>
            </p:cNvPr>
            <p:cNvSpPr txBox="1"/>
            <p:nvPr/>
          </p:nvSpPr>
          <p:spPr>
            <a:xfrm>
              <a:off x="8560253" y="2017966"/>
              <a:ext cx="2016560" cy="43286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 b="1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</a:t>
              </a:r>
            </a:p>
          </p:txBody>
        </p:sp>
        <p:sp>
          <p:nvSpPr>
            <p:cNvPr id="50" name="Rectangle: Rounded Corners 57">
              <a:extLst>
                <a:ext uri="{FF2B5EF4-FFF2-40B4-BE49-F238E27FC236}">
                  <a16:creationId xmlns:a16="http://schemas.microsoft.com/office/drawing/2014/main" id="{C99BE3BF-A06B-9DA0-0F4B-467FBF5018C0}"/>
                </a:ext>
              </a:extLst>
            </p:cNvPr>
            <p:cNvSpPr/>
            <p:nvPr/>
          </p:nvSpPr>
          <p:spPr>
            <a:xfrm>
              <a:off x="6143601" y="4055656"/>
              <a:ext cx="4662711" cy="353124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DATA &amp; TECHNOLOGY</a:t>
              </a:r>
              <a:endParaRPr lang="en-US" sz="1100" b="1">
                <a:solidFill>
                  <a:schemeClr val="accent2"/>
                </a:solidFill>
              </a:endParaRPr>
            </a:p>
          </p:txBody>
        </p:sp>
        <p:sp>
          <p:nvSpPr>
            <p:cNvPr id="60" name="Right Arrow 59">
              <a:extLst>
                <a:ext uri="{FF2B5EF4-FFF2-40B4-BE49-F238E27FC236}">
                  <a16:creationId xmlns:a16="http://schemas.microsoft.com/office/drawing/2014/main" id="{29D3076F-8697-2A37-61BE-7932EEEFEA9D}"/>
                </a:ext>
              </a:extLst>
            </p:cNvPr>
            <p:cNvSpPr/>
            <p:nvPr/>
          </p:nvSpPr>
          <p:spPr>
            <a:xfrm>
              <a:off x="6143601" y="4251615"/>
              <a:ext cx="4802535" cy="457200"/>
            </a:xfrm>
            <a:prstGeom prst="rightArrow">
              <a:avLst/>
            </a:prstGeom>
            <a:gradFill>
              <a:gsLst>
                <a:gs pos="0">
                  <a:schemeClr val="bg1"/>
                </a:gs>
                <a:gs pos="9000">
                  <a:schemeClr val="accent3">
                    <a:lumMod val="20000"/>
                    <a:lumOff val="80000"/>
                  </a:schemeClr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8C04AF9-E0C5-8A3A-E2DF-90B0B09B2D4A}"/>
                </a:ext>
              </a:extLst>
            </p:cNvPr>
            <p:cNvSpPr txBox="1"/>
            <p:nvPr/>
          </p:nvSpPr>
          <p:spPr>
            <a:xfrm>
              <a:off x="6192782" y="4263782"/>
              <a:ext cx="2016560" cy="43286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 b="1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FROM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D1FCBE7-FBD9-65E2-D32C-A139FC139B45}"/>
                </a:ext>
              </a:extLst>
            </p:cNvPr>
            <p:cNvSpPr txBox="1"/>
            <p:nvPr/>
          </p:nvSpPr>
          <p:spPr>
            <a:xfrm>
              <a:off x="8560253" y="4263782"/>
              <a:ext cx="2016560" cy="43286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sz="1100" b="1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</a:t>
              </a:r>
            </a:p>
          </p:txBody>
        </p:sp>
        <p:pic>
          <p:nvPicPr>
            <p:cNvPr id="92" name="Graphic 91" descr="Ui Ux outline">
              <a:extLst>
                <a:ext uri="{FF2B5EF4-FFF2-40B4-BE49-F238E27FC236}">
                  <a16:creationId xmlns:a16="http://schemas.microsoft.com/office/drawing/2014/main" id="{67A4F72A-353C-31D8-AD96-388AD517EE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23494" y="1322319"/>
              <a:ext cx="502920" cy="502920"/>
            </a:xfrm>
            <a:prstGeom prst="rect">
              <a:avLst/>
            </a:prstGeom>
          </p:spPr>
        </p:pic>
        <p:pic>
          <p:nvPicPr>
            <p:cNvPr id="94" name="Graphic 93" descr="Decision chart outline">
              <a:extLst>
                <a:ext uri="{FF2B5EF4-FFF2-40B4-BE49-F238E27FC236}">
                  <a16:creationId xmlns:a16="http://schemas.microsoft.com/office/drawing/2014/main" id="{F165765B-3C3A-284D-E552-66DEFE98A3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12832" y="1301553"/>
              <a:ext cx="502920" cy="502920"/>
            </a:xfrm>
            <a:prstGeom prst="rect">
              <a:avLst/>
            </a:prstGeom>
          </p:spPr>
        </p:pic>
        <p:pic>
          <p:nvPicPr>
            <p:cNvPr id="96" name="Graphic 95" descr="Head with gears outline">
              <a:extLst>
                <a:ext uri="{FF2B5EF4-FFF2-40B4-BE49-F238E27FC236}">
                  <a16:creationId xmlns:a16="http://schemas.microsoft.com/office/drawing/2014/main" id="{C1BD02D2-A4ED-1DAD-5A25-972DFEF618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33203" y="3548163"/>
              <a:ext cx="502920" cy="502920"/>
            </a:xfrm>
            <a:prstGeom prst="rect">
              <a:avLst/>
            </a:prstGeom>
          </p:spPr>
        </p:pic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C4BE1314-4DC7-629F-A0D9-FF9CA7025A9A}"/>
              </a:ext>
            </a:extLst>
          </p:cNvPr>
          <p:cNvSpPr txBox="1"/>
          <p:nvPr/>
        </p:nvSpPr>
        <p:spPr>
          <a:xfrm>
            <a:off x="397667" y="966598"/>
            <a:ext cx="10974658" cy="2043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ts val="1744"/>
              </a:lnSpc>
            </a:pPr>
            <a:r>
              <a:rPr lang="en-US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old model of managing discrete functions and cases is over. The future is orchestrating holistic customer moments.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BC0C87D-89A6-02ED-7FDE-D9516E16B888}"/>
              </a:ext>
            </a:extLst>
          </p:cNvPr>
          <p:cNvGrpSpPr>
            <a:grpSpLocks noChangeAspect="1"/>
          </p:cNvGrpSpPr>
          <p:nvPr/>
        </p:nvGrpSpPr>
        <p:grpSpPr>
          <a:xfrm>
            <a:off x="11288806" y="92244"/>
            <a:ext cx="791837" cy="305682"/>
            <a:chOff x="1089352" y="2004641"/>
            <a:chExt cx="10318096" cy="398322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0264DBB-A5BA-BBDA-B429-C50BA3EDCF39}"/>
                </a:ext>
              </a:extLst>
            </p:cNvPr>
            <p:cNvSpPr/>
            <p:nvPr/>
          </p:nvSpPr>
          <p:spPr>
            <a:xfrm>
              <a:off x="1089352" y="4078262"/>
              <a:ext cx="5072945" cy="19096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4"/>
              </a:solidFill>
            </a:ln>
            <a:effectLst>
              <a:outerShdw blurRad="50800" dist="50800" dir="5400000" algn="ctr" rotWithShape="0">
                <a:schemeClr val="accent1">
                  <a:alpha val="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DB5C4CD-39E3-E72B-5220-AD2BB597ADEC}"/>
                </a:ext>
              </a:extLst>
            </p:cNvPr>
            <p:cNvSpPr/>
            <p:nvPr/>
          </p:nvSpPr>
          <p:spPr>
            <a:xfrm>
              <a:off x="6334503" y="2004641"/>
              <a:ext cx="5072945" cy="19096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4"/>
              </a:solidFill>
            </a:ln>
            <a:effectLst>
              <a:outerShdw blurRad="50800" dist="50800" dir="5400000" algn="ctr" rotWithShape="0">
                <a:schemeClr val="accent1">
                  <a:alpha val="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CF6255C-212B-C1F9-B1B7-94F2603BDE19}"/>
                </a:ext>
              </a:extLst>
            </p:cNvPr>
            <p:cNvSpPr/>
            <p:nvPr/>
          </p:nvSpPr>
          <p:spPr>
            <a:xfrm>
              <a:off x="6334502" y="4078262"/>
              <a:ext cx="5072945" cy="19096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4"/>
              </a:solidFill>
            </a:ln>
            <a:effectLst>
              <a:outerShdw blurRad="50800" dist="50800" dir="5400000" algn="ctr" rotWithShape="0">
                <a:schemeClr val="accent1">
                  <a:alpha val="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84DA091-C26F-0BAB-15EA-E863CD1092BE}"/>
                </a:ext>
              </a:extLst>
            </p:cNvPr>
            <p:cNvSpPr/>
            <p:nvPr/>
          </p:nvSpPr>
          <p:spPr>
            <a:xfrm>
              <a:off x="1089353" y="2004641"/>
              <a:ext cx="5072945" cy="190960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/>
              </a:solidFill>
            </a:ln>
            <a:effectLst>
              <a:outerShdw blurRad="50800" dist="50800" dir="5400000" algn="ctr" rotWithShape="0">
                <a:schemeClr val="accent1">
                  <a:alpha val="4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b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3915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585D2-5618-03EE-C086-878FEA1D9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379;p339">
            <a:extLst>
              <a:ext uri="{FF2B5EF4-FFF2-40B4-BE49-F238E27FC236}">
                <a16:creationId xmlns:a16="http://schemas.microsoft.com/office/drawing/2014/main" id="{419BCE86-8638-79B9-4DDF-DBBECEFEDC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7667" y="402338"/>
            <a:ext cx="11403809" cy="5152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A “COMMERCIAL BRAIN”</a:t>
            </a:r>
            <a:br>
              <a:rPr lang="en-US" sz="2400" b="1">
                <a:latin typeface="Arial"/>
                <a:ea typeface="+mj-lt"/>
                <a:cs typeface="Arial"/>
              </a:rPr>
            </a:br>
            <a:r>
              <a:rPr lang="en-US" sz="2400" b="1">
                <a:latin typeface="Arial"/>
                <a:ea typeface="+mj-lt"/>
                <a:cs typeface="Arial"/>
              </a:rPr>
              <a:t>The Agentic Front Office is powered by data, agents, and a continuous feedback loop</a:t>
            </a:r>
            <a:endParaRPr lang="en-US">
              <a:latin typeface="Arial"/>
              <a:cs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FE94BF1-55C3-6A24-D383-63BBD808109C}"/>
              </a:ext>
            </a:extLst>
          </p:cNvPr>
          <p:cNvGrpSpPr>
            <a:grpSpLocks noChangeAspect="1"/>
          </p:cNvGrpSpPr>
          <p:nvPr/>
        </p:nvGrpSpPr>
        <p:grpSpPr>
          <a:xfrm>
            <a:off x="11288806" y="89856"/>
            <a:ext cx="791837" cy="308070"/>
            <a:chOff x="1089352" y="1973524"/>
            <a:chExt cx="10318095" cy="40143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4B1A26-7499-7971-8B6A-9D898E1B31D6}"/>
                </a:ext>
              </a:extLst>
            </p:cNvPr>
            <p:cNvSpPr/>
            <p:nvPr/>
          </p:nvSpPr>
          <p:spPr>
            <a:xfrm>
              <a:off x="1089352" y="4078262"/>
              <a:ext cx="5072945" cy="19096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4"/>
              </a:solidFill>
            </a:ln>
            <a:effectLst>
              <a:outerShdw blurRad="50800" dist="50800" dir="5400000" algn="ctr" rotWithShape="0">
                <a:schemeClr val="accent1">
                  <a:alpha val="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667DFD4-C53B-6127-EF60-CD3E4EE07563}"/>
                </a:ext>
              </a:extLst>
            </p:cNvPr>
            <p:cNvSpPr/>
            <p:nvPr/>
          </p:nvSpPr>
          <p:spPr>
            <a:xfrm>
              <a:off x="1089352" y="1973537"/>
              <a:ext cx="5072948" cy="19095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4"/>
              </a:solidFill>
            </a:ln>
            <a:effectLst>
              <a:outerShdw blurRad="50800" dist="50800" dir="5400000" algn="ctr" rotWithShape="0">
                <a:schemeClr val="accent1">
                  <a:alpha val="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F27221-82F1-6F45-A63E-4A07A8BE7821}"/>
                </a:ext>
              </a:extLst>
            </p:cNvPr>
            <p:cNvSpPr/>
            <p:nvPr/>
          </p:nvSpPr>
          <p:spPr>
            <a:xfrm>
              <a:off x="6334502" y="4078262"/>
              <a:ext cx="5072945" cy="19096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4"/>
              </a:solidFill>
            </a:ln>
            <a:effectLst>
              <a:outerShdw blurRad="50800" dist="50800" dir="5400000" algn="ctr" rotWithShape="0">
                <a:schemeClr val="accent1">
                  <a:alpha val="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92FBCD8-B15E-2B36-039C-C1587AFF9BBD}"/>
                </a:ext>
              </a:extLst>
            </p:cNvPr>
            <p:cNvSpPr/>
            <p:nvPr/>
          </p:nvSpPr>
          <p:spPr>
            <a:xfrm>
              <a:off x="6334499" y="1973524"/>
              <a:ext cx="5072948" cy="19095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/>
              </a:solidFill>
            </a:ln>
            <a:effectLst>
              <a:outerShdw blurRad="50800" dist="50800" dir="5400000" algn="ctr" rotWithShape="0">
                <a:schemeClr val="accent1">
                  <a:alpha val="4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b="1">
                <a:solidFill>
                  <a:schemeClr val="tx1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E9415C3-286D-E0EC-D9E7-D138C1F28783}"/>
              </a:ext>
            </a:extLst>
          </p:cNvPr>
          <p:cNvSpPr txBox="1"/>
          <p:nvPr/>
        </p:nvSpPr>
        <p:spPr>
          <a:xfrm>
            <a:off x="397667" y="1357516"/>
            <a:ext cx="1097465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500"/>
              </a:spcAft>
            </a:pPr>
            <a:r>
              <a:rPr lang="en-US" sz="1400"/>
              <a:t>At the core of the AFO is the Commercial Brain: three interconnected layers that together </a:t>
            </a:r>
            <a:r>
              <a:rPr lang="en-US" sz="1400" b="1"/>
              <a:t>sense</a:t>
            </a:r>
            <a:r>
              <a:rPr lang="en-US" sz="1400"/>
              <a:t>, </a:t>
            </a:r>
            <a:r>
              <a:rPr lang="en-US" sz="1400" b="1"/>
              <a:t>act</a:t>
            </a:r>
            <a:r>
              <a:rPr lang="en-US" sz="1400"/>
              <a:t>, and </a:t>
            </a:r>
            <a:r>
              <a:rPr lang="en-US" sz="1400" b="1"/>
              <a:t>continuously improve</a:t>
            </a:r>
            <a:r>
              <a:rPr lang="en-US" sz="1400"/>
              <a:t>. This is not a generic AI platform — </a:t>
            </a:r>
            <a:r>
              <a:rPr lang="en-US" sz="1400" b="1"/>
              <a:t>it is an intelligence system built on your proprietary data, your customer relationships, and your commercial context.</a:t>
            </a:r>
            <a:endParaRPr lang="en-US" sz="1400" b="1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2149" name="Rectangle 2148">
            <a:extLst>
              <a:ext uri="{FF2B5EF4-FFF2-40B4-BE49-F238E27FC236}">
                <a16:creationId xmlns:a16="http://schemas.microsoft.com/office/drawing/2014/main" id="{54E03FF9-7F91-BE99-F08C-85C0157DE8DF}"/>
              </a:ext>
            </a:extLst>
          </p:cNvPr>
          <p:cNvSpPr/>
          <p:nvPr/>
        </p:nvSpPr>
        <p:spPr>
          <a:xfrm>
            <a:off x="0" y="6124950"/>
            <a:ext cx="12192000" cy="75979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1" name="TextBox 2150">
            <a:extLst>
              <a:ext uri="{FF2B5EF4-FFF2-40B4-BE49-F238E27FC236}">
                <a16:creationId xmlns:a16="http://schemas.microsoft.com/office/drawing/2014/main" id="{E3B46B38-914D-401A-F01E-A27E85BEF9A3}"/>
              </a:ext>
            </a:extLst>
          </p:cNvPr>
          <p:cNvSpPr txBox="1"/>
          <p:nvPr/>
        </p:nvSpPr>
        <p:spPr>
          <a:xfrm>
            <a:off x="1928246" y="6282229"/>
            <a:ext cx="901486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THINKER AGENTS </a:t>
            </a:r>
            <a:r>
              <a:rPr lang="en-US" sz="140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build the intelligence. </a:t>
            </a:r>
            <a:r>
              <a:rPr lang="en-US" sz="1400" b="1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DOER AGENTS </a:t>
            </a:r>
            <a:r>
              <a:rPr lang="en-US" sz="140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act on it. </a:t>
            </a:r>
            <a:r>
              <a:rPr lang="en-US" sz="1400" b="1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SENSOR AGENTS </a:t>
            </a:r>
            <a:r>
              <a:rPr lang="en-US" sz="140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learn from the results. </a:t>
            </a:r>
            <a:br>
              <a:rPr lang="en-US" sz="140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sz="110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With every customer interaction, the entire system becomes more </a:t>
            </a:r>
            <a:r>
              <a:rPr lang="en-US" sz="11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precise</a:t>
            </a:r>
            <a:r>
              <a:rPr lang="en-US" sz="110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more </a:t>
            </a:r>
            <a:r>
              <a:rPr lang="en-US" sz="11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predictive</a:t>
            </a:r>
            <a:r>
              <a:rPr lang="en-US" sz="110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and more </a:t>
            </a:r>
            <a:r>
              <a:rPr lang="en-US" sz="1100" i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valuable</a:t>
            </a:r>
            <a:r>
              <a:rPr lang="en-US" sz="110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en-US" sz="1100">
                <a:effectLst/>
              </a:rPr>
              <a:t> </a:t>
            </a:r>
            <a:endParaRPr lang="en-US" sz="1100"/>
          </a:p>
        </p:txBody>
      </p:sp>
      <p:cxnSp>
        <p:nvCxnSpPr>
          <p:cNvPr id="2155" name="Straight Connector 2154">
            <a:extLst>
              <a:ext uri="{FF2B5EF4-FFF2-40B4-BE49-F238E27FC236}">
                <a16:creationId xmlns:a16="http://schemas.microsoft.com/office/drawing/2014/main" id="{0B6C7252-5DC8-32DC-1596-3ACF9DDD6EA9}"/>
              </a:ext>
            </a:extLst>
          </p:cNvPr>
          <p:cNvCxnSpPr/>
          <p:nvPr/>
        </p:nvCxnSpPr>
        <p:spPr>
          <a:xfrm>
            <a:off x="1183966" y="4616079"/>
            <a:ext cx="2773641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4" name="Straight Connector 2153">
            <a:extLst>
              <a:ext uri="{FF2B5EF4-FFF2-40B4-BE49-F238E27FC236}">
                <a16:creationId xmlns:a16="http://schemas.microsoft.com/office/drawing/2014/main" id="{1AA9EB32-0FD0-B3CC-E374-230553E7B15D}"/>
              </a:ext>
            </a:extLst>
          </p:cNvPr>
          <p:cNvCxnSpPr/>
          <p:nvPr/>
        </p:nvCxnSpPr>
        <p:spPr>
          <a:xfrm>
            <a:off x="1242162" y="3302651"/>
            <a:ext cx="2773641" cy="0"/>
          </a:xfrm>
          <a:prstGeom prst="line">
            <a:avLst/>
          </a:prstGeom>
          <a:ln w="31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7A2DDC5-E3C7-703A-D60D-C226089A95D8}"/>
              </a:ext>
            </a:extLst>
          </p:cNvPr>
          <p:cNvSpPr/>
          <p:nvPr/>
        </p:nvSpPr>
        <p:spPr>
          <a:xfrm>
            <a:off x="3957608" y="2006004"/>
            <a:ext cx="5799919" cy="1260704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  <a:effectLst>
            <a:outerShdw blurRad="50800" dist="50800" dir="5400000" algn="ctr" rotWithShape="0">
              <a:srgbClr val="000000">
                <a:alpha val="30281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0" name="Rectangle 2089">
            <a:extLst>
              <a:ext uri="{FF2B5EF4-FFF2-40B4-BE49-F238E27FC236}">
                <a16:creationId xmlns:a16="http://schemas.microsoft.com/office/drawing/2014/main" id="{E41B9C9F-9557-37EC-2E8E-1BC87F6697CE}"/>
              </a:ext>
            </a:extLst>
          </p:cNvPr>
          <p:cNvSpPr/>
          <p:nvPr/>
        </p:nvSpPr>
        <p:spPr>
          <a:xfrm>
            <a:off x="7387974" y="2258014"/>
            <a:ext cx="234449" cy="88695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9" name="Rectangle 2088">
            <a:extLst>
              <a:ext uri="{FF2B5EF4-FFF2-40B4-BE49-F238E27FC236}">
                <a16:creationId xmlns:a16="http://schemas.microsoft.com/office/drawing/2014/main" id="{102BC3DC-8511-9452-774D-3616FA06BDA0}"/>
              </a:ext>
            </a:extLst>
          </p:cNvPr>
          <p:cNvSpPr/>
          <p:nvPr/>
        </p:nvSpPr>
        <p:spPr>
          <a:xfrm>
            <a:off x="6098673" y="2192876"/>
            <a:ext cx="234449" cy="88695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853EE9-5920-6A13-8D4D-D94FA8F512D0}"/>
              </a:ext>
            </a:extLst>
          </p:cNvPr>
          <p:cNvSpPr/>
          <p:nvPr/>
        </p:nvSpPr>
        <p:spPr>
          <a:xfrm>
            <a:off x="3957607" y="3332017"/>
            <a:ext cx="5799919" cy="1260704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  <a:effectLst>
            <a:outerShdw blurRad="50800" dist="50800" dir="5400000" algn="ctr" rotWithShape="0">
              <a:srgbClr val="000000">
                <a:alpha val="30281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147E61-BF13-3AD3-E12A-D49B62DFF5C0}"/>
              </a:ext>
            </a:extLst>
          </p:cNvPr>
          <p:cNvSpPr/>
          <p:nvPr/>
        </p:nvSpPr>
        <p:spPr>
          <a:xfrm>
            <a:off x="3957607" y="4658030"/>
            <a:ext cx="5799919" cy="1260704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  <a:effectLst>
            <a:outerShdw blurRad="50800" dist="50800" dir="5400000" algn="ctr" rotWithShape="0">
              <a:srgbClr val="000000">
                <a:alpha val="30281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B97FB5-13E3-2503-F50E-AD84F0E4253D}"/>
              </a:ext>
            </a:extLst>
          </p:cNvPr>
          <p:cNvSpPr/>
          <p:nvPr/>
        </p:nvSpPr>
        <p:spPr>
          <a:xfrm>
            <a:off x="1242162" y="2003847"/>
            <a:ext cx="2289779" cy="12607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tx1"/>
                </a:solidFill>
              </a:rPr>
              <a:t>The Commercial Brain</a:t>
            </a:r>
            <a:br>
              <a:rPr lang="en-US" sz="1400" b="1">
                <a:solidFill>
                  <a:schemeClr val="tx1"/>
                </a:solidFill>
              </a:rPr>
            </a:br>
            <a:r>
              <a:rPr lang="en-US" sz="900" b="1">
                <a:solidFill>
                  <a:schemeClr val="accent1"/>
                </a:solidFill>
              </a:rPr>
              <a:t>POWERED BY THINKER AGENTS</a:t>
            </a:r>
            <a:br>
              <a:rPr lang="en-US" sz="900" b="1">
                <a:solidFill>
                  <a:schemeClr val="accent2"/>
                </a:solidFill>
              </a:rPr>
            </a:br>
            <a:r>
              <a:rPr lang="en-US" sz="800" i="1">
                <a:solidFill>
                  <a:schemeClr val="accent2"/>
                </a:solidFill>
                <a:cs typeface="Arial"/>
              </a:rPr>
              <a:t>Your proprietary data turned into privileged insights no competitor can replicate</a:t>
            </a:r>
            <a:endParaRPr lang="en-US" sz="900" i="1">
              <a:solidFill>
                <a:schemeClr val="accent2"/>
              </a:solidFill>
              <a:cs typeface="Arial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3FED60A-C4F9-E825-3DCC-AB85A5AD6462}"/>
              </a:ext>
            </a:extLst>
          </p:cNvPr>
          <p:cNvSpPr/>
          <p:nvPr/>
        </p:nvSpPr>
        <p:spPr>
          <a:xfrm>
            <a:off x="1242162" y="3329858"/>
            <a:ext cx="2289779" cy="12607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tx1"/>
                </a:solidFill>
              </a:rPr>
              <a:t>The Agent Network</a:t>
            </a:r>
            <a:br>
              <a:rPr lang="en-US" sz="1400" b="1">
                <a:solidFill>
                  <a:schemeClr val="tx1"/>
                </a:solidFill>
              </a:rPr>
            </a:br>
            <a:r>
              <a:rPr lang="en-US" sz="900" b="1">
                <a:solidFill>
                  <a:schemeClr val="accent1"/>
                </a:solidFill>
              </a:rPr>
              <a:t>POWERED BY DOER AGENTS</a:t>
            </a:r>
            <a:br>
              <a:rPr lang="en-US" sz="900" b="1">
                <a:solidFill>
                  <a:schemeClr val="accent2"/>
                </a:solidFill>
              </a:rPr>
            </a:br>
            <a:r>
              <a:rPr lang="en-US" sz="800" i="1">
                <a:solidFill>
                  <a:schemeClr val="accent2"/>
                </a:solidFill>
                <a:cs typeface="Arial"/>
              </a:rPr>
              <a:t>A pre-built ecosystem of specialized agents executing across functions, driven by customer moments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38F764A-8302-32E4-4713-EFD400DBEE31}"/>
              </a:ext>
            </a:extLst>
          </p:cNvPr>
          <p:cNvSpPr/>
          <p:nvPr/>
        </p:nvSpPr>
        <p:spPr>
          <a:xfrm>
            <a:off x="1242162" y="4655871"/>
            <a:ext cx="2289779" cy="12607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tx1"/>
                </a:solidFill>
              </a:rPr>
              <a:t>The Intelligence Feedback Loop</a:t>
            </a:r>
            <a:br>
              <a:rPr lang="en-US" sz="1400" b="1">
                <a:solidFill>
                  <a:schemeClr val="tx1"/>
                </a:solidFill>
              </a:rPr>
            </a:br>
            <a:r>
              <a:rPr lang="en-US" sz="900" b="1">
                <a:solidFill>
                  <a:schemeClr val="accent1"/>
                </a:solidFill>
              </a:rPr>
              <a:t>POWERED BY SENSOR AGENTS</a:t>
            </a:r>
            <a:br>
              <a:rPr lang="en-US" sz="900" b="1">
                <a:solidFill>
                  <a:schemeClr val="accent2"/>
                </a:solidFill>
              </a:rPr>
            </a:br>
            <a:r>
              <a:rPr lang="en-US" sz="800" i="1">
                <a:solidFill>
                  <a:schemeClr val="accent2"/>
                </a:solidFill>
                <a:cs typeface="Arial"/>
              </a:rPr>
              <a:t>Every interaction is a signal fed back into the Commercial Brain – the engine that compounds value with every interaction</a:t>
            </a:r>
          </a:p>
        </p:txBody>
      </p:sp>
      <p:grpSp>
        <p:nvGrpSpPr>
          <p:cNvPr id="2071" name="Group 2070">
            <a:extLst>
              <a:ext uri="{FF2B5EF4-FFF2-40B4-BE49-F238E27FC236}">
                <a16:creationId xmlns:a16="http://schemas.microsoft.com/office/drawing/2014/main" id="{EE1EAEE7-A50B-415D-270B-14D90B65ECAD}"/>
              </a:ext>
            </a:extLst>
          </p:cNvPr>
          <p:cNvGrpSpPr/>
          <p:nvPr/>
        </p:nvGrpSpPr>
        <p:grpSpPr>
          <a:xfrm>
            <a:off x="6638930" y="2417720"/>
            <a:ext cx="437271" cy="437271"/>
            <a:chOff x="6947095" y="2425534"/>
            <a:chExt cx="457200" cy="457200"/>
          </a:xfrm>
        </p:grpSpPr>
        <p:sp>
          <p:nvSpPr>
            <p:cNvPr id="2070" name="Oval 2069">
              <a:extLst>
                <a:ext uri="{FF2B5EF4-FFF2-40B4-BE49-F238E27FC236}">
                  <a16:creationId xmlns:a16="http://schemas.microsoft.com/office/drawing/2014/main" id="{EEA1A81A-C3B5-7D9D-F6A4-304504F1D510}"/>
                </a:ext>
              </a:extLst>
            </p:cNvPr>
            <p:cNvSpPr/>
            <p:nvPr/>
          </p:nvSpPr>
          <p:spPr>
            <a:xfrm>
              <a:off x="6947095" y="2425534"/>
              <a:ext cx="457200" cy="457200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78000">
                  <a:schemeClr val="accent2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69" name="Graphic 2068" descr="Brain in head with solid fill">
              <a:extLst>
                <a:ext uri="{FF2B5EF4-FFF2-40B4-BE49-F238E27FC236}">
                  <a16:creationId xmlns:a16="http://schemas.microsoft.com/office/drawing/2014/main" id="{D4A591C1-5BFB-35E2-E7FE-190065C00B9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022387" y="2500826"/>
              <a:ext cx="306616" cy="306616"/>
            </a:xfrm>
            <a:prstGeom prst="rect">
              <a:avLst/>
            </a:prstGeom>
          </p:spPr>
        </p:pic>
      </p:grpSp>
      <p:sp>
        <p:nvSpPr>
          <p:cNvPr id="2072" name="Rounded Rectangle 2071">
            <a:extLst>
              <a:ext uri="{FF2B5EF4-FFF2-40B4-BE49-F238E27FC236}">
                <a16:creationId xmlns:a16="http://schemas.microsoft.com/office/drawing/2014/main" id="{C27CBD85-74F1-0E19-F8A6-215EDD56F6EC}"/>
              </a:ext>
            </a:extLst>
          </p:cNvPr>
          <p:cNvSpPr/>
          <p:nvPr/>
        </p:nvSpPr>
        <p:spPr>
          <a:xfrm>
            <a:off x="4575106" y="2193169"/>
            <a:ext cx="1872517" cy="3461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accent6">
                    <a:lumMod val="75000"/>
                  </a:schemeClr>
                </a:solidFill>
              </a:rPr>
              <a:t>UNIFIED CUSTOMER STATE</a:t>
            </a:r>
          </a:p>
        </p:txBody>
      </p:sp>
      <p:sp>
        <p:nvSpPr>
          <p:cNvPr id="2073" name="Rounded Rectangle 2072">
            <a:extLst>
              <a:ext uri="{FF2B5EF4-FFF2-40B4-BE49-F238E27FC236}">
                <a16:creationId xmlns:a16="http://schemas.microsoft.com/office/drawing/2014/main" id="{947FD56F-9E0B-7AC9-14E1-AF884EAE66C0}"/>
              </a:ext>
            </a:extLst>
          </p:cNvPr>
          <p:cNvSpPr/>
          <p:nvPr/>
        </p:nvSpPr>
        <p:spPr>
          <a:xfrm>
            <a:off x="4575106" y="2726507"/>
            <a:ext cx="1872517" cy="3461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chemeClr val="accent6">
                    <a:lumMod val="75000"/>
                  </a:schemeClr>
                </a:solidFill>
              </a:rPr>
              <a:t>CROSS-FUNCTIONAL JOURNEY HISTORY</a:t>
            </a:r>
          </a:p>
        </p:txBody>
      </p:sp>
      <p:sp>
        <p:nvSpPr>
          <p:cNvPr id="2074" name="Rounded Rectangle 2073">
            <a:extLst>
              <a:ext uri="{FF2B5EF4-FFF2-40B4-BE49-F238E27FC236}">
                <a16:creationId xmlns:a16="http://schemas.microsoft.com/office/drawing/2014/main" id="{562FFCEE-2A12-3712-8BE5-C3540D591037}"/>
              </a:ext>
            </a:extLst>
          </p:cNvPr>
          <p:cNvSpPr/>
          <p:nvPr/>
        </p:nvSpPr>
        <p:spPr>
          <a:xfrm>
            <a:off x="7267506" y="2193169"/>
            <a:ext cx="1871918" cy="3461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800" b="1">
                <a:solidFill>
                  <a:schemeClr val="accent6">
                    <a:lumMod val="75000"/>
                  </a:schemeClr>
                </a:solidFill>
              </a:rPr>
              <a:t>REAL-TIME INTENT SENSING</a:t>
            </a:r>
          </a:p>
        </p:txBody>
      </p:sp>
      <p:sp>
        <p:nvSpPr>
          <p:cNvPr id="2075" name="Rounded Rectangle 2074">
            <a:extLst>
              <a:ext uri="{FF2B5EF4-FFF2-40B4-BE49-F238E27FC236}">
                <a16:creationId xmlns:a16="http://schemas.microsoft.com/office/drawing/2014/main" id="{E9C99599-49C7-0C2F-8AB3-7BC986B7A1FE}"/>
              </a:ext>
            </a:extLst>
          </p:cNvPr>
          <p:cNvSpPr/>
          <p:nvPr/>
        </p:nvSpPr>
        <p:spPr>
          <a:xfrm>
            <a:off x="7267506" y="2726507"/>
            <a:ext cx="1871918" cy="34617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800" b="1">
                <a:solidFill>
                  <a:schemeClr val="accent6">
                    <a:lumMod val="75000"/>
                  </a:schemeClr>
                </a:solidFill>
              </a:rPr>
              <a:t>PREDICTIVE PROPENSITY MODELING</a:t>
            </a:r>
          </a:p>
        </p:txBody>
      </p:sp>
      <p:grpSp>
        <p:nvGrpSpPr>
          <p:cNvPr id="2076" name="Google Shape;68;p15">
            <a:extLst>
              <a:ext uri="{FF2B5EF4-FFF2-40B4-BE49-F238E27FC236}">
                <a16:creationId xmlns:a16="http://schemas.microsoft.com/office/drawing/2014/main" id="{DBF7BC2B-EC2B-E086-EA1F-688DFC467135}"/>
              </a:ext>
            </a:extLst>
          </p:cNvPr>
          <p:cNvGrpSpPr/>
          <p:nvPr/>
        </p:nvGrpSpPr>
        <p:grpSpPr>
          <a:xfrm>
            <a:off x="6098673" y="2083374"/>
            <a:ext cx="608820" cy="437269"/>
            <a:chOff x="4317121" y="2340471"/>
            <a:chExt cx="2607031" cy="1467823"/>
          </a:xfrm>
        </p:grpSpPr>
        <p:sp>
          <p:nvSpPr>
            <p:cNvPr id="2077" name="Google Shape;69;p15">
              <a:extLst>
                <a:ext uri="{FF2B5EF4-FFF2-40B4-BE49-F238E27FC236}">
                  <a16:creationId xmlns:a16="http://schemas.microsoft.com/office/drawing/2014/main" id="{68A8BBDF-6198-DFBA-A2D5-776AD890D782}"/>
                </a:ext>
              </a:extLst>
            </p:cNvPr>
            <p:cNvSpPr/>
            <p:nvPr/>
          </p:nvSpPr>
          <p:spPr>
            <a:xfrm>
              <a:off x="4317121" y="2364813"/>
              <a:ext cx="1017496" cy="343222"/>
            </a:xfrm>
            <a:custGeom>
              <a:avLst/>
              <a:gdLst/>
              <a:ahLst/>
              <a:cxnLst/>
              <a:rect l="l" t="t" r="r" b="b"/>
              <a:pathLst>
                <a:path w="836" h="282" extrusionOk="0">
                  <a:moveTo>
                    <a:pt x="0" y="282"/>
                  </a:moveTo>
                  <a:lnTo>
                    <a:pt x="836" y="282"/>
                  </a:lnTo>
                  <a:lnTo>
                    <a:pt x="836" y="0"/>
                  </a:lnTo>
                  <a:lnTo>
                    <a:pt x="268" y="0"/>
                  </a:lnTo>
                  <a:lnTo>
                    <a:pt x="268" y="0"/>
                  </a:lnTo>
                  <a:lnTo>
                    <a:pt x="262" y="2"/>
                  </a:lnTo>
                  <a:lnTo>
                    <a:pt x="242" y="4"/>
                  </a:lnTo>
                  <a:lnTo>
                    <a:pt x="228" y="8"/>
                  </a:lnTo>
                  <a:lnTo>
                    <a:pt x="210" y="14"/>
                  </a:lnTo>
                  <a:lnTo>
                    <a:pt x="192" y="22"/>
                  </a:lnTo>
                  <a:lnTo>
                    <a:pt x="172" y="32"/>
                  </a:lnTo>
                  <a:lnTo>
                    <a:pt x="152" y="48"/>
                  </a:lnTo>
                  <a:lnTo>
                    <a:pt x="130" y="66"/>
                  </a:lnTo>
                  <a:lnTo>
                    <a:pt x="108" y="88"/>
                  </a:lnTo>
                  <a:lnTo>
                    <a:pt x="84" y="116"/>
                  </a:lnTo>
                  <a:lnTo>
                    <a:pt x="62" y="148"/>
                  </a:lnTo>
                  <a:lnTo>
                    <a:pt x="40" y="186"/>
                  </a:lnTo>
                  <a:lnTo>
                    <a:pt x="20" y="230"/>
                  </a:lnTo>
                  <a:lnTo>
                    <a:pt x="0" y="282"/>
                  </a:lnTo>
                  <a:lnTo>
                    <a:pt x="0" y="282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1"/>
              </a:solidFill>
            </a:ln>
          </p:spPr>
          <p:txBody>
            <a:bodyPr spcFirstLastPara="1" wrap="square" lIns="91409" tIns="45688" rIns="91409" bIns="45688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defTabSz="914126"/>
              <a:endParaRPr lang="en-US" sz="1799" kern="0" noProof="0"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78" name="Google Shape;70;p15">
              <a:extLst>
                <a:ext uri="{FF2B5EF4-FFF2-40B4-BE49-F238E27FC236}">
                  <a16:creationId xmlns:a16="http://schemas.microsoft.com/office/drawing/2014/main" id="{E60A2D38-0D79-FA1A-49E2-627730BFE137}"/>
                </a:ext>
              </a:extLst>
            </p:cNvPr>
            <p:cNvSpPr/>
            <p:nvPr/>
          </p:nvSpPr>
          <p:spPr>
            <a:xfrm>
              <a:off x="4533766" y="2340471"/>
              <a:ext cx="2390386" cy="1467823"/>
            </a:xfrm>
            <a:custGeom>
              <a:avLst/>
              <a:gdLst/>
              <a:ahLst/>
              <a:cxnLst/>
              <a:rect l="l" t="t" r="r" b="b"/>
              <a:pathLst>
                <a:path w="1964" h="1206" extrusionOk="0">
                  <a:moveTo>
                    <a:pt x="1964" y="1116"/>
                  </a:moveTo>
                  <a:lnTo>
                    <a:pt x="1962" y="394"/>
                  </a:lnTo>
                  <a:lnTo>
                    <a:pt x="1962" y="394"/>
                  </a:lnTo>
                  <a:lnTo>
                    <a:pt x="1960" y="384"/>
                  </a:lnTo>
                  <a:lnTo>
                    <a:pt x="1958" y="376"/>
                  </a:lnTo>
                  <a:lnTo>
                    <a:pt x="1954" y="368"/>
                  </a:lnTo>
                  <a:lnTo>
                    <a:pt x="1948" y="362"/>
                  </a:lnTo>
                  <a:lnTo>
                    <a:pt x="1948" y="362"/>
                  </a:lnTo>
                  <a:lnTo>
                    <a:pt x="1940" y="354"/>
                  </a:lnTo>
                  <a:lnTo>
                    <a:pt x="1932" y="350"/>
                  </a:lnTo>
                  <a:lnTo>
                    <a:pt x="1922" y="348"/>
                  </a:lnTo>
                  <a:lnTo>
                    <a:pt x="1912" y="346"/>
                  </a:lnTo>
                  <a:lnTo>
                    <a:pt x="1904" y="348"/>
                  </a:lnTo>
                  <a:lnTo>
                    <a:pt x="1894" y="350"/>
                  </a:lnTo>
                  <a:lnTo>
                    <a:pt x="1884" y="354"/>
                  </a:lnTo>
                  <a:lnTo>
                    <a:pt x="1876" y="360"/>
                  </a:lnTo>
                  <a:lnTo>
                    <a:pt x="1782" y="456"/>
                  </a:lnTo>
                  <a:lnTo>
                    <a:pt x="1738" y="410"/>
                  </a:lnTo>
                  <a:lnTo>
                    <a:pt x="1738" y="410"/>
                  </a:lnTo>
                  <a:lnTo>
                    <a:pt x="1444" y="116"/>
                  </a:lnTo>
                  <a:lnTo>
                    <a:pt x="1444" y="116"/>
                  </a:lnTo>
                  <a:lnTo>
                    <a:pt x="1402" y="76"/>
                  </a:lnTo>
                  <a:lnTo>
                    <a:pt x="1380" y="58"/>
                  </a:lnTo>
                  <a:lnTo>
                    <a:pt x="1356" y="40"/>
                  </a:lnTo>
                  <a:lnTo>
                    <a:pt x="1332" y="26"/>
                  </a:lnTo>
                  <a:lnTo>
                    <a:pt x="1310" y="14"/>
                  </a:lnTo>
                  <a:lnTo>
                    <a:pt x="1286" y="6"/>
                  </a:lnTo>
                  <a:lnTo>
                    <a:pt x="1276" y="4"/>
                  </a:lnTo>
                  <a:lnTo>
                    <a:pt x="1264" y="4"/>
                  </a:lnTo>
                  <a:lnTo>
                    <a:pt x="1264" y="4"/>
                  </a:lnTo>
                  <a:lnTo>
                    <a:pt x="716" y="2"/>
                  </a:lnTo>
                  <a:lnTo>
                    <a:pt x="334" y="0"/>
                  </a:lnTo>
                  <a:lnTo>
                    <a:pt x="200" y="0"/>
                  </a:lnTo>
                  <a:lnTo>
                    <a:pt x="138" y="2"/>
                  </a:lnTo>
                  <a:lnTo>
                    <a:pt x="138" y="2"/>
                  </a:lnTo>
                  <a:lnTo>
                    <a:pt x="114" y="4"/>
                  </a:lnTo>
                  <a:lnTo>
                    <a:pt x="92" y="8"/>
                  </a:lnTo>
                  <a:lnTo>
                    <a:pt x="74" y="12"/>
                  </a:lnTo>
                  <a:lnTo>
                    <a:pt x="58" y="18"/>
                  </a:lnTo>
                  <a:lnTo>
                    <a:pt x="42" y="26"/>
                  </a:lnTo>
                  <a:lnTo>
                    <a:pt x="28" y="34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16" y="44"/>
                  </a:lnTo>
                  <a:lnTo>
                    <a:pt x="36" y="36"/>
                  </a:lnTo>
                  <a:lnTo>
                    <a:pt x="54" y="30"/>
                  </a:lnTo>
                  <a:lnTo>
                    <a:pt x="74" y="28"/>
                  </a:lnTo>
                  <a:lnTo>
                    <a:pt x="92" y="26"/>
                  </a:lnTo>
                  <a:lnTo>
                    <a:pt x="112" y="26"/>
                  </a:lnTo>
                  <a:lnTo>
                    <a:pt x="132" y="28"/>
                  </a:lnTo>
                  <a:lnTo>
                    <a:pt x="152" y="32"/>
                  </a:lnTo>
                  <a:lnTo>
                    <a:pt x="172" y="38"/>
                  </a:lnTo>
                  <a:lnTo>
                    <a:pt x="194" y="44"/>
                  </a:lnTo>
                  <a:lnTo>
                    <a:pt x="214" y="54"/>
                  </a:lnTo>
                  <a:lnTo>
                    <a:pt x="234" y="66"/>
                  </a:lnTo>
                  <a:lnTo>
                    <a:pt x="256" y="80"/>
                  </a:lnTo>
                  <a:lnTo>
                    <a:pt x="276" y="94"/>
                  </a:lnTo>
                  <a:lnTo>
                    <a:pt x="298" y="112"/>
                  </a:lnTo>
                  <a:lnTo>
                    <a:pt x="318" y="132"/>
                  </a:lnTo>
                  <a:lnTo>
                    <a:pt x="1212" y="1026"/>
                  </a:lnTo>
                  <a:lnTo>
                    <a:pt x="1120" y="1118"/>
                  </a:lnTo>
                  <a:lnTo>
                    <a:pt x="1120" y="1118"/>
                  </a:lnTo>
                  <a:lnTo>
                    <a:pt x="1114" y="1126"/>
                  </a:lnTo>
                  <a:lnTo>
                    <a:pt x="1108" y="1136"/>
                  </a:lnTo>
                  <a:lnTo>
                    <a:pt x="1106" y="1146"/>
                  </a:lnTo>
                  <a:lnTo>
                    <a:pt x="1104" y="1154"/>
                  </a:lnTo>
                  <a:lnTo>
                    <a:pt x="1106" y="1164"/>
                  </a:lnTo>
                  <a:lnTo>
                    <a:pt x="1108" y="1174"/>
                  </a:lnTo>
                  <a:lnTo>
                    <a:pt x="1112" y="1182"/>
                  </a:lnTo>
                  <a:lnTo>
                    <a:pt x="1118" y="1190"/>
                  </a:lnTo>
                  <a:lnTo>
                    <a:pt x="1118" y="1190"/>
                  </a:lnTo>
                  <a:lnTo>
                    <a:pt x="1126" y="1194"/>
                  </a:lnTo>
                  <a:lnTo>
                    <a:pt x="1134" y="1200"/>
                  </a:lnTo>
                  <a:lnTo>
                    <a:pt x="1142" y="1202"/>
                  </a:lnTo>
                  <a:lnTo>
                    <a:pt x="1152" y="1204"/>
                  </a:lnTo>
                  <a:lnTo>
                    <a:pt x="1874" y="1206"/>
                  </a:lnTo>
                  <a:lnTo>
                    <a:pt x="1874" y="1206"/>
                  </a:lnTo>
                  <a:lnTo>
                    <a:pt x="1892" y="1206"/>
                  </a:lnTo>
                  <a:lnTo>
                    <a:pt x="1910" y="1202"/>
                  </a:lnTo>
                  <a:lnTo>
                    <a:pt x="1926" y="1194"/>
                  </a:lnTo>
                  <a:lnTo>
                    <a:pt x="1940" y="1182"/>
                  </a:lnTo>
                  <a:lnTo>
                    <a:pt x="1940" y="1182"/>
                  </a:lnTo>
                  <a:lnTo>
                    <a:pt x="1952" y="1168"/>
                  </a:lnTo>
                  <a:lnTo>
                    <a:pt x="1960" y="1152"/>
                  </a:lnTo>
                  <a:lnTo>
                    <a:pt x="1964" y="1134"/>
                  </a:lnTo>
                  <a:lnTo>
                    <a:pt x="1964" y="1116"/>
                  </a:lnTo>
                  <a:lnTo>
                    <a:pt x="1964" y="1116"/>
                  </a:lnTo>
                  <a:close/>
                </a:path>
              </a:pathLst>
            </a:custGeom>
            <a:gradFill>
              <a:gsLst>
                <a:gs pos="100000">
                  <a:schemeClr val="accent3">
                    <a:lumMod val="40000"/>
                    <a:lumOff val="60000"/>
                  </a:schemeClr>
                </a:gs>
                <a:gs pos="0">
                  <a:schemeClr val="accent1"/>
                </a:gs>
              </a:gsLst>
              <a:lin ang="3000000" scaled="0"/>
            </a:gradFill>
            <a:ln>
              <a:solidFill>
                <a:schemeClr val="bg1"/>
              </a:solidFill>
            </a:ln>
          </p:spPr>
          <p:txBody>
            <a:bodyPr spcFirstLastPara="1" wrap="square" lIns="91409" tIns="45688" rIns="91409" bIns="45688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defTabSz="914126"/>
              <a:endParaRPr lang="en-US" sz="1799" kern="0" noProof="0"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2080" name="Google Shape;68;p15">
            <a:extLst>
              <a:ext uri="{FF2B5EF4-FFF2-40B4-BE49-F238E27FC236}">
                <a16:creationId xmlns:a16="http://schemas.microsoft.com/office/drawing/2014/main" id="{502261FE-5067-A978-1EB1-74A36A8FB6D7}"/>
              </a:ext>
            </a:extLst>
          </p:cNvPr>
          <p:cNvGrpSpPr/>
          <p:nvPr/>
        </p:nvGrpSpPr>
        <p:grpSpPr>
          <a:xfrm flipV="1">
            <a:off x="6100396" y="2752067"/>
            <a:ext cx="608820" cy="437269"/>
            <a:chOff x="4317121" y="2340471"/>
            <a:chExt cx="2607031" cy="1467823"/>
          </a:xfrm>
        </p:grpSpPr>
        <p:sp>
          <p:nvSpPr>
            <p:cNvPr id="2081" name="Google Shape;69;p15">
              <a:extLst>
                <a:ext uri="{FF2B5EF4-FFF2-40B4-BE49-F238E27FC236}">
                  <a16:creationId xmlns:a16="http://schemas.microsoft.com/office/drawing/2014/main" id="{83BF4289-2E3F-C3B0-4B39-4BF19BC6E43F}"/>
                </a:ext>
              </a:extLst>
            </p:cNvPr>
            <p:cNvSpPr/>
            <p:nvPr/>
          </p:nvSpPr>
          <p:spPr>
            <a:xfrm>
              <a:off x="4317121" y="2364813"/>
              <a:ext cx="1017496" cy="343222"/>
            </a:xfrm>
            <a:custGeom>
              <a:avLst/>
              <a:gdLst/>
              <a:ahLst/>
              <a:cxnLst/>
              <a:rect l="l" t="t" r="r" b="b"/>
              <a:pathLst>
                <a:path w="836" h="282" extrusionOk="0">
                  <a:moveTo>
                    <a:pt x="0" y="282"/>
                  </a:moveTo>
                  <a:lnTo>
                    <a:pt x="836" y="282"/>
                  </a:lnTo>
                  <a:lnTo>
                    <a:pt x="836" y="0"/>
                  </a:lnTo>
                  <a:lnTo>
                    <a:pt x="268" y="0"/>
                  </a:lnTo>
                  <a:lnTo>
                    <a:pt x="268" y="0"/>
                  </a:lnTo>
                  <a:lnTo>
                    <a:pt x="262" y="2"/>
                  </a:lnTo>
                  <a:lnTo>
                    <a:pt x="242" y="4"/>
                  </a:lnTo>
                  <a:lnTo>
                    <a:pt x="228" y="8"/>
                  </a:lnTo>
                  <a:lnTo>
                    <a:pt x="210" y="14"/>
                  </a:lnTo>
                  <a:lnTo>
                    <a:pt x="192" y="22"/>
                  </a:lnTo>
                  <a:lnTo>
                    <a:pt x="172" y="32"/>
                  </a:lnTo>
                  <a:lnTo>
                    <a:pt x="152" y="48"/>
                  </a:lnTo>
                  <a:lnTo>
                    <a:pt x="130" y="66"/>
                  </a:lnTo>
                  <a:lnTo>
                    <a:pt x="108" y="88"/>
                  </a:lnTo>
                  <a:lnTo>
                    <a:pt x="84" y="116"/>
                  </a:lnTo>
                  <a:lnTo>
                    <a:pt x="62" y="148"/>
                  </a:lnTo>
                  <a:lnTo>
                    <a:pt x="40" y="186"/>
                  </a:lnTo>
                  <a:lnTo>
                    <a:pt x="20" y="230"/>
                  </a:lnTo>
                  <a:lnTo>
                    <a:pt x="0" y="282"/>
                  </a:lnTo>
                  <a:lnTo>
                    <a:pt x="0" y="282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1"/>
              </a:solidFill>
            </a:ln>
          </p:spPr>
          <p:txBody>
            <a:bodyPr spcFirstLastPara="1" wrap="square" lIns="91409" tIns="45688" rIns="91409" bIns="45688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defTabSz="914126"/>
              <a:endParaRPr lang="en-US" sz="1799" kern="0" noProof="0"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82" name="Google Shape;70;p15">
              <a:extLst>
                <a:ext uri="{FF2B5EF4-FFF2-40B4-BE49-F238E27FC236}">
                  <a16:creationId xmlns:a16="http://schemas.microsoft.com/office/drawing/2014/main" id="{E087E779-F297-59AF-0E3A-9C6FAA992A22}"/>
                </a:ext>
              </a:extLst>
            </p:cNvPr>
            <p:cNvSpPr/>
            <p:nvPr/>
          </p:nvSpPr>
          <p:spPr>
            <a:xfrm>
              <a:off x="4533766" y="2340471"/>
              <a:ext cx="2390386" cy="1467823"/>
            </a:xfrm>
            <a:custGeom>
              <a:avLst/>
              <a:gdLst/>
              <a:ahLst/>
              <a:cxnLst/>
              <a:rect l="l" t="t" r="r" b="b"/>
              <a:pathLst>
                <a:path w="1964" h="1206" extrusionOk="0">
                  <a:moveTo>
                    <a:pt x="1964" y="1116"/>
                  </a:moveTo>
                  <a:lnTo>
                    <a:pt x="1962" y="394"/>
                  </a:lnTo>
                  <a:lnTo>
                    <a:pt x="1962" y="394"/>
                  </a:lnTo>
                  <a:lnTo>
                    <a:pt x="1960" y="384"/>
                  </a:lnTo>
                  <a:lnTo>
                    <a:pt x="1958" y="376"/>
                  </a:lnTo>
                  <a:lnTo>
                    <a:pt x="1954" y="368"/>
                  </a:lnTo>
                  <a:lnTo>
                    <a:pt x="1948" y="362"/>
                  </a:lnTo>
                  <a:lnTo>
                    <a:pt x="1948" y="362"/>
                  </a:lnTo>
                  <a:lnTo>
                    <a:pt x="1940" y="354"/>
                  </a:lnTo>
                  <a:lnTo>
                    <a:pt x="1932" y="350"/>
                  </a:lnTo>
                  <a:lnTo>
                    <a:pt x="1922" y="348"/>
                  </a:lnTo>
                  <a:lnTo>
                    <a:pt x="1912" y="346"/>
                  </a:lnTo>
                  <a:lnTo>
                    <a:pt x="1904" y="348"/>
                  </a:lnTo>
                  <a:lnTo>
                    <a:pt x="1894" y="350"/>
                  </a:lnTo>
                  <a:lnTo>
                    <a:pt x="1884" y="354"/>
                  </a:lnTo>
                  <a:lnTo>
                    <a:pt x="1876" y="360"/>
                  </a:lnTo>
                  <a:lnTo>
                    <a:pt x="1782" y="456"/>
                  </a:lnTo>
                  <a:lnTo>
                    <a:pt x="1738" y="410"/>
                  </a:lnTo>
                  <a:lnTo>
                    <a:pt x="1738" y="410"/>
                  </a:lnTo>
                  <a:lnTo>
                    <a:pt x="1444" y="116"/>
                  </a:lnTo>
                  <a:lnTo>
                    <a:pt x="1444" y="116"/>
                  </a:lnTo>
                  <a:lnTo>
                    <a:pt x="1402" y="76"/>
                  </a:lnTo>
                  <a:lnTo>
                    <a:pt x="1380" y="58"/>
                  </a:lnTo>
                  <a:lnTo>
                    <a:pt x="1356" y="40"/>
                  </a:lnTo>
                  <a:lnTo>
                    <a:pt x="1332" y="26"/>
                  </a:lnTo>
                  <a:lnTo>
                    <a:pt x="1310" y="14"/>
                  </a:lnTo>
                  <a:lnTo>
                    <a:pt x="1286" y="6"/>
                  </a:lnTo>
                  <a:lnTo>
                    <a:pt x="1276" y="4"/>
                  </a:lnTo>
                  <a:lnTo>
                    <a:pt x="1264" y="4"/>
                  </a:lnTo>
                  <a:lnTo>
                    <a:pt x="1264" y="4"/>
                  </a:lnTo>
                  <a:lnTo>
                    <a:pt x="716" y="2"/>
                  </a:lnTo>
                  <a:lnTo>
                    <a:pt x="334" y="0"/>
                  </a:lnTo>
                  <a:lnTo>
                    <a:pt x="200" y="0"/>
                  </a:lnTo>
                  <a:lnTo>
                    <a:pt x="138" y="2"/>
                  </a:lnTo>
                  <a:lnTo>
                    <a:pt x="138" y="2"/>
                  </a:lnTo>
                  <a:lnTo>
                    <a:pt x="114" y="4"/>
                  </a:lnTo>
                  <a:lnTo>
                    <a:pt x="92" y="8"/>
                  </a:lnTo>
                  <a:lnTo>
                    <a:pt x="74" y="12"/>
                  </a:lnTo>
                  <a:lnTo>
                    <a:pt x="58" y="18"/>
                  </a:lnTo>
                  <a:lnTo>
                    <a:pt x="42" y="26"/>
                  </a:lnTo>
                  <a:lnTo>
                    <a:pt x="28" y="34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16" y="44"/>
                  </a:lnTo>
                  <a:lnTo>
                    <a:pt x="36" y="36"/>
                  </a:lnTo>
                  <a:lnTo>
                    <a:pt x="54" y="30"/>
                  </a:lnTo>
                  <a:lnTo>
                    <a:pt x="74" y="28"/>
                  </a:lnTo>
                  <a:lnTo>
                    <a:pt x="92" y="26"/>
                  </a:lnTo>
                  <a:lnTo>
                    <a:pt x="112" y="26"/>
                  </a:lnTo>
                  <a:lnTo>
                    <a:pt x="132" y="28"/>
                  </a:lnTo>
                  <a:lnTo>
                    <a:pt x="152" y="32"/>
                  </a:lnTo>
                  <a:lnTo>
                    <a:pt x="172" y="38"/>
                  </a:lnTo>
                  <a:lnTo>
                    <a:pt x="194" y="44"/>
                  </a:lnTo>
                  <a:lnTo>
                    <a:pt x="214" y="54"/>
                  </a:lnTo>
                  <a:lnTo>
                    <a:pt x="234" y="66"/>
                  </a:lnTo>
                  <a:lnTo>
                    <a:pt x="256" y="80"/>
                  </a:lnTo>
                  <a:lnTo>
                    <a:pt x="276" y="94"/>
                  </a:lnTo>
                  <a:lnTo>
                    <a:pt x="298" y="112"/>
                  </a:lnTo>
                  <a:lnTo>
                    <a:pt x="318" y="132"/>
                  </a:lnTo>
                  <a:lnTo>
                    <a:pt x="1212" y="1026"/>
                  </a:lnTo>
                  <a:lnTo>
                    <a:pt x="1120" y="1118"/>
                  </a:lnTo>
                  <a:lnTo>
                    <a:pt x="1120" y="1118"/>
                  </a:lnTo>
                  <a:lnTo>
                    <a:pt x="1114" y="1126"/>
                  </a:lnTo>
                  <a:lnTo>
                    <a:pt x="1108" y="1136"/>
                  </a:lnTo>
                  <a:lnTo>
                    <a:pt x="1106" y="1146"/>
                  </a:lnTo>
                  <a:lnTo>
                    <a:pt x="1104" y="1154"/>
                  </a:lnTo>
                  <a:lnTo>
                    <a:pt x="1106" y="1164"/>
                  </a:lnTo>
                  <a:lnTo>
                    <a:pt x="1108" y="1174"/>
                  </a:lnTo>
                  <a:lnTo>
                    <a:pt x="1112" y="1182"/>
                  </a:lnTo>
                  <a:lnTo>
                    <a:pt x="1118" y="1190"/>
                  </a:lnTo>
                  <a:lnTo>
                    <a:pt x="1118" y="1190"/>
                  </a:lnTo>
                  <a:lnTo>
                    <a:pt x="1126" y="1194"/>
                  </a:lnTo>
                  <a:lnTo>
                    <a:pt x="1134" y="1200"/>
                  </a:lnTo>
                  <a:lnTo>
                    <a:pt x="1142" y="1202"/>
                  </a:lnTo>
                  <a:lnTo>
                    <a:pt x="1152" y="1204"/>
                  </a:lnTo>
                  <a:lnTo>
                    <a:pt x="1874" y="1206"/>
                  </a:lnTo>
                  <a:lnTo>
                    <a:pt x="1874" y="1206"/>
                  </a:lnTo>
                  <a:lnTo>
                    <a:pt x="1892" y="1206"/>
                  </a:lnTo>
                  <a:lnTo>
                    <a:pt x="1910" y="1202"/>
                  </a:lnTo>
                  <a:lnTo>
                    <a:pt x="1926" y="1194"/>
                  </a:lnTo>
                  <a:lnTo>
                    <a:pt x="1940" y="1182"/>
                  </a:lnTo>
                  <a:lnTo>
                    <a:pt x="1940" y="1182"/>
                  </a:lnTo>
                  <a:lnTo>
                    <a:pt x="1952" y="1168"/>
                  </a:lnTo>
                  <a:lnTo>
                    <a:pt x="1960" y="1152"/>
                  </a:lnTo>
                  <a:lnTo>
                    <a:pt x="1964" y="1134"/>
                  </a:lnTo>
                  <a:lnTo>
                    <a:pt x="1964" y="1116"/>
                  </a:lnTo>
                  <a:lnTo>
                    <a:pt x="1964" y="1116"/>
                  </a:lnTo>
                  <a:close/>
                </a:path>
              </a:pathLst>
            </a:custGeom>
            <a:gradFill>
              <a:gsLst>
                <a:gs pos="100000">
                  <a:schemeClr val="accent3">
                    <a:lumMod val="40000"/>
                    <a:lumOff val="60000"/>
                  </a:schemeClr>
                </a:gs>
                <a:gs pos="0">
                  <a:schemeClr val="accent1"/>
                </a:gs>
              </a:gsLst>
              <a:lin ang="3000000" scaled="0"/>
            </a:gradFill>
            <a:ln>
              <a:solidFill>
                <a:schemeClr val="bg1"/>
              </a:solidFill>
            </a:ln>
          </p:spPr>
          <p:txBody>
            <a:bodyPr spcFirstLastPara="1" wrap="square" lIns="91409" tIns="45688" rIns="91409" bIns="45688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defTabSz="914126"/>
              <a:endParaRPr lang="en-US" sz="1799" kern="0" noProof="0"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2083" name="Google Shape;68;p15">
            <a:extLst>
              <a:ext uri="{FF2B5EF4-FFF2-40B4-BE49-F238E27FC236}">
                <a16:creationId xmlns:a16="http://schemas.microsoft.com/office/drawing/2014/main" id="{BEA06C28-B2BB-FFDB-E9CD-132443E25006}"/>
              </a:ext>
            </a:extLst>
          </p:cNvPr>
          <p:cNvGrpSpPr/>
          <p:nvPr/>
        </p:nvGrpSpPr>
        <p:grpSpPr>
          <a:xfrm flipH="1">
            <a:off x="7013304" y="2083374"/>
            <a:ext cx="614672" cy="437269"/>
            <a:chOff x="4317121" y="2340471"/>
            <a:chExt cx="2607031" cy="1467823"/>
          </a:xfrm>
        </p:grpSpPr>
        <p:sp>
          <p:nvSpPr>
            <p:cNvPr id="2084" name="Google Shape;69;p15">
              <a:extLst>
                <a:ext uri="{FF2B5EF4-FFF2-40B4-BE49-F238E27FC236}">
                  <a16:creationId xmlns:a16="http://schemas.microsoft.com/office/drawing/2014/main" id="{7DD16D55-DB6D-9124-10B2-AFC7067D6B7E}"/>
                </a:ext>
              </a:extLst>
            </p:cNvPr>
            <p:cNvSpPr/>
            <p:nvPr/>
          </p:nvSpPr>
          <p:spPr>
            <a:xfrm>
              <a:off x="4317121" y="2364813"/>
              <a:ext cx="1017496" cy="343222"/>
            </a:xfrm>
            <a:custGeom>
              <a:avLst/>
              <a:gdLst/>
              <a:ahLst/>
              <a:cxnLst/>
              <a:rect l="l" t="t" r="r" b="b"/>
              <a:pathLst>
                <a:path w="836" h="282" extrusionOk="0">
                  <a:moveTo>
                    <a:pt x="0" y="282"/>
                  </a:moveTo>
                  <a:lnTo>
                    <a:pt x="836" y="282"/>
                  </a:lnTo>
                  <a:lnTo>
                    <a:pt x="836" y="0"/>
                  </a:lnTo>
                  <a:lnTo>
                    <a:pt x="268" y="0"/>
                  </a:lnTo>
                  <a:lnTo>
                    <a:pt x="268" y="0"/>
                  </a:lnTo>
                  <a:lnTo>
                    <a:pt x="262" y="2"/>
                  </a:lnTo>
                  <a:lnTo>
                    <a:pt x="242" y="4"/>
                  </a:lnTo>
                  <a:lnTo>
                    <a:pt x="228" y="8"/>
                  </a:lnTo>
                  <a:lnTo>
                    <a:pt x="210" y="14"/>
                  </a:lnTo>
                  <a:lnTo>
                    <a:pt x="192" y="22"/>
                  </a:lnTo>
                  <a:lnTo>
                    <a:pt x="172" y="32"/>
                  </a:lnTo>
                  <a:lnTo>
                    <a:pt x="152" y="48"/>
                  </a:lnTo>
                  <a:lnTo>
                    <a:pt x="130" y="66"/>
                  </a:lnTo>
                  <a:lnTo>
                    <a:pt x="108" y="88"/>
                  </a:lnTo>
                  <a:lnTo>
                    <a:pt x="84" y="116"/>
                  </a:lnTo>
                  <a:lnTo>
                    <a:pt x="62" y="148"/>
                  </a:lnTo>
                  <a:lnTo>
                    <a:pt x="40" y="186"/>
                  </a:lnTo>
                  <a:lnTo>
                    <a:pt x="20" y="230"/>
                  </a:lnTo>
                  <a:lnTo>
                    <a:pt x="0" y="282"/>
                  </a:lnTo>
                  <a:lnTo>
                    <a:pt x="0" y="282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1"/>
              </a:solidFill>
            </a:ln>
          </p:spPr>
          <p:txBody>
            <a:bodyPr spcFirstLastPara="1" wrap="square" lIns="91409" tIns="45688" rIns="91409" bIns="45688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defTabSz="914126"/>
              <a:endParaRPr lang="en-US" sz="1799" kern="0" noProof="0"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85" name="Google Shape;70;p15">
              <a:extLst>
                <a:ext uri="{FF2B5EF4-FFF2-40B4-BE49-F238E27FC236}">
                  <a16:creationId xmlns:a16="http://schemas.microsoft.com/office/drawing/2014/main" id="{E2B57EE2-8A77-AC10-E9BA-50772C14D51E}"/>
                </a:ext>
              </a:extLst>
            </p:cNvPr>
            <p:cNvSpPr/>
            <p:nvPr/>
          </p:nvSpPr>
          <p:spPr>
            <a:xfrm>
              <a:off x="4533766" y="2340471"/>
              <a:ext cx="2390386" cy="1467823"/>
            </a:xfrm>
            <a:custGeom>
              <a:avLst/>
              <a:gdLst/>
              <a:ahLst/>
              <a:cxnLst/>
              <a:rect l="l" t="t" r="r" b="b"/>
              <a:pathLst>
                <a:path w="1964" h="1206" extrusionOk="0">
                  <a:moveTo>
                    <a:pt x="1964" y="1116"/>
                  </a:moveTo>
                  <a:lnTo>
                    <a:pt x="1962" y="394"/>
                  </a:lnTo>
                  <a:lnTo>
                    <a:pt x="1962" y="394"/>
                  </a:lnTo>
                  <a:lnTo>
                    <a:pt x="1960" y="384"/>
                  </a:lnTo>
                  <a:lnTo>
                    <a:pt x="1958" y="376"/>
                  </a:lnTo>
                  <a:lnTo>
                    <a:pt x="1954" y="368"/>
                  </a:lnTo>
                  <a:lnTo>
                    <a:pt x="1948" y="362"/>
                  </a:lnTo>
                  <a:lnTo>
                    <a:pt x="1948" y="362"/>
                  </a:lnTo>
                  <a:lnTo>
                    <a:pt x="1940" y="354"/>
                  </a:lnTo>
                  <a:lnTo>
                    <a:pt x="1932" y="350"/>
                  </a:lnTo>
                  <a:lnTo>
                    <a:pt x="1922" y="348"/>
                  </a:lnTo>
                  <a:lnTo>
                    <a:pt x="1912" y="346"/>
                  </a:lnTo>
                  <a:lnTo>
                    <a:pt x="1904" y="348"/>
                  </a:lnTo>
                  <a:lnTo>
                    <a:pt x="1894" y="350"/>
                  </a:lnTo>
                  <a:lnTo>
                    <a:pt x="1884" y="354"/>
                  </a:lnTo>
                  <a:lnTo>
                    <a:pt x="1876" y="360"/>
                  </a:lnTo>
                  <a:lnTo>
                    <a:pt x="1782" y="456"/>
                  </a:lnTo>
                  <a:lnTo>
                    <a:pt x="1738" y="410"/>
                  </a:lnTo>
                  <a:lnTo>
                    <a:pt x="1738" y="410"/>
                  </a:lnTo>
                  <a:lnTo>
                    <a:pt x="1444" y="116"/>
                  </a:lnTo>
                  <a:lnTo>
                    <a:pt x="1444" y="116"/>
                  </a:lnTo>
                  <a:lnTo>
                    <a:pt x="1402" y="76"/>
                  </a:lnTo>
                  <a:lnTo>
                    <a:pt x="1380" y="58"/>
                  </a:lnTo>
                  <a:lnTo>
                    <a:pt x="1356" y="40"/>
                  </a:lnTo>
                  <a:lnTo>
                    <a:pt x="1332" y="26"/>
                  </a:lnTo>
                  <a:lnTo>
                    <a:pt x="1310" y="14"/>
                  </a:lnTo>
                  <a:lnTo>
                    <a:pt x="1286" y="6"/>
                  </a:lnTo>
                  <a:lnTo>
                    <a:pt x="1276" y="4"/>
                  </a:lnTo>
                  <a:lnTo>
                    <a:pt x="1264" y="4"/>
                  </a:lnTo>
                  <a:lnTo>
                    <a:pt x="1264" y="4"/>
                  </a:lnTo>
                  <a:lnTo>
                    <a:pt x="716" y="2"/>
                  </a:lnTo>
                  <a:lnTo>
                    <a:pt x="334" y="0"/>
                  </a:lnTo>
                  <a:lnTo>
                    <a:pt x="200" y="0"/>
                  </a:lnTo>
                  <a:lnTo>
                    <a:pt x="138" y="2"/>
                  </a:lnTo>
                  <a:lnTo>
                    <a:pt x="138" y="2"/>
                  </a:lnTo>
                  <a:lnTo>
                    <a:pt x="114" y="4"/>
                  </a:lnTo>
                  <a:lnTo>
                    <a:pt x="92" y="8"/>
                  </a:lnTo>
                  <a:lnTo>
                    <a:pt x="74" y="12"/>
                  </a:lnTo>
                  <a:lnTo>
                    <a:pt x="58" y="18"/>
                  </a:lnTo>
                  <a:lnTo>
                    <a:pt x="42" y="26"/>
                  </a:lnTo>
                  <a:lnTo>
                    <a:pt x="28" y="34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16" y="44"/>
                  </a:lnTo>
                  <a:lnTo>
                    <a:pt x="36" y="36"/>
                  </a:lnTo>
                  <a:lnTo>
                    <a:pt x="54" y="30"/>
                  </a:lnTo>
                  <a:lnTo>
                    <a:pt x="74" y="28"/>
                  </a:lnTo>
                  <a:lnTo>
                    <a:pt x="92" y="26"/>
                  </a:lnTo>
                  <a:lnTo>
                    <a:pt x="112" y="26"/>
                  </a:lnTo>
                  <a:lnTo>
                    <a:pt x="132" y="28"/>
                  </a:lnTo>
                  <a:lnTo>
                    <a:pt x="152" y="32"/>
                  </a:lnTo>
                  <a:lnTo>
                    <a:pt x="172" y="38"/>
                  </a:lnTo>
                  <a:lnTo>
                    <a:pt x="194" y="44"/>
                  </a:lnTo>
                  <a:lnTo>
                    <a:pt x="214" y="54"/>
                  </a:lnTo>
                  <a:lnTo>
                    <a:pt x="234" y="66"/>
                  </a:lnTo>
                  <a:lnTo>
                    <a:pt x="256" y="80"/>
                  </a:lnTo>
                  <a:lnTo>
                    <a:pt x="276" y="94"/>
                  </a:lnTo>
                  <a:lnTo>
                    <a:pt x="298" y="112"/>
                  </a:lnTo>
                  <a:lnTo>
                    <a:pt x="318" y="132"/>
                  </a:lnTo>
                  <a:lnTo>
                    <a:pt x="1212" y="1026"/>
                  </a:lnTo>
                  <a:lnTo>
                    <a:pt x="1120" y="1118"/>
                  </a:lnTo>
                  <a:lnTo>
                    <a:pt x="1120" y="1118"/>
                  </a:lnTo>
                  <a:lnTo>
                    <a:pt x="1114" y="1126"/>
                  </a:lnTo>
                  <a:lnTo>
                    <a:pt x="1108" y="1136"/>
                  </a:lnTo>
                  <a:lnTo>
                    <a:pt x="1106" y="1146"/>
                  </a:lnTo>
                  <a:lnTo>
                    <a:pt x="1104" y="1154"/>
                  </a:lnTo>
                  <a:lnTo>
                    <a:pt x="1106" y="1164"/>
                  </a:lnTo>
                  <a:lnTo>
                    <a:pt x="1108" y="1174"/>
                  </a:lnTo>
                  <a:lnTo>
                    <a:pt x="1112" y="1182"/>
                  </a:lnTo>
                  <a:lnTo>
                    <a:pt x="1118" y="1190"/>
                  </a:lnTo>
                  <a:lnTo>
                    <a:pt x="1118" y="1190"/>
                  </a:lnTo>
                  <a:lnTo>
                    <a:pt x="1126" y="1194"/>
                  </a:lnTo>
                  <a:lnTo>
                    <a:pt x="1134" y="1200"/>
                  </a:lnTo>
                  <a:lnTo>
                    <a:pt x="1142" y="1202"/>
                  </a:lnTo>
                  <a:lnTo>
                    <a:pt x="1152" y="1204"/>
                  </a:lnTo>
                  <a:lnTo>
                    <a:pt x="1874" y="1206"/>
                  </a:lnTo>
                  <a:lnTo>
                    <a:pt x="1874" y="1206"/>
                  </a:lnTo>
                  <a:lnTo>
                    <a:pt x="1892" y="1206"/>
                  </a:lnTo>
                  <a:lnTo>
                    <a:pt x="1910" y="1202"/>
                  </a:lnTo>
                  <a:lnTo>
                    <a:pt x="1926" y="1194"/>
                  </a:lnTo>
                  <a:lnTo>
                    <a:pt x="1940" y="1182"/>
                  </a:lnTo>
                  <a:lnTo>
                    <a:pt x="1940" y="1182"/>
                  </a:lnTo>
                  <a:lnTo>
                    <a:pt x="1952" y="1168"/>
                  </a:lnTo>
                  <a:lnTo>
                    <a:pt x="1960" y="1152"/>
                  </a:lnTo>
                  <a:lnTo>
                    <a:pt x="1964" y="1134"/>
                  </a:lnTo>
                  <a:lnTo>
                    <a:pt x="1964" y="1116"/>
                  </a:lnTo>
                  <a:lnTo>
                    <a:pt x="1964" y="1116"/>
                  </a:lnTo>
                  <a:close/>
                </a:path>
              </a:pathLst>
            </a:custGeom>
            <a:gradFill>
              <a:gsLst>
                <a:gs pos="100000">
                  <a:schemeClr val="accent3">
                    <a:lumMod val="40000"/>
                    <a:lumOff val="60000"/>
                  </a:schemeClr>
                </a:gs>
                <a:gs pos="0">
                  <a:schemeClr val="accent1"/>
                </a:gs>
              </a:gsLst>
              <a:lin ang="3000000" scaled="0"/>
            </a:gradFill>
            <a:ln>
              <a:solidFill>
                <a:schemeClr val="bg1"/>
              </a:solidFill>
            </a:ln>
          </p:spPr>
          <p:txBody>
            <a:bodyPr spcFirstLastPara="1" wrap="square" lIns="91409" tIns="45688" rIns="91409" bIns="45688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defTabSz="914126"/>
              <a:endParaRPr lang="en-US" sz="1799" kern="0" noProof="0"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2086" name="Google Shape;68;p15">
            <a:extLst>
              <a:ext uri="{FF2B5EF4-FFF2-40B4-BE49-F238E27FC236}">
                <a16:creationId xmlns:a16="http://schemas.microsoft.com/office/drawing/2014/main" id="{73BE7EC7-9FEF-D428-57EA-E3BEE9945F6D}"/>
              </a:ext>
            </a:extLst>
          </p:cNvPr>
          <p:cNvGrpSpPr/>
          <p:nvPr/>
        </p:nvGrpSpPr>
        <p:grpSpPr>
          <a:xfrm flipH="1" flipV="1">
            <a:off x="7013304" y="2752067"/>
            <a:ext cx="612179" cy="437269"/>
            <a:chOff x="4317121" y="2340471"/>
            <a:chExt cx="2607031" cy="1467823"/>
          </a:xfrm>
        </p:grpSpPr>
        <p:sp>
          <p:nvSpPr>
            <p:cNvPr id="2087" name="Google Shape;69;p15">
              <a:extLst>
                <a:ext uri="{FF2B5EF4-FFF2-40B4-BE49-F238E27FC236}">
                  <a16:creationId xmlns:a16="http://schemas.microsoft.com/office/drawing/2014/main" id="{6DF7AC70-B4A8-DDC2-7F31-932A10573352}"/>
                </a:ext>
              </a:extLst>
            </p:cNvPr>
            <p:cNvSpPr/>
            <p:nvPr/>
          </p:nvSpPr>
          <p:spPr>
            <a:xfrm>
              <a:off x="4317121" y="2364813"/>
              <a:ext cx="1017496" cy="343222"/>
            </a:xfrm>
            <a:custGeom>
              <a:avLst/>
              <a:gdLst/>
              <a:ahLst/>
              <a:cxnLst/>
              <a:rect l="l" t="t" r="r" b="b"/>
              <a:pathLst>
                <a:path w="836" h="282" extrusionOk="0">
                  <a:moveTo>
                    <a:pt x="0" y="282"/>
                  </a:moveTo>
                  <a:lnTo>
                    <a:pt x="836" y="282"/>
                  </a:lnTo>
                  <a:lnTo>
                    <a:pt x="836" y="0"/>
                  </a:lnTo>
                  <a:lnTo>
                    <a:pt x="268" y="0"/>
                  </a:lnTo>
                  <a:lnTo>
                    <a:pt x="268" y="0"/>
                  </a:lnTo>
                  <a:lnTo>
                    <a:pt x="262" y="2"/>
                  </a:lnTo>
                  <a:lnTo>
                    <a:pt x="242" y="4"/>
                  </a:lnTo>
                  <a:lnTo>
                    <a:pt x="228" y="8"/>
                  </a:lnTo>
                  <a:lnTo>
                    <a:pt x="210" y="14"/>
                  </a:lnTo>
                  <a:lnTo>
                    <a:pt x="192" y="22"/>
                  </a:lnTo>
                  <a:lnTo>
                    <a:pt x="172" y="32"/>
                  </a:lnTo>
                  <a:lnTo>
                    <a:pt x="152" y="48"/>
                  </a:lnTo>
                  <a:lnTo>
                    <a:pt x="130" y="66"/>
                  </a:lnTo>
                  <a:lnTo>
                    <a:pt x="108" y="88"/>
                  </a:lnTo>
                  <a:lnTo>
                    <a:pt x="84" y="116"/>
                  </a:lnTo>
                  <a:lnTo>
                    <a:pt x="62" y="148"/>
                  </a:lnTo>
                  <a:lnTo>
                    <a:pt x="40" y="186"/>
                  </a:lnTo>
                  <a:lnTo>
                    <a:pt x="20" y="230"/>
                  </a:lnTo>
                  <a:lnTo>
                    <a:pt x="0" y="282"/>
                  </a:lnTo>
                  <a:lnTo>
                    <a:pt x="0" y="282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1"/>
              </a:solidFill>
            </a:ln>
          </p:spPr>
          <p:txBody>
            <a:bodyPr spcFirstLastPara="1" wrap="square" lIns="91409" tIns="45688" rIns="91409" bIns="45688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defTabSz="914126"/>
              <a:endParaRPr lang="en-US" sz="1799" kern="0" noProof="0"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088" name="Google Shape;70;p15">
              <a:extLst>
                <a:ext uri="{FF2B5EF4-FFF2-40B4-BE49-F238E27FC236}">
                  <a16:creationId xmlns:a16="http://schemas.microsoft.com/office/drawing/2014/main" id="{8281988E-EE12-76C0-DBA2-0B16417443F0}"/>
                </a:ext>
              </a:extLst>
            </p:cNvPr>
            <p:cNvSpPr/>
            <p:nvPr/>
          </p:nvSpPr>
          <p:spPr>
            <a:xfrm>
              <a:off x="4533766" y="2340471"/>
              <a:ext cx="2390386" cy="1467823"/>
            </a:xfrm>
            <a:custGeom>
              <a:avLst/>
              <a:gdLst/>
              <a:ahLst/>
              <a:cxnLst/>
              <a:rect l="l" t="t" r="r" b="b"/>
              <a:pathLst>
                <a:path w="1964" h="1206" extrusionOk="0">
                  <a:moveTo>
                    <a:pt x="1964" y="1116"/>
                  </a:moveTo>
                  <a:lnTo>
                    <a:pt x="1962" y="394"/>
                  </a:lnTo>
                  <a:lnTo>
                    <a:pt x="1962" y="394"/>
                  </a:lnTo>
                  <a:lnTo>
                    <a:pt x="1960" y="384"/>
                  </a:lnTo>
                  <a:lnTo>
                    <a:pt x="1958" y="376"/>
                  </a:lnTo>
                  <a:lnTo>
                    <a:pt x="1954" y="368"/>
                  </a:lnTo>
                  <a:lnTo>
                    <a:pt x="1948" y="362"/>
                  </a:lnTo>
                  <a:lnTo>
                    <a:pt x="1948" y="362"/>
                  </a:lnTo>
                  <a:lnTo>
                    <a:pt x="1940" y="354"/>
                  </a:lnTo>
                  <a:lnTo>
                    <a:pt x="1932" y="350"/>
                  </a:lnTo>
                  <a:lnTo>
                    <a:pt x="1922" y="348"/>
                  </a:lnTo>
                  <a:lnTo>
                    <a:pt x="1912" y="346"/>
                  </a:lnTo>
                  <a:lnTo>
                    <a:pt x="1904" y="348"/>
                  </a:lnTo>
                  <a:lnTo>
                    <a:pt x="1894" y="350"/>
                  </a:lnTo>
                  <a:lnTo>
                    <a:pt x="1884" y="354"/>
                  </a:lnTo>
                  <a:lnTo>
                    <a:pt x="1876" y="360"/>
                  </a:lnTo>
                  <a:lnTo>
                    <a:pt x="1782" y="456"/>
                  </a:lnTo>
                  <a:lnTo>
                    <a:pt x="1738" y="410"/>
                  </a:lnTo>
                  <a:lnTo>
                    <a:pt x="1738" y="410"/>
                  </a:lnTo>
                  <a:lnTo>
                    <a:pt x="1444" y="116"/>
                  </a:lnTo>
                  <a:lnTo>
                    <a:pt x="1444" y="116"/>
                  </a:lnTo>
                  <a:lnTo>
                    <a:pt x="1402" y="76"/>
                  </a:lnTo>
                  <a:lnTo>
                    <a:pt x="1380" y="58"/>
                  </a:lnTo>
                  <a:lnTo>
                    <a:pt x="1356" y="40"/>
                  </a:lnTo>
                  <a:lnTo>
                    <a:pt x="1332" y="26"/>
                  </a:lnTo>
                  <a:lnTo>
                    <a:pt x="1310" y="14"/>
                  </a:lnTo>
                  <a:lnTo>
                    <a:pt x="1286" y="6"/>
                  </a:lnTo>
                  <a:lnTo>
                    <a:pt x="1276" y="4"/>
                  </a:lnTo>
                  <a:lnTo>
                    <a:pt x="1264" y="4"/>
                  </a:lnTo>
                  <a:lnTo>
                    <a:pt x="1264" y="4"/>
                  </a:lnTo>
                  <a:lnTo>
                    <a:pt x="716" y="2"/>
                  </a:lnTo>
                  <a:lnTo>
                    <a:pt x="334" y="0"/>
                  </a:lnTo>
                  <a:lnTo>
                    <a:pt x="200" y="0"/>
                  </a:lnTo>
                  <a:lnTo>
                    <a:pt x="138" y="2"/>
                  </a:lnTo>
                  <a:lnTo>
                    <a:pt x="138" y="2"/>
                  </a:lnTo>
                  <a:lnTo>
                    <a:pt x="114" y="4"/>
                  </a:lnTo>
                  <a:lnTo>
                    <a:pt x="92" y="8"/>
                  </a:lnTo>
                  <a:lnTo>
                    <a:pt x="74" y="12"/>
                  </a:lnTo>
                  <a:lnTo>
                    <a:pt x="58" y="18"/>
                  </a:lnTo>
                  <a:lnTo>
                    <a:pt x="42" y="26"/>
                  </a:lnTo>
                  <a:lnTo>
                    <a:pt x="28" y="34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16" y="44"/>
                  </a:lnTo>
                  <a:lnTo>
                    <a:pt x="36" y="36"/>
                  </a:lnTo>
                  <a:lnTo>
                    <a:pt x="54" y="30"/>
                  </a:lnTo>
                  <a:lnTo>
                    <a:pt x="74" y="28"/>
                  </a:lnTo>
                  <a:lnTo>
                    <a:pt x="92" y="26"/>
                  </a:lnTo>
                  <a:lnTo>
                    <a:pt x="112" y="26"/>
                  </a:lnTo>
                  <a:lnTo>
                    <a:pt x="132" y="28"/>
                  </a:lnTo>
                  <a:lnTo>
                    <a:pt x="152" y="32"/>
                  </a:lnTo>
                  <a:lnTo>
                    <a:pt x="172" y="38"/>
                  </a:lnTo>
                  <a:lnTo>
                    <a:pt x="194" y="44"/>
                  </a:lnTo>
                  <a:lnTo>
                    <a:pt x="214" y="54"/>
                  </a:lnTo>
                  <a:lnTo>
                    <a:pt x="234" y="66"/>
                  </a:lnTo>
                  <a:lnTo>
                    <a:pt x="256" y="80"/>
                  </a:lnTo>
                  <a:lnTo>
                    <a:pt x="276" y="94"/>
                  </a:lnTo>
                  <a:lnTo>
                    <a:pt x="298" y="112"/>
                  </a:lnTo>
                  <a:lnTo>
                    <a:pt x="318" y="132"/>
                  </a:lnTo>
                  <a:lnTo>
                    <a:pt x="1212" y="1026"/>
                  </a:lnTo>
                  <a:lnTo>
                    <a:pt x="1120" y="1118"/>
                  </a:lnTo>
                  <a:lnTo>
                    <a:pt x="1120" y="1118"/>
                  </a:lnTo>
                  <a:lnTo>
                    <a:pt x="1114" y="1126"/>
                  </a:lnTo>
                  <a:lnTo>
                    <a:pt x="1108" y="1136"/>
                  </a:lnTo>
                  <a:lnTo>
                    <a:pt x="1106" y="1146"/>
                  </a:lnTo>
                  <a:lnTo>
                    <a:pt x="1104" y="1154"/>
                  </a:lnTo>
                  <a:lnTo>
                    <a:pt x="1106" y="1164"/>
                  </a:lnTo>
                  <a:lnTo>
                    <a:pt x="1108" y="1174"/>
                  </a:lnTo>
                  <a:lnTo>
                    <a:pt x="1112" y="1182"/>
                  </a:lnTo>
                  <a:lnTo>
                    <a:pt x="1118" y="1190"/>
                  </a:lnTo>
                  <a:lnTo>
                    <a:pt x="1118" y="1190"/>
                  </a:lnTo>
                  <a:lnTo>
                    <a:pt x="1126" y="1194"/>
                  </a:lnTo>
                  <a:lnTo>
                    <a:pt x="1134" y="1200"/>
                  </a:lnTo>
                  <a:lnTo>
                    <a:pt x="1142" y="1202"/>
                  </a:lnTo>
                  <a:lnTo>
                    <a:pt x="1152" y="1204"/>
                  </a:lnTo>
                  <a:lnTo>
                    <a:pt x="1874" y="1206"/>
                  </a:lnTo>
                  <a:lnTo>
                    <a:pt x="1874" y="1206"/>
                  </a:lnTo>
                  <a:lnTo>
                    <a:pt x="1892" y="1206"/>
                  </a:lnTo>
                  <a:lnTo>
                    <a:pt x="1910" y="1202"/>
                  </a:lnTo>
                  <a:lnTo>
                    <a:pt x="1926" y="1194"/>
                  </a:lnTo>
                  <a:lnTo>
                    <a:pt x="1940" y="1182"/>
                  </a:lnTo>
                  <a:lnTo>
                    <a:pt x="1940" y="1182"/>
                  </a:lnTo>
                  <a:lnTo>
                    <a:pt x="1952" y="1168"/>
                  </a:lnTo>
                  <a:lnTo>
                    <a:pt x="1960" y="1152"/>
                  </a:lnTo>
                  <a:lnTo>
                    <a:pt x="1964" y="1134"/>
                  </a:lnTo>
                  <a:lnTo>
                    <a:pt x="1964" y="1116"/>
                  </a:lnTo>
                  <a:lnTo>
                    <a:pt x="1964" y="1116"/>
                  </a:lnTo>
                  <a:close/>
                </a:path>
              </a:pathLst>
            </a:custGeom>
            <a:gradFill>
              <a:gsLst>
                <a:gs pos="100000">
                  <a:schemeClr val="accent3">
                    <a:lumMod val="40000"/>
                    <a:lumOff val="60000"/>
                  </a:schemeClr>
                </a:gs>
                <a:gs pos="0">
                  <a:schemeClr val="accent1"/>
                </a:gs>
              </a:gsLst>
              <a:lin ang="3000000" scaled="0"/>
            </a:gradFill>
            <a:ln>
              <a:solidFill>
                <a:schemeClr val="bg1"/>
              </a:solidFill>
            </a:ln>
          </p:spPr>
          <p:txBody>
            <a:bodyPr spcFirstLastPara="1" wrap="square" lIns="91409" tIns="45688" rIns="91409" bIns="45688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defTabSz="914126"/>
              <a:endParaRPr lang="en-US" sz="1799" kern="0" noProof="0"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2101" name="Down Arrow 2100">
            <a:extLst>
              <a:ext uri="{FF2B5EF4-FFF2-40B4-BE49-F238E27FC236}">
                <a16:creationId xmlns:a16="http://schemas.microsoft.com/office/drawing/2014/main" id="{5BB9A000-1E7D-7EC3-FD21-713059A31920}"/>
              </a:ext>
            </a:extLst>
          </p:cNvPr>
          <p:cNvSpPr/>
          <p:nvPr/>
        </p:nvSpPr>
        <p:spPr>
          <a:xfrm>
            <a:off x="6692258" y="4193714"/>
            <a:ext cx="330016" cy="804649"/>
          </a:xfrm>
          <a:prstGeom prst="downArrow">
            <a:avLst/>
          </a:prstGeom>
          <a:gradFill>
            <a:gsLst>
              <a:gs pos="100000">
                <a:schemeClr val="accent3">
                  <a:lumMod val="40000"/>
                  <a:lumOff val="60000"/>
                </a:schemeClr>
              </a:gs>
              <a:gs pos="0">
                <a:schemeClr val="accent1"/>
              </a:gs>
            </a:gsLst>
            <a:lin ang="162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52" name="Group 2151">
            <a:extLst>
              <a:ext uri="{FF2B5EF4-FFF2-40B4-BE49-F238E27FC236}">
                <a16:creationId xmlns:a16="http://schemas.microsoft.com/office/drawing/2014/main" id="{101453A0-BABD-06CB-5F38-F42B896C5080}"/>
              </a:ext>
            </a:extLst>
          </p:cNvPr>
          <p:cNvGrpSpPr/>
          <p:nvPr/>
        </p:nvGrpSpPr>
        <p:grpSpPr>
          <a:xfrm>
            <a:off x="4575105" y="4849416"/>
            <a:ext cx="4564319" cy="873614"/>
            <a:chOff x="4997952" y="4742308"/>
            <a:chExt cx="4564319" cy="873614"/>
          </a:xfrm>
        </p:grpSpPr>
        <p:grpSp>
          <p:nvGrpSpPr>
            <p:cNvPr id="2106" name="Group 2105">
              <a:extLst>
                <a:ext uri="{FF2B5EF4-FFF2-40B4-BE49-F238E27FC236}">
                  <a16:creationId xmlns:a16="http://schemas.microsoft.com/office/drawing/2014/main" id="{879BC716-22D1-EF7B-6B35-03DB79EB76C2}"/>
                </a:ext>
              </a:extLst>
            </p:cNvPr>
            <p:cNvGrpSpPr/>
            <p:nvPr/>
          </p:nvGrpSpPr>
          <p:grpSpPr>
            <a:xfrm>
              <a:off x="4997952" y="4866790"/>
              <a:ext cx="4564319" cy="749132"/>
              <a:chOff x="3927162" y="5192076"/>
              <a:chExt cx="5979151" cy="361952"/>
            </a:xfrm>
          </p:grpSpPr>
          <p:sp>
            <p:nvSpPr>
              <p:cNvPr id="2102" name="Rounded Rectangle 2101">
                <a:extLst>
                  <a:ext uri="{FF2B5EF4-FFF2-40B4-BE49-F238E27FC236}">
                    <a16:creationId xmlns:a16="http://schemas.microsoft.com/office/drawing/2014/main" id="{464BE410-2BBC-EC1E-CF64-AEADC9EC8C26}"/>
                  </a:ext>
                </a:extLst>
              </p:cNvPr>
              <p:cNvSpPr/>
              <p:nvPr/>
            </p:nvSpPr>
            <p:spPr>
              <a:xfrm>
                <a:off x="3927162" y="5192078"/>
                <a:ext cx="1454150" cy="361950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 b="1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algn="ctr"/>
                <a:endParaRPr lang="en-US" sz="800" b="1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algn="ctr"/>
                <a:endParaRPr lang="en-US" sz="800" b="1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algn="ctr"/>
                <a:r>
                  <a:rPr lang="en-US" sz="800" b="1">
                    <a:solidFill>
                      <a:schemeClr val="accent6">
                        <a:lumMod val="75000"/>
                      </a:schemeClr>
                    </a:solidFill>
                  </a:rPr>
                  <a:t>UNIVERSAL SIGNAL CAPTURE</a:t>
                </a:r>
              </a:p>
            </p:txBody>
          </p:sp>
          <p:sp>
            <p:nvSpPr>
              <p:cNvPr id="2103" name="Rounded Rectangle 2102">
                <a:extLst>
                  <a:ext uri="{FF2B5EF4-FFF2-40B4-BE49-F238E27FC236}">
                    <a16:creationId xmlns:a16="http://schemas.microsoft.com/office/drawing/2014/main" id="{A29A9EDA-7A69-A65F-6D90-6EB6EBC8EA18}"/>
                  </a:ext>
                </a:extLst>
              </p:cNvPr>
              <p:cNvSpPr/>
              <p:nvPr/>
            </p:nvSpPr>
            <p:spPr>
              <a:xfrm>
                <a:off x="5435287" y="5192078"/>
                <a:ext cx="1454150" cy="361950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 b="1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algn="ctr"/>
                <a:endParaRPr lang="en-US" sz="800" b="1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algn="ctr"/>
                <a:endParaRPr lang="en-US" sz="800" b="1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algn="ctr"/>
                <a:r>
                  <a:rPr lang="en-US" sz="800" b="1">
                    <a:solidFill>
                      <a:schemeClr val="accent6">
                        <a:lumMod val="75000"/>
                      </a:schemeClr>
                    </a:solidFill>
                  </a:rPr>
                  <a:t>SERVICE AS THE RICHEST SIGNAL SOURCE</a:t>
                </a:r>
              </a:p>
            </p:txBody>
          </p:sp>
          <p:sp>
            <p:nvSpPr>
              <p:cNvPr id="2104" name="Rounded Rectangle 2103">
                <a:extLst>
                  <a:ext uri="{FF2B5EF4-FFF2-40B4-BE49-F238E27FC236}">
                    <a16:creationId xmlns:a16="http://schemas.microsoft.com/office/drawing/2014/main" id="{2D37F9FD-630F-F2E8-5676-A8EA1C746CA0}"/>
                  </a:ext>
                </a:extLst>
              </p:cNvPr>
              <p:cNvSpPr/>
              <p:nvPr/>
            </p:nvSpPr>
            <p:spPr>
              <a:xfrm>
                <a:off x="6944038" y="5192076"/>
                <a:ext cx="1454150" cy="361950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 b="1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algn="ctr"/>
                <a:endParaRPr lang="en-US" sz="800" b="1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algn="ctr"/>
                <a:r>
                  <a:rPr lang="en-US" sz="800" b="1">
                    <a:solidFill>
                      <a:schemeClr val="accent6">
                        <a:lumMod val="75000"/>
                      </a:schemeClr>
                    </a:solidFill>
                  </a:rPr>
                  <a:t>FROM SIGNAL TO ACTION</a:t>
                </a:r>
              </a:p>
            </p:txBody>
          </p:sp>
          <p:sp>
            <p:nvSpPr>
              <p:cNvPr id="2105" name="Rounded Rectangle 2104">
                <a:extLst>
                  <a:ext uri="{FF2B5EF4-FFF2-40B4-BE49-F238E27FC236}">
                    <a16:creationId xmlns:a16="http://schemas.microsoft.com/office/drawing/2014/main" id="{7F31AC67-CD70-ED84-DFE0-F9A5502FFD4E}"/>
                  </a:ext>
                </a:extLst>
              </p:cNvPr>
              <p:cNvSpPr/>
              <p:nvPr/>
            </p:nvSpPr>
            <p:spPr>
              <a:xfrm>
                <a:off x="8452163" y="5192076"/>
                <a:ext cx="1454150" cy="361950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800" b="1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algn="ctr"/>
                <a:endParaRPr lang="en-US" sz="800" b="1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algn="ctr"/>
                <a:endParaRPr lang="en-US" sz="800" b="1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algn="ctr"/>
                <a:r>
                  <a:rPr lang="en-US" sz="800" b="1">
                    <a:solidFill>
                      <a:schemeClr val="accent6">
                        <a:lumMod val="75000"/>
                      </a:schemeClr>
                    </a:solidFill>
                  </a:rPr>
                  <a:t>CONTINUOUS SYSTEM IMPROVEMENT</a:t>
                </a:r>
              </a:p>
            </p:txBody>
          </p:sp>
        </p:grpSp>
        <p:sp>
          <p:nvSpPr>
            <p:cNvPr id="2108" name="Oval 2107">
              <a:extLst>
                <a:ext uri="{FF2B5EF4-FFF2-40B4-BE49-F238E27FC236}">
                  <a16:creationId xmlns:a16="http://schemas.microsoft.com/office/drawing/2014/main" id="{5A7BFDD2-53BE-7F9B-D597-9C4FFD0B998F}"/>
                </a:ext>
              </a:extLst>
            </p:cNvPr>
            <p:cNvSpPr/>
            <p:nvPr/>
          </p:nvSpPr>
          <p:spPr>
            <a:xfrm>
              <a:off x="5334346" y="4742308"/>
              <a:ext cx="437271" cy="437271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78000">
                  <a:schemeClr val="accent2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1" name="Oval 2110">
              <a:extLst>
                <a:ext uri="{FF2B5EF4-FFF2-40B4-BE49-F238E27FC236}">
                  <a16:creationId xmlns:a16="http://schemas.microsoft.com/office/drawing/2014/main" id="{E4F2B864-99BC-B224-B83B-CB70237EB059}"/>
                </a:ext>
              </a:extLst>
            </p:cNvPr>
            <p:cNvSpPr/>
            <p:nvPr/>
          </p:nvSpPr>
          <p:spPr>
            <a:xfrm>
              <a:off x="6483336" y="4742308"/>
              <a:ext cx="437271" cy="437271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78000">
                  <a:schemeClr val="accent2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4" name="Oval 2113">
              <a:extLst>
                <a:ext uri="{FF2B5EF4-FFF2-40B4-BE49-F238E27FC236}">
                  <a16:creationId xmlns:a16="http://schemas.microsoft.com/office/drawing/2014/main" id="{C5B24709-1330-BF3E-2CC7-1A8E207270D3}"/>
                </a:ext>
              </a:extLst>
            </p:cNvPr>
            <p:cNvSpPr/>
            <p:nvPr/>
          </p:nvSpPr>
          <p:spPr>
            <a:xfrm>
              <a:off x="7639619" y="4742308"/>
              <a:ext cx="437271" cy="437271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78000">
                  <a:schemeClr val="accent2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7" name="Oval 2116">
              <a:extLst>
                <a:ext uri="{FF2B5EF4-FFF2-40B4-BE49-F238E27FC236}">
                  <a16:creationId xmlns:a16="http://schemas.microsoft.com/office/drawing/2014/main" id="{18875303-BC0B-6B38-5340-6481666D5849}"/>
                </a:ext>
              </a:extLst>
            </p:cNvPr>
            <p:cNvSpPr/>
            <p:nvPr/>
          </p:nvSpPr>
          <p:spPr>
            <a:xfrm>
              <a:off x="8788608" y="4742308"/>
              <a:ext cx="437271" cy="437271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78000">
                  <a:schemeClr val="accent2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20" name="Graphic 2119" descr="Solar system with solid fill">
              <a:extLst>
                <a:ext uri="{FF2B5EF4-FFF2-40B4-BE49-F238E27FC236}">
                  <a16:creationId xmlns:a16="http://schemas.microsoft.com/office/drawing/2014/main" id="{BBA61AF3-83AC-A7A6-0214-CFFFF311F6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404310" y="4813956"/>
              <a:ext cx="297345" cy="297345"/>
            </a:xfrm>
            <a:prstGeom prst="rect">
              <a:avLst/>
            </a:prstGeom>
          </p:spPr>
        </p:pic>
        <p:pic>
          <p:nvPicPr>
            <p:cNvPr id="2122" name="Graphic 2121" descr="Wireless router with solid fill">
              <a:extLst>
                <a:ext uri="{FF2B5EF4-FFF2-40B4-BE49-F238E27FC236}">
                  <a16:creationId xmlns:a16="http://schemas.microsoft.com/office/drawing/2014/main" id="{00EE570D-D2BB-1224-8006-B03195ABAF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53882" y="4813956"/>
              <a:ext cx="297345" cy="297345"/>
            </a:xfrm>
            <a:prstGeom prst="rect">
              <a:avLst/>
            </a:prstGeom>
          </p:spPr>
        </p:pic>
        <p:pic>
          <p:nvPicPr>
            <p:cNvPr id="2124" name="Graphic 2123" descr="Lightning bolt with solid fill">
              <a:extLst>
                <a:ext uri="{FF2B5EF4-FFF2-40B4-BE49-F238E27FC236}">
                  <a16:creationId xmlns:a16="http://schemas.microsoft.com/office/drawing/2014/main" id="{503276F4-25FA-AC83-F55C-0EFA9284CC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716801" y="4814181"/>
              <a:ext cx="297345" cy="297345"/>
            </a:xfrm>
            <a:prstGeom prst="rect">
              <a:avLst/>
            </a:prstGeom>
          </p:spPr>
        </p:pic>
        <p:pic>
          <p:nvPicPr>
            <p:cNvPr id="2126" name="Graphic 2125" descr="Recycle with solid fill">
              <a:extLst>
                <a:ext uri="{FF2B5EF4-FFF2-40B4-BE49-F238E27FC236}">
                  <a16:creationId xmlns:a16="http://schemas.microsoft.com/office/drawing/2014/main" id="{F13595A9-1A3D-699A-D721-A858089996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864644" y="4806228"/>
              <a:ext cx="297345" cy="297345"/>
            </a:xfrm>
            <a:prstGeom prst="rect">
              <a:avLst/>
            </a:prstGeom>
          </p:spPr>
        </p:pic>
      </p:grpSp>
      <p:grpSp>
        <p:nvGrpSpPr>
          <p:cNvPr id="2127" name="Google Shape;68;p15">
            <a:extLst>
              <a:ext uri="{FF2B5EF4-FFF2-40B4-BE49-F238E27FC236}">
                <a16:creationId xmlns:a16="http://schemas.microsoft.com/office/drawing/2014/main" id="{022D1202-68CF-EE38-73C5-7A7530BB31CC}"/>
              </a:ext>
            </a:extLst>
          </p:cNvPr>
          <p:cNvGrpSpPr/>
          <p:nvPr/>
        </p:nvGrpSpPr>
        <p:grpSpPr>
          <a:xfrm rot="16200000" flipV="1">
            <a:off x="9193140" y="3222782"/>
            <a:ext cx="1260702" cy="561307"/>
            <a:chOff x="4317124" y="2340471"/>
            <a:chExt cx="2607028" cy="1467823"/>
          </a:xfrm>
        </p:grpSpPr>
        <p:sp>
          <p:nvSpPr>
            <p:cNvPr id="2128" name="Google Shape;69;p15">
              <a:extLst>
                <a:ext uri="{FF2B5EF4-FFF2-40B4-BE49-F238E27FC236}">
                  <a16:creationId xmlns:a16="http://schemas.microsoft.com/office/drawing/2014/main" id="{F14D1D01-667D-DB90-E6B0-4CEAC273DAA8}"/>
                </a:ext>
              </a:extLst>
            </p:cNvPr>
            <p:cNvSpPr/>
            <p:nvPr/>
          </p:nvSpPr>
          <p:spPr>
            <a:xfrm>
              <a:off x="4317124" y="2364816"/>
              <a:ext cx="1017496" cy="895568"/>
            </a:xfrm>
            <a:custGeom>
              <a:avLst/>
              <a:gdLst/>
              <a:ahLst/>
              <a:cxnLst/>
              <a:rect l="l" t="t" r="r" b="b"/>
              <a:pathLst>
                <a:path w="836" h="282" extrusionOk="0">
                  <a:moveTo>
                    <a:pt x="0" y="282"/>
                  </a:moveTo>
                  <a:lnTo>
                    <a:pt x="836" y="282"/>
                  </a:lnTo>
                  <a:lnTo>
                    <a:pt x="836" y="0"/>
                  </a:lnTo>
                  <a:lnTo>
                    <a:pt x="268" y="0"/>
                  </a:lnTo>
                  <a:lnTo>
                    <a:pt x="268" y="0"/>
                  </a:lnTo>
                  <a:lnTo>
                    <a:pt x="262" y="2"/>
                  </a:lnTo>
                  <a:lnTo>
                    <a:pt x="242" y="4"/>
                  </a:lnTo>
                  <a:lnTo>
                    <a:pt x="228" y="8"/>
                  </a:lnTo>
                  <a:lnTo>
                    <a:pt x="210" y="14"/>
                  </a:lnTo>
                  <a:lnTo>
                    <a:pt x="192" y="22"/>
                  </a:lnTo>
                  <a:lnTo>
                    <a:pt x="172" y="32"/>
                  </a:lnTo>
                  <a:lnTo>
                    <a:pt x="152" y="48"/>
                  </a:lnTo>
                  <a:lnTo>
                    <a:pt x="130" y="66"/>
                  </a:lnTo>
                  <a:lnTo>
                    <a:pt x="108" y="88"/>
                  </a:lnTo>
                  <a:lnTo>
                    <a:pt x="84" y="116"/>
                  </a:lnTo>
                  <a:lnTo>
                    <a:pt x="62" y="148"/>
                  </a:lnTo>
                  <a:lnTo>
                    <a:pt x="40" y="186"/>
                  </a:lnTo>
                  <a:lnTo>
                    <a:pt x="20" y="230"/>
                  </a:lnTo>
                  <a:lnTo>
                    <a:pt x="0" y="282"/>
                  </a:lnTo>
                  <a:lnTo>
                    <a:pt x="0" y="282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1"/>
              </a:solidFill>
            </a:ln>
          </p:spPr>
          <p:txBody>
            <a:bodyPr spcFirstLastPara="1" wrap="square" lIns="91409" tIns="45688" rIns="91409" bIns="45688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defTabSz="914126"/>
              <a:endParaRPr lang="en-US" sz="1799" kern="0" noProof="0"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29" name="Google Shape;70;p15">
              <a:extLst>
                <a:ext uri="{FF2B5EF4-FFF2-40B4-BE49-F238E27FC236}">
                  <a16:creationId xmlns:a16="http://schemas.microsoft.com/office/drawing/2014/main" id="{A89B1CCD-3D66-C7CF-4D0D-BCFD69EA1B52}"/>
                </a:ext>
              </a:extLst>
            </p:cNvPr>
            <p:cNvSpPr/>
            <p:nvPr/>
          </p:nvSpPr>
          <p:spPr>
            <a:xfrm>
              <a:off x="4533766" y="2340471"/>
              <a:ext cx="2390386" cy="1467823"/>
            </a:xfrm>
            <a:custGeom>
              <a:avLst/>
              <a:gdLst/>
              <a:ahLst/>
              <a:cxnLst/>
              <a:rect l="l" t="t" r="r" b="b"/>
              <a:pathLst>
                <a:path w="1964" h="1206" extrusionOk="0">
                  <a:moveTo>
                    <a:pt x="1964" y="1116"/>
                  </a:moveTo>
                  <a:lnTo>
                    <a:pt x="1962" y="394"/>
                  </a:lnTo>
                  <a:lnTo>
                    <a:pt x="1962" y="394"/>
                  </a:lnTo>
                  <a:lnTo>
                    <a:pt x="1960" y="384"/>
                  </a:lnTo>
                  <a:lnTo>
                    <a:pt x="1958" y="376"/>
                  </a:lnTo>
                  <a:lnTo>
                    <a:pt x="1954" y="368"/>
                  </a:lnTo>
                  <a:lnTo>
                    <a:pt x="1948" y="362"/>
                  </a:lnTo>
                  <a:lnTo>
                    <a:pt x="1948" y="362"/>
                  </a:lnTo>
                  <a:lnTo>
                    <a:pt x="1940" y="354"/>
                  </a:lnTo>
                  <a:lnTo>
                    <a:pt x="1932" y="350"/>
                  </a:lnTo>
                  <a:lnTo>
                    <a:pt x="1922" y="348"/>
                  </a:lnTo>
                  <a:lnTo>
                    <a:pt x="1912" y="346"/>
                  </a:lnTo>
                  <a:lnTo>
                    <a:pt x="1904" y="348"/>
                  </a:lnTo>
                  <a:lnTo>
                    <a:pt x="1894" y="350"/>
                  </a:lnTo>
                  <a:lnTo>
                    <a:pt x="1884" y="354"/>
                  </a:lnTo>
                  <a:lnTo>
                    <a:pt x="1876" y="360"/>
                  </a:lnTo>
                  <a:lnTo>
                    <a:pt x="1782" y="456"/>
                  </a:lnTo>
                  <a:lnTo>
                    <a:pt x="1738" y="410"/>
                  </a:lnTo>
                  <a:lnTo>
                    <a:pt x="1738" y="410"/>
                  </a:lnTo>
                  <a:lnTo>
                    <a:pt x="1444" y="116"/>
                  </a:lnTo>
                  <a:lnTo>
                    <a:pt x="1444" y="116"/>
                  </a:lnTo>
                  <a:lnTo>
                    <a:pt x="1402" y="76"/>
                  </a:lnTo>
                  <a:lnTo>
                    <a:pt x="1380" y="58"/>
                  </a:lnTo>
                  <a:lnTo>
                    <a:pt x="1356" y="40"/>
                  </a:lnTo>
                  <a:lnTo>
                    <a:pt x="1332" y="26"/>
                  </a:lnTo>
                  <a:lnTo>
                    <a:pt x="1310" y="14"/>
                  </a:lnTo>
                  <a:lnTo>
                    <a:pt x="1286" y="6"/>
                  </a:lnTo>
                  <a:lnTo>
                    <a:pt x="1276" y="4"/>
                  </a:lnTo>
                  <a:lnTo>
                    <a:pt x="1264" y="4"/>
                  </a:lnTo>
                  <a:lnTo>
                    <a:pt x="1264" y="4"/>
                  </a:lnTo>
                  <a:lnTo>
                    <a:pt x="716" y="2"/>
                  </a:lnTo>
                  <a:lnTo>
                    <a:pt x="334" y="0"/>
                  </a:lnTo>
                  <a:lnTo>
                    <a:pt x="200" y="0"/>
                  </a:lnTo>
                  <a:lnTo>
                    <a:pt x="138" y="2"/>
                  </a:lnTo>
                  <a:lnTo>
                    <a:pt x="138" y="2"/>
                  </a:lnTo>
                  <a:lnTo>
                    <a:pt x="114" y="4"/>
                  </a:lnTo>
                  <a:lnTo>
                    <a:pt x="92" y="8"/>
                  </a:lnTo>
                  <a:lnTo>
                    <a:pt x="74" y="12"/>
                  </a:lnTo>
                  <a:lnTo>
                    <a:pt x="58" y="18"/>
                  </a:lnTo>
                  <a:lnTo>
                    <a:pt x="42" y="26"/>
                  </a:lnTo>
                  <a:lnTo>
                    <a:pt x="28" y="34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16" y="44"/>
                  </a:lnTo>
                  <a:lnTo>
                    <a:pt x="36" y="36"/>
                  </a:lnTo>
                  <a:lnTo>
                    <a:pt x="54" y="30"/>
                  </a:lnTo>
                  <a:lnTo>
                    <a:pt x="74" y="28"/>
                  </a:lnTo>
                  <a:lnTo>
                    <a:pt x="92" y="26"/>
                  </a:lnTo>
                  <a:lnTo>
                    <a:pt x="112" y="26"/>
                  </a:lnTo>
                  <a:lnTo>
                    <a:pt x="132" y="28"/>
                  </a:lnTo>
                  <a:lnTo>
                    <a:pt x="152" y="32"/>
                  </a:lnTo>
                  <a:lnTo>
                    <a:pt x="172" y="38"/>
                  </a:lnTo>
                  <a:lnTo>
                    <a:pt x="194" y="44"/>
                  </a:lnTo>
                  <a:lnTo>
                    <a:pt x="214" y="54"/>
                  </a:lnTo>
                  <a:lnTo>
                    <a:pt x="234" y="66"/>
                  </a:lnTo>
                  <a:lnTo>
                    <a:pt x="256" y="80"/>
                  </a:lnTo>
                  <a:lnTo>
                    <a:pt x="276" y="94"/>
                  </a:lnTo>
                  <a:lnTo>
                    <a:pt x="298" y="112"/>
                  </a:lnTo>
                  <a:lnTo>
                    <a:pt x="318" y="132"/>
                  </a:lnTo>
                  <a:lnTo>
                    <a:pt x="1212" y="1026"/>
                  </a:lnTo>
                  <a:lnTo>
                    <a:pt x="1120" y="1118"/>
                  </a:lnTo>
                  <a:lnTo>
                    <a:pt x="1120" y="1118"/>
                  </a:lnTo>
                  <a:lnTo>
                    <a:pt x="1114" y="1126"/>
                  </a:lnTo>
                  <a:lnTo>
                    <a:pt x="1108" y="1136"/>
                  </a:lnTo>
                  <a:lnTo>
                    <a:pt x="1106" y="1146"/>
                  </a:lnTo>
                  <a:lnTo>
                    <a:pt x="1104" y="1154"/>
                  </a:lnTo>
                  <a:lnTo>
                    <a:pt x="1106" y="1164"/>
                  </a:lnTo>
                  <a:lnTo>
                    <a:pt x="1108" y="1174"/>
                  </a:lnTo>
                  <a:lnTo>
                    <a:pt x="1112" y="1182"/>
                  </a:lnTo>
                  <a:lnTo>
                    <a:pt x="1118" y="1190"/>
                  </a:lnTo>
                  <a:lnTo>
                    <a:pt x="1118" y="1190"/>
                  </a:lnTo>
                  <a:lnTo>
                    <a:pt x="1126" y="1194"/>
                  </a:lnTo>
                  <a:lnTo>
                    <a:pt x="1134" y="1200"/>
                  </a:lnTo>
                  <a:lnTo>
                    <a:pt x="1142" y="1202"/>
                  </a:lnTo>
                  <a:lnTo>
                    <a:pt x="1152" y="1204"/>
                  </a:lnTo>
                  <a:lnTo>
                    <a:pt x="1874" y="1206"/>
                  </a:lnTo>
                  <a:lnTo>
                    <a:pt x="1874" y="1206"/>
                  </a:lnTo>
                  <a:lnTo>
                    <a:pt x="1892" y="1206"/>
                  </a:lnTo>
                  <a:lnTo>
                    <a:pt x="1910" y="1202"/>
                  </a:lnTo>
                  <a:lnTo>
                    <a:pt x="1926" y="1194"/>
                  </a:lnTo>
                  <a:lnTo>
                    <a:pt x="1940" y="1182"/>
                  </a:lnTo>
                  <a:lnTo>
                    <a:pt x="1940" y="1182"/>
                  </a:lnTo>
                  <a:lnTo>
                    <a:pt x="1952" y="1168"/>
                  </a:lnTo>
                  <a:lnTo>
                    <a:pt x="1960" y="1152"/>
                  </a:lnTo>
                  <a:lnTo>
                    <a:pt x="1964" y="1134"/>
                  </a:lnTo>
                  <a:lnTo>
                    <a:pt x="1964" y="1116"/>
                  </a:lnTo>
                  <a:lnTo>
                    <a:pt x="1964" y="1116"/>
                  </a:lnTo>
                  <a:close/>
                </a:path>
              </a:pathLst>
            </a:custGeom>
            <a:gradFill>
              <a:gsLst>
                <a:gs pos="100000">
                  <a:schemeClr val="accent3">
                    <a:lumMod val="40000"/>
                    <a:lumOff val="60000"/>
                  </a:schemeClr>
                </a:gs>
                <a:gs pos="0">
                  <a:schemeClr val="accent1"/>
                </a:gs>
              </a:gsLst>
              <a:lin ang="3000000" scaled="0"/>
            </a:gradFill>
            <a:ln>
              <a:solidFill>
                <a:schemeClr val="bg1"/>
              </a:solidFill>
            </a:ln>
          </p:spPr>
          <p:txBody>
            <a:bodyPr spcFirstLastPara="1" wrap="square" lIns="91409" tIns="45688" rIns="91409" bIns="45688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defTabSz="914126"/>
              <a:endParaRPr lang="en-US" sz="1799" kern="0" noProof="0"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2133" name="Google Shape;68;p15">
            <a:extLst>
              <a:ext uri="{FF2B5EF4-FFF2-40B4-BE49-F238E27FC236}">
                <a16:creationId xmlns:a16="http://schemas.microsoft.com/office/drawing/2014/main" id="{A6D10CF5-FDF4-2CA9-9D66-9C0455B0A99F}"/>
              </a:ext>
            </a:extLst>
          </p:cNvPr>
          <p:cNvGrpSpPr/>
          <p:nvPr/>
        </p:nvGrpSpPr>
        <p:grpSpPr>
          <a:xfrm rot="16200000" flipV="1">
            <a:off x="9193140" y="4728378"/>
            <a:ext cx="1260702" cy="561307"/>
            <a:chOff x="4317124" y="2340471"/>
            <a:chExt cx="2607028" cy="1467823"/>
          </a:xfrm>
        </p:grpSpPr>
        <p:sp>
          <p:nvSpPr>
            <p:cNvPr id="2134" name="Google Shape;69;p15">
              <a:extLst>
                <a:ext uri="{FF2B5EF4-FFF2-40B4-BE49-F238E27FC236}">
                  <a16:creationId xmlns:a16="http://schemas.microsoft.com/office/drawing/2014/main" id="{0B32AF8F-592F-BB91-60BD-47ABF6989A95}"/>
                </a:ext>
              </a:extLst>
            </p:cNvPr>
            <p:cNvSpPr/>
            <p:nvPr/>
          </p:nvSpPr>
          <p:spPr>
            <a:xfrm>
              <a:off x="4317124" y="2364816"/>
              <a:ext cx="1017496" cy="895568"/>
            </a:xfrm>
            <a:custGeom>
              <a:avLst/>
              <a:gdLst/>
              <a:ahLst/>
              <a:cxnLst/>
              <a:rect l="l" t="t" r="r" b="b"/>
              <a:pathLst>
                <a:path w="836" h="282" extrusionOk="0">
                  <a:moveTo>
                    <a:pt x="0" y="282"/>
                  </a:moveTo>
                  <a:lnTo>
                    <a:pt x="836" y="282"/>
                  </a:lnTo>
                  <a:lnTo>
                    <a:pt x="836" y="0"/>
                  </a:lnTo>
                  <a:lnTo>
                    <a:pt x="268" y="0"/>
                  </a:lnTo>
                  <a:lnTo>
                    <a:pt x="268" y="0"/>
                  </a:lnTo>
                  <a:lnTo>
                    <a:pt x="262" y="2"/>
                  </a:lnTo>
                  <a:lnTo>
                    <a:pt x="242" y="4"/>
                  </a:lnTo>
                  <a:lnTo>
                    <a:pt x="228" y="8"/>
                  </a:lnTo>
                  <a:lnTo>
                    <a:pt x="210" y="14"/>
                  </a:lnTo>
                  <a:lnTo>
                    <a:pt x="192" y="22"/>
                  </a:lnTo>
                  <a:lnTo>
                    <a:pt x="172" y="32"/>
                  </a:lnTo>
                  <a:lnTo>
                    <a:pt x="152" y="48"/>
                  </a:lnTo>
                  <a:lnTo>
                    <a:pt x="130" y="66"/>
                  </a:lnTo>
                  <a:lnTo>
                    <a:pt x="108" y="88"/>
                  </a:lnTo>
                  <a:lnTo>
                    <a:pt x="84" y="116"/>
                  </a:lnTo>
                  <a:lnTo>
                    <a:pt x="62" y="148"/>
                  </a:lnTo>
                  <a:lnTo>
                    <a:pt x="40" y="186"/>
                  </a:lnTo>
                  <a:lnTo>
                    <a:pt x="20" y="230"/>
                  </a:lnTo>
                  <a:lnTo>
                    <a:pt x="0" y="282"/>
                  </a:lnTo>
                  <a:lnTo>
                    <a:pt x="0" y="282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1"/>
              </a:solidFill>
            </a:ln>
          </p:spPr>
          <p:txBody>
            <a:bodyPr spcFirstLastPara="1" wrap="square" lIns="91409" tIns="45688" rIns="91409" bIns="45688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defTabSz="914126"/>
              <a:endParaRPr lang="en-US" sz="1799" kern="0" noProof="0"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35" name="Google Shape;70;p15">
              <a:extLst>
                <a:ext uri="{FF2B5EF4-FFF2-40B4-BE49-F238E27FC236}">
                  <a16:creationId xmlns:a16="http://schemas.microsoft.com/office/drawing/2014/main" id="{582985D2-7C22-044C-FBDE-ABCB78FE41C2}"/>
                </a:ext>
              </a:extLst>
            </p:cNvPr>
            <p:cNvSpPr/>
            <p:nvPr/>
          </p:nvSpPr>
          <p:spPr>
            <a:xfrm>
              <a:off x="4533766" y="2340471"/>
              <a:ext cx="2390386" cy="1467823"/>
            </a:xfrm>
            <a:custGeom>
              <a:avLst/>
              <a:gdLst/>
              <a:ahLst/>
              <a:cxnLst/>
              <a:rect l="l" t="t" r="r" b="b"/>
              <a:pathLst>
                <a:path w="1964" h="1206" extrusionOk="0">
                  <a:moveTo>
                    <a:pt x="1964" y="1116"/>
                  </a:moveTo>
                  <a:lnTo>
                    <a:pt x="1962" y="394"/>
                  </a:lnTo>
                  <a:lnTo>
                    <a:pt x="1962" y="394"/>
                  </a:lnTo>
                  <a:lnTo>
                    <a:pt x="1960" y="384"/>
                  </a:lnTo>
                  <a:lnTo>
                    <a:pt x="1958" y="376"/>
                  </a:lnTo>
                  <a:lnTo>
                    <a:pt x="1954" y="368"/>
                  </a:lnTo>
                  <a:lnTo>
                    <a:pt x="1948" y="362"/>
                  </a:lnTo>
                  <a:lnTo>
                    <a:pt x="1948" y="362"/>
                  </a:lnTo>
                  <a:lnTo>
                    <a:pt x="1940" y="354"/>
                  </a:lnTo>
                  <a:lnTo>
                    <a:pt x="1932" y="350"/>
                  </a:lnTo>
                  <a:lnTo>
                    <a:pt x="1922" y="348"/>
                  </a:lnTo>
                  <a:lnTo>
                    <a:pt x="1912" y="346"/>
                  </a:lnTo>
                  <a:lnTo>
                    <a:pt x="1904" y="348"/>
                  </a:lnTo>
                  <a:lnTo>
                    <a:pt x="1894" y="350"/>
                  </a:lnTo>
                  <a:lnTo>
                    <a:pt x="1884" y="354"/>
                  </a:lnTo>
                  <a:lnTo>
                    <a:pt x="1876" y="360"/>
                  </a:lnTo>
                  <a:lnTo>
                    <a:pt x="1782" y="456"/>
                  </a:lnTo>
                  <a:lnTo>
                    <a:pt x="1738" y="410"/>
                  </a:lnTo>
                  <a:lnTo>
                    <a:pt x="1738" y="410"/>
                  </a:lnTo>
                  <a:lnTo>
                    <a:pt x="1444" y="116"/>
                  </a:lnTo>
                  <a:lnTo>
                    <a:pt x="1444" y="116"/>
                  </a:lnTo>
                  <a:lnTo>
                    <a:pt x="1402" y="76"/>
                  </a:lnTo>
                  <a:lnTo>
                    <a:pt x="1380" y="58"/>
                  </a:lnTo>
                  <a:lnTo>
                    <a:pt x="1356" y="40"/>
                  </a:lnTo>
                  <a:lnTo>
                    <a:pt x="1332" y="26"/>
                  </a:lnTo>
                  <a:lnTo>
                    <a:pt x="1310" y="14"/>
                  </a:lnTo>
                  <a:lnTo>
                    <a:pt x="1286" y="6"/>
                  </a:lnTo>
                  <a:lnTo>
                    <a:pt x="1276" y="4"/>
                  </a:lnTo>
                  <a:lnTo>
                    <a:pt x="1264" y="4"/>
                  </a:lnTo>
                  <a:lnTo>
                    <a:pt x="1264" y="4"/>
                  </a:lnTo>
                  <a:lnTo>
                    <a:pt x="716" y="2"/>
                  </a:lnTo>
                  <a:lnTo>
                    <a:pt x="334" y="0"/>
                  </a:lnTo>
                  <a:lnTo>
                    <a:pt x="200" y="0"/>
                  </a:lnTo>
                  <a:lnTo>
                    <a:pt x="138" y="2"/>
                  </a:lnTo>
                  <a:lnTo>
                    <a:pt x="138" y="2"/>
                  </a:lnTo>
                  <a:lnTo>
                    <a:pt x="114" y="4"/>
                  </a:lnTo>
                  <a:lnTo>
                    <a:pt x="92" y="8"/>
                  </a:lnTo>
                  <a:lnTo>
                    <a:pt x="74" y="12"/>
                  </a:lnTo>
                  <a:lnTo>
                    <a:pt x="58" y="18"/>
                  </a:lnTo>
                  <a:lnTo>
                    <a:pt x="42" y="26"/>
                  </a:lnTo>
                  <a:lnTo>
                    <a:pt x="28" y="34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16" y="44"/>
                  </a:lnTo>
                  <a:lnTo>
                    <a:pt x="36" y="36"/>
                  </a:lnTo>
                  <a:lnTo>
                    <a:pt x="54" y="30"/>
                  </a:lnTo>
                  <a:lnTo>
                    <a:pt x="74" y="28"/>
                  </a:lnTo>
                  <a:lnTo>
                    <a:pt x="92" y="26"/>
                  </a:lnTo>
                  <a:lnTo>
                    <a:pt x="112" y="26"/>
                  </a:lnTo>
                  <a:lnTo>
                    <a:pt x="132" y="28"/>
                  </a:lnTo>
                  <a:lnTo>
                    <a:pt x="152" y="32"/>
                  </a:lnTo>
                  <a:lnTo>
                    <a:pt x="172" y="38"/>
                  </a:lnTo>
                  <a:lnTo>
                    <a:pt x="194" y="44"/>
                  </a:lnTo>
                  <a:lnTo>
                    <a:pt x="214" y="54"/>
                  </a:lnTo>
                  <a:lnTo>
                    <a:pt x="234" y="66"/>
                  </a:lnTo>
                  <a:lnTo>
                    <a:pt x="256" y="80"/>
                  </a:lnTo>
                  <a:lnTo>
                    <a:pt x="276" y="94"/>
                  </a:lnTo>
                  <a:lnTo>
                    <a:pt x="298" y="112"/>
                  </a:lnTo>
                  <a:lnTo>
                    <a:pt x="318" y="132"/>
                  </a:lnTo>
                  <a:lnTo>
                    <a:pt x="1212" y="1026"/>
                  </a:lnTo>
                  <a:lnTo>
                    <a:pt x="1120" y="1118"/>
                  </a:lnTo>
                  <a:lnTo>
                    <a:pt x="1120" y="1118"/>
                  </a:lnTo>
                  <a:lnTo>
                    <a:pt x="1114" y="1126"/>
                  </a:lnTo>
                  <a:lnTo>
                    <a:pt x="1108" y="1136"/>
                  </a:lnTo>
                  <a:lnTo>
                    <a:pt x="1106" y="1146"/>
                  </a:lnTo>
                  <a:lnTo>
                    <a:pt x="1104" y="1154"/>
                  </a:lnTo>
                  <a:lnTo>
                    <a:pt x="1106" y="1164"/>
                  </a:lnTo>
                  <a:lnTo>
                    <a:pt x="1108" y="1174"/>
                  </a:lnTo>
                  <a:lnTo>
                    <a:pt x="1112" y="1182"/>
                  </a:lnTo>
                  <a:lnTo>
                    <a:pt x="1118" y="1190"/>
                  </a:lnTo>
                  <a:lnTo>
                    <a:pt x="1118" y="1190"/>
                  </a:lnTo>
                  <a:lnTo>
                    <a:pt x="1126" y="1194"/>
                  </a:lnTo>
                  <a:lnTo>
                    <a:pt x="1134" y="1200"/>
                  </a:lnTo>
                  <a:lnTo>
                    <a:pt x="1142" y="1202"/>
                  </a:lnTo>
                  <a:lnTo>
                    <a:pt x="1152" y="1204"/>
                  </a:lnTo>
                  <a:lnTo>
                    <a:pt x="1874" y="1206"/>
                  </a:lnTo>
                  <a:lnTo>
                    <a:pt x="1874" y="1206"/>
                  </a:lnTo>
                  <a:lnTo>
                    <a:pt x="1892" y="1206"/>
                  </a:lnTo>
                  <a:lnTo>
                    <a:pt x="1910" y="1202"/>
                  </a:lnTo>
                  <a:lnTo>
                    <a:pt x="1926" y="1194"/>
                  </a:lnTo>
                  <a:lnTo>
                    <a:pt x="1940" y="1182"/>
                  </a:lnTo>
                  <a:lnTo>
                    <a:pt x="1940" y="1182"/>
                  </a:lnTo>
                  <a:lnTo>
                    <a:pt x="1952" y="1168"/>
                  </a:lnTo>
                  <a:lnTo>
                    <a:pt x="1960" y="1152"/>
                  </a:lnTo>
                  <a:lnTo>
                    <a:pt x="1964" y="1134"/>
                  </a:lnTo>
                  <a:lnTo>
                    <a:pt x="1964" y="1116"/>
                  </a:lnTo>
                  <a:lnTo>
                    <a:pt x="1964" y="1116"/>
                  </a:lnTo>
                  <a:close/>
                </a:path>
              </a:pathLst>
            </a:custGeom>
            <a:gradFill>
              <a:gsLst>
                <a:gs pos="100000">
                  <a:schemeClr val="accent3">
                    <a:lumMod val="40000"/>
                    <a:lumOff val="60000"/>
                  </a:schemeClr>
                </a:gs>
                <a:gs pos="0">
                  <a:schemeClr val="accent1"/>
                </a:gs>
              </a:gsLst>
              <a:lin ang="3000000" scaled="0"/>
            </a:gradFill>
            <a:ln>
              <a:solidFill>
                <a:schemeClr val="bg1"/>
              </a:solidFill>
            </a:ln>
          </p:spPr>
          <p:txBody>
            <a:bodyPr spcFirstLastPara="1" wrap="square" lIns="91409" tIns="45688" rIns="91409" bIns="45688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defTabSz="914126"/>
              <a:endParaRPr lang="en-US" sz="1799" kern="0" noProof="0"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2136" name="Google Shape;68;p15">
            <a:extLst>
              <a:ext uri="{FF2B5EF4-FFF2-40B4-BE49-F238E27FC236}">
                <a16:creationId xmlns:a16="http://schemas.microsoft.com/office/drawing/2014/main" id="{134CD2DF-870B-6834-7ADC-A00DC0A28531}"/>
              </a:ext>
            </a:extLst>
          </p:cNvPr>
          <p:cNvGrpSpPr/>
          <p:nvPr/>
        </p:nvGrpSpPr>
        <p:grpSpPr>
          <a:xfrm rot="16200000" flipH="1">
            <a:off x="3261100" y="2827113"/>
            <a:ext cx="1260705" cy="561307"/>
            <a:chOff x="4317124" y="2340471"/>
            <a:chExt cx="2607028" cy="1467823"/>
          </a:xfrm>
        </p:grpSpPr>
        <p:sp>
          <p:nvSpPr>
            <p:cNvPr id="2137" name="Google Shape;69;p15">
              <a:extLst>
                <a:ext uri="{FF2B5EF4-FFF2-40B4-BE49-F238E27FC236}">
                  <a16:creationId xmlns:a16="http://schemas.microsoft.com/office/drawing/2014/main" id="{31B647B0-C61A-DF51-2F49-20DAF77CF7E1}"/>
                </a:ext>
              </a:extLst>
            </p:cNvPr>
            <p:cNvSpPr/>
            <p:nvPr/>
          </p:nvSpPr>
          <p:spPr>
            <a:xfrm>
              <a:off x="4317124" y="2364816"/>
              <a:ext cx="1017496" cy="895568"/>
            </a:xfrm>
            <a:custGeom>
              <a:avLst/>
              <a:gdLst/>
              <a:ahLst/>
              <a:cxnLst/>
              <a:rect l="l" t="t" r="r" b="b"/>
              <a:pathLst>
                <a:path w="836" h="282" extrusionOk="0">
                  <a:moveTo>
                    <a:pt x="0" y="282"/>
                  </a:moveTo>
                  <a:lnTo>
                    <a:pt x="836" y="282"/>
                  </a:lnTo>
                  <a:lnTo>
                    <a:pt x="836" y="0"/>
                  </a:lnTo>
                  <a:lnTo>
                    <a:pt x="268" y="0"/>
                  </a:lnTo>
                  <a:lnTo>
                    <a:pt x="268" y="0"/>
                  </a:lnTo>
                  <a:lnTo>
                    <a:pt x="262" y="2"/>
                  </a:lnTo>
                  <a:lnTo>
                    <a:pt x="242" y="4"/>
                  </a:lnTo>
                  <a:lnTo>
                    <a:pt x="228" y="8"/>
                  </a:lnTo>
                  <a:lnTo>
                    <a:pt x="210" y="14"/>
                  </a:lnTo>
                  <a:lnTo>
                    <a:pt x="192" y="22"/>
                  </a:lnTo>
                  <a:lnTo>
                    <a:pt x="172" y="32"/>
                  </a:lnTo>
                  <a:lnTo>
                    <a:pt x="152" y="48"/>
                  </a:lnTo>
                  <a:lnTo>
                    <a:pt x="130" y="66"/>
                  </a:lnTo>
                  <a:lnTo>
                    <a:pt x="108" y="88"/>
                  </a:lnTo>
                  <a:lnTo>
                    <a:pt x="84" y="116"/>
                  </a:lnTo>
                  <a:lnTo>
                    <a:pt x="62" y="148"/>
                  </a:lnTo>
                  <a:lnTo>
                    <a:pt x="40" y="186"/>
                  </a:lnTo>
                  <a:lnTo>
                    <a:pt x="20" y="230"/>
                  </a:lnTo>
                  <a:lnTo>
                    <a:pt x="0" y="282"/>
                  </a:lnTo>
                  <a:lnTo>
                    <a:pt x="0" y="282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1"/>
              </a:solidFill>
            </a:ln>
          </p:spPr>
          <p:txBody>
            <a:bodyPr spcFirstLastPara="1" wrap="square" lIns="91409" tIns="45688" rIns="91409" bIns="45688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defTabSz="914126"/>
              <a:endParaRPr lang="en-US" sz="1799" kern="0" noProof="0"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38" name="Google Shape;70;p15">
              <a:extLst>
                <a:ext uri="{FF2B5EF4-FFF2-40B4-BE49-F238E27FC236}">
                  <a16:creationId xmlns:a16="http://schemas.microsoft.com/office/drawing/2014/main" id="{343EBA7C-2D70-B6A9-EF63-08D2D00D6638}"/>
                </a:ext>
              </a:extLst>
            </p:cNvPr>
            <p:cNvSpPr/>
            <p:nvPr/>
          </p:nvSpPr>
          <p:spPr>
            <a:xfrm>
              <a:off x="4533767" y="2340471"/>
              <a:ext cx="2390385" cy="1467823"/>
            </a:xfrm>
            <a:custGeom>
              <a:avLst/>
              <a:gdLst/>
              <a:ahLst/>
              <a:cxnLst/>
              <a:rect l="l" t="t" r="r" b="b"/>
              <a:pathLst>
                <a:path w="1964" h="1206" extrusionOk="0">
                  <a:moveTo>
                    <a:pt x="1964" y="1116"/>
                  </a:moveTo>
                  <a:lnTo>
                    <a:pt x="1962" y="394"/>
                  </a:lnTo>
                  <a:lnTo>
                    <a:pt x="1962" y="394"/>
                  </a:lnTo>
                  <a:lnTo>
                    <a:pt x="1960" y="384"/>
                  </a:lnTo>
                  <a:lnTo>
                    <a:pt x="1958" y="376"/>
                  </a:lnTo>
                  <a:lnTo>
                    <a:pt x="1954" y="368"/>
                  </a:lnTo>
                  <a:lnTo>
                    <a:pt x="1948" y="362"/>
                  </a:lnTo>
                  <a:lnTo>
                    <a:pt x="1948" y="362"/>
                  </a:lnTo>
                  <a:lnTo>
                    <a:pt x="1940" y="354"/>
                  </a:lnTo>
                  <a:lnTo>
                    <a:pt x="1932" y="350"/>
                  </a:lnTo>
                  <a:lnTo>
                    <a:pt x="1922" y="348"/>
                  </a:lnTo>
                  <a:lnTo>
                    <a:pt x="1912" y="346"/>
                  </a:lnTo>
                  <a:lnTo>
                    <a:pt x="1904" y="348"/>
                  </a:lnTo>
                  <a:lnTo>
                    <a:pt x="1894" y="350"/>
                  </a:lnTo>
                  <a:lnTo>
                    <a:pt x="1884" y="354"/>
                  </a:lnTo>
                  <a:lnTo>
                    <a:pt x="1876" y="360"/>
                  </a:lnTo>
                  <a:lnTo>
                    <a:pt x="1782" y="456"/>
                  </a:lnTo>
                  <a:lnTo>
                    <a:pt x="1738" y="410"/>
                  </a:lnTo>
                  <a:lnTo>
                    <a:pt x="1738" y="410"/>
                  </a:lnTo>
                  <a:lnTo>
                    <a:pt x="1444" y="116"/>
                  </a:lnTo>
                  <a:lnTo>
                    <a:pt x="1444" y="116"/>
                  </a:lnTo>
                  <a:lnTo>
                    <a:pt x="1402" y="76"/>
                  </a:lnTo>
                  <a:lnTo>
                    <a:pt x="1380" y="58"/>
                  </a:lnTo>
                  <a:lnTo>
                    <a:pt x="1356" y="40"/>
                  </a:lnTo>
                  <a:lnTo>
                    <a:pt x="1332" y="26"/>
                  </a:lnTo>
                  <a:lnTo>
                    <a:pt x="1310" y="14"/>
                  </a:lnTo>
                  <a:lnTo>
                    <a:pt x="1286" y="6"/>
                  </a:lnTo>
                  <a:lnTo>
                    <a:pt x="1276" y="4"/>
                  </a:lnTo>
                  <a:lnTo>
                    <a:pt x="1264" y="4"/>
                  </a:lnTo>
                  <a:lnTo>
                    <a:pt x="1264" y="4"/>
                  </a:lnTo>
                  <a:lnTo>
                    <a:pt x="716" y="2"/>
                  </a:lnTo>
                  <a:lnTo>
                    <a:pt x="334" y="0"/>
                  </a:lnTo>
                  <a:lnTo>
                    <a:pt x="200" y="0"/>
                  </a:lnTo>
                  <a:lnTo>
                    <a:pt x="138" y="2"/>
                  </a:lnTo>
                  <a:lnTo>
                    <a:pt x="138" y="2"/>
                  </a:lnTo>
                  <a:lnTo>
                    <a:pt x="114" y="4"/>
                  </a:lnTo>
                  <a:lnTo>
                    <a:pt x="92" y="8"/>
                  </a:lnTo>
                  <a:lnTo>
                    <a:pt x="74" y="12"/>
                  </a:lnTo>
                  <a:lnTo>
                    <a:pt x="58" y="18"/>
                  </a:lnTo>
                  <a:lnTo>
                    <a:pt x="42" y="26"/>
                  </a:lnTo>
                  <a:lnTo>
                    <a:pt x="28" y="34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16" y="44"/>
                  </a:lnTo>
                  <a:lnTo>
                    <a:pt x="36" y="36"/>
                  </a:lnTo>
                  <a:lnTo>
                    <a:pt x="54" y="30"/>
                  </a:lnTo>
                  <a:lnTo>
                    <a:pt x="74" y="28"/>
                  </a:lnTo>
                  <a:lnTo>
                    <a:pt x="92" y="26"/>
                  </a:lnTo>
                  <a:lnTo>
                    <a:pt x="112" y="26"/>
                  </a:lnTo>
                  <a:lnTo>
                    <a:pt x="132" y="28"/>
                  </a:lnTo>
                  <a:lnTo>
                    <a:pt x="152" y="32"/>
                  </a:lnTo>
                  <a:lnTo>
                    <a:pt x="172" y="38"/>
                  </a:lnTo>
                  <a:lnTo>
                    <a:pt x="194" y="44"/>
                  </a:lnTo>
                  <a:lnTo>
                    <a:pt x="214" y="54"/>
                  </a:lnTo>
                  <a:lnTo>
                    <a:pt x="234" y="66"/>
                  </a:lnTo>
                  <a:lnTo>
                    <a:pt x="256" y="80"/>
                  </a:lnTo>
                  <a:lnTo>
                    <a:pt x="276" y="94"/>
                  </a:lnTo>
                  <a:lnTo>
                    <a:pt x="298" y="112"/>
                  </a:lnTo>
                  <a:lnTo>
                    <a:pt x="318" y="132"/>
                  </a:lnTo>
                  <a:lnTo>
                    <a:pt x="1212" y="1026"/>
                  </a:lnTo>
                  <a:lnTo>
                    <a:pt x="1120" y="1118"/>
                  </a:lnTo>
                  <a:lnTo>
                    <a:pt x="1120" y="1118"/>
                  </a:lnTo>
                  <a:lnTo>
                    <a:pt x="1114" y="1126"/>
                  </a:lnTo>
                  <a:lnTo>
                    <a:pt x="1108" y="1136"/>
                  </a:lnTo>
                  <a:lnTo>
                    <a:pt x="1106" y="1146"/>
                  </a:lnTo>
                  <a:lnTo>
                    <a:pt x="1104" y="1154"/>
                  </a:lnTo>
                  <a:lnTo>
                    <a:pt x="1106" y="1164"/>
                  </a:lnTo>
                  <a:lnTo>
                    <a:pt x="1108" y="1174"/>
                  </a:lnTo>
                  <a:lnTo>
                    <a:pt x="1112" y="1182"/>
                  </a:lnTo>
                  <a:lnTo>
                    <a:pt x="1118" y="1190"/>
                  </a:lnTo>
                  <a:lnTo>
                    <a:pt x="1118" y="1190"/>
                  </a:lnTo>
                  <a:lnTo>
                    <a:pt x="1126" y="1194"/>
                  </a:lnTo>
                  <a:lnTo>
                    <a:pt x="1134" y="1200"/>
                  </a:lnTo>
                  <a:lnTo>
                    <a:pt x="1142" y="1202"/>
                  </a:lnTo>
                  <a:lnTo>
                    <a:pt x="1152" y="1204"/>
                  </a:lnTo>
                  <a:lnTo>
                    <a:pt x="1874" y="1206"/>
                  </a:lnTo>
                  <a:lnTo>
                    <a:pt x="1874" y="1206"/>
                  </a:lnTo>
                  <a:lnTo>
                    <a:pt x="1892" y="1206"/>
                  </a:lnTo>
                  <a:lnTo>
                    <a:pt x="1910" y="1202"/>
                  </a:lnTo>
                  <a:lnTo>
                    <a:pt x="1926" y="1194"/>
                  </a:lnTo>
                  <a:lnTo>
                    <a:pt x="1940" y="1182"/>
                  </a:lnTo>
                  <a:lnTo>
                    <a:pt x="1940" y="1182"/>
                  </a:lnTo>
                  <a:lnTo>
                    <a:pt x="1952" y="1168"/>
                  </a:lnTo>
                  <a:lnTo>
                    <a:pt x="1960" y="1152"/>
                  </a:lnTo>
                  <a:lnTo>
                    <a:pt x="1964" y="1134"/>
                  </a:lnTo>
                  <a:lnTo>
                    <a:pt x="1964" y="1116"/>
                  </a:lnTo>
                  <a:lnTo>
                    <a:pt x="1964" y="1116"/>
                  </a:lnTo>
                  <a:close/>
                </a:path>
              </a:pathLst>
            </a:custGeom>
            <a:gradFill>
              <a:gsLst>
                <a:gs pos="100000">
                  <a:schemeClr val="accent3">
                    <a:lumMod val="40000"/>
                    <a:lumOff val="60000"/>
                  </a:schemeClr>
                </a:gs>
                <a:gs pos="0">
                  <a:schemeClr val="accent1"/>
                </a:gs>
              </a:gsLst>
              <a:lin ang="3000000" scaled="0"/>
            </a:gradFill>
            <a:ln>
              <a:solidFill>
                <a:schemeClr val="bg1"/>
              </a:solidFill>
            </a:ln>
          </p:spPr>
          <p:txBody>
            <a:bodyPr spcFirstLastPara="1" wrap="square" lIns="91409" tIns="45688" rIns="91409" bIns="45688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defTabSz="914126"/>
              <a:endParaRPr lang="en-US" sz="1799" kern="0" noProof="0"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2139" name="Google Shape;68;p15">
            <a:extLst>
              <a:ext uri="{FF2B5EF4-FFF2-40B4-BE49-F238E27FC236}">
                <a16:creationId xmlns:a16="http://schemas.microsoft.com/office/drawing/2014/main" id="{F6A7E20E-CA09-7426-CFAF-408086F846FA}"/>
              </a:ext>
            </a:extLst>
          </p:cNvPr>
          <p:cNvGrpSpPr/>
          <p:nvPr/>
        </p:nvGrpSpPr>
        <p:grpSpPr>
          <a:xfrm rot="16200000" flipH="1">
            <a:off x="3260774" y="4315928"/>
            <a:ext cx="1260705" cy="561307"/>
            <a:chOff x="4317124" y="2340471"/>
            <a:chExt cx="2607028" cy="1467823"/>
          </a:xfrm>
        </p:grpSpPr>
        <p:sp>
          <p:nvSpPr>
            <p:cNvPr id="2140" name="Google Shape;69;p15">
              <a:extLst>
                <a:ext uri="{FF2B5EF4-FFF2-40B4-BE49-F238E27FC236}">
                  <a16:creationId xmlns:a16="http://schemas.microsoft.com/office/drawing/2014/main" id="{F25E4634-8D6A-44A6-55D4-00E76AF32A07}"/>
                </a:ext>
              </a:extLst>
            </p:cNvPr>
            <p:cNvSpPr/>
            <p:nvPr/>
          </p:nvSpPr>
          <p:spPr>
            <a:xfrm>
              <a:off x="4317124" y="2364816"/>
              <a:ext cx="1017496" cy="895568"/>
            </a:xfrm>
            <a:custGeom>
              <a:avLst/>
              <a:gdLst/>
              <a:ahLst/>
              <a:cxnLst/>
              <a:rect l="l" t="t" r="r" b="b"/>
              <a:pathLst>
                <a:path w="836" h="282" extrusionOk="0">
                  <a:moveTo>
                    <a:pt x="0" y="282"/>
                  </a:moveTo>
                  <a:lnTo>
                    <a:pt x="836" y="282"/>
                  </a:lnTo>
                  <a:lnTo>
                    <a:pt x="836" y="0"/>
                  </a:lnTo>
                  <a:lnTo>
                    <a:pt x="268" y="0"/>
                  </a:lnTo>
                  <a:lnTo>
                    <a:pt x="268" y="0"/>
                  </a:lnTo>
                  <a:lnTo>
                    <a:pt x="262" y="2"/>
                  </a:lnTo>
                  <a:lnTo>
                    <a:pt x="242" y="4"/>
                  </a:lnTo>
                  <a:lnTo>
                    <a:pt x="228" y="8"/>
                  </a:lnTo>
                  <a:lnTo>
                    <a:pt x="210" y="14"/>
                  </a:lnTo>
                  <a:lnTo>
                    <a:pt x="192" y="22"/>
                  </a:lnTo>
                  <a:lnTo>
                    <a:pt x="172" y="32"/>
                  </a:lnTo>
                  <a:lnTo>
                    <a:pt x="152" y="48"/>
                  </a:lnTo>
                  <a:lnTo>
                    <a:pt x="130" y="66"/>
                  </a:lnTo>
                  <a:lnTo>
                    <a:pt x="108" y="88"/>
                  </a:lnTo>
                  <a:lnTo>
                    <a:pt x="84" y="116"/>
                  </a:lnTo>
                  <a:lnTo>
                    <a:pt x="62" y="148"/>
                  </a:lnTo>
                  <a:lnTo>
                    <a:pt x="40" y="186"/>
                  </a:lnTo>
                  <a:lnTo>
                    <a:pt x="20" y="230"/>
                  </a:lnTo>
                  <a:lnTo>
                    <a:pt x="0" y="282"/>
                  </a:lnTo>
                  <a:lnTo>
                    <a:pt x="0" y="282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bg1"/>
              </a:solidFill>
            </a:ln>
          </p:spPr>
          <p:txBody>
            <a:bodyPr spcFirstLastPara="1" wrap="square" lIns="91409" tIns="45688" rIns="91409" bIns="45688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defTabSz="914126"/>
              <a:endParaRPr lang="en-US" sz="1799" kern="0" noProof="0"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2141" name="Google Shape;70;p15">
              <a:extLst>
                <a:ext uri="{FF2B5EF4-FFF2-40B4-BE49-F238E27FC236}">
                  <a16:creationId xmlns:a16="http://schemas.microsoft.com/office/drawing/2014/main" id="{A7AD31B1-1E26-661A-53DE-CA16E0C11EC5}"/>
                </a:ext>
              </a:extLst>
            </p:cNvPr>
            <p:cNvSpPr/>
            <p:nvPr/>
          </p:nvSpPr>
          <p:spPr>
            <a:xfrm>
              <a:off x="4533767" y="2340471"/>
              <a:ext cx="2390385" cy="1467823"/>
            </a:xfrm>
            <a:custGeom>
              <a:avLst/>
              <a:gdLst/>
              <a:ahLst/>
              <a:cxnLst/>
              <a:rect l="l" t="t" r="r" b="b"/>
              <a:pathLst>
                <a:path w="1964" h="1206" extrusionOk="0">
                  <a:moveTo>
                    <a:pt x="1964" y="1116"/>
                  </a:moveTo>
                  <a:lnTo>
                    <a:pt x="1962" y="394"/>
                  </a:lnTo>
                  <a:lnTo>
                    <a:pt x="1962" y="394"/>
                  </a:lnTo>
                  <a:lnTo>
                    <a:pt x="1960" y="384"/>
                  </a:lnTo>
                  <a:lnTo>
                    <a:pt x="1958" y="376"/>
                  </a:lnTo>
                  <a:lnTo>
                    <a:pt x="1954" y="368"/>
                  </a:lnTo>
                  <a:lnTo>
                    <a:pt x="1948" y="362"/>
                  </a:lnTo>
                  <a:lnTo>
                    <a:pt x="1948" y="362"/>
                  </a:lnTo>
                  <a:lnTo>
                    <a:pt x="1940" y="354"/>
                  </a:lnTo>
                  <a:lnTo>
                    <a:pt x="1932" y="350"/>
                  </a:lnTo>
                  <a:lnTo>
                    <a:pt x="1922" y="348"/>
                  </a:lnTo>
                  <a:lnTo>
                    <a:pt x="1912" y="346"/>
                  </a:lnTo>
                  <a:lnTo>
                    <a:pt x="1904" y="348"/>
                  </a:lnTo>
                  <a:lnTo>
                    <a:pt x="1894" y="350"/>
                  </a:lnTo>
                  <a:lnTo>
                    <a:pt x="1884" y="354"/>
                  </a:lnTo>
                  <a:lnTo>
                    <a:pt x="1876" y="360"/>
                  </a:lnTo>
                  <a:lnTo>
                    <a:pt x="1782" y="456"/>
                  </a:lnTo>
                  <a:lnTo>
                    <a:pt x="1738" y="410"/>
                  </a:lnTo>
                  <a:lnTo>
                    <a:pt x="1738" y="410"/>
                  </a:lnTo>
                  <a:lnTo>
                    <a:pt x="1444" y="116"/>
                  </a:lnTo>
                  <a:lnTo>
                    <a:pt x="1444" y="116"/>
                  </a:lnTo>
                  <a:lnTo>
                    <a:pt x="1402" y="76"/>
                  </a:lnTo>
                  <a:lnTo>
                    <a:pt x="1380" y="58"/>
                  </a:lnTo>
                  <a:lnTo>
                    <a:pt x="1356" y="40"/>
                  </a:lnTo>
                  <a:lnTo>
                    <a:pt x="1332" y="26"/>
                  </a:lnTo>
                  <a:lnTo>
                    <a:pt x="1310" y="14"/>
                  </a:lnTo>
                  <a:lnTo>
                    <a:pt x="1286" y="6"/>
                  </a:lnTo>
                  <a:lnTo>
                    <a:pt x="1276" y="4"/>
                  </a:lnTo>
                  <a:lnTo>
                    <a:pt x="1264" y="4"/>
                  </a:lnTo>
                  <a:lnTo>
                    <a:pt x="1264" y="4"/>
                  </a:lnTo>
                  <a:lnTo>
                    <a:pt x="716" y="2"/>
                  </a:lnTo>
                  <a:lnTo>
                    <a:pt x="334" y="0"/>
                  </a:lnTo>
                  <a:lnTo>
                    <a:pt x="200" y="0"/>
                  </a:lnTo>
                  <a:lnTo>
                    <a:pt x="138" y="2"/>
                  </a:lnTo>
                  <a:lnTo>
                    <a:pt x="138" y="2"/>
                  </a:lnTo>
                  <a:lnTo>
                    <a:pt x="114" y="4"/>
                  </a:lnTo>
                  <a:lnTo>
                    <a:pt x="92" y="8"/>
                  </a:lnTo>
                  <a:lnTo>
                    <a:pt x="74" y="12"/>
                  </a:lnTo>
                  <a:lnTo>
                    <a:pt x="58" y="18"/>
                  </a:lnTo>
                  <a:lnTo>
                    <a:pt x="42" y="26"/>
                  </a:lnTo>
                  <a:lnTo>
                    <a:pt x="28" y="34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16" y="44"/>
                  </a:lnTo>
                  <a:lnTo>
                    <a:pt x="36" y="36"/>
                  </a:lnTo>
                  <a:lnTo>
                    <a:pt x="54" y="30"/>
                  </a:lnTo>
                  <a:lnTo>
                    <a:pt x="74" y="28"/>
                  </a:lnTo>
                  <a:lnTo>
                    <a:pt x="92" y="26"/>
                  </a:lnTo>
                  <a:lnTo>
                    <a:pt x="112" y="26"/>
                  </a:lnTo>
                  <a:lnTo>
                    <a:pt x="132" y="28"/>
                  </a:lnTo>
                  <a:lnTo>
                    <a:pt x="152" y="32"/>
                  </a:lnTo>
                  <a:lnTo>
                    <a:pt x="172" y="38"/>
                  </a:lnTo>
                  <a:lnTo>
                    <a:pt x="194" y="44"/>
                  </a:lnTo>
                  <a:lnTo>
                    <a:pt x="214" y="54"/>
                  </a:lnTo>
                  <a:lnTo>
                    <a:pt x="234" y="66"/>
                  </a:lnTo>
                  <a:lnTo>
                    <a:pt x="256" y="80"/>
                  </a:lnTo>
                  <a:lnTo>
                    <a:pt x="276" y="94"/>
                  </a:lnTo>
                  <a:lnTo>
                    <a:pt x="298" y="112"/>
                  </a:lnTo>
                  <a:lnTo>
                    <a:pt x="318" y="132"/>
                  </a:lnTo>
                  <a:lnTo>
                    <a:pt x="1212" y="1026"/>
                  </a:lnTo>
                  <a:lnTo>
                    <a:pt x="1120" y="1118"/>
                  </a:lnTo>
                  <a:lnTo>
                    <a:pt x="1120" y="1118"/>
                  </a:lnTo>
                  <a:lnTo>
                    <a:pt x="1114" y="1126"/>
                  </a:lnTo>
                  <a:lnTo>
                    <a:pt x="1108" y="1136"/>
                  </a:lnTo>
                  <a:lnTo>
                    <a:pt x="1106" y="1146"/>
                  </a:lnTo>
                  <a:lnTo>
                    <a:pt x="1104" y="1154"/>
                  </a:lnTo>
                  <a:lnTo>
                    <a:pt x="1106" y="1164"/>
                  </a:lnTo>
                  <a:lnTo>
                    <a:pt x="1108" y="1174"/>
                  </a:lnTo>
                  <a:lnTo>
                    <a:pt x="1112" y="1182"/>
                  </a:lnTo>
                  <a:lnTo>
                    <a:pt x="1118" y="1190"/>
                  </a:lnTo>
                  <a:lnTo>
                    <a:pt x="1118" y="1190"/>
                  </a:lnTo>
                  <a:lnTo>
                    <a:pt x="1126" y="1194"/>
                  </a:lnTo>
                  <a:lnTo>
                    <a:pt x="1134" y="1200"/>
                  </a:lnTo>
                  <a:lnTo>
                    <a:pt x="1142" y="1202"/>
                  </a:lnTo>
                  <a:lnTo>
                    <a:pt x="1152" y="1204"/>
                  </a:lnTo>
                  <a:lnTo>
                    <a:pt x="1874" y="1206"/>
                  </a:lnTo>
                  <a:lnTo>
                    <a:pt x="1874" y="1206"/>
                  </a:lnTo>
                  <a:lnTo>
                    <a:pt x="1892" y="1206"/>
                  </a:lnTo>
                  <a:lnTo>
                    <a:pt x="1910" y="1202"/>
                  </a:lnTo>
                  <a:lnTo>
                    <a:pt x="1926" y="1194"/>
                  </a:lnTo>
                  <a:lnTo>
                    <a:pt x="1940" y="1182"/>
                  </a:lnTo>
                  <a:lnTo>
                    <a:pt x="1940" y="1182"/>
                  </a:lnTo>
                  <a:lnTo>
                    <a:pt x="1952" y="1168"/>
                  </a:lnTo>
                  <a:lnTo>
                    <a:pt x="1960" y="1152"/>
                  </a:lnTo>
                  <a:lnTo>
                    <a:pt x="1964" y="1134"/>
                  </a:lnTo>
                  <a:lnTo>
                    <a:pt x="1964" y="1116"/>
                  </a:lnTo>
                  <a:lnTo>
                    <a:pt x="1964" y="1116"/>
                  </a:lnTo>
                  <a:close/>
                </a:path>
              </a:pathLst>
            </a:custGeom>
            <a:gradFill>
              <a:gsLst>
                <a:gs pos="100000">
                  <a:schemeClr val="accent3">
                    <a:lumMod val="40000"/>
                    <a:lumOff val="60000"/>
                  </a:schemeClr>
                </a:gs>
                <a:gs pos="0">
                  <a:schemeClr val="accent1"/>
                </a:gs>
              </a:gsLst>
              <a:lin ang="3000000" scaled="0"/>
            </a:gradFill>
            <a:ln>
              <a:solidFill>
                <a:schemeClr val="bg1"/>
              </a:solidFill>
            </a:ln>
          </p:spPr>
          <p:txBody>
            <a:bodyPr spcFirstLastPara="1" wrap="square" lIns="91409" tIns="45688" rIns="91409" bIns="45688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defTabSz="914126"/>
              <a:endParaRPr lang="en-US" sz="1799" kern="0" noProof="0"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grpSp>
        <p:nvGrpSpPr>
          <p:cNvPr id="2097" name="Group 2096">
            <a:extLst>
              <a:ext uri="{FF2B5EF4-FFF2-40B4-BE49-F238E27FC236}">
                <a16:creationId xmlns:a16="http://schemas.microsoft.com/office/drawing/2014/main" id="{49F29E0F-5307-CAAD-F647-A70E29AF28AD}"/>
              </a:ext>
            </a:extLst>
          </p:cNvPr>
          <p:cNvGrpSpPr/>
          <p:nvPr/>
        </p:nvGrpSpPr>
        <p:grpSpPr>
          <a:xfrm>
            <a:off x="4165147" y="3500124"/>
            <a:ext cx="5373028" cy="884783"/>
            <a:chOff x="3939164" y="3686130"/>
            <a:chExt cx="4471026" cy="784510"/>
          </a:xfrm>
        </p:grpSpPr>
        <p:sp>
          <p:nvSpPr>
            <p:cNvPr id="2091" name="Rounded Rectangle 2090">
              <a:extLst>
                <a:ext uri="{FF2B5EF4-FFF2-40B4-BE49-F238E27FC236}">
                  <a16:creationId xmlns:a16="http://schemas.microsoft.com/office/drawing/2014/main" id="{5273B171-7B84-9B9E-43E9-26AE4F03D844}"/>
                </a:ext>
              </a:extLst>
            </p:cNvPr>
            <p:cNvSpPr/>
            <p:nvPr/>
          </p:nvSpPr>
          <p:spPr>
            <a:xfrm>
              <a:off x="3939164" y="3686132"/>
              <a:ext cx="1454150" cy="37366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r"/>
              <a:endParaRPr lang="en-US" sz="800" b="1">
                <a:solidFill>
                  <a:schemeClr val="accent5"/>
                </a:solidFill>
              </a:endParaRPr>
            </a:p>
          </p:txBody>
        </p:sp>
        <p:sp>
          <p:nvSpPr>
            <p:cNvPr id="2092" name="Rounded Rectangle 2091">
              <a:extLst>
                <a:ext uri="{FF2B5EF4-FFF2-40B4-BE49-F238E27FC236}">
                  <a16:creationId xmlns:a16="http://schemas.microsoft.com/office/drawing/2014/main" id="{6697B181-3AD6-A075-128A-46BD70D27681}"/>
                </a:ext>
              </a:extLst>
            </p:cNvPr>
            <p:cNvSpPr/>
            <p:nvPr/>
          </p:nvSpPr>
          <p:spPr>
            <a:xfrm>
              <a:off x="5447289" y="3686132"/>
              <a:ext cx="1454150" cy="37366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r"/>
              <a:endParaRPr lang="en-US" sz="800" b="1">
                <a:solidFill>
                  <a:schemeClr val="accent5"/>
                </a:solidFill>
              </a:endParaRPr>
            </a:p>
          </p:txBody>
        </p:sp>
        <p:sp>
          <p:nvSpPr>
            <p:cNvPr id="2093" name="Rounded Rectangle 2092">
              <a:extLst>
                <a:ext uri="{FF2B5EF4-FFF2-40B4-BE49-F238E27FC236}">
                  <a16:creationId xmlns:a16="http://schemas.microsoft.com/office/drawing/2014/main" id="{B97B0FB4-28BC-D99F-7D77-217E73E1619A}"/>
                </a:ext>
              </a:extLst>
            </p:cNvPr>
            <p:cNvSpPr/>
            <p:nvPr/>
          </p:nvSpPr>
          <p:spPr>
            <a:xfrm>
              <a:off x="6956040" y="3686130"/>
              <a:ext cx="1454150" cy="37366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r"/>
              <a:endParaRPr lang="en-US" sz="800" b="1">
                <a:solidFill>
                  <a:schemeClr val="accent5"/>
                </a:solidFill>
              </a:endParaRPr>
            </a:p>
          </p:txBody>
        </p:sp>
        <p:sp>
          <p:nvSpPr>
            <p:cNvPr id="2094" name="Rounded Rectangle 2093">
              <a:extLst>
                <a:ext uri="{FF2B5EF4-FFF2-40B4-BE49-F238E27FC236}">
                  <a16:creationId xmlns:a16="http://schemas.microsoft.com/office/drawing/2014/main" id="{53E96017-7BDE-8C6A-DC41-E1825E6E2F66}"/>
                </a:ext>
              </a:extLst>
            </p:cNvPr>
            <p:cNvSpPr/>
            <p:nvPr/>
          </p:nvSpPr>
          <p:spPr>
            <a:xfrm>
              <a:off x="3939164" y="4096974"/>
              <a:ext cx="1454150" cy="37366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r"/>
              <a:endParaRPr lang="en-US" sz="800" b="1">
                <a:solidFill>
                  <a:schemeClr val="accent5"/>
                </a:solidFill>
              </a:endParaRPr>
            </a:p>
          </p:txBody>
        </p:sp>
        <p:sp>
          <p:nvSpPr>
            <p:cNvPr id="2096" name="Rounded Rectangle 2095">
              <a:extLst>
                <a:ext uri="{FF2B5EF4-FFF2-40B4-BE49-F238E27FC236}">
                  <a16:creationId xmlns:a16="http://schemas.microsoft.com/office/drawing/2014/main" id="{4B5AA3B0-C2FA-9F02-0A51-8B59D7212925}"/>
                </a:ext>
              </a:extLst>
            </p:cNvPr>
            <p:cNvSpPr/>
            <p:nvPr/>
          </p:nvSpPr>
          <p:spPr>
            <a:xfrm>
              <a:off x="6956040" y="4096972"/>
              <a:ext cx="1454150" cy="37366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r"/>
              <a:endParaRPr lang="en-US">
                <a:solidFill>
                  <a:schemeClr val="accent5"/>
                </a:solidFill>
                <a:cs typeface="Arial"/>
              </a:endParaRPr>
            </a:p>
          </p:txBody>
        </p:sp>
        <p:sp>
          <p:nvSpPr>
            <p:cNvPr id="2095" name="Rounded Rectangle 2094">
              <a:extLst>
                <a:ext uri="{FF2B5EF4-FFF2-40B4-BE49-F238E27FC236}">
                  <a16:creationId xmlns:a16="http://schemas.microsoft.com/office/drawing/2014/main" id="{D3B2B38C-261E-EEBF-FA5D-203BD8944C9B}"/>
                </a:ext>
              </a:extLst>
            </p:cNvPr>
            <p:cNvSpPr/>
            <p:nvPr/>
          </p:nvSpPr>
          <p:spPr>
            <a:xfrm>
              <a:off x="5447289" y="4096974"/>
              <a:ext cx="1454150" cy="373666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r"/>
              <a:endParaRPr lang="en-US" sz="800" b="1">
                <a:solidFill>
                  <a:schemeClr val="accent5"/>
                </a:solidFill>
              </a:endParaRPr>
            </a:p>
          </p:txBody>
        </p:sp>
      </p:grpSp>
      <p:sp>
        <p:nvSpPr>
          <p:cNvPr id="2100" name="Down Arrow 2099">
            <a:extLst>
              <a:ext uri="{FF2B5EF4-FFF2-40B4-BE49-F238E27FC236}">
                <a16:creationId xmlns:a16="http://schemas.microsoft.com/office/drawing/2014/main" id="{09BAE3B9-EF3D-82E2-74D3-90284372AEDC}"/>
              </a:ext>
            </a:extLst>
          </p:cNvPr>
          <p:cNvSpPr/>
          <p:nvPr/>
        </p:nvSpPr>
        <p:spPr>
          <a:xfrm>
            <a:off x="6703463" y="2897889"/>
            <a:ext cx="318811" cy="609390"/>
          </a:xfrm>
          <a:prstGeom prst="downArrow">
            <a:avLst/>
          </a:prstGeom>
          <a:gradFill>
            <a:gsLst>
              <a:gs pos="100000">
                <a:schemeClr val="accent3">
                  <a:lumMod val="40000"/>
                  <a:lumOff val="60000"/>
                </a:schemeClr>
              </a:gs>
              <a:gs pos="0">
                <a:schemeClr val="accent1"/>
              </a:gs>
            </a:gsLst>
            <a:lin ang="162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A cartoon of a robot holding a magnifying glass&#10;&#10;AI-generated content may be incorrect.">
            <a:extLst>
              <a:ext uri="{FF2B5EF4-FFF2-40B4-BE49-F238E27FC236}">
                <a16:creationId xmlns:a16="http://schemas.microsoft.com/office/drawing/2014/main" id="{865E1B72-B383-0D4E-4D0A-9AE63CBB6C2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0522"/>
          <a:stretch>
            <a:fillRect/>
          </a:stretch>
        </p:blipFill>
        <p:spPr>
          <a:xfrm>
            <a:off x="7818169" y="3995691"/>
            <a:ext cx="505272" cy="340718"/>
          </a:xfrm>
          <a:prstGeom prst="rect">
            <a:avLst/>
          </a:prstGeom>
        </p:spPr>
      </p:pic>
      <p:pic>
        <p:nvPicPr>
          <p:cNvPr id="40" name="Picture 39" descr="A group of cartoon characters&#10;&#10;AI-generated content may be incorrect.">
            <a:extLst>
              <a:ext uri="{FF2B5EF4-FFF2-40B4-BE49-F238E27FC236}">
                <a16:creationId xmlns:a16="http://schemas.microsoft.com/office/drawing/2014/main" id="{B1E79A45-8368-17B7-FCA8-90ED59741C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5357" y="3556160"/>
            <a:ext cx="470188" cy="318420"/>
          </a:xfrm>
          <a:prstGeom prst="rect">
            <a:avLst/>
          </a:prstGeom>
        </p:spPr>
      </p:pic>
      <p:pic>
        <p:nvPicPr>
          <p:cNvPr id="41" name="Picture 40" descr="A group of cartoon characters&#10;&#10;AI-generated content may be incorrect.">
            <a:extLst>
              <a:ext uri="{FF2B5EF4-FFF2-40B4-BE49-F238E27FC236}">
                <a16:creationId xmlns:a16="http://schemas.microsoft.com/office/drawing/2014/main" id="{D06B6794-4879-9663-4FF2-1530FB631F6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8914" y="3524068"/>
            <a:ext cx="485876" cy="388140"/>
          </a:xfrm>
          <a:prstGeom prst="rect">
            <a:avLst/>
          </a:prstGeom>
        </p:spPr>
      </p:pic>
      <p:pic>
        <p:nvPicPr>
          <p:cNvPr id="43" name="Picture 42" descr="A group of cartoon characters&#10;&#10;AI-generated content may be incorrect.">
            <a:extLst>
              <a:ext uri="{FF2B5EF4-FFF2-40B4-BE49-F238E27FC236}">
                <a16:creationId xmlns:a16="http://schemas.microsoft.com/office/drawing/2014/main" id="{3E88C499-0E8B-F18F-4B66-92F2A7ECEDD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8673" y="3527137"/>
            <a:ext cx="446656" cy="353402"/>
          </a:xfrm>
          <a:prstGeom prst="rect">
            <a:avLst/>
          </a:prstGeom>
        </p:spPr>
      </p:pic>
      <p:pic>
        <p:nvPicPr>
          <p:cNvPr id="44" name="Picture 43" descr="A group of cartoon characters&#10;&#10;AI-generated content may be incorrect.">
            <a:extLst>
              <a:ext uri="{FF2B5EF4-FFF2-40B4-BE49-F238E27FC236}">
                <a16:creationId xmlns:a16="http://schemas.microsoft.com/office/drawing/2014/main" id="{B9D2AD8F-3FA7-1144-DBBF-958F3BEA98C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66795" y="3982559"/>
            <a:ext cx="468507" cy="369090"/>
          </a:xfrm>
          <a:prstGeom prst="rect">
            <a:avLst/>
          </a:prstGeom>
        </p:spPr>
      </p:pic>
      <p:pic>
        <p:nvPicPr>
          <p:cNvPr id="42" name="Picture 41" descr="A cartoon of a robot holding a wrench&#10;&#10;AI-generated content may be incorrect.">
            <a:extLst>
              <a:ext uri="{FF2B5EF4-FFF2-40B4-BE49-F238E27FC236}">
                <a16:creationId xmlns:a16="http://schemas.microsoft.com/office/drawing/2014/main" id="{72683F52-5D5F-F205-4A3F-F1EE9A067DA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13839" y="3987657"/>
            <a:ext cx="585293" cy="3847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279EED-3BFB-AD83-7644-74B40D826C7F}"/>
              </a:ext>
            </a:extLst>
          </p:cNvPr>
          <p:cNvSpPr txBox="1"/>
          <p:nvPr/>
        </p:nvSpPr>
        <p:spPr>
          <a:xfrm>
            <a:off x="4699253" y="3614284"/>
            <a:ext cx="12543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b="1">
                <a:solidFill>
                  <a:schemeClr val="accent6">
                    <a:lumMod val="75000"/>
                  </a:schemeClr>
                </a:solidFill>
              </a:rPr>
              <a:t>MARKETING AGENTS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8B354B-1D7F-DD94-5B4D-2412DB399517}"/>
              </a:ext>
            </a:extLst>
          </p:cNvPr>
          <p:cNvSpPr txBox="1"/>
          <p:nvPr/>
        </p:nvSpPr>
        <p:spPr>
          <a:xfrm>
            <a:off x="4699253" y="4066077"/>
            <a:ext cx="12543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b="1">
                <a:solidFill>
                  <a:schemeClr val="accent6">
                    <a:lumMod val="75000"/>
                  </a:schemeClr>
                </a:solidFill>
              </a:rPr>
              <a:t>COMMERCE AGENTS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0BC044-2783-F815-02ED-9333827886B7}"/>
              </a:ext>
            </a:extLst>
          </p:cNvPr>
          <p:cNvSpPr txBox="1"/>
          <p:nvPr/>
        </p:nvSpPr>
        <p:spPr>
          <a:xfrm>
            <a:off x="6474157" y="3614284"/>
            <a:ext cx="12543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b="1">
                <a:solidFill>
                  <a:schemeClr val="accent6">
                    <a:lumMod val="75000"/>
                  </a:schemeClr>
                </a:solidFill>
              </a:rPr>
              <a:t>SALES AGENTS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E5D853-35DE-A234-AFEF-8915FE01642C}"/>
              </a:ext>
            </a:extLst>
          </p:cNvPr>
          <p:cNvSpPr txBox="1"/>
          <p:nvPr/>
        </p:nvSpPr>
        <p:spPr>
          <a:xfrm>
            <a:off x="6474157" y="4066077"/>
            <a:ext cx="12543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b="1">
                <a:solidFill>
                  <a:schemeClr val="accent6">
                    <a:lumMod val="75000"/>
                  </a:schemeClr>
                </a:solidFill>
              </a:rPr>
              <a:t>SERVICE AGENTS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A19615-BEE9-B9DF-9650-BF1B436619C4}"/>
              </a:ext>
            </a:extLst>
          </p:cNvPr>
          <p:cNvSpPr txBox="1"/>
          <p:nvPr/>
        </p:nvSpPr>
        <p:spPr>
          <a:xfrm>
            <a:off x="8176061" y="4066077"/>
            <a:ext cx="148328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b="1">
                <a:solidFill>
                  <a:schemeClr val="accent6">
                    <a:lumMod val="75000"/>
                  </a:schemeClr>
                </a:solidFill>
              </a:rPr>
              <a:t>INTELLIGENCE AGENTS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4478A7-A9D8-88F7-CCC1-54A6B21A0226}"/>
              </a:ext>
            </a:extLst>
          </p:cNvPr>
          <p:cNvSpPr txBox="1"/>
          <p:nvPr/>
        </p:nvSpPr>
        <p:spPr>
          <a:xfrm>
            <a:off x="8290519" y="3614284"/>
            <a:ext cx="12543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b="1">
                <a:solidFill>
                  <a:schemeClr val="accent6">
                    <a:lumMod val="75000"/>
                  </a:schemeClr>
                </a:solidFill>
              </a:rPr>
              <a:t>PRICING AGENTS</a:t>
            </a:r>
          </a:p>
        </p:txBody>
      </p:sp>
    </p:spTree>
    <p:extLst>
      <p:ext uri="{BB962C8B-B14F-4D97-AF65-F5344CB8AC3E}">
        <p14:creationId xmlns:p14="http://schemas.microsoft.com/office/powerpoint/2010/main" val="779755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F9CDC-6BEF-CB08-E37E-B01665D53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2379;p339">
            <a:extLst>
              <a:ext uri="{FF2B5EF4-FFF2-40B4-BE49-F238E27FC236}">
                <a16:creationId xmlns:a16="http://schemas.microsoft.com/office/drawing/2014/main" id="{87FDD5A2-9001-E4DD-0820-F9D0DF164B1A}"/>
              </a:ext>
            </a:extLst>
          </p:cNvPr>
          <p:cNvSpPr txBox="1">
            <a:spLocks/>
          </p:cNvSpPr>
          <p:nvPr/>
        </p:nvSpPr>
        <p:spPr>
          <a:xfrm>
            <a:off x="397667" y="402338"/>
            <a:ext cx="11403809" cy="5152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DESIGNED TO AUGMENT HUMAN POTENTIAL</a:t>
            </a:r>
            <a:endParaRPr lang="en-US" sz="1100" b="1">
              <a:solidFill>
                <a:srgbClr val="000000"/>
              </a:solidFill>
              <a:latin typeface="Arial"/>
              <a:ea typeface="+mj-lt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>
                <a:solidFill>
                  <a:srgbClr val="000000"/>
                </a:solidFill>
                <a:latin typeface="Arial"/>
                <a:ea typeface="+mj-lt"/>
                <a:cs typeface="Arial"/>
              </a:rPr>
              <a:t>The Agentic Front Office reorganizes work around customer moments — not functions</a:t>
            </a:r>
            <a:endParaRPr lang="en-US" sz="2400"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0" name="Google Shape;893;p81">
            <a:extLst>
              <a:ext uri="{FF2B5EF4-FFF2-40B4-BE49-F238E27FC236}">
                <a16:creationId xmlns:a16="http://schemas.microsoft.com/office/drawing/2014/main" id="{7F18181C-FE03-FF90-3EF9-D5F68FF71F90}"/>
              </a:ext>
            </a:extLst>
          </p:cNvPr>
          <p:cNvSpPr txBox="1">
            <a:spLocks/>
          </p:cNvSpPr>
          <p:nvPr/>
        </p:nvSpPr>
        <p:spPr>
          <a:xfrm>
            <a:off x="11503818" y="6501384"/>
            <a:ext cx="298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sp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GB" sz="105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lang="en-GB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E79C09-2CEE-B251-BF0F-C2642748D9B1}"/>
              </a:ext>
            </a:extLst>
          </p:cNvPr>
          <p:cNvSpPr txBox="1"/>
          <p:nvPr/>
        </p:nvSpPr>
        <p:spPr>
          <a:xfrm>
            <a:off x="393002" y="1321690"/>
            <a:ext cx="11371384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cs typeface="Arial"/>
              </a:rPr>
              <a:t>The traditional funnel was designed around how organizations process customers, not around how customers buy.</a:t>
            </a:r>
            <a:endParaRPr lang="en-US" sz="16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>
                <a:cs typeface="Arial"/>
              </a:rPr>
              <a:t>In an agentic world, that model is obsolete.</a:t>
            </a:r>
          </a:p>
          <a:p>
            <a:r>
              <a:rPr lang="en-US" sz="600">
                <a:solidFill>
                  <a:schemeClr val="bg1"/>
                </a:solidFill>
                <a:cs typeface="Arial"/>
              </a:rPr>
              <a:t>k</a:t>
            </a:r>
            <a:br>
              <a:rPr lang="en-US" sz="1600">
                <a:cs typeface="Arial"/>
              </a:rPr>
            </a:br>
            <a:r>
              <a:rPr lang="en-US" sz="1600">
                <a:cs typeface="Arial"/>
              </a:rPr>
              <a:t>The new organizing principle is four customer moments — each one an opportunity for </a:t>
            </a:r>
            <a:r>
              <a:rPr lang="en-US" sz="1600" b="1">
                <a:cs typeface="Arial"/>
              </a:rPr>
              <a:t>agents to execute and humans to lead.</a:t>
            </a:r>
          </a:p>
          <a:p>
            <a:endParaRPr lang="en-US" sz="1600">
              <a:cs typeface="Arial"/>
            </a:endParaRPr>
          </a:p>
          <a:p>
            <a:endParaRPr lang="en-US" sz="1600">
              <a:cs typeface="Arial"/>
            </a:endParaRPr>
          </a:p>
          <a:p>
            <a:pPr algn="l"/>
            <a:endParaRPr lang="en-US" sz="1600">
              <a:latin typeface="Arial"/>
              <a:cs typeface="Arial"/>
            </a:endParaRP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B8B49D35-1311-0B59-72C9-A530B7CA1365}"/>
              </a:ext>
            </a:extLst>
          </p:cNvPr>
          <p:cNvGrpSpPr>
            <a:grpSpLocks noChangeAspect="1"/>
          </p:cNvGrpSpPr>
          <p:nvPr/>
        </p:nvGrpSpPr>
        <p:grpSpPr>
          <a:xfrm>
            <a:off x="11288805" y="89857"/>
            <a:ext cx="791838" cy="308069"/>
            <a:chOff x="1089339" y="1973537"/>
            <a:chExt cx="10318108" cy="4014326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A6373C4C-9427-2179-099C-3FC95A04431B}"/>
                </a:ext>
              </a:extLst>
            </p:cNvPr>
            <p:cNvSpPr/>
            <p:nvPr/>
          </p:nvSpPr>
          <p:spPr>
            <a:xfrm>
              <a:off x="6334499" y="1973537"/>
              <a:ext cx="5072948" cy="19095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4"/>
              </a:solidFill>
            </a:ln>
            <a:effectLst>
              <a:outerShdw blurRad="50800" dist="50800" dir="5400000" algn="ctr" rotWithShape="0">
                <a:schemeClr val="accent1">
                  <a:alpha val="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18A1D46A-8F21-F303-52A5-EA6EDE4D4417}"/>
                </a:ext>
              </a:extLst>
            </p:cNvPr>
            <p:cNvSpPr/>
            <p:nvPr/>
          </p:nvSpPr>
          <p:spPr>
            <a:xfrm>
              <a:off x="1089352" y="1973537"/>
              <a:ext cx="5072948" cy="19095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4"/>
              </a:solidFill>
            </a:ln>
            <a:effectLst>
              <a:outerShdw blurRad="50800" dist="50800" dir="5400000" algn="ctr" rotWithShape="0">
                <a:schemeClr val="accent1">
                  <a:alpha val="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10CFCCCC-2AC7-4E4A-3CF2-25624DB1CD82}"/>
                </a:ext>
              </a:extLst>
            </p:cNvPr>
            <p:cNvSpPr/>
            <p:nvPr/>
          </p:nvSpPr>
          <p:spPr>
            <a:xfrm>
              <a:off x="6334502" y="4078262"/>
              <a:ext cx="5072945" cy="19096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4"/>
              </a:solidFill>
            </a:ln>
            <a:effectLst>
              <a:outerShdw blurRad="50800" dist="50800" dir="5400000" algn="ctr" rotWithShape="0">
                <a:schemeClr val="accent1">
                  <a:alpha val="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A6E063CA-4A18-72CA-761B-654A8EAA4912}"/>
                </a:ext>
              </a:extLst>
            </p:cNvPr>
            <p:cNvSpPr/>
            <p:nvPr/>
          </p:nvSpPr>
          <p:spPr>
            <a:xfrm>
              <a:off x="1089339" y="4060063"/>
              <a:ext cx="5072948" cy="19095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/>
              </a:solidFill>
            </a:ln>
            <a:effectLst>
              <a:outerShdw blurRad="50800" dist="50800" dir="5400000" algn="ctr" rotWithShape="0">
                <a:schemeClr val="accent1">
                  <a:alpha val="4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b="1">
                <a:solidFill>
                  <a:schemeClr val="tx1"/>
                </a:solidFill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EED7B383-B322-8605-4F97-21E528E720EF}"/>
              </a:ext>
            </a:extLst>
          </p:cNvPr>
          <p:cNvGrpSpPr/>
          <p:nvPr/>
        </p:nvGrpSpPr>
        <p:grpSpPr>
          <a:xfrm>
            <a:off x="537625" y="2268304"/>
            <a:ext cx="10828883" cy="3917761"/>
            <a:chOff x="655215" y="2315805"/>
            <a:chExt cx="10828883" cy="3917761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FF59F375-9D43-075C-5712-08A5DAFCF5B5}"/>
                </a:ext>
              </a:extLst>
            </p:cNvPr>
            <p:cNvGrpSpPr/>
            <p:nvPr/>
          </p:nvGrpSpPr>
          <p:grpSpPr>
            <a:xfrm>
              <a:off x="895616" y="2315805"/>
              <a:ext cx="10588482" cy="3917761"/>
              <a:chOff x="870731" y="2190301"/>
              <a:chExt cx="10588482" cy="3917761"/>
            </a:xfrm>
          </p:grpSpPr>
          <p:pic>
            <p:nvPicPr>
              <p:cNvPr id="104" name="Picture 103">
                <a:extLst>
                  <a:ext uri="{FF2B5EF4-FFF2-40B4-BE49-F238E27FC236}">
                    <a16:creationId xmlns:a16="http://schemas.microsoft.com/office/drawing/2014/main" id="{0A0E6847-5558-DE7B-BC53-D3B4C4F4DB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7558"/>
              <a:stretch>
                <a:fillRect/>
              </a:stretch>
            </p:blipFill>
            <p:spPr>
              <a:xfrm>
                <a:off x="1726063" y="4311296"/>
                <a:ext cx="9733150" cy="1623199"/>
              </a:xfrm>
              <a:prstGeom prst="rect">
                <a:avLst/>
              </a:prstGeom>
            </p:spPr>
          </p:pic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32B3B956-881C-D3A1-066E-EAFC50AB99E0}"/>
                  </a:ext>
                </a:extLst>
              </p:cNvPr>
              <p:cNvGrpSpPr/>
              <p:nvPr/>
            </p:nvGrpSpPr>
            <p:grpSpPr>
              <a:xfrm>
                <a:off x="2016611" y="2962003"/>
                <a:ext cx="9254888" cy="1019432"/>
                <a:chOff x="2248930" y="1835318"/>
                <a:chExt cx="5931239" cy="1131863"/>
              </a:xfrm>
            </p:grpSpPr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632F93AE-A2CD-7BB2-E1C9-986358EF7D28}"/>
                    </a:ext>
                  </a:extLst>
                </p:cNvPr>
                <p:cNvSpPr/>
                <p:nvPr/>
              </p:nvSpPr>
              <p:spPr>
                <a:xfrm>
                  <a:off x="2248930" y="1835318"/>
                  <a:ext cx="1433384" cy="1131858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000" i="1">
                      <a:solidFill>
                        <a:schemeClr val="tx1"/>
                      </a:solidFill>
                      <a:cs typeface="Arial"/>
                    </a:rPr>
                    <a:t>Sense intent signals and qualify demand in real time, activating the right opportunities early.</a:t>
                  </a:r>
                  <a:endParaRPr lang="en-US" sz="2000" i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FDBFBE4C-16ED-C3E9-CA32-7BD89C3A13D5}"/>
                    </a:ext>
                  </a:extLst>
                </p:cNvPr>
                <p:cNvSpPr/>
                <p:nvPr/>
              </p:nvSpPr>
              <p:spPr>
                <a:xfrm>
                  <a:off x="3748215" y="1835318"/>
                  <a:ext cx="1433384" cy="1131855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000" i="1">
                      <a:solidFill>
                        <a:schemeClr val="tx1"/>
                      </a:solidFill>
                      <a:cs typeface="Arial"/>
                    </a:rPr>
                    <a:t>Guide buyer decisions with dynamic insights, pricing, and next-best actions tailored to context.</a:t>
                  </a:r>
                  <a:endParaRPr lang="en-US" sz="1000" i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109D4FF8-F402-ED21-9EFC-E52AB1DBE700}"/>
                    </a:ext>
                  </a:extLst>
                </p:cNvPr>
                <p:cNvSpPr/>
                <p:nvPr/>
              </p:nvSpPr>
              <p:spPr>
                <a:xfrm>
                  <a:off x="5247500" y="1835323"/>
                  <a:ext cx="1433384" cy="1131858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000" i="1">
                      <a:solidFill>
                        <a:schemeClr val="tx1"/>
                      </a:solidFill>
                      <a:cs typeface="Arial"/>
                    </a:rPr>
                    <a:t>Convert opportunities through seamless quoting, contracting, and approvals within defined guardrails.</a:t>
                  </a:r>
                  <a:endParaRPr lang="en-US" sz="1000" i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0323AF72-1AB1-2F11-E55E-EDBF53E646E9}"/>
                    </a:ext>
                  </a:extLst>
                </p:cNvPr>
                <p:cNvSpPr/>
                <p:nvPr/>
              </p:nvSpPr>
              <p:spPr>
                <a:xfrm>
                  <a:off x="6746785" y="1835323"/>
                  <a:ext cx="1433384" cy="1131858"/>
                </a:xfrm>
                <a:prstGeom prst="rect">
                  <a:avLst/>
                </a:prstGeom>
                <a:solidFill>
                  <a:schemeClr val="accent3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sz="1000" i="1">
                      <a:solidFill>
                        <a:schemeClr val="tx1"/>
                      </a:solidFill>
                      <a:cs typeface="Arial"/>
                    </a:rPr>
                    <a:t>Drive ongoing growth through proactive renewals, upsell signals, and continuous relationship expansion.</a:t>
                  </a:r>
                  <a:endParaRPr lang="en-US" sz="1000" i="1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90CE42BE-42E3-F9DB-BACA-F9F8B95EE170}"/>
                  </a:ext>
                </a:extLst>
              </p:cNvPr>
              <p:cNvGrpSpPr/>
              <p:nvPr/>
            </p:nvGrpSpPr>
            <p:grpSpPr>
              <a:xfrm>
                <a:off x="2016611" y="2675952"/>
                <a:ext cx="9254888" cy="286051"/>
                <a:chOff x="2248930" y="2224216"/>
                <a:chExt cx="5931239" cy="457200"/>
              </a:xfrm>
              <a:solidFill>
                <a:schemeClr val="bg1"/>
              </a:solidFill>
              <a:effectLst>
                <a:outerShdw blurRad="50800" dist="50800" dir="5400000" algn="ctr" rotWithShape="0">
                  <a:srgbClr val="000000">
                    <a:alpha val="27240"/>
                  </a:srgbClr>
                </a:outerShdw>
              </a:effectLst>
            </p:grpSpPr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B557E0D1-A42B-3AE3-9554-D98E9CCF5F36}"/>
                    </a:ext>
                  </a:extLst>
                </p:cNvPr>
                <p:cNvSpPr/>
                <p:nvPr/>
              </p:nvSpPr>
              <p:spPr>
                <a:xfrm>
                  <a:off x="2248930" y="2224216"/>
                  <a:ext cx="1433384" cy="457200"/>
                </a:xfrm>
                <a:prstGeom prst="rect">
                  <a:avLst/>
                </a:prstGeom>
                <a:grpFill/>
                <a:ln w="63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>
                      <a:solidFill>
                        <a:schemeClr val="tx1"/>
                      </a:solidFill>
                    </a:rPr>
                    <a:t>DISCOVERY</a:t>
                  </a: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A06A9BB3-AA14-1F3E-3BFF-F394CD30FC61}"/>
                    </a:ext>
                  </a:extLst>
                </p:cNvPr>
                <p:cNvSpPr/>
                <p:nvPr/>
              </p:nvSpPr>
              <p:spPr>
                <a:xfrm>
                  <a:off x="3748215" y="2224216"/>
                  <a:ext cx="1433384" cy="457200"/>
                </a:xfrm>
                <a:prstGeom prst="rect">
                  <a:avLst/>
                </a:prstGeom>
                <a:grpFill/>
                <a:ln w="63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>
                      <a:solidFill>
                        <a:schemeClr val="tx1"/>
                      </a:solidFill>
                    </a:rPr>
                    <a:t>EVALUATION</a:t>
                  </a: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35816B66-2827-A9DD-F326-C7743DDF116E}"/>
                    </a:ext>
                  </a:extLst>
                </p:cNvPr>
                <p:cNvSpPr/>
                <p:nvPr/>
              </p:nvSpPr>
              <p:spPr>
                <a:xfrm>
                  <a:off x="5247500" y="2224216"/>
                  <a:ext cx="1433384" cy="457200"/>
                </a:xfrm>
                <a:prstGeom prst="rect">
                  <a:avLst/>
                </a:prstGeom>
                <a:grpFill/>
                <a:ln w="63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>
                      <a:solidFill>
                        <a:schemeClr val="tx1"/>
                      </a:solidFill>
                    </a:rPr>
                    <a:t>COMMITMENT</a:t>
                  </a: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C04D6DCA-65B7-64B6-1C73-24FF82C8DF45}"/>
                    </a:ext>
                  </a:extLst>
                </p:cNvPr>
                <p:cNvSpPr/>
                <p:nvPr/>
              </p:nvSpPr>
              <p:spPr>
                <a:xfrm>
                  <a:off x="6746785" y="2224216"/>
                  <a:ext cx="1433384" cy="457200"/>
                </a:xfrm>
                <a:prstGeom prst="rect">
                  <a:avLst/>
                </a:prstGeom>
                <a:grpFill/>
                <a:ln w="63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b="1">
                      <a:solidFill>
                        <a:schemeClr val="tx1"/>
                      </a:solidFill>
                    </a:rPr>
                    <a:t>EXPANSION</a:t>
                  </a:r>
                </a:p>
              </p:txBody>
            </p:sp>
          </p:grpSp>
          <p:sp>
            <p:nvSpPr>
              <p:cNvPr id="80" name="Left Bracket 79">
                <a:extLst>
                  <a:ext uri="{FF2B5EF4-FFF2-40B4-BE49-F238E27FC236}">
                    <a16:creationId xmlns:a16="http://schemas.microsoft.com/office/drawing/2014/main" id="{75A53FF1-1F47-3909-233D-B8BDC7068B3E}"/>
                  </a:ext>
                </a:extLst>
              </p:cNvPr>
              <p:cNvSpPr/>
              <p:nvPr/>
            </p:nvSpPr>
            <p:spPr>
              <a:xfrm rot="5400000">
                <a:off x="6555422" y="-2124710"/>
                <a:ext cx="177265" cy="9254888"/>
              </a:xfrm>
              <a:prstGeom prst="leftBracket">
                <a:avLst/>
              </a:prstGeom>
              <a:ln w="1270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4C74554F-0F9F-8BAB-63AD-0CC52B59D20F}"/>
                  </a:ext>
                </a:extLst>
              </p:cNvPr>
              <p:cNvSpPr/>
              <p:nvPr/>
            </p:nvSpPr>
            <p:spPr>
              <a:xfrm>
                <a:off x="5281217" y="2190301"/>
                <a:ext cx="2725674" cy="3421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>
                    <a:solidFill>
                      <a:schemeClr val="accent1"/>
                    </a:solidFill>
                  </a:rPr>
                  <a:t>FOUR CUSTOMER MOMENTS</a:t>
                </a:r>
              </a:p>
            </p:txBody>
          </p:sp>
          <p:sp>
            <p:nvSpPr>
              <p:cNvPr id="85" name="Down Arrow 84">
                <a:extLst>
                  <a:ext uri="{FF2B5EF4-FFF2-40B4-BE49-F238E27FC236}">
                    <a16:creationId xmlns:a16="http://schemas.microsoft.com/office/drawing/2014/main" id="{62E81648-6D65-9DD3-55FD-AC4DB3EF75B6}"/>
                  </a:ext>
                </a:extLst>
              </p:cNvPr>
              <p:cNvSpPr/>
              <p:nvPr/>
            </p:nvSpPr>
            <p:spPr>
              <a:xfrm rot="16200000">
                <a:off x="6468585" y="-646017"/>
                <a:ext cx="350938" cy="9254889"/>
              </a:xfrm>
              <a:prstGeom prst="downArrow">
                <a:avLst/>
              </a:prstGeom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41F61EC9-32CA-A507-FCB3-124D61BB22EC}"/>
                  </a:ext>
                </a:extLst>
              </p:cNvPr>
              <p:cNvSpPr/>
              <p:nvPr/>
            </p:nvSpPr>
            <p:spPr>
              <a:xfrm>
                <a:off x="870731" y="4137729"/>
                <a:ext cx="1040370" cy="780565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accent5"/>
                </a:solidFill>
              </a:ln>
              <a:effectLst>
                <a:outerShdw blurRad="50800" dist="50800" dir="5400000" algn="ctr" rotWithShape="0">
                  <a:srgbClr val="000000">
                    <a:alpha val="24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200" b="1">
                    <a:solidFill>
                      <a:schemeClr val="tx1"/>
                    </a:solidFill>
                  </a:rPr>
                  <a:t>AGENT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94D701A0-0435-E16A-A60A-3E4A0F6A4C27}"/>
                  </a:ext>
                </a:extLst>
              </p:cNvPr>
              <p:cNvSpPr/>
              <p:nvPr/>
            </p:nvSpPr>
            <p:spPr>
              <a:xfrm>
                <a:off x="870731" y="5327497"/>
                <a:ext cx="1040370" cy="780565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accent5"/>
                </a:solidFill>
              </a:ln>
              <a:effectLst>
                <a:outerShdw blurRad="50800" dist="50800" dir="5400000" algn="ctr" rotWithShape="0">
                  <a:srgbClr val="000000">
                    <a:alpha val="24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200" b="1">
                    <a:solidFill>
                      <a:schemeClr val="tx1"/>
                    </a:solidFill>
                  </a:rPr>
                  <a:t>HUMAN</a:t>
                </a: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D4DC861D-836C-9819-A5AF-153F922EF633}"/>
                  </a:ext>
                </a:extLst>
              </p:cNvPr>
              <p:cNvSpPr/>
              <p:nvPr/>
            </p:nvSpPr>
            <p:spPr>
              <a:xfrm>
                <a:off x="2016609" y="4156898"/>
                <a:ext cx="2236600" cy="756524"/>
              </a:xfrm>
              <a:prstGeom prst="rect">
                <a:avLst/>
              </a:prstGeom>
              <a:solidFill>
                <a:srgbClr val="FFFFFF">
                  <a:alpha val="67451"/>
                </a:srgbClr>
              </a:solidFill>
              <a:ln w="635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/>
                    </a:solidFill>
                    <a:cs typeface="Arial"/>
                  </a:rPr>
                  <a:t>Quality demand, surface intent signals, engage SMB buyers autonomously</a:t>
                </a:r>
                <a:endParaRPr 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E6AAD30F-BD22-9391-9409-47DD8EF49BBA}"/>
                  </a:ext>
                </a:extLst>
              </p:cNvPr>
              <p:cNvSpPr/>
              <p:nvPr/>
            </p:nvSpPr>
            <p:spPr>
              <a:xfrm>
                <a:off x="4356038" y="4156897"/>
                <a:ext cx="2236600" cy="756523"/>
              </a:xfrm>
              <a:prstGeom prst="rect">
                <a:avLst/>
              </a:prstGeom>
              <a:solidFill>
                <a:srgbClr val="FFFFFF">
                  <a:alpha val="67451"/>
                </a:srgbClr>
              </a:solidFill>
              <a:ln w="635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/>
                    </a:solidFill>
                    <a:cs typeface="Arial"/>
                  </a:rPr>
                  <a:t>Configure and price in real time, generate quates within guardrails, surface competitive intelligence</a:t>
                </a:r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F4BE0C85-2CBE-B271-4F17-D5B2572DEB1B}"/>
                  </a:ext>
                </a:extLst>
              </p:cNvPr>
              <p:cNvSpPr/>
              <p:nvPr/>
            </p:nvSpPr>
            <p:spPr>
              <a:xfrm>
                <a:off x="6695468" y="4156903"/>
                <a:ext cx="2236600" cy="756524"/>
              </a:xfrm>
              <a:prstGeom prst="rect">
                <a:avLst/>
              </a:prstGeom>
              <a:solidFill>
                <a:srgbClr val="FFFFFF">
                  <a:alpha val="67451"/>
                </a:srgbClr>
              </a:solidFill>
              <a:ln w="635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/>
                    </a:solidFill>
                    <a:cs typeface="Arial"/>
                  </a:rPr>
                  <a:t>Orchestrate contracting and onboarding, redline, preserve handoff context, trigger downstream workflows</a:t>
                </a:r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820CD75B-E774-464D-9CCE-9EF446B95CB7}"/>
                  </a:ext>
                </a:extLst>
              </p:cNvPr>
              <p:cNvSpPr/>
              <p:nvPr/>
            </p:nvSpPr>
            <p:spPr>
              <a:xfrm>
                <a:off x="9034897" y="4156903"/>
                <a:ext cx="2236600" cy="756524"/>
              </a:xfrm>
              <a:prstGeom prst="rect">
                <a:avLst/>
              </a:prstGeom>
              <a:solidFill>
                <a:srgbClr val="FFFFFF">
                  <a:alpha val="67451"/>
                </a:srgbClr>
              </a:solidFill>
              <a:ln w="635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/>
                    </a:solidFill>
                    <a:cs typeface="Arial"/>
                  </a:rPr>
                  <a:t>Monitor usage, flag churn risk, prepare renewal briefs, identify expansion opportunities proactively</a:t>
                </a:r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4C9B9132-D7F1-DFB8-62B9-7D1900C29C2C}"/>
                  </a:ext>
                </a:extLst>
              </p:cNvPr>
              <p:cNvSpPr/>
              <p:nvPr/>
            </p:nvSpPr>
            <p:spPr>
              <a:xfrm>
                <a:off x="2016609" y="5346662"/>
                <a:ext cx="2236600" cy="756524"/>
              </a:xfrm>
              <a:prstGeom prst="rect">
                <a:avLst/>
              </a:prstGeom>
              <a:solidFill>
                <a:srgbClr val="FFFFFF">
                  <a:alpha val="67451"/>
                </a:srgbClr>
              </a:solidFill>
              <a:ln w="635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/>
                    </a:solidFill>
                    <a:cs typeface="Arial"/>
                  </a:rPr>
                  <a:t>Lead strategic conversations, relationship building, stakeholder navigation</a:t>
                </a:r>
                <a:endParaRPr 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F804C76B-199D-A484-1F41-02C4233CF3D2}"/>
                  </a:ext>
                </a:extLst>
              </p:cNvPr>
              <p:cNvSpPr/>
              <p:nvPr/>
            </p:nvSpPr>
            <p:spPr>
              <a:xfrm>
                <a:off x="4356038" y="5346661"/>
                <a:ext cx="2236600" cy="756523"/>
              </a:xfrm>
              <a:prstGeom prst="rect">
                <a:avLst/>
              </a:prstGeom>
              <a:solidFill>
                <a:srgbClr val="FFFFFF">
                  <a:alpha val="67451"/>
                </a:srgbClr>
              </a:solidFill>
              <a:ln w="635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/>
                    </a:solidFill>
                    <a:cs typeface="Arial"/>
                  </a:rPr>
                  <a:t>Navigate high-stakes decisions, manage complex negotiations, apply judgement on risk and exceptions</a:t>
                </a:r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F91F00E7-D888-34AB-47ED-03B48D880167}"/>
                  </a:ext>
                </a:extLst>
              </p:cNvPr>
              <p:cNvSpPr/>
              <p:nvPr/>
            </p:nvSpPr>
            <p:spPr>
              <a:xfrm>
                <a:off x="6695468" y="5346667"/>
                <a:ext cx="2236600" cy="756524"/>
              </a:xfrm>
              <a:prstGeom prst="rect">
                <a:avLst/>
              </a:prstGeom>
              <a:solidFill>
                <a:srgbClr val="FFFFFF">
                  <a:alpha val="67451"/>
                </a:srgbClr>
              </a:solidFill>
              <a:ln w="635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/>
                    </a:solidFill>
                    <a:cs typeface="Arial"/>
                  </a:rPr>
                  <a:t>Strategic commitment and exception approval, ensure compliance and alignment</a:t>
                </a:r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6E7B276E-CA9C-6AFC-8605-BDAF7C906CDE}"/>
                  </a:ext>
                </a:extLst>
              </p:cNvPr>
              <p:cNvSpPr/>
              <p:nvPr/>
            </p:nvSpPr>
            <p:spPr>
              <a:xfrm>
                <a:off x="9034897" y="5346667"/>
                <a:ext cx="2236600" cy="756524"/>
              </a:xfrm>
              <a:prstGeom prst="rect">
                <a:avLst/>
              </a:prstGeom>
              <a:solidFill>
                <a:srgbClr val="FFFFFF">
                  <a:alpha val="67451"/>
                </a:srgbClr>
              </a:solidFill>
              <a:ln w="635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000">
                    <a:solidFill>
                      <a:schemeClr val="tx1"/>
                    </a:solidFill>
                    <a:cs typeface="Arial"/>
                  </a:rPr>
                  <a:t>Executive expansion conversations, growth strategy, high-value relationship stewardship</a:t>
                </a:r>
                <a:endParaRPr lang="en-US" sz="1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034BD0EE-EB6E-C35C-2644-8E98E203713A}"/>
                </a:ext>
              </a:extLst>
            </p:cNvPr>
            <p:cNvSpPr>
              <a:spLocks/>
            </p:cNvSpPr>
            <p:nvPr/>
          </p:nvSpPr>
          <p:spPr>
            <a:xfrm>
              <a:off x="656552" y="4424915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6EFAE62D-E85C-9AFB-AC93-8FEA9E2229E2}"/>
                </a:ext>
              </a:extLst>
            </p:cNvPr>
            <p:cNvSpPr>
              <a:spLocks/>
            </p:cNvSpPr>
            <p:nvPr/>
          </p:nvSpPr>
          <p:spPr>
            <a:xfrm>
              <a:off x="655215" y="5614683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1" name="Graphic 110" descr="Robot with solid fill">
              <a:extLst>
                <a:ext uri="{FF2B5EF4-FFF2-40B4-BE49-F238E27FC236}">
                  <a16:creationId xmlns:a16="http://schemas.microsoft.com/office/drawing/2014/main" id="{EA9BDFCD-5D3F-DFC9-7671-37D297F956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39920" y="4509620"/>
              <a:ext cx="287790" cy="287790"/>
            </a:xfrm>
            <a:prstGeom prst="rect">
              <a:avLst/>
            </a:prstGeom>
          </p:spPr>
        </p:pic>
        <p:pic>
          <p:nvPicPr>
            <p:cNvPr id="113" name="Graphic 112" descr="User with solid fill">
              <a:extLst>
                <a:ext uri="{FF2B5EF4-FFF2-40B4-BE49-F238E27FC236}">
                  <a16:creationId xmlns:a16="http://schemas.microsoft.com/office/drawing/2014/main" id="{1E0D3338-A294-2693-FD39-AC9ACB17C3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9920" y="5701551"/>
              <a:ext cx="283464" cy="283464"/>
            </a:xfrm>
            <a:prstGeom prst="rect">
              <a:avLst/>
            </a:prstGeom>
          </p:spPr>
        </p:pic>
      </p:grpSp>
      <p:cxnSp>
        <p:nvCxnSpPr>
          <p:cNvPr id="117" name="Google Shape;624;p73">
            <a:extLst>
              <a:ext uri="{FF2B5EF4-FFF2-40B4-BE49-F238E27FC236}">
                <a16:creationId xmlns:a16="http://schemas.microsoft.com/office/drawing/2014/main" id="{67391072-E03A-204A-11B7-5D8DFD928210}"/>
              </a:ext>
            </a:extLst>
          </p:cNvPr>
          <p:cNvCxnSpPr>
            <a:cxnSpLocks/>
          </p:cNvCxnSpPr>
          <p:nvPr/>
        </p:nvCxnSpPr>
        <p:spPr>
          <a:xfrm>
            <a:off x="778026" y="4215732"/>
            <a:ext cx="104037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" name="Google Shape;624;p73">
            <a:extLst>
              <a:ext uri="{FF2B5EF4-FFF2-40B4-BE49-F238E27FC236}">
                <a16:creationId xmlns:a16="http://schemas.microsoft.com/office/drawing/2014/main" id="{F519FBF8-8AE6-1A14-F482-F5F617F25004}"/>
              </a:ext>
            </a:extLst>
          </p:cNvPr>
          <p:cNvCxnSpPr>
            <a:cxnSpLocks/>
          </p:cNvCxnSpPr>
          <p:nvPr/>
        </p:nvCxnSpPr>
        <p:spPr>
          <a:xfrm>
            <a:off x="778026" y="4991423"/>
            <a:ext cx="104037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" name="Google Shape;624;p73">
            <a:extLst>
              <a:ext uri="{FF2B5EF4-FFF2-40B4-BE49-F238E27FC236}">
                <a16:creationId xmlns:a16="http://schemas.microsoft.com/office/drawing/2014/main" id="{CD36E15E-D4BA-AB7B-88F8-7EC987D23820}"/>
              </a:ext>
            </a:extLst>
          </p:cNvPr>
          <p:cNvCxnSpPr>
            <a:cxnSpLocks/>
          </p:cNvCxnSpPr>
          <p:nvPr/>
        </p:nvCxnSpPr>
        <p:spPr>
          <a:xfrm>
            <a:off x="778026" y="5407476"/>
            <a:ext cx="104037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8" name="Google Shape;624;p73">
            <a:extLst>
              <a:ext uri="{FF2B5EF4-FFF2-40B4-BE49-F238E27FC236}">
                <a16:creationId xmlns:a16="http://schemas.microsoft.com/office/drawing/2014/main" id="{BC85161A-D8DA-1C93-CC40-A67610C28990}"/>
              </a:ext>
            </a:extLst>
          </p:cNvPr>
          <p:cNvCxnSpPr>
            <a:cxnSpLocks/>
          </p:cNvCxnSpPr>
          <p:nvPr/>
        </p:nvCxnSpPr>
        <p:spPr>
          <a:xfrm>
            <a:off x="778026" y="6183167"/>
            <a:ext cx="104037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2">
            <a:extLst>
              <a:ext uri="{FF2B5EF4-FFF2-40B4-BE49-F238E27FC236}">
                <a16:creationId xmlns:a16="http://schemas.microsoft.com/office/drawing/2014/main" id="{72833CE0-47A1-1CEF-8F65-0323BB1EEF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063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F54CA-6925-F3A9-B519-1D0305DED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06;p73">
            <a:extLst>
              <a:ext uri="{FF2B5EF4-FFF2-40B4-BE49-F238E27FC236}">
                <a16:creationId xmlns:a16="http://schemas.microsoft.com/office/drawing/2014/main" id="{8F4DA62A-30AC-45E6-A7C4-D6C4D9EDD408}"/>
              </a:ext>
            </a:extLst>
          </p:cNvPr>
          <p:cNvSpPr/>
          <p:nvPr/>
        </p:nvSpPr>
        <p:spPr>
          <a:xfrm>
            <a:off x="0" y="1955448"/>
            <a:ext cx="12192000" cy="38871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Picture 44" descr="Pictures Of A Arrow Free Download Clip Art On Clipart - Upward Arrow Png -  Free Transparent PNG Clipart Images Download">
            <a:extLst>
              <a:ext uri="{FF2B5EF4-FFF2-40B4-BE49-F238E27FC236}">
                <a16:creationId xmlns:a16="http://schemas.microsoft.com/office/drawing/2014/main" id="{2224F173-E69F-2030-E89D-C5F723A735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52" b="94858" l="6071" r="95000">
                        <a14:foregroundMark x1="88810" y1="11702" x2="88810" y2="9929"/>
                        <a14:foregroundMark x1="88810" y1="10284" x2="95000" y2="44504"/>
                        <a14:foregroundMark x1="15238" y1="93794" x2="38095" y2="89539"/>
                        <a14:foregroundMark x1="6071" y1="94858" x2="6786" y2="94681"/>
                        <a14:foregroundMark x1="8095" y1="94681" x2="19167" y2="93440"/>
                        <a14:foregroundMark x1="19405" y1="93440" x2="48929" y2="81738"/>
                      </a14:backgroundRemoval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435096" y="835307"/>
            <a:ext cx="8458760" cy="6354221"/>
          </a:xfrm>
          <a:prstGeom prst="rect">
            <a:avLst/>
          </a:prstGeom>
        </p:spPr>
      </p:pic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1D1470FE-F664-CF8E-35D0-398676F9BF80}"/>
              </a:ext>
            </a:extLst>
          </p:cNvPr>
          <p:cNvSpPr/>
          <p:nvPr/>
        </p:nvSpPr>
        <p:spPr>
          <a:xfrm>
            <a:off x="7794867" y="4166797"/>
            <a:ext cx="4301472" cy="2286000"/>
          </a:xfrm>
          <a:prstGeom prst="roundRect">
            <a:avLst/>
          </a:prstGeom>
          <a:solidFill>
            <a:srgbClr val="FFFFFF">
              <a:alpha val="41961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45ADDEFC-2C9F-F770-DB1C-931F88E4EC69}"/>
              </a:ext>
            </a:extLst>
          </p:cNvPr>
          <p:cNvSpPr/>
          <p:nvPr/>
        </p:nvSpPr>
        <p:spPr>
          <a:xfrm>
            <a:off x="7862375" y="1421260"/>
            <a:ext cx="4166457" cy="2286000"/>
          </a:xfrm>
          <a:prstGeom prst="roundRect">
            <a:avLst/>
          </a:prstGeom>
          <a:solidFill>
            <a:srgbClr val="FFFFFF">
              <a:alpha val="41961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E6251FE1-C84F-C798-33C1-35398C5C80FC}"/>
              </a:ext>
            </a:extLst>
          </p:cNvPr>
          <p:cNvSpPr/>
          <p:nvPr/>
        </p:nvSpPr>
        <p:spPr>
          <a:xfrm>
            <a:off x="162148" y="4098473"/>
            <a:ext cx="4301472" cy="2286000"/>
          </a:xfrm>
          <a:prstGeom prst="roundRect">
            <a:avLst/>
          </a:prstGeom>
          <a:solidFill>
            <a:srgbClr val="FFFFFF">
              <a:alpha val="41961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732A0BF6-1BD8-2722-3AC1-88A5302D05FF}"/>
              </a:ext>
            </a:extLst>
          </p:cNvPr>
          <p:cNvSpPr/>
          <p:nvPr/>
        </p:nvSpPr>
        <p:spPr>
          <a:xfrm>
            <a:off x="162148" y="1411476"/>
            <a:ext cx="4166457" cy="2286000"/>
          </a:xfrm>
          <a:prstGeom prst="roundRect">
            <a:avLst/>
          </a:prstGeom>
          <a:solidFill>
            <a:srgbClr val="FFFFFF">
              <a:alpha val="41961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4" name="Google Shape;2379;p339">
            <a:extLst>
              <a:ext uri="{FF2B5EF4-FFF2-40B4-BE49-F238E27FC236}">
                <a16:creationId xmlns:a16="http://schemas.microsoft.com/office/drawing/2014/main" id="{E995A4FC-479F-0C67-F482-8BDBECF68A34}"/>
              </a:ext>
            </a:extLst>
          </p:cNvPr>
          <p:cNvSpPr txBox="1">
            <a:spLocks/>
          </p:cNvSpPr>
          <p:nvPr/>
        </p:nvSpPr>
        <p:spPr>
          <a:xfrm>
            <a:off x="397667" y="402338"/>
            <a:ext cx="11403809" cy="5152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COMPOUNDING GROWTH AT ENTERPRISE SCALE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The Agentic Front Office systematically reverses the downward spiral – turning each threat into compounding opportunity and growth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8CBE286-271A-384D-5673-7F7971F82FBB}"/>
              </a:ext>
            </a:extLst>
          </p:cNvPr>
          <p:cNvSpPr/>
          <p:nvPr/>
        </p:nvSpPr>
        <p:spPr>
          <a:xfrm>
            <a:off x="332015" y="4442395"/>
            <a:ext cx="182880" cy="182880"/>
          </a:xfrm>
          <a:prstGeom prst="ellipse">
            <a:avLst/>
          </a:prstGeom>
          <a:solidFill>
            <a:schemeClr val="accent1"/>
          </a:solidFill>
          <a:ln w="38100" cap="flat" cmpd="sng" algn="ctr">
            <a:solidFill>
              <a:srgbClr val="FFFFFF"/>
            </a:solidFill>
            <a:prstDash val="solid"/>
          </a:ln>
          <a:effectLst>
            <a:outerShdw blurRad="127000" dist="254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932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6CB026B-8502-089A-EC7D-6CA9328C4C8F}"/>
              </a:ext>
            </a:extLst>
          </p:cNvPr>
          <p:cNvSpPr/>
          <p:nvPr/>
        </p:nvSpPr>
        <p:spPr>
          <a:xfrm>
            <a:off x="330614" y="1724418"/>
            <a:ext cx="182880" cy="1828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8100" cap="flat" cmpd="sng" algn="ctr">
            <a:solidFill>
              <a:srgbClr val="FFFFFF"/>
            </a:solidFill>
            <a:prstDash val="solid"/>
          </a:ln>
          <a:effectLst>
            <a:outerShdw blurRad="127000" dist="254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4E1C1A0-99ED-AEB2-C4ED-658C95821F81}"/>
              </a:ext>
            </a:extLst>
          </p:cNvPr>
          <p:cNvSpPr/>
          <p:nvPr/>
        </p:nvSpPr>
        <p:spPr>
          <a:xfrm>
            <a:off x="7983565" y="1724418"/>
            <a:ext cx="182880" cy="182880"/>
          </a:xfrm>
          <a:prstGeom prst="ellipse">
            <a:avLst/>
          </a:prstGeom>
          <a:solidFill>
            <a:schemeClr val="accent2"/>
          </a:solidFill>
          <a:ln w="38100" cap="flat" cmpd="sng" algn="ctr">
            <a:solidFill>
              <a:srgbClr val="FFFFFF"/>
            </a:solidFill>
            <a:prstDash val="solid"/>
          </a:ln>
          <a:effectLst>
            <a:outerShdw blurRad="127000" dist="254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932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FF90A89-2E7D-25F1-1B3B-6EBAB00D6D4D}"/>
              </a:ext>
            </a:extLst>
          </p:cNvPr>
          <p:cNvSpPr/>
          <p:nvPr/>
        </p:nvSpPr>
        <p:spPr>
          <a:xfrm>
            <a:off x="7897550" y="4448970"/>
            <a:ext cx="182880" cy="182880"/>
          </a:xfrm>
          <a:prstGeom prst="ellipse">
            <a:avLst/>
          </a:prstGeom>
          <a:solidFill>
            <a:schemeClr val="accent3"/>
          </a:solidFill>
          <a:ln w="38100" cap="flat" cmpd="sng" algn="ctr">
            <a:solidFill>
              <a:srgbClr val="FFFFFF"/>
            </a:solidFill>
            <a:prstDash val="solid"/>
          </a:ln>
          <a:effectLst>
            <a:outerShdw blurRad="127000" dist="254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932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C9774A-45B0-DE07-3FD5-E015EBEC9BC3}"/>
              </a:ext>
            </a:extLst>
          </p:cNvPr>
          <p:cNvSpPr txBox="1"/>
          <p:nvPr/>
        </p:nvSpPr>
        <p:spPr>
          <a:xfrm>
            <a:off x="546022" y="1541553"/>
            <a:ext cx="37493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Revenue Leakage </a:t>
            </a:r>
            <a:r>
              <a:rPr lang="en-US" sz="1400"/>
              <a:t>→ </a:t>
            </a:r>
            <a:r>
              <a:rPr lang="en-US" sz="1400" b="1"/>
              <a:t>Accelerated, More Profitable Growth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5B9CC3B-0CE7-932C-3A7A-735791C9EC1E}"/>
              </a:ext>
            </a:extLst>
          </p:cNvPr>
          <p:cNvSpPr txBox="1"/>
          <p:nvPr/>
        </p:nvSpPr>
        <p:spPr>
          <a:xfrm>
            <a:off x="561551" y="4241448"/>
            <a:ext cx="35994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Unsustainable Costs → Margin Protection &amp; Operating Leverage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B66F586-B005-9F33-BB75-E4F41F1A8278}"/>
              </a:ext>
            </a:extLst>
          </p:cNvPr>
          <p:cNvSpPr txBox="1"/>
          <p:nvPr/>
        </p:nvSpPr>
        <p:spPr>
          <a:xfrm>
            <a:off x="8089334" y="4298263"/>
            <a:ext cx="37773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Strategic Paralysis → Workforce Elevation &amp; Productivity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D857E2-4540-F39D-2A04-16CF3D6F1477}"/>
              </a:ext>
            </a:extLst>
          </p:cNvPr>
          <p:cNvSpPr txBox="1"/>
          <p:nvPr/>
        </p:nvSpPr>
        <p:spPr>
          <a:xfrm>
            <a:off x="8198907" y="1541553"/>
            <a:ext cx="3778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High-Risk Transformation → </a:t>
            </a:r>
          </a:p>
          <a:p>
            <a:r>
              <a:rPr lang="en-US" sz="1400" b="1"/>
              <a:t>De-Risked, Self-Funding Reinvention</a:t>
            </a:r>
          </a:p>
        </p:txBody>
      </p:sp>
      <p:sp>
        <p:nvSpPr>
          <p:cNvPr id="7" name="Google Shape;1556;p231">
            <a:extLst>
              <a:ext uri="{FF2B5EF4-FFF2-40B4-BE49-F238E27FC236}">
                <a16:creationId xmlns:a16="http://schemas.microsoft.com/office/drawing/2014/main" id="{077162DA-2768-C076-5BA0-7D1F64676EC5}"/>
              </a:ext>
            </a:extLst>
          </p:cNvPr>
          <p:cNvSpPr txBox="1"/>
          <p:nvPr/>
        </p:nvSpPr>
        <p:spPr>
          <a:xfrm>
            <a:off x="385689" y="2164694"/>
            <a:ext cx="4301471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/>
              <a:t>+10–20% </a:t>
            </a:r>
            <a:r>
              <a:rPr lang="en-US" sz="1100"/>
              <a:t>revenue per rep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/>
              <a:t>+40% </a:t>
            </a:r>
            <a:r>
              <a:rPr lang="en-US" sz="1100"/>
              <a:t>conversion uplift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/>
              <a:t>15–25%</a:t>
            </a:r>
            <a:r>
              <a:rPr lang="en-US" sz="1100"/>
              <a:t> stalled pipeline reduction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/>
              <a:t>5–10%</a:t>
            </a:r>
            <a:r>
              <a:rPr lang="en-US" sz="1100"/>
              <a:t> renewal lift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/>
              <a:t>Unlocks new </a:t>
            </a:r>
            <a:r>
              <a:rPr lang="en-US" sz="1100" b="1"/>
              <a:t>$1B+ </a:t>
            </a:r>
            <a:r>
              <a:rPr lang="en-US" sz="1100"/>
              <a:t>markets</a:t>
            </a:r>
          </a:p>
          <a:p>
            <a:endParaRPr lang="en-US" sz="1100"/>
          </a:p>
          <a:p>
            <a:r>
              <a:rPr lang="en-US" sz="1100" b="1"/>
              <a:t>From plugging leaks to unlocking structural growth</a:t>
            </a:r>
            <a:endParaRPr lang="en-US" sz="11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45467E-992D-CE3C-843B-4E2A9263E9CE}"/>
              </a:ext>
            </a:extLst>
          </p:cNvPr>
          <p:cNvSpPr txBox="1"/>
          <p:nvPr/>
        </p:nvSpPr>
        <p:spPr>
          <a:xfrm>
            <a:off x="423455" y="4922653"/>
            <a:ext cx="433463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>
              <a:defRPr sz="700" b="1"/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/>
              <a:t>30–40% </a:t>
            </a:r>
            <a:r>
              <a:rPr lang="en-US" sz="1100" b="0"/>
              <a:t>cost reduction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/>
              <a:t>30–50%</a:t>
            </a:r>
            <a:r>
              <a:rPr lang="en-US" sz="1100" b="0"/>
              <a:t> contact deflection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/>
              <a:t>80%</a:t>
            </a:r>
            <a:r>
              <a:rPr lang="en-US" sz="1100" b="0"/>
              <a:t> after-call work reduction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/>
              <a:t>10–15% </a:t>
            </a:r>
            <a:r>
              <a:rPr lang="en-US" sz="1100" b="0"/>
              <a:t>labor savings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/>
              <a:t>+4 </a:t>
            </a:r>
            <a:r>
              <a:rPr lang="en-US" sz="1100" b="0"/>
              <a:t>pts margin advantage (AI leaders)</a:t>
            </a:r>
          </a:p>
          <a:p>
            <a:endParaRPr lang="en-US" sz="1100" b="0"/>
          </a:p>
          <a:p>
            <a:r>
              <a:rPr lang="en-US" sz="1100"/>
              <a:t>Breaks the headcount-to-output equation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9F18C9-4553-3A86-E554-E1ABC0584036}"/>
              </a:ext>
            </a:extLst>
          </p:cNvPr>
          <p:cNvSpPr txBox="1"/>
          <p:nvPr/>
        </p:nvSpPr>
        <p:spPr>
          <a:xfrm>
            <a:off x="8075005" y="4863880"/>
            <a:ext cx="3707999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>
              <a:defRPr sz="700" b="1"/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/>
              <a:t>4x</a:t>
            </a:r>
            <a:r>
              <a:rPr lang="en-US" sz="1100" b="0"/>
              <a:t> account capacity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/>
              <a:t>10–20% </a:t>
            </a:r>
            <a:r>
              <a:rPr lang="en-US" sz="1100" b="0"/>
              <a:t>productivity lift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/>
              <a:t>2–8% </a:t>
            </a:r>
            <a:r>
              <a:rPr lang="en-US" sz="1100" b="0"/>
              <a:t>immediate time savings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/>
              <a:t>50% </a:t>
            </a:r>
            <a:r>
              <a:rPr lang="en-US" sz="1100" b="0"/>
              <a:t>faster time-to-hire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0"/>
              <a:t>Digital workforce at scale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/>
          </a:p>
          <a:p>
            <a:r>
              <a:rPr lang="en-US" sz="1100"/>
              <a:t>Humans for judgment. Agents for execution.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B61A5F-BA84-D84F-AFA1-B50566099768}"/>
              </a:ext>
            </a:extLst>
          </p:cNvPr>
          <p:cNvSpPr txBox="1"/>
          <p:nvPr/>
        </p:nvSpPr>
        <p:spPr>
          <a:xfrm>
            <a:off x="8075005" y="2206259"/>
            <a:ext cx="3483344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>
              <a:defRPr lang="en-US"/>
            </a:defPPr>
            <a:lvl1pPr>
              <a:defRPr sz="700" b="1"/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/>
              <a:t>8–12x</a:t>
            </a:r>
            <a:r>
              <a:rPr lang="en-US" sz="1100" b="0"/>
              <a:t> ROI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0"/>
              <a:t>Phased value capture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0"/>
              <a:t>Early wins fund next wave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0"/>
              <a:t>Outcome-based commercial model</a:t>
            </a:r>
            <a:endParaRPr lang="en-US" sz="1100"/>
          </a:p>
          <a:p>
            <a:endParaRPr lang="en-US" sz="1100"/>
          </a:p>
          <a:p>
            <a:r>
              <a:rPr lang="en-US" sz="1100"/>
              <a:t>Transformation that accelerates — not stalls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F91364E-03B2-091B-F65E-748A974F7643}"/>
              </a:ext>
            </a:extLst>
          </p:cNvPr>
          <p:cNvGrpSpPr/>
          <p:nvPr/>
        </p:nvGrpSpPr>
        <p:grpSpPr>
          <a:xfrm>
            <a:off x="11288805" y="89857"/>
            <a:ext cx="791838" cy="305491"/>
            <a:chOff x="11288805" y="89857"/>
            <a:chExt cx="791838" cy="305491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1CDE5B5-FAC5-CEA3-A097-A4B233CF7DF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288806" y="89857"/>
              <a:ext cx="791837" cy="305491"/>
              <a:chOff x="1089352" y="1973537"/>
              <a:chExt cx="10318095" cy="3980733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A6ADE8E-9B62-5318-38DB-6B6A350F3A48}"/>
                  </a:ext>
                </a:extLst>
              </p:cNvPr>
              <p:cNvSpPr/>
              <p:nvPr/>
            </p:nvSpPr>
            <p:spPr>
              <a:xfrm>
                <a:off x="6334499" y="1973537"/>
                <a:ext cx="5072948" cy="190959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accent4"/>
                </a:solidFill>
              </a:ln>
              <a:effectLst>
                <a:outerShdw blurRad="50800" dist="50800" dir="5400000" algn="ctr" rotWithShape="0">
                  <a:schemeClr val="accent1">
                    <a:alpha val="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DF7CDED-2822-3452-A5FB-06ED8CA440FE}"/>
                  </a:ext>
                </a:extLst>
              </p:cNvPr>
              <p:cNvSpPr/>
              <p:nvPr/>
            </p:nvSpPr>
            <p:spPr>
              <a:xfrm>
                <a:off x="1089352" y="1973537"/>
                <a:ext cx="5072948" cy="190959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accent4"/>
                </a:solidFill>
              </a:ln>
              <a:effectLst>
                <a:outerShdw blurRad="50800" dist="50800" dir="5400000" algn="ctr" rotWithShape="0">
                  <a:schemeClr val="accent1">
                    <a:alpha val="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r"/>
                <a:endParaRPr 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E7A0E3CB-6D38-A00A-285F-041F564D9E1C}"/>
                  </a:ext>
                </a:extLst>
              </p:cNvPr>
              <p:cNvSpPr/>
              <p:nvPr/>
            </p:nvSpPr>
            <p:spPr>
              <a:xfrm>
                <a:off x="6334499" y="4044674"/>
                <a:ext cx="5072948" cy="1909596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accent1"/>
                </a:solidFill>
              </a:ln>
              <a:effectLst>
                <a:outerShdw blurRad="50800" dist="50800" dir="5400000" algn="ctr" rotWithShape="0">
                  <a:schemeClr val="accent1">
                    <a:alpha val="44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en-US" b="1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F03223-2A28-5A42-637A-D2BDB4A615A7}"/>
                </a:ext>
              </a:extLst>
            </p:cNvPr>
            <p:cNvSpPr/>
            <p:nvPr/>
          </p:nvSpPr>
          <p:spPr>
            <a:xfrm>
              <a:off x="11288805" y="248005"/>
              <a:ext cx="389311" cy="1465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4"/>
              </a:solidFill>
            </a:ln>
            <a:effectLst>
              <a:outerShdw blurRad="50800" dist="50800" dir="5400000" algn="ctr" rotWithShape="0">
                <a:schemeClr val="accent1">
                  <a:alpha val="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endParaRPr lang="en-US" sz="14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5564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E3242-CE91-0656-632F-02199FB44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577;p75">
            <a:extLst>
              <a:ext uri="{FF2B5EF4-FFF2-40B4-BE49-F238E27FC236}">
                <a16:creationId xmlns:a16="http://schemas.microsoft.com/office/drawing/2014/main" id="{FDABD5B5-4C15-D425-E71A-949BC5F10CAA}"/>
              </a:ext>
            </a:extLst>
          </p:cNvPr>
          <p:cNvSpPr/>
          <p:nvPr/>
        </p:nvSpPr>
        <p:spPr>
          <a:xfrm>
            <a:off x="2018" y="2679626"/>
            <a:ext cx="12189981" cy="41783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45713" tIns="22850" rIns="45713" bIns="2285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4"/>
              <a:buFontTx/>
              <a:buNone/>
              <a:tabLst/>
              <a:defRPr/>
            </a:pPr>
            <a:endParaRPr kumimoji="0" sz="932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2379;p339">
            <a:extLst>
              <a:ext uri="{FF2B5EF4-FFF2-40B4-BE49-F238E27FC236}">
                <a16:creationId xmlns:a16="http://schemas.microsoft.com/office/drawing/2014/main" id="{749DCA46-2587-9FD2-F1E5-CC689D14490E}"/>
              </a:ext>
            </a:extLst>
          </p:cNvPr>
          <p:cNvSpPr txBox="1">
            <a:spLocks/>
          </p:cNvSpPr>
          <p:nvPr/>
        </p:nvSpPr>
        <p:spPr>
          <a:xfrm>
            <a:off x="397667" y="402338"/>
            <a:ext cx="11403809" cy="5152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1">
                <a:solidFill>
                  <a:schemeClr val="accent1"/>
                </a:solidFill>
                <a:latin typeface="Arial"/>
                <a:cs typeface="Arial"/>
              </a:rPr>
              <a:t>PWC COMMITMENTS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>
                <a:latin typeface="Arial"/>
                <a:cs typeface="Arial"/>
              </a:rPr>
              <a:t>The Agentic Front Office is a commercial transformation that must be led from the top and rooted in four key leadership commitments</a:t>
            </a:r>
            <a:endParaRPr lang="en-US" sz="2400">
              <a:latin typeface="Arial"/>
              <a:cs typeface="Arial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51B3F2E-E9A5-AFC7-6EAE-9A5A70159350}"/>
              </a:ext>
            </a:extLst>
          </p:cNvPr>
          <p:cNvSpPr txBox="1"/>
          <p:nvPr/>
        </p:nvSpPr>
        <p:spPr>
          <a:xfrm rot="16200000">
            <a:off x="-304681" y="3751230"/>
            <a:ext cx="10223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b="1" kern="0" spc="-5">
                <a:solidFill>
                  <a:schemeClr val="bg1">
                    <a:lumMod val="6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STRATEGIC REALITY</a:t>
            </a:r>
            <a:endParaRPr lang="en-US" sz="700">
              <a:solidFill>
                <a:schemeClr val="bg1">
                  <a:lumMod val="65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9447F66-FBB9-EB13-4E98-1A61E37808EE}"/>
              </a:ext>
            </a:extLst>
          </p:cNvPr>
          <p:cNvSpPr txBox="1"/>
          <p:nvPr/>
        </p:nvSpPr>
        <p:spPr>
          <a:xfrm rot="16200000">
            <a:off x="-304681" y="4571447"/>
            <a:ext cx="10223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b="1" kern="0" spc="-5">
                <a:solidFill>
                  <a:schemeClr val="bg1">
                    <a:lumMod val="6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WHAT THIS</a:t>
            </a:r>
          </a:p>
          <a:p>
            <a:pPr algn="ctr"/>
            <a:r>
              <a:rPr lang="en-US" sz="700" b="1" kern="0" spc="-5">
                <a:solidFill>
                  <a:schemeClr val="bg1">
                    <a:lumMod val="6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MEANS</a:t>
            </a:r>
            <a:endParaRPr lang="en-US" sz="700">
              <a:solidFill>
                <a:schemeClr val="bg1">
                  <a:lumMod val="65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C80B74B-2DE6-D342-9362-A8F6B43B3D66}"/>
              </a:ext>
            </a:extLst>
          </p:cNvPr>
          <p:cNvSpPr txBox="1"/>
          <p:nvPr/>
        </p:nvSpPr>
        <p:spPr>
          <a:xfrm rot="16200000">
            <a:off x="-304681" y="5391663"/>
            <a:ext cx="10223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b="1" kern="0" spc="-5">
                <a:solidFill>
                  <a:schemeClr val="bg1">
                    <a:lumMod val="6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UNCOMFORTABLE TRUTH</a:t>
            </a:r>
            <a:endParaRPr lang="en-US" sz="700">
              <a:solidFill>
                <a:schemeClr val="bg1">
                  <a:lumMod val="65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3C89E3D-7FD0-72D2-F589-0C4E12A70F5B}"/>
              </a:ext>
            </a:extLst>
          </p:cNvPr>
          <p:cNvSpPr/>
          <p:nvPr/>
        </p:nvSpPr>
        <p:spPr>
          <a:xfrm>
            <a:off x="5106198" y="1543797"/>
            <a:ext cx="2210586" cy="4407876"/>
          </a:xfrm>
          <a:prstGeom prst="rect">
            <a:avLst/>
          </a:prstGeom>
          <a:solidFill>
            <a:srgbClr val="FFF5ED"/>
          </a:solidFill>
          <a:ln>
            <a:noFill/>
          </a:ln>
          <a:effectLst>
            <a:outerShdw blurRad="88900" dist="508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910BAC1-880B-B7FB-6270-85A994A6063E}"/>
              </a:ext>
            </a:extLst>
          </p:cNvPr>
          <p:cNvSpPr/>
          <p:nvPr/>
        </p:nvSpPr>
        <p:spPr>
          <a:xfrm>
            <a:off x="397667" y="1543797"/>
            <a:ext cx="2210586" cy="4407876"/>
          </a:xfrm>
          <a:prstGeom prst="rect">
            <a:avLst/>
          </a:prstGeom>
          <a:solidFill>
            <a:srgbClr val="FFF5ED"/>
          </a:solidFill>
          <a:ln>
            <a:noFill/>
          </a:ln>
          <a:effectLst>
            <a:outerShdw blurRad="88900" dist="508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71" name="Content Placeholder 7">
            <a:extLst>
              <a:ext uri="{FF2B5EF4-FFF2-40B4-BE49-F238E27FC236}">
                <a16:creationId xmlns:a16="http://schemas.microsoft.com/office/drawing/2014/main" id="{BD37EFA0-93CD-7847-69C3-DA05E64588CD}"/>
              </a:ext>
            </a:extLst>
          </p:cNvPr>
          <p:cNvSpPr txBox="1">
            <a:spLocks/>
          </p:cNvSpPr>
          <p:nvPr/>
        </p:nvSpPr>
        <p:spPr>
          <a:xfrm>
            <a:off x="563349" y="1734090"/>
            <a:ext cx="1918745" cy="61106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3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6198" rtl="0" eaLnBrk="1" fontAlgn="auto" latinLnBrk="0" hangingPunct="1"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Own the Commercial Engine, Not Just the Functions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B0C1A95-045E-9045-386F-B4F4B766811D}"/>
              </a:ext>
            </a:extLst>
          </p:cNvPr>
          <p:cNvCxnSpPr>
            <a:cxnSpLocks/>
          </p:cNvCxnSpPr>
          <p:nvPr/>
        </p:nvCxnSpPr>
        <p:spPr>
          <a:xfrm>
            <a:off x="563349" y="2491964"/>
            <a:ext cx="205873" cy="0"/>
          </a:xfrm>
          <a:prstGeom prst="line">
            <a:avLst/>
          </a:prstGeom>
          <a:ln w="38100" cap="flat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8674AEE8-DB98-3F16-661D-0860150AF2F9}"/>
              </a:ext>
            </a:extLst>
          </p:cNvPr>
          <p:cNvSpPr/>
          <p:nvPr/>
        </p:nvSpPr>
        <p:spPr>
          <a:xfrm>
            <a:off x="397667" y="2674390"/>
            <a:ext cx="2210586" cy="327728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03C27A6-530B-08E1-F626-650E17E1A0D2}"/>
              </a:ext>
            </a:extLst>
          </p:cNvPr>
          <p:cNvSpPr/>
          <p:nvPr/>
        </p:nvSpPr>
        <p:spPr>
          <a:xfrm>
            <a:off x="2751933" y="1543797"/>
            <a:ext cx="2210586" cy="4407876"/>
          </a:xfrm>
          <a:prstGeom prst="rect">
            <a:avLst/>
          </a:prstGeom>
          <a:solidFill>
            <a:srgbClr val="FFF5ED"/>
          </a:solidFill>
          <a:ln>
            <a:noFill/>
          </a:ln>
          <a:effectLst>
            <a:outerShdw blurRad="88900" dist="508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76" name="Content Placeholder 7">
            <a:extLst>
              <a:ext uri="{FF2B5EF4-FFF2-40B4-BE49-F238E27FC236}">
                <a16:creationId xmlns:a16="http://schemas.microsoft.com/office/drawing/2014/main" id="{2F6852BE-D71C-3885-414B-B4AD926555A3}"/>
              </a:ext>
            </a:extLst>
          </p:cNvPr>
          <p:cNvSpPr txBox="1">
            <a:spLocks/>
          </p:cNvSpPr>
          <p:nvPr/>
        </p:nvSpPr>
        <p:spPr>
          <a:xfrm>
            <a:off x="2917615" y="1734090"/>
            <a:ext cx="1918745" cy="61106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3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6198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Make Your Data a Strategic Asset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4973AC0-57CA-7084-7D1E-FC3293515431}"/>
              </a:ext>
            </a:extLst>
          </p:cNvPr>
          <p:cNvCxnSpPr>
            <a:cxnSpLocks/>
          </p:cNvCxnSpPr>
          <p:nvPr/>
        </p:nvCxnSpPr>
        <p:spPr>
          <a:xfrm>
            <a:off x="2917615" y="2491964"/>
            <a:ext cx="205873" cy="0"/>
          </a:xfrm>
          <a:prstGeom prst="line">
            <a:avLst/>
          </a:prstGeom>
          <a:ln w="38100" cap="flat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32756F68-C83F-396F-DD15-823B7CBCF86E}"/>
              </a:ext>
            </a:extLst>
          </p:cNvPr>
          <p:cNvSpPr/>
          <p:nvPr/>
        </p:nvSpPr>
        <p:spPr>
          <a:xfrm>
            <a:off x="2751933" y="2674390"/>
            <a:ext cx="2210586" cy="327728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0" name="Content Placeholder 7">
            <a:extLst>
              <a:ext uri="{FF2B5EF4-FFF2-40B4-BE49-F238E27FC236}">
                <a16:creationId xmlns:a16="http://schemas.microsoft.com/office/drawing/2014/main" id="{83DD0431-7E0A-638B-CA86-C521F3183711}"/>
              </a:ext>
            </a:extLst>
          </p:cNvPr>
          <p:cNvSpPr txBox="1">
            <a:spLocks/>
          </p:cNvSpPr>
          <p:nvPr/>
        </p:nvSpPr>
        <p:spPr>
          <a:xfrm>
            <a:off x="5271880" y="1734090"/>
            <a:ext cx="1918745" cy="61106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3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6198" rtl="0" eaLnBrk="1" fontAlgn="auto" latinLnBrk="0" hangingPunct="1"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Anchor Every Decision to a Business Case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E85E67E-FF26-BB54-9CC3-79B5BC5B9247}"/>
              </a:ext>
            </a:extLst>
          </p:cNvPr>
          <p:cNvCxnSpPr>
            <a:cxnSpLocks/>
          </p:cNvCxnSpPr>
          <p:nvPr/>
        </p:nvCxnSpPr>
        <p:spPr>
          <a:xfrm>
            <a:off x="5271880" y="2491964"/>
            <a:ext cx="205873" cy="0"/>
          </a:xfrm>
          <a:prstGeom prst="line">
            <a:avLst/>
          </a:prstGeom>
          <a:ln w="38100" cap="flat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A9EC08C0-D722-0551-242A-9161D5013A43}"/>
              </a:ext>
            </a:extLst>
          </p:cNvPr>
          <p:cNvSpPr/>
          <p:nvPr/>
        </p:nvSpPr>
        <p:spPr>
          <a:xfrm>
            <a:off x="5106198" y="2674390"/>
            <a:ext cx="2210586" cy="327728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29E809E-789D-5868-E581-0CF2EC540121}"/>
              </a:ext>
            </a:extLst>
          </p:cNvPr>
          <p:cNvSpPr/>
          <p:nvPr/>
        </p:nvSpPr>
        <p:spPr>
          <a:xfrm>
            <a:off x="7460464" y="1543797"/>
            <a:ext cx="2210586" cy="4407876"/>
          </a:xfrm>
          <a:prstGeom prst="rect">
            <a:avLst/>
          </a:prstGeom>
          <a:solidFill>
            <a:srgbClr val="FFF5ED"/>
          </a:solidFill>
          <a:ln>
            <a:noFill/>
          </a:ln>
          <a:effectLst>
            <a:outerShdw blurRad="88900" dist="508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5" name="Content Placeholder 7">
            <a:extLst>
              <a:ext uri="{FF2B5EF4-FFF2-40B4-BE49-F238E27FC236}">
                <a16:creationId xmlns:a16="http://schemas.microsoft.com/office/drawing/2014/main" id="{2C7BBF3A-D422-F00D-3A5A-D470236AC394}"/>
              </a:ext>
            </a:extLst>
          </p:cNvPr>
          <p:cNvSpPr txBox="1">
            <a:spLocks/>
          </p:cNvSpPr>
          <p:nvPr/>
        </p:nvSpPr>
        <p:spPr>
          <a:xfrm>
            <a:off x="7606384" y="1727784"/>
            <a:ext cx="1918745" cy="61106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3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6198" rtl="0" eaLnBrk="1" fontAlgn="auto" latinLnBrk="0" hangingPunct="1"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Design the Workforce of the Future Now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E868BF2-E5E5-29ED-0AB0-09CDFAB97454}"/>
              </a:ext>
            </a:extLst>
          </p:cNvPr>
          <p:cNvCxnSpPr>
            <a:cxnSpLocks/>
          </p:cNvCxnSpPr>
          <p:nvPr/>
        </p:nvCxnSpPr>
        <p:spPr>
          <a:xfrm>
            <a:off x="7626146" y="2491964"/>
            <a:ext cx="205873" cy="0"/>
          </a:xfrm>
          <a:prstGeom prst="line">
            <a:avLst/>
          </a:prstGeom>
          <a:ln w="38100" cap="flat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65A5040D-3BE2-F2DB-A5D0-CFA43E97544D}"/>
              </a:ext>
            </a:extLst>
          </p:cNvPr>
          <p:cNvSpPr/>
          <p:nvPr/>
        </p:nvSpPr>
        <p:spPr>
          <a:xfrm>
            <a:off x="7460464" y="2674390"/>
            <a:ext cx="2210586" cy="327728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9" name="Google Shape;657;p77">
            <a:extLst>
              <a:ext uri="{FF2B5EF4-FFF2-40B4-BE49-F238E27FC236}">
                <a16:creationId xmlns:a16="http://schemas.microsoft.com/office/drawing/2014/main" id="{1A2C48A2-596D-7020-D2B0-3A011B1F746F}"/>
              </a:ext>
            </a:extLst>
          </p:cNvPr>
          <p:cNvSpPr txBox="1"/>
          <p:nvPr/>
        </p:nvSpPr>
        <p:spPr>
          <a:xfrm>
            <a:off x="555140" y="2830493"/>
            <a:ext cx="1926954" cy="47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defTabSz="1216198">
              <a:lnSpc>
                <a:spcPct val="114000"/>
              </a:lnSpc>
              <a:buClr>
                <a:srgbClr val="000000"/>
              </a:buClr>
            </a:pPr>
            <a:r>
              <a:rPr lang="en-US" sz="900" b="1" kern="0" spc="-5">
                <a:solidFill>
                  <a:srgbClr val="FD5108"/>
                </a:solidFill>
                <a:ea typeface="Helvetica Neue"/>
                <a:cs typeface="Helvetica Neue"/>
                <a:sym typeface="Helvetica Neue"/>
              </a:rPr>
              <a:t>Integrated leadership at the CEO level is the prerequisite for integrated commercial performance</a:t>
            </a:r>
            <a:endParaRPr lang="en-US" sz="900" b="1" kern="0" spc="-5">
              <a:solidFill>
                <a:srgbClr val="FD5108"/>
              </a:solidFill>
              <a:ea typeface="Helvetica Neue"/>
              <a:cs typeface="Helvetica Neue"/>
              <a:sym typeface="Arial"/>
            </a:endParaRPr>
          </a:p>
        </p:txBody>
      </p:sp>
      <p:sp>
        <p:nvSpPr>
          <p:cNvPr id="90" name="Google Shape;657;p77">
            <a:extLst>
              <a:ext uri="{FF2B5EF4-FFF2-40B4-BE49-F238E27FC236}">
                <a16:creationId xmlns:a16="http://schemas.microsoft.com/office/drawing/2014/main" id="{E35CEDEF-D3FF-CE26-2C65-B72EA30EC20E}"/>
              </a:ext>
            </a:extLst>
          </p:cNvPr>
          <p:cNvSpPr txBox="1"/>
          <p:nvPr/>
        </p:nvSpPr>
        <p:spPr>
          <a:xfrm>
            <a:off x="2909406" y="2830492"/>
            <a:ext cx="1926954" cy="47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defTabSz="1216198">
              <a:lnSpc>
                <a:spcPct val="114000"/>
              </a:lnSpc>
              <a:buClr>
                <a:srgbClr val="000000"/>
              </a:buClr>
            </a:pPr>
            <a:r>
              <a:rPr lang="en-US" sz="900" b="1" kern="0">
                <a:solidFill>
                  <a:srgbClr val="FD5108"/>
                </a:solidFill>
                <a:ea typeface="Helvetica Neue"/>
                <a:cs typeface="Geeza Pro" panose="02000400000000000000" pitchFamily="2" charset="-78"/>
                <a:sym typeface="Helvetica Neue"/>
              </a:rPr>
              <a:t>Proprietary data, unified and machine-readable, is the only durable moat in a world of commoditized AI</a:t>
            </a:r>
          </a:p>
        </p:txBody>
      </p:sp>
      <p:sp>
        <p:nvSpPr>
          <p:cNvPr id="91" name="Google Shape;657;p77">
            <a:extLst>
              <a:ext uri="{FF2B5EF4-FFF2-40B4-BE49-F238E27FC236}">
                <a16:creationId xmlns:a16="http://schemas.microsoft.com/office/drawing/2014/main" id="{A79E17AB-8274-D380-BF54-3688333D6A2B}"/>
              </a:ext>
            </a:extLst>
          </p:cNvPr>
          <p:cNvSpPr txBox="1"/>
          <p:nvPr/>
        </p:nvSpPr>
        <p:spPr>
          <a:xfrm>
            <a:off x="5263671" y="2830492"/>
            <a:ext cx="1926954" cy="47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defTabSz="1216198">
              <a:lnSpc>
                <a:spcPct val="114000"/>
              </a:lnSpc>
              <a:buClr>
                <a:srgbClr val="000000"/>
              </a:buClr>
            </a:pPr>
            <a:r>
              <a:rPr lang="en-US" sz="900" b="1" kern="0">
                <a:solidFill>
                  <a:srgbClr val="FD5108"/>
                </a:solidFill>
                <a:ea typeface="Helvetica Neue"/>
                <a:cs typeface="Geeza Pro" panose="02000400000000000000" pitchFamily="2" charset="-78"/>
                <a:sym typeface="Helvetica Neue"/>
              </a:rPr>
              <a:t>Value at stake, rigorously defined and relentlessly measured, from the first use case to full-scale transformation</a:t>
            </a:r>
          </a:p>
        </p:txBody>
      </p:sp>
      <p:sp>
        <p:nvSpPr>
          <p:cNvPr id="92" name="Google Shape;657;p77">
            <a:extLst>
              <a:ext uri="{FF2B5EF4-FFF2-40B4-BE49-F238E27FC236}">
                <a16:creationId xmlns:a16="http://schemas.microsoft.com/office/drawing/2014/main" id="{32082BE9-3D56-4CDF-FF68-4ADBB5E6710D}"/>
              </a:ext>
            </a:extLst>
          </p:cNvPr>
          <p:cNvSpPr txBox="1"/>
          <p:nvPr/>
        </p:nvSpPr>
        <p:spPr>
          <a:xfrm>
            <a:off x="7617937" y="2830492"/>
            <a:ext cx="1926954" cy="47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defTabSz="1216198">
              <a:lnSpc>
                <a:spcPct val="114000"/>
              </a:lnSpc>
              <a:buClr>
                <a:srgbClr val="000000"/>
              </a:buClr>
            </a:pPr>
            <a:r>
              <a:rPr lang="en-US" sz="900" b="1" kern="0">
                <a:solidFill>
                  <a:srgbClr val="FD5108"/>
                </a:solidFill>
                <a:ea typeface="Helvetica Neue"/>
                <a:cs typeface="Geeza Pro" panose="02000400000000000000" pitchFamily="2" charset="-78"/>
                <a:sym typeface="Helvetica Neue"/>
              </a:rPr>
              <a:t>Human-agent teaming models, new roles, and redesigned incentives cannot wait until the technology is deployed</a:t>
            </a:r>
          </a:p>
        </p:txBody>
      </p:sp>
      <p:sp>
        <p:nvSpPr>
          <p:cNvPr id="94" name="Google Shape;657;p77">
            <a:extLst>
              <a:ext uri="{FF2B5EF4-FFF2-40B4-BE49-F238E27FC236}">
                <a16:creationId xmlns:a16="http://schemas.microsoft.com/office/drawing/2014/main" id="{49579EF2-3033-9A52-0F90-0ED81ABB997B}"/>
              </a:ext>
            </a:extLst>
          </p:cNvPr>
          <p:cNvSpPr txBox="1"/>
          <p:nvPr/>
        </p:nvSpPr>
        <p:spPr>
          <a:xfrm>
            <a:off x="555140" y="3594233"/>
            <a:ext cx="1926954" cy="631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defTabSz="1216198">
              <a:lnSpc>
                <a:spcPct val="114000"/>
              </a:lnSpc>
              <a:buClr>
                <a:srgbClr val="000000"/>
              </a:buClr>
            </a:pPr>
            <a:r>
              <a:rPr lang="en-US" sz="900" kern="0">
                <a:solidFill>
                  <a:srgbClr val="000000"/>
                </a:solidFill>
                <a:ea typeface="Helvetica Neue"/>
                <a:cs typeface="Helvetica Neue"/>
                <a:sym typeface="Helvetica Neue"/>
              </a:rPr>
              <a:t>Agentic transformation fails in silos. Only </a:t>
            </a:r>
            <a:r>
              <a:rPr lang="en-US" sz="900" b="1" kern="0">
                <a:solidFill>
                  <a:srgbClr val="000000"/>
                </a:solidFill>
                <a:ea typeface="Helvetica Neue"/>
                <a:cs typeface="Helvetica Neue"/>
                <a:sym typeface="Helvetica Neue"/>
              </a:rPr>
              <a:t>CEO-led integration across Marketing, Sales, Commerce, and Service</a:t>
            </a:r>
            <a:r>
              <a:rPr lang="en-US" sz="900" kern="0">
                <a:solidFill>
                  <a:srgbClr val="000000"/>
                </a:solidFill>
                <a:ea typeface="Helvetica Neue"/>
                <a:cs typeface="Helvetica Neue"/>
                <a:sym typeface="Helvetica Neue"/>
              </a:rPr>
              <a:t> unlocks a truly integrated commercial engine</a:t>
            </a:r>
          </a:p>
        </p:txBody>
      </p:sp>
      <p:sp>
        <p:nvSpPr>
          <p:cNvPr id="95" name="Google Shape;657;p77">
            <a:extLst>
              <a:ext uri="{FF2B5EF4-FFF2-40B4-BE49-F238E27FC236}">
                <a16:creationId xmlns:a16="http://schemas.microsoft.com/office/drawing/2014/main" id="{02191919-F0F6-4334-872F-8DA54546B70A}"/>
              </a:ext>
            </a:extLst>
          </p:cNvPr>
          <p:cNvSpPr txBox="1"/>
          <p:nvPr/>
        </p:nvSpPr>
        <p:spPr>
          <a:xfrm>
            <a:off x="2909406" y="3673164"/>
            <a:ext cx="1926954" cy="47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defTabSz="1216198">
              <a:lnSpc>
                <a:spcPct val="114000"/>
              </a:lnSpc>
              <a:buClr>
                <a:srgbClr val="000000"/>
              </a:buClr>
            </a:pPr>
            <a:r>
              <a:rPr lang="en-US" sz="900" kern="0">
                <a:solidFill>
                  <a:srgbClr val="000000"/>
                </a:solidFill>
                <a:ea typeface="Helvetica Neue"/>
                <a:cs typeface="Geeza Pro" panose="02000400000000000000" pitchFamily="2" charset="-78"/>
                <a:sym typeface="Helvetica Neue"/>
              </a:rPr>
              <a:t>Foundation models are commoditizing fast and your </a:t>
            </a:r>
            <a:r>
              <a:rPr lang="en-US" sz="900" b="1" kern="0">
                <a:solidFill>
                  <a:srgbClr val="000000"/>
                </a:solidFill>
                <a:ea typeface="Helvetica Neue"/>
                <a:cs typeface="Geeza Pro" panose="02000400000000000000" pitchFamily="2" charset="-78"/>
                <a:sym typeface="Helvetica Neue"/>
              </a:rPr>
              <a:t>proprietary data is the only durable moat your commercial engine has</a:t>
            </a:r>
          </a:p>
        </p:txBody>
      </p:sp>
      <p:sp>
        <p:nvSpPr>
          <p:cNvPr id="96" name="Google Shape;657;p77">
            <a:extLst>
              <a:ext uri="{FF2B5EF4-FFF2-40B4-BE49-F238E27FC236}">
                <a16:creationId xmlns:a16="http://schemas.microsoft.com/office/drawing/2014/main" id="{9B467E3D-B579-B710-1F2D-3C3943EF0860}"/>
              </a:ext>
            </a:extLst>
          </p:cNvPr>
          <p:cNvSpPr txBox="1"/>
          <p:nvPr/>
        </p:nvSpPr>
        <p:spPr>
          <a:xfrm>
            <a:off x="5263671" y="3594233"/>
            <a:ext cx="1926954" cy="631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defTabSz="1216198">
              <a:lnSpc>
                <a:spcPct val="114000"/>
              </a:lnSpc>
              <a:buClr>
                <a:srgbClr val="000000"/>
              </a:buClr>
            </a:pPr>
            <a:r>
              <a:rPr lang="en-US" sz="900" kern="0">
                <a:solidFill>
                  <a:srgbClr val="000000"/>
                </a:solidFill>
                <a:ea typeface="Helvetica Neue"/>
                <a:cs typeface="Geeza Pro" panose="02000400000000000000" pitchFamily="2" charset="-78"/>
                <a:sym typeface="Helvetica Neue"/>
              </a:rPr>
              <a:t>Organizations capturing real value didn’t deploy most agents. They built a rigorous business case</a:t>
            </a:r>
            <a:r>
              <a:rPr lang="en-US" sz="900" b="1" kern="0">
                <a:solidFill>
                  <a:srgbClr val="000000"/>
                </a:solidFill>
                <a:ea typeface="Helvetica Neue"/>
                <a:cs typeface="Geeza Pro" panose="02000400000000000000" pitchFamily="2" charset="-78"/>
                <a:sym typeface="Helvetica Neue"/>
              </a:rPr>
              <a:t>, proved value </a:t>
            </a:r>
            <a:r>
              <a:rPr lang="en-US" sz="900" kern="0">
                <a:solidFill>
                  <a:srgbClr val="000000"/>
                </a:solidFill>
                <a:ea typeface="Helvetica Neue"/>
                <a:cs typeface="Geeza Pro" panose="02000400000000000000" pitchFamily="2" charset="-78"/>
                <a:sym typeface="Helvetica Neue"/>
              </a:rPr>
              <a:t>at the use-case level, and </a:t>
            </a:r>
            <a:r>
              <a:rPr lang="en-US" sz="900" b="1" kern="0">
                <a:solidFill>
                  <a:srgbClr val="000000"/>
                </a:solidFill>
                <a:ea typeface="Helvetica Neue"/>
                <a:cs typeface="Geeza Pro" panose="02000400000000000000" pitchFamily="2" charset="-78"/>
                <a:sym typeface="Helvetica Neue"/>
              </a:rPr>
              <a:t>scaled what worked</a:t>
            </a:r>
          </a:p>
        </p:txBody>
      </p:sp>
      <p:sp>
        <p:nvSpPr>
          <p:cNvPr id="97" name="Google Shape;657;p77">
            <a:extLst>
              <a:ext uri="{FF2B5EF4-FFF2-40B4-BE49-F238E27FC236}">
                <a16:creationId xmlns:a16="http://schemas.microsoft.com/office/drawing/2014/main" id="{15B54A0F-E513-76CA-12AC-53424121F9B9}"/>
              </a:ext>
            </a:extLst>
          </p:cNvPr>
          <p:cNvSpPr txBox="1"/>
          <p:nvPr/>
        </p:nvSpPr>
        <p:spPr>
          <a:xfrm>
            <a:off x="7617937" y="3594233"/>
            <a:ext cx="1926954" cy="631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defTabSz="1216198">
              <a:lnSpc>
                <a:spcPct val="114000"/>
              </a:lnSpc>
              <a:buClr>
                <a:srgbClr val="000000"/>
              </a:buClr>
            </a:pPr>
            <a:r>
              <a:rPr lang="en-US" sz="900" kern="0">
                <a:solidFill>
                  <a:srgbClr val="000000"/>
                </a:solidFill>
                <a:ea typeface="Helvetica Neue"/>
                <a:cs typeface="Geeza Pro" panose="02000400000000000000" pitchFamily="2" charset="-78"/>
                <a:sym typeface="Helvetica Neue"/>
              </a:rPr>
              <a:t>Technology can be deployed in months but the roles, incentives, and human-agent teaming models that </a:t>
            </a:r>
            <a:r>
              <a:rPr lang="en-US" sz="900" b="1" kern="0">
                <a:solidFill>
                  <a:srgbClr val="000000"/>
                </a:solidFill>
                <a:ea typeface="Helvetica Neue"/>
                <a:cs typeface="Geeza Pro" panose="02000400000000000000" pitchFamily="2" charset="-78"/>
                <a:sym typeface="Helvetica Neue"/>
              </a:rPr>
              <a:t>determine whether it delivers value take years to build</a:t>
            </a:r>
          </a:p>
        </p:txBody>
      </p:sp>
      <p:sp>
        <p:nvSpPr>
          <p:cNvPr id="99" name="Google Shape;657;p77">
            <a:extLst>
              <a:ext uri="{FF2B5EF4-FFF2-40B4-BE49-F238E27FC236}">
                <a16:creationId xmlns:a16="http://schemas.microsoft.com/office/drawing/2014/main" id="{792D9F6F-D912-DBDF-3E2B-95E0EBC60EDD}"/>
              </a:ext>
            </a:extLst>
          </p:cNvPr>
          <p:cNvSpPr txBox="1"/>
          <p:nvPr/>
        </p:nvSpPr>
        <p:spPr>
          <a:xfrm>
            <a:off x="555140" y="4515837"/>
            <a:ext cx="1926954" cy="47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defTabSz="1216198">
              <a:lnSpc>
                <a:spcPct val="114000"/>
              </a:lnSpc>
              <a:buClr>
                <a:srgbClr val="000000"/>
              </a:buClr>
            </a:pPr>
            <a:r>
              <a:rPr lang="en-US" sz="900" b="1" kern="0">
                <a:solidFill>
                  <a:srgbClr val="000000"/>
                </a:solidFill>
                <a:ea typeface="Helvetica Neue"/>
                <a:cs typeface="Helvetica Neue"/>
                <a:sym typeface="Helvetica Neue"/>
              </a:rPr>
              <a:t>Redefine success at the enterprise level </a:t>
            </a:r>
            <a:r>
              <a:rPr lang="en-US" sz="900" kern="0">
                <a:solidFill>
                  <a:srgbClr val="000000"/>
                </a:solidFill>
                <a:ea typeface="Helvetica Neue"/>
                <a:cs typeface="Helvetica Neue"/>
                <a:sym typeface="Helvetica Neue"/>
              </a:rPr>
              <a:t>and make revenue growth, margin protection, and customer lifetime value shared outcomes</a:t>
            </a:r>
          </a:p>
        </p:txBody>
      </p:sp>
      <p:sp>
        <p:nvSpPr>
          <p:cNvPr id="100" name="Google Shape;657;p77">
            <a:extLst>
              <a:ext uri="{FF2B5EF4-FFF2-40B4-BE49-F238E27FC236}">
                <a16:creationId xmlns:a16="http://schemas.microsoft.com/office/drawing/2014/main" id="{0F7176D5-26AD-D8D5-E2A0-384F2289FB45}"/>
              </a:ext>
            </a:extLst>
          </p:cNvPr>
          <p:cNvSpPr txBox="1"/>
          <p:nvPr/>
        </p:nvSpPr>
        <p:spPr>
          <a:xfrm>
            <a:off x="2909406" y="4594769"/>
            <a:ext cx="1926954" cy="315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defTabSz="1216198">
              <a:lnSpc>
                <a:spcPct val="114000"/>
              </a:lnSpc>
              <a:buClr>
                <a:srgbClr val="000000"/>
              </a:buClr>
            </a:pPr>
            <a:r>
              <a:rPr lang="en-US" sz="900" kern="0">
                <a:solidFill>
                  <a:srgbClr val="000000"/>
                </a:solidFill>
                <a:ea typeface="Helvetica Neue"/>
                <a:cs typeface="Geeza Pro" panose="02000400000000000000" pitchFamily="2" charset="-78"/>
                <a:sym typeface="Helvetica Neue"/>
              </a:rPr>
              <a:t>Treat data infrastructure as a </a:t>
            </a:r>
            <a:r>
              <a:rPr lang="en-US" sz="900" b="1" kern="0">
                <a:solidFill>
                  <a:srgbClr val="000000"/>
                </a:solidFill>
                <a:ea typeface="Helvetica Neue"/>
                <a:cs typeface="Geeza Pro" panose="02000400000000000000" pitchFamily="2" charset="-78"/>
                <a:sym typeface="Helvetica Neue"/>
              </a:rPr>
              <a:t>strategic investment, not an IT cost</a:t>
            </a:r>
          </a:p>
        </p:txBody>
      </p:sp>
      <p:sp>
        <p:nvSpPr>
          <p:cNvPr id="101" name="Google Shape;657;p77">
            <a:extLst>
              <a:ext uri="{FF2B5EF4-FFF2-40B4-BE49-F238E27FC236}">
                <a16:creationId xmlns:a16="http://schemas.microsoft.com/office/drawing/2014/main" id="{9E46DDE9-D548-64A9-55C2-BCE469C054F6}"/>
              </a:ext>
            </a:extLst>
          </p:cNvPr>
          <p:cNvSpPr txBox="1"/>
          <p:nvPr/>
        </p:nvSpPr>
        <p:spPr>
          <a:xfrm>
            <a:off x="5263671" y="4515837"/>
            <a:ext cx="1926954" cy="47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defTabSz="1216198">
              <a:lnSpc>
                <a:spcPct val="114000"/>
              </a:lnSpc>
              <a:buClr>
                <a:srgbClr val="000000"/>
              </a:buClr>
            </a:pPr>
            <a:r>
              <a:rPr lang="en-US" sz="900" kern="0">
                <a:solidFill>
                  <a:srgbClr val="000000"/>
                </a:solidFill>
                <a:ea typeface="Helvetica Neue"/>
                <a:cs typeface="Geeza Pro" panose="02000400000000000000" pitchFamily="2" charset="-78"/>
                <a:sym typeface="Helvetica Neue"/>
              </a:rPr>
              <a:t>Demand measurable outcomes from day one. Every initiative must be </a:t>
            </a:r>
            <a:r>
              <a:rPr lang="en-US" sz="900" b="1" kern="0">
                <a:solidFill>
                  <a:srgbClr val="000000"/>
                </a:solidFill>
                <a:ea typeface="Helvetica Neue"/>
                <a:cs typeface="Geeza Pro" panose="02000400000000000000" pitchFamily="2" charset="-78"/>
                <a:sym typeface="Helvetica Neue"/>
              </a:rPr>
              <a:t>anchored to a clear value hypothesis</a:t>
            </a:r>
            <a:r>
              <a:rPr lang="en-US" sz="900" kern="0">
                <a:solidFill>
                  <a:srgbClr val="000000"/>
                </a:solidFill>
                <a:ea typeface="Helvetica Neue"/>
                <a:cs typeface="Geeza Pro" panose="02000400000000000000" pitchFamily="2" charset="-78"/>
                <a:sym typeface="Helvetica Neue"/>
              </a:rPr>
              <a:t> with defined metrics</a:t>
            </a:r>
          </a:p>
        </p:txBody>
      </p:sp>
      <p:sp>
        <p:nvSpPr>
          <p:cNvPr id="102" name="Google Shape;657;p77">
            <a:extLst>
              <a:ext uri="{FF2B5EF4-FFF2-40B4-BE49-F238E27FC236}">
                <a16:creationId xmlns:a16="http://schemas.microsoft.com/office/drawing/2014/main" id="{577592C3-95B9-52D0-F7F5-B5F02F4393EF}"/>
              </a:ext>
            </a:extLst>
          </p:cNvPr>
          <p:cNvSpPr txBox="1"/>
          <p:nvPr/>
        </p:nvSpPr>
        <p:spPr>
          <a:xfrm>
            <a:off x="7617937" y="4515837"/>
            <a:ext cx="1926954" cy="47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defTabSz="1216198">
              <a:lnSpc>
                <a:spcPct val="114000"/>
              </a:lnSpc>
              <a:buClr>
                <a:srgbClr val="000000"/>
              </a:buClr>
            </a:pPr>
            <a:r>
              <a:rPr lang="en-US" sz="900" kern="0">
                <a:solidFill>
                  <a:srgbClr val="000000"/>
                </a:solidFill>
                <a:ea typeface="Helvetica Neue"/>
                <a:cs typeface="Geeza Pro" panose="02000400000000000000" pitchFamily="2" charset="-78"/>
                <a:sym typeface="Helvetica Neue"/>
              </a:rPr>
              <a:t>Treat </a:t>
            </a:r>
            <a:r>
              <a:rPr lang="en-US" sz="900" b="1" kern="0">
                <a:solidFill>
                  <a:srgbClr val="000000"/>
                </a:solidFill>
                <a:ea typeface="Helvetica Neue"/>
                <a:cs typeface="Geeza Pro" panose="02000400000000000000" pitchFamily="2" charset="-78"/>
                <a:sym typeface="Helvetica Neue"/>
              </a:rPr>
              <a:t>workforce redesign as a parallel workstream</a:t>
            </a:r>
            <a:r>
              <a:rPr lang="en-US" sz="900" kern="0">
                <a:solidFill>
                  <a:srgbClr val="000000"/>
                </a:solidFill>
                <a:ea typeface="Helvetica Neue"/>
                <a:cs typeface="Geeza Pro" panose="02000400000000000000" pitchFamily="2" charset="-78"/>
                <a:sym typeface="Helvetica Neue"/>
              </a:rPr>
              <a:t> with distinct roles that will define your commercial organization</a:t>
            </a:r>
          </a:p>
        </p:txBody>
      </p:sp>
      <p:sp>
        <p:nvSpPr>
          <p:cNvPr id="104" name="Google Shape;657;p77">
            <a:extLst>
              <a:ext uri="{FF2B5EF4-FFF2-40B4-BE49-F238E27FC236}">
                <a16:creationId xmlns:a16="http://schemas.microsoft.com/office/drawing/2014/main" id="{EF3DE6E1-4F29-C882-9382-57613D0CB1D7}"/>
              </a:ext>
            </a:extLst>
          </p:cNvPr>
          <p:cNvSpPr txBox="1"/>
          <p:nvPr/>
        </p:nvSpPr>
        <p:spPr>
          <a:xfrm>
            <a:off x="555140" y="5279575"/>
            <a:ext cx="1926954" cy="47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defTabSz="1216198">
              <a:lnSpc>
                <a:spcPct val="114000"/>
              </a:lnSpc>
              <a:buClr>
                <a:srgbClr val="000000"/>
              </a:buClr>
            </a:pPr>
            <a:r>
              <a:rPr lang="en-US" sz="900" kern="0">
                <a:solidFill>
                  <a:srgbClr val="000000"/>
                </a:solidFill>
                <a:ea typeface="Helvetica Neue"/>
                <a:cs typeface="Helvetica Neue"/>
                <a:sym typeface="Helvetica Neue"/>
              </a:rPr>
              <a:t>If your CRO, CMO, and COO don’t share a definition of commercial success, </a:t>
            </a:r>
            <a:r>
              <a:rPr lang="en-US" sz="900" b="1" kern="0">
                <a:solidFill>
                  <a:srgbClr val="000000"/>
                </a:solidFill>
                <a:ea typeface="Helvetica Neue"/>
                <a:cs typeface="Helvetica Neue"/>
                <a:sym typeface="Helvetica Neue"/>
              </a:rPr>
              <a:t>no technology investment will close the gap</a:t>
            </a:r>
          </a:p>
        </p:txBody>
      </p:sp>
      <p:sp>
        <p:nvSpPr>
          <p:cNvPr id="105" name="Google Shape;657;p77">
            <a:extLst>
              <a:ext uri="{FF2B5EF4-FFF2-40B4-BE49-F238E27FC236}">
                <a16:creationId xmlns:a16="http://schemas.microsoft.com/office/drawing/2014/main" id="{9718CB12-A615-0E51-C767-705026695540}"/>
              </a:ext>
            </a:extLst>
          </p:cNvPr>
          <p:cNvSpPr txBox="1"/>
          <p:nvPr/>
        </p:nvSpPr>
        <p:spPr>
          <a:xfrm>
            <a:off x="2909406" y="5279574"/>
            <a:ext cx="1926954" cy="47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defTabSz="1216198">
              <a:lnSpc>
                <a:spcPct val="114000"/>
              </a:lnSpc>
              <a:buClr>
                <a:srgbClr val="000000"/>
              </a:buClr>
            </a:pPr>
            <a:r>
              <a:rPr lang="en-US" sz="900" kern="0">
                <a:solidFill>
                  <a:srgbClr val="000000"/>
                </a:solidFill>
                <a:ea typeface="Helvetica Neue"/>
                <a:cs typeface="Geeza Pro" panose="02000400000000000000" pitchFamily="2" charset="-78"/>
                <a:sym typeface="Helvetica Neue"/>
              </a:rPr>
              <a:t>The companies winning with AI are not those with the best models, but rather, those with the </a:t>
            </a:r>
            <a:r>
              <a:rPr lang="en-US" sz="900" b="1" kern="0">
                <a:solidFill>
                  <a:srgbClr val="000000"/>
                </a:solidFill>
                <a:ea typeface="Helvetica Neue"/>
                <a:cs typeface="Geeza Pro" panose="02000400000000000000" pitchFamily="2" charset="-78"/>
                <a:sym typeface="Helvetica Neue"/>
              </a:rPr>
              <a:t>cleanest, most connected data</a:t>
            </a:r>
          </a:p>
        </p:txBody>
      </p:sp>
      <p:sp>
        <p:nvSpPr>
          <p:cNvPr id="106" name="Google Shape;657;p77">
            <a:extLst>
              <a:ext uri="{FF2B5EF4-FFF2-40B4-BE49-F238E27FC236}">
                <a16:creationId xmlns:a16="http://schemas.microsoft.com/office/drawing/2014/main" id="{79D7A0C3-081E-7B1A-3892-6547EF0554B9}"/>
              </a:ext>
            </a:extLst>
          </p:cNvPr>
          <p:cNvSpPr txBox="1"/>
          <p:nvPr/>
        </p:nvSpPr>
        <p:spPr>
          <a:xfrm>
            <a:off x="5263671" y="5358505"/>
            <a:ext cx="1926954" cy="315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defTabSz="1216198">
              <a:lnSpc>
                <a:spcPct val="114000"/>
              </a:lnSpc>
              <a:buClr>
                <a:srgbClr val="000000"/>
              </a:buClr>
            </a:pPr>
            <a:r>
              <a:rPr lang="en-US" sz="900" kern="0">
                <a:solidFill>
                  <a:srgbClr val="000000"/>
                </a:solidFill>
                <a:ea typeface="Helvetica Neue"/>
                <a:cs typeface="Geeza Pro" panose="02000400000000000000" pitchFamily="2" charset="-78"/>
                <a:sym typeface="Helvetica Neue"/>
              </a:rPr>
              <a:t>Transformation without a business case is </a:t>
            </a:r>
            <a:r>
              <a:rPr lang="en-US" sz="900" b="1" kern="0">
                <a:solidFill>
                  <a:srgbClr val="000000"/>
                </a:solidFill>
                <a:ea typeface="Helvetica Neue"/>
                <a:cs typeface="Geeza Pro" panose="02000400000000000000" pitchFamily="2" charset="-78"/>
                <a:sym typeface="Helvetica Neue"/>
              </a:rPr>
              <a:t>experimentation at enterprise cost</a:t>
            </a:r>
            <a:endParaRPr lang="en-US" sz="900" b="1" kern="0">
              <a:solidFill>
                <a:srgbClr val="000000"/>
              </a:solidFill>
              <a:ea typeface="Helvetica Neue"/>
              <a:cs typeface="Geeza Pro" panose="02000400000000000000" pitchFamily="2" charset="-78"/>
            </a:endParaRPr>
          </a:p>
        </p:txBody>
      </p:sp>
      <p:sp>
        <p:nvSpPr>
          <p:cNvPr id="107" name="Google Shape;657;p77">
            <a:extLst>
              <a:ext uri="{FF2B5EF4-FFF2-40B4-BE49-F238E27FC236}">
                <a16:creationId xmlns:a16="http://schemas.microsoft.com/office/drawing/2014/main" id="{277C08FF-F0A2-B804-F958-5CD924900A7C}"/>
              </a:ext>
            </a:extLst>
          </p:cNvPr>
          <p:cNvSpPr txBox="1"/>
          <p:nvPr/>
        </p:nvSpPr>
        <p:spPr>
          <a:xfrm>
            <a:off x="7617937" y="5279576"/>
            <a:ext cx="1926954" cy="47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defTabSz="1216198">
              <a:lnSpc>
                <a:spcPct val="114000"/>
              </a:lnSpc>
              <a:buClr>
                <a:srgbClr val="000000"/>
              </a:buClr>
              <a:buSzPts val="1100"/>
            </a:pPr>
            <a:r>
              <a:rPr lang="en-US" sz="900" kern="0">
                <a:solidFill>
                  <a:srgbClr val="000000"/>
                </a:solidFill>
                <a:ea typeface="Helvetica Neue"/>
                <a:cs typeface="Geeza Pro" panose="02000400000000000000" pitchFamily="2" charset="-78"/>
                <a:sym typeface="Helvetica Neue"/>
              </a:rPr>
              <a:t>Agents powering redesigned commercial architectures </a:t>
            </a:r>
            <a:r>
              <a:rPr lang="en-US" sz="900" b="1" kern="0">
                <a:solidFill>
                  <a:srgbClr val="000000"/>
                </a:solidFill>
                <a:ea typeface="Helvetica Neue"/>
                <a:cs typeface="Geeza Pro" panose="02000400000000000000" pitchFamily="2" charset="-78"/>
                <a:sym typeface="Helvetica Neue"/>
              </a:rPr>
              <a:t>deliver transformational change</a:t>
            </a:r>
            <a:endParaRPr lang="en-US" sz="900" b="1" kern="0">
              <a:solidFill>
                <a:srgbClr val="000000"/>
              </a:solidFill>
              <a:ea typeface="Helvetica Neue"/>
              <a:cs typeface="Geeza Pro" panose="02000400000000000000" pitchFamily="2" charset="-78"/>
              <a:sym typeface="Arial"/>
            </a:endParaRP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97317B28-62EE-43DA-34F6-EEC7A6F521F8}"/>
              </a:ext>
            </a:extLst>
          </p:cNvPr>
          <p:cNvCxnSpPr>
            <a:cxnSpLocks/>
          </p:cNvCxnSpPr>
          <p:nvPr/>
        </p:nvCxnSpPr>
        <p:spPr>
          <a:xfrm>
            <a:off x="403976" y="5951675"/>
            <a:ext cx="220427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BF8B1E6-6C1C-A0DF-5944-057CBE65F488}"/>
              </a:ext>
            </a:extLst>
          </p:cNvPr>
          <p:cNvCxnSpPr>
            <a:cxnSpLocks/>
          </p:cNvCxnSpPr>
          <p:nvPr/>
        </p:nvCxnSpPr>
        <p:spPr>
          <a:xfrm>
            <a:off x="2758242" y="5951675"/>
            <a:ext cx="220427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68235864-8957-B87A-8E92-76AA9BC9DC9F}"/>
              </a:ext>
            </a:extLst>
          </p:cNvPr>
          <p:cNvCxnSpPr>
            <a:cxnSpLocks/>
          </p:cNvCxnSpPr>
          <p:nvPr/>
        </p:nvCxnSpPr>
        <p:spPr>
          <a:xfrm>
            <a:off x="5112507" y="5951675"/>
            <a:ext cx="220427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359EF29-4D1C-F853-6C82-AA10F380D3DA}"/>
              </a:ext>
            </a:extLst>
          </p:cNvPr>
          <p:cNvCxnSpPr>
            <a:cxnSpLocks/>
          </p:cNvCxnSpPr>
          <p:nvPr/>
        </p:nvCxnSpPr>
        <p:spPr>
          <a:xfrm>
            <a:off x="7466773" y="5951675"/>
            <a:ext cx="220427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Google Shape;2507;p251">
            <a:extLst>
              <a:ext uri="{FF2B5EF4-FFF2-40B4-BE49-F238E27FC236}">
                <a16:creationId xmlns:a16="http://schemas.microsoft.com/office/drawing/2014/main" id="{044604B7-0479-0F12-8517-B0E425FF6326}"/>
              </a:ext>
            </a:extLst>
          </p:cNvPr>
          <p:cNvCxnSpPr/>
          <p:nvPr/>
        </p:nvCxnSpPr>
        <p:spPr>
          <a:xfrm>
            <a:off x="507297" y="3418482"/>
            <a:ext cx="1974797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15" name="Google Shape;2507;p251">
            <a:extLst>
              <a:ext uri="{FF2B5EF4-FFF2-40B4-BE49-F238E27FC236}">
                <a16:creationId xmlns:a16="http://schemas.microsoft.com/office/drawing/2014/main" id="{EF00084D-0308-F2EC-ADD7-A2FA58E6AC70}"/>
              </a:ext>
            </a:extLst>
          </p:cNvPr>
          <p:cNvCxnSpPr/>
          <p:nvPr/>
        </p:nvCxnSpPr>
        <p:spPr>
          <a:xfrm>
            <a:off x="2861562" y="3418482"/>
            <a:ext cx="1974797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16" name="Google Shape;2507;p251">
            <a:extLst>
              <a:ext uri="{FF2B5EF4-FFF2-40B4-BE49-F238E27FC236}">
                <a16:creationId xmlns:a16="http://schemas.microsoft.com/office/drawing/2014/main" id="{B8494F85-3DBB-6612-6CE1-330453285FC7}"/>
              </a:ext>
            </a:extLst>
          </p:cNvPr>
          <p:cNvCxnSpPr/>
          <p:nvPr/>
        </p:nvCxnSpPr>
        <p:spPr>
          <a:xfrm>
            <a:off x="5215828" y="3418482"/>
            <a:ext cx="1974797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17" name="Google Shape;2507;p251">
            <a:extLst>
              <a:ext uri="{FF2B5EF4-FFF2-40B4-BE49-F238E27FC236}">
                <a16:creationId xmlns:a16="http://schemas.microsoft.com/office/drawing/2014/main" id="{5FBED587-CB83-1B1A-C675-922E1A9023DC}"/>
              </a:ext>
            </a:extLst>
          </p:cNvPr>
          <p:cNvCxnSpPr/>
          <p:nvPr/>
        </p:nvCxnSpPr>
        <p:spPr>
          <a:xfrm>
            <a:off x="7570093" y="3418482"/>
            <a:ext cx="1974797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19" name="Google Shape;2517;p251">
            <a:extLst>
              <a:ext uri="{FF2B5EF4-FFF2-40B4-BE49-F238E27FC236}">
                <a16:creationId xmlns:a16="http://schemas.microsoft.com/office/drawing/2014/main" id="{8D88000B-4B42-CC17-FA43-E098D55E5C82}"/>
              </a:ext>
            </a:extLst>
          </p:cNvPr>
          <p:cNvCxnSpPr/>
          <p:nvPr/>
        </p:nvCxnSpPr>
        <p:spPr>
          <a:xfrm>
            <a:off x="507297" y="4390088"/>
            <a:ext cx="1974797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20" name="Google Shape;2517;p251">
            <a:extLst>
              <a:ext uri="{FF2B5EF4-FFF2-40B4-BE49-F238E27FC236}">
                <a16:creationId xmlns:a16="http://schemas.microsoft.com/office/drawing/2014/main" id="{56FDA4EC-AB15-2816-B0BF-94FC19B9BC64}"/>
              </a:ext>
            </a:extLst>
          </p:cNvPr>
          <p:cNvCxnSpPr/>
          <p:nvPr/>
        </p:nvCxnSpPr>
        <p:spPr>
          <a:xfrm>
            <a:off x="2861562" y="4390088"/>
            <a:ext cx="1974797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21" name="Google Shape;2517;p251">
            <a:extLst>
              <a:ext uri="{FF2B5EF4-FFF2-40B4-BE49-F238E27FC236}">
                <a16:creationId xmlns:a16="http://schemas.microsoft.com/office/drawing/2014/main" id="{10B08FB9-A0E6-BFA7-9330-868F64D78208}"/>
              </a:ext>
            </a:extLst>
          </p:cNvPr>
          <p:cNvCxnSpPr/>
          <p:nvPr/>
        </p:nvCxnSpPr>
        <p:spPr>
          <a:xfrm>
            <a:off x="5215828" y="4390088"/>
            <a:ext cx="1974797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22" name="Google Shape;2517;p251">
            <a:extLst>
              <a:ext uri="{FF2B5EF4-FFF2-40B4-BE49-F238E27FC236}">
                <a16:creationId xmlns:a16="http://schemas.microsoft.com/office/drawing/2014/main" id="{B7155376-5F33-4E16-5833-A9689C94D4E6}"/>
              </a:ext>
            </a:extLst>
          </p:cNvPr>
          <p:cNvCxnSpPr/>
          <p:nvPr/>
        </p:nvCxnSpPr>
        <p:spPr>
          <a:xfrm>
            <a:off x="7570093" y="4390088"/>
            <a:ext cx="1974797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24" name="Google Shape;2523;p251">
            <a:extLst>
              <a:ext uri="{FF2B5EF4-FFF2-40B4-BE49-F238E27FC236}">
                <a16:creationId xmlns:a16="http://schemas.microsoft.com/office/drawing/2014/main" id="{D4E7FAA0-700F-A470-BEBB-9E7D6E5B65DB}"/>
              </a:ext>
            </a:extLst>
          </p:cNvPr>
          <p:cNvCxnSpPr/>
          <p:nvPr/>
        </p:nvCxnSpPr>
        <p:spPr>
          <a:xfrm>
            <a:off x="507297" y="5114044"/>
            <a:ext cx="1974797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25" name="Google Shape;2523;p251">
            <a:extLst>
              <a:ext uri="{FF2B5EF4-FFF2-40B4-BE49-F238E27FC236}">
                <a16:creationId xmlns:a16="http://schemas.microsoft.com/office/drawing/2014/main" id="{0B2A4C07-4B7E-9D7E-0C84-73D6361D1F66}"/>
              </a:ext>
            </a:extLst>
          </p:cNvPr>
          <p:cNvCxnSpPr/>
          <p:nvPr/>
        </p:nvCxnSpPr>
        <p:spPr>
          <a:xfrm>
            <a:off x="2861562" y="5114044"/>
            <a:ext cx="1974797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26" name="Google Shape;2523;p251">
            <a:extLst>
              <a:ext uri="{FF2B5EF4-FFF2-40B4-BE49-F238E27FC236}">
                <a16:creationId xmlns:a16="http://schemas.microsoft.com/office/drawing/2014/main" id="{DA75A53F-0250-9A9D-6D4C-2CAD1E8FF919}"/>
              </a:ext>
            </a:extLst>
          </p:cNvPr>
          <p:cNvCxnSpPr/>
          <p:nvPr/>
        </p:nvCxnSpPr>
        <p:spPr>
          <a:xfrm>
            <a:off x="5215828" y="5114044"/>
            <a:ext cx="1974797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27" name="Google Shape;2523;p251">
            <a:extLst>
              <a:ext uri="{FF2B5EF4-FFF2-40B4-BE49-F238E27FC236}">
                <a16:creationId xmlns:a16="http://schemas.microsoft.com/office/drawing/2014/main" id="{1F8F750E-C918-4234-FE54-7BF1ED22DF8E}"/>
              </a:ext>
            </a:extLst>
          </p:cNvPr>
          <p:cNvCxnSpPr/>
          <p:nvPr/>
        </p:nvCxnSpPr>
        <p:spPr>
          <a:xfrm>
            <a:off x="7570093" y="5114044"/>
            <a:ext cx="1974797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0BC401EC-441D-0486-782F-EBD280703CED}"/>
              </a:ext>
            </a:extLst>
          </p:cNvPr>
          <p:cNvSpPr/>
          <p:nvPr/>
        </p:nvSpPr>
        <p:spPr>
          <a:xfrm>
            <a:off x="2965" y="6142166"/>
            <a:ext cx="12189871" cy="589754"/>
          </a:xfrm>
          <a:prstGeom prst="rect">
            <a:avLst/>
          </a:prstGeom>
          <a:solidFill>
            <a:srgbClr val="FE51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4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4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4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4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4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4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4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4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4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 sz="1000"/>
          </a:p>
        </p:txBody>
      </p:sp>
      <p:sp>
        <p:nvSpPr>
          <p:cNvPr id="131" name="TextBox 6">
            <a:extLst>
              <a:ext uri="{FF2B5EF4-FFF2-40B4-BE49-F238E27FC236}">
                <a16:creationId xmlns:a16="http://schemas.microsoft.com/office/drawing/2014/main" id="{54CA6F12-BB32-F2B3-973B-26434828DD3F}"/>
              </a:ext>
            </a:extLst>
          </p:cNvPr>
          <p:cNvSpPr txBox="1"/>
          <p:nvPr/>
        </p:nvSpPr>
        <p:spPr>
          <a:xfrm>
            <a:off x="337204" y="6210880"/>
            <a:ext cx="11517592" cy="46166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>
                <a:solidFill>
                  <a:schemeClr val="bg1"/>
                </a:solidFill>
              </a:rPr>
              <a:t>These commitments define what must be true. PwC's approach is designed to make them real, faster than you expected, and more accountable than you've experienced before 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1FF4616-057C-1018-8CAF-85A0B51B2B9F}"/>
              </a:ext>
            </a:extLst>
          </p:cNvPr>
          <p:cNvSpPr txBox="1"/>
          <p:nvPr/>
        </p:nvSpPr>
        <p:spPr>
          <a:xfrm rot="16200000">
            <a:off x="-304681" y="2931013"/>
            <a:ext cx="10223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b="1" kern="0" spc="-5">
                <a:solidFill>
                  <a:schemeClr val="bg1">
                    <a:lumMod val="6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COMMITMENT DESCRIIPTION</a:t>
            </a:r>
            <a:endParaRPr lang="en-US" sz="700">
              <a:solidFill>
                <a:schemeClr val="bg1">
                  <a:lumMod val="65000"/>
                </a:schemeClr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EC5E87-68AF-4BAC-956D-9620BFE01D13}"/>
              </a:ext>
            </a:extLst>
          </p:cNvPr>
          <p:cNvSpPr/>
          <p:nvPr/>
        </p:nvSpPr>
        <p:spPr>
          <a:xfrm>
            <a:off x="9814729" y="1543797"/>
            <a:ext cx="2210586" cy="4407876"/>
          </a:xfrm>
          <a:prstGeom prst="rect">
            <a:avLst/>
          </a:prstGeom>
          <a:solidFill>
            <a:srgbClr val="FFF5ED"/>
          </a:solidFill>
          <a:ln>
            <a:noFill/>
          </a:ln>
          <a:effectLst>
            <a:outerShdw blurRad="88900" dist="508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1F97AF7D-843A-9577-2F24-61C067F22758}"/>
              </a:ext>
            </a:extLst>
          </p:cNvPr>
          <p:cNvSpPr txBox="1">
            <a:spLocks/>
          </p:cNvSpPr>
          <p:nvPr/>
        </p:nvSpPr>
        <p:spPr>
          <a:xfrm>
            <a:off x="9980411" y="1734090"/>
            <a:ext cx="1918745" cy="61106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3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Build Governance Into the Architecture from the Beginning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E6425F-A6F6-01E5-8D06-0D37951740BA}"/>
              </a:ext>
            </a:extLst>
          </p:cNvPr>
          <p:cNvCxnSpPr>
            <a:cxnSpLocks/>
          </p:cNvCxnSpPr>
          <p:nvPr/>
        </p:nvCxnSpPr>
        <p:spPr>
          <a:xfrm>
            <a:off x="9980411" y="2491964"/>
            <a:ext cx="205873" cy="0"/>
          </a:xfrm>
          <a:prstGeom prst="line">
            <a:avLst/>
          </a:prstGeom>
          <a:ln w="38100" cap="flat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B47324D-84AE-7E23-1805-D4E549E038D8}"/>
              </a:ext>
            </a:extLst>
          </p:cNvPr>
          <p:cNvSpPr/>
          <p:nvPr/>
        </p:nvSpPr>
        <p:spPr>
          <a:xfrm>
            <a:off x="9814729" y="2674390"/>
            <a:ext cx="2210586" cy="3277284"/>
          </a:xfrm>
          <a:prstGeom prst="rect">
            <a:avLst/>
          </a:prstGeom>
          <a:solidFill>
            <a:srgbClr val="FFE8D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" name="Google Shape;657;p77">
            <a:extLst>
              <a:ext uri="{FF2B5EF4-FFF2-40B4-BE49-F238E27FC236}">
                <a16:creationId xmlns:a16="http://schemas.microsoft.com/office/drawing/2014/main" id="{A2ADDD8F-AB76-B4B8-8073-BD31364AE154}"/>
              </a:ext>
            </a:extLst>
          </p:cNvPr>
          <p:cNvSpPr txBox="1"/>
          <p:nvPr/>
        </p:nvSpPr>
        <p:spPr>
          <a:xfrm>
            <a:off x="9972202" y="2830492"/>
            <a:ext cx="1926954" cy="473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defTabSz="1216198">
              <a:lnSpc>
                <a:spcPct val="114000"/>
              </a:lnSpc>
              <a:buClr>
                <a:srgbClr val="000000"/>
              </a:buClr>
            </a:pPr>
            <a:r>
              <a:rPr lang="en-US" sz="900" b="1">
                <a:solidFill>
                  <a:schemeClr val="accent1"/>
                </a:solidFill>
              </a:rPr>
              <a:t>Governance is the economic enabler of agentic autonomy — not a constraint on it</a:t>
            </a:r>
            <a:endParaRPr lang="en-US" sz="900" b="1" kern="0">
              <a:solidFill>
                <a:schemeClr val="accent1"/>
              </a:solidFill>
              <a:ea typeface="Helvetica Neue"/>
              <a:cs typeface="Geeza Pro" panose="02000400000000000000" pitchFamily="2" charset="-78"/>
              <a:sym typeface="Helvetica Neue"/>
            </a:endParaRPr>
          </a:p>
        </p:txBody>
      </p:sp>
      <p:sp>
        <p:nvSpPr>
          <p:cNvPr id="9" name="Google Shape;657;p77">
            <a:extLst>
              <a:ext uri="{FF2B5EF4-FFF2-40B4-BE49-F238E27FC236}">
                <a16:creationId xmlns:a16="http://schemas.microsoft.com/office/drawing/2014/main" id="{B0C48E26-BC97-D401-ACDC-D80C6886B143}"/>
              </a:ext>
            </a:extLst>
          </p:cNvPr>
          <p:cNvSpPr txBox="1"/>
          <p:nvPr/>
        </p:nvSpPr>
        <p:spPr>
          <a:xfrm>
            <a:off x="9972202" y="3515301"/>
            <a:ext cx="1926954" cy="789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defTabSz="1216198">
              <a:lnSpc>
                <a:spcPct val="114000"/>
              </a:lnSpc>
              <a:buClr>
                <a:srgbClr val="000000"/>
              </a:buClr>
            </a:pPr>
            <a:r>
              <a:rPr lang="en-US" sz="900"/>
              <a:t>Governance defined concurrently with agent architecture </a:t>
            </a:r>
            <a:r>
              <a:rPr lang="en-US" sz="900" b="1"/>
              <a:t>enables faster, safer deployment</a:t>
            </a:r>
            <a:r>
              <a:rPr lang="en-US" sz="900"/>
              <a:t>. Bolted on later, it creates brand, compliance, and trust failures that are costly to reverse.</a:t>
            </a:r>
            <a:endParaRPr lang="en-US" sz="900" b="1" kern="0">
              <a:solidFill>
                <a:srgbClr val="000000"/>
              </a:solidFill>
              <a:ea typeface="Helvetica Neue"/>
              <a:cs typeface="Geeza Pro" panose="02000400000000000000" pitchFamily="2" charset="-78"/>
              <a:sym typeface="Helvetica Neue"/>
            </a:endParaRPr>
          </a:p>
        </p:txBody>
      </p:sp>
      <p:sp>
        <p:nvSpPr>
          <p:cNvPr id="10" name="Google Shape;657;p77">
            <a:extLst>
              <a:ext uri="{FF2B5EF4-FFF2-40B4-BE49-F238E27FC236}">
                <a16:creationId xmlns:a16="http://schemas.microsoft.com/office/drawing/2014/main" id="{78282F81-AC18-91CD-90EE-10D9B10D13C9}"/>
              </a:ext>
            </a:extLst>
          </p:cNvPr>
          <p:cNvSpPr txBox="1"/>
          <p:nvPr/>
        </p:nvSpPr>
        <p:spPr>
          <a:xfrm>
            <a:off x="9972202" y="4436905"/>
            <a:ext cx="1926954" cy="631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defTabSz="1216198">
              <a:lnSpc>
                <a:spcPct val="114000"/>
              </a:lnSpc>
              <a:buClr>
                <a:srgbClr val="000000"/>
              </a:buClr>
            </a:pPr>
            <a:r>
              <a:rPr lang="en-US" sz="900" b="1"/>
              <a:t>Establish governance from day one </a:t>
            </a:r>
            <a:r>
              <a:rPr lang="en-US" sz="900"/>
              <a:t>— covering human-in-the-loop thresholds, audit trails, model risk management, and cost governance.</a:t>
            </a:r>
            <a:endParaRPr lang="en-US" sz="900" kern="0">
              <a:solidFill>
                <a:srgbClr val="000000"/>
              </a:solidFill>
              <a:ea typeface="Helvetica Neue"/>
              <a:cs typeface="Geeza Pro" panose="02000400000000000000" pitchFamily="2" charset="-78"/>
              <a:sym typeface="Helvetica Neue"/>
            </a:endParaRPr>
          </a:p>
        </p:txBody>
      </p:sp>
      <p:sp>
        <p:nvSpPr>
          <p:cNvPr id="11" name="Google Shape;657;p77">
            <a:extLst>
              <a:ext uri="{FF2B5EF4-FFF2-40B4-BE49-F238E27FC236}">
                <a16:creationId xmlns:a16="http://schemas.microsoft.com/office/drawing/2014/main" id="{34F37DBE-1B9A-3AA6-C8C8-A9A153AA8425}"/>
              </a:ext>
            </a:extLst>
          </p:cNvPr>
          <p:cNvSpPr txBox="1"/>
          <p:nvPr/>
        </p:nvSpPr>
        <p:spPr>
          <a:xfrm>
            <a:off x="9972202" y="5200644"/>
            <a:ext cx="1926954" cy="631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defTabSz="1216198">
              <a:lnSpc>
                <a:spcPct val="114000"/>
              </a:lnSpc>
              <a:buClr>
                <a:srgbClr val="000000"/>
              </a:buClr>
              <a:buSzPts val="1100"/>
            </a:pPr>
            <a:r>
              <a:rPr lang="en-US" sz="900"/>
              <a:t>Without structured guardrails, autonomy creates risk at scale. With them, </a:t>
            </a:r>
            <a:r>
              <a:rPr lang="en-US" sz="900" b="1"/>
              <a:t>it creates compounding advantage</a:t>
            </a:r>
            <a:endParaRPr lang="en-US" sz="900" b="1" kern="0">
              <a:solidFill>
                <a:srgbClr val="000000"/>
              </a:solidFill>
              <a:ea typeface="Helvetica Neue"/>
              <a:cs typeface="Geeza Pro" panose="02000400000000000000" pitchFamily="2" charset="-78"/>
              <a:sym typeface="Arial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A8A2B9D-2BAB-D13A-D10F-003593245F44}"/>
              </a:ext>
            </a:extLst>
          </p:cNvPr>
          <p:cNvCxnSpPr>
            <a:cxnSpLocks/>
          </p:cNvCxnSpPr>
          <p:nvPr/>
        </p:nvCxnSpPr>
        <p:spPr>
          <a:xfrm>
            <a:off x="9821038" y="5951675"/>
            <a:ext cx="2204277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oogle Shape;2507;p251">
            <a:extLst>
              <a:ext uri="{FF2B5EF4-FFF2-40B4-BE49-F238E27FC236}">
                <a16:creationId xmlns:a16="http://schemas.microsoft.com/office/drawing/2014/main" id="{3F25D542-BD8E-12D8-6F84-2BBAD31A01D0}"/>
              </a:ext>
            </a:extLst>
          </p:cNvPr>
          <p:cNvCxnSpPr/>
          <p:nvPr/>
        </p:nvCxnSpPr>
        <p:spPr>
          <a:xfrm>
            <a:off x="9924358" y="3418482"/>
            <a:ext cx="1974797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4" name="Google Shape;2517;p251">
            <a:extLst>
              <a:ext uri="{FF2B5EF4-FFF2-40B4-BE49-F238E27FC236}">
                <a16:creationId xmlns:a16="http://schemas.microsoft.com/office/drawing/2014/main" id="{F42B6F9F-CC4B-CCC7-064D-40A5DE9F86BC}"/>
              </a:ext>
            </a:extLst>
          </p:cNvPr>
          <p:cNvCxnSpPr/>
          <p:nvPr/>
        </p:nvCxnSpPr>
        <p:spPr>
          <a:xfrm>
            <a:off x="9924358" y="4390088"/>
            <a:ext cx="1974797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5" name="Google Shape;2523;p251">
            <a:extLst>
              <a:ext uri="{FF2B5EF4-FFF2-40B4-BE49-F238E27FC236}">
                <a16:creationId xmlns:a16="http://schemas.microsoft.com/office/drawing/2014/main" id="{71200812-2571-E79F-745F-A51143D886B4}"/>
              </a:ext>
            </a:extLst>
          </p:cNvPr>
          <p:cNvCxnSpPr/>
          <p:nvPr/>
        </p:nvCxnSpPr>
        <p:spPr>
          <a:xfrm>
            <a:off x="9924358" y="5114044"/>
            <a:ext cx="1974797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113448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9D580-5360-8F3E-8EE6-5D8D01CF5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7;p73">
            <a:extLst>
              <a:ext uri="{FF2B5EF4-FFF2-40B4-BE49-F238E27FC236}">
                <a16:creationId xmlns:a16="http://schemas.microsoft.com/office/drawing/2014/main" id="{A4CC5C44-2B00-7D51-1AA7-98519473BF29}"/>
              </a:ext>
            </a:extLst>
          </p:cNvPr>
          <p:cNvSpPr txBox="1"/>
          <p:nvPr/>
        </p:nvSpPr>
        <p:spPr>
          <a:xfrm>
            <a:off x="1324775" y="1822243"/>
            <a:ext cx="9346800" cy="331992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77800" dist="38100" dir="5400000" sx="101000" sy="101000" algn="t" rotWithShape="0">
              <a:srgbClr val="000000">
                <a:alpha val="24710"/>
              </a:srgbClr>
            </a:outerShdw>
          </a:effectLst>
        </p:spPr>
        <p:txBody>
          <a:bodyPr spcFirstLastPara="1" wrap="square" lIns="243825" tIns="2682225" rIns="243825" bIns="2438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2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20B0673-1504-CF7A-A9E1-694F9C999781}"/>
              </a:ext>
            </a:extLst>
          </p:cNvPr>
          <p:cNvSpPr/>
          <p:nvPr/>
        </p:nvSpPr>
        <p:spPr>
          <a:xfrm>
            <a:off x="7556053" y="2520951"/>
            <a:ext cx="1425907" cy="142590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0433F89-8F8E-3660-73BA-766FC1F82043}"/>
              </a:ext>
            </a:extLst>
          </p:cNvPr>
          <p:cNvSpPr/>
          <p:nvPr/>
        </p:nvSpPr>
        <p:spPr>
          <a:xfrm>
            <a:off x="5293876" y="1950412"/>
            <a:ext cx="1425907" cy="142590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D0619D9-2FC5-5611-C43E-88867C90209B}"/>
              </a:ext>
            </a:extLst>
          </p:cNvPr>
          <p:cNvSpPr/>
          <p:nvPr/>
        </p:nvSpPr>
        <p:spPr>
          <a:xfrm>
            <a:off x="3027245" y="2624860"/>
            <a:ext cx="1425907" cy="142590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Google Shape;2379;p339">
            <a:extLst>
              <a:ext uri="{FF2B5EF4-FFF2-40B4-BE49-F238E27FC236}">
                <a16:creationId xmlns:a16="http://schemas.microsoft.com/office/drawing/2014/main" id="{40B180D5-1651-1048-CE00-3AEE91B4C107}"/>
              </a:ext>
            </a:extLst>
          </p:cNvPr>
          <p:cNvSpPr txBox="1">
            <a:spLocks/>
          </p:cNvSpPr>
          <p:nvPr/>
        </p:nvSpPr>
        <p:spPr>
          <a:xfrm>
            <a:off x="397667" y="402338"/>
            <a:ext cx="11403809" cy="5152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1">
                <a:solidFill>
                  <a:schemeClr val="accent1"/>
                </a:solidFill>
                <a:latin typeface="Arial"/>
                <a:cs typeface="Arial"/>
              </a:rPr>
              <a:t>OUR APPROACH</a:t>
            </a:r>
            <a:endParaRPr lang="en-US" sz="11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Our Agentic-First approach activates a self-funding growth system that compounds and scales at speed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556;p231">
            <a:extLst>
              <a:ext uri="{FF2B5EF4-FFF2-40B4-BE49-F238E27FC236}">
                <a16:creationId xmlns:a16="http://schemas.microsoft.com/office/drawing/2014/main" id="{190E56A0-6DDD-85E1-3015-28489620C9AB}"/>
              </a:ext>
            </a:extLst>
          </p:cNvPr>
          <p:cNvSpPr txBox="1"/>
          <p:nvPr/>
        </p:nvSpPr>
        <p:spPr>
          <a:xfrm>
            <a:off x="3159253" y="3450968"/>
            <a:ext cx="1163618" cy="24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 defTabSz="1216198">
              <a:buClr>
                <a:srgbClr val="000000"/>
              </a:buClr>
            </a:pPr>
            <a:r>
              <a:rPr lang="en-US" sz="1200" b="1" kern="0"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Sprint to Signal</a:t>
            </a:r>
          </a:p>
          <a:p>
            <a:pPr algn="ctr" defTabSz="1216198">
              <a:buClr>
                <a:srgbClr val="000000"/>
              </a:buClr>
            </a:pPr>
            <a:r>
              <a:rPr lang="en-US" sz="800" b="1" i="1" kern="0"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(Weeks 1 – 6)</a:t>
            </a:r>
          </a:p>
        </p:txBody>
      </p:sp>
      <p:sp>
        <p:nvSpPr>
          <p:cNvPr id="9" name="Google Shape;710;p124">
            <a:extLst>
              <a:ext uri="{FF2B5EF4-FFF2-40B4-BE49-F238E27FC236}">
                <a16:creationId xmlns:a16="http://schemas.microsoft.com/office/drawing/2014/main" id="{E9197975-192C-90D1-6C69-2527BBC441EC}"/>
              </a:ext>
            </a:extLst>
          </p:cNvPr>
          <p:cNvSpPr txBox="1"/>
          <p:nvPr/>
        </p:nvSpPr>
        <p:spPr>
          <a:xfrm>
            <a:off x="2680162" y="4123006"/>
            <a:ext cx="2004201" cy="65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indent="-171450" defTabSz="1216198">
              <a:lnSpc>
                <a:spcPct val="114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00" kern="0"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Assess and act simultaneously</a:t>
            </a:r>
          </a:p>
          <a:p>
            <a:pPr marL="171450" indent="-171450" defTabSz="1216198">
              <a:lnSpc>
                <a:spcPct val="114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00" kern="0"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Diagnostic agents replace weeks of interviews</a:t>
            </a:r>
          </a:p>
          <a:p>
            <a:pPr marL="171450" indent="-171450" defTabSz="1216198">
              <a:lnSpc>
                <a:spcPct val="114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00" kern="0"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First Wedge identified and in design by Week 6</a:t>
            </a:r>
          </a:p>
        </p:txBody>
      </p:sp>
      <p:sp>
        <p:nvSpPr>
          <p:cNvPr id="10" name="Google Shape;710;p124">
            <a:extLst>
              <a:ext uri="{FF2B5EF4-FFF2-40B4-BE49-F238E27FC236}">
                <a16:creationId xmlns:a16="http://schemas.microsoft.com/office/drawing/2014/main" id="{1ECF1138-4645-3C56-FBEE-D4393E23E6F1}"/>
              </a:ext>
            </a:extLst>
          </p:cNvPr>
          <p:cNvSpPr txBox="1"/>
          <p:nvPr/>
        </p:nvSpPr>
        <p:spPr>
          <a:xfrm>
            <a:off x="5086267" y="4123006"/>
            <a:ext cx="2004201" cy="65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indent="-171450" defTabSz="1216198">
              <a:lnSpc>
                <a:spcPct val="114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00" kern="0"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First agent deployed in a real market segment</a:t>
            </a:r>
          </a:p>
          <a:p>
            <a:pPr marL="171450" indent="-171450" defTabSz="1216198">
              <a:lnSpc>
                <a:spcPct val="114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00" kern="0"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KPIs tracked in real time</a:t>
            </a:r>
          </a:p>
          <a:p>
            <a:pPr marL="171450" indent="-171450" defTabSz="1216198">
              <a:lnSpc>
                <a:spcPct val="114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00" kern="0"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Business case for scale built from evidence, not assumption</a:t>
            </a:r>
            <a:endParaRPr lang="en-US" sz="1000" kern="0"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Arial"/>
            </a:endParaRPr>
          </a:p>
        </p:txBody>
      </p:sp>
      <p:sp>
        <p:nvSpPr>
          <p:cNvPr id="11" name="Google Shape;710;p124">
            <a:extLst>
              <a:ext uri="{FF2B5EF4-FFF2-40B4-BE49-F238E27FC236}">
                <a16:creationId xmlns:a16="http://schemas.microsoft.com/office/drawing/2014/main" id="{D5C84D3A-42B3-58EA-E422-851752FE0CD2}"/>
              </a:ext>
            </a:extLst>
          </p:cNvPr>
          <p:cNvSpPr txBox="1"/>
          <p:nvPr/>
        </p:nvSpPr>
        <p:spPr>
          <a:xfrm>
            <a:off x="7492373" y="4123006"/>
            <a:ext cx="2321700" cy="65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indent="-171450" defTabSz="1216198">
              <a:lnSpc>
                <a:spcPct val="114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00" kern="0"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Agentic agents deployed across the commercial engine</a:t>
            </a:r>
          </a:p>
          <a:p>
            <a:pPr marL="171450" indent="-171450" defTabSz="1216198">
              <a:lnSpc>
                <a:spcPct val="114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00" kern="0"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Outcomes-based commercial model</a:t>
            </a:r>
          </a:p>
          <a:p>
            <a:pPr marL="171450" indent="-171450" defTabSz="1216198">
              <a:lnSpc>
                <a:spcPct val="114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00" kern="0"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Capability embedded in your organization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D4CAC57-4391-D7D5-EAD6-B39CA57EA76C}"/>
              </a:ext>
            </a:extLst>
          </p:cNvPr>
          <p:cNvGrpSpPr/>
          <p:nvPr/>
        </p:nvGrpSpPr>
        <p:grpSpPr>
          <a:xfrm>
            <a:off x="2499737" y="2102829"/>
            <a:ext cx="6984498" cy="1735832"/>
            <a:chOff x="1909612" y="3720398"/>
            <a:chExt cx="15492779" cy="496081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09737FA-E84E-9C94-C8D4-B8B8780AC8C8}"/>
                </a:ext>
              </a:extLst>
            </p:cNvPr>
            <p:cNvGrpSpPr/>
            <p:nvPr/>
          </p:nvGrpSpPr>
          <p:grpSpPr>
            <a:xfrm>
              <a:off x="2160278" y="3720398"/>
              <a:ext cx="14993717" cy="4960815"/>
              <a:chOff x="2160278" y="4703378"/>
              <a:chExt cx="14993717" cy="4960815"/>
            </a:xfrm>
          </p:grpSpPr>
          <p:sp>
            <p:nvSpPr>
              <p:cNvPr id="21" name="Google Shape;1553;p231">
                <a:extLst>
                  <a:ext uri="{FF2B5EF4-FFF2-40B4-BE49-F238E27FC236}">
                    <a16:creationId xmlns:a16="http://schemas.microsoft.com/office/drawing/2014/main" id="{46E4C0F4-68C4-A53F-ECFC-131635085164}"/>
                  </a:ext>
                </a:extLst>
              </p:cNvPr>
              <p:cNvSpPr/>
              <p:nvPr/>
            </p:nvSpPr>
            <p:spPr>
              <a:xfrm>
                <a:off x="2160278" y="4703378"/>
                <a:ext cx="4994450" cy="4940138"/>
              </a:xfrm>
              <a:prstGeom prst="arc">
                <a:avLst>
                  <a:gd name="adj1" fmla="val 10766207"/>
                  <a:gd name="adj2" fmla="val 0"/>
                </a:avLst>
              </a:prstGeom>
              <a:noFill/>
              <a:ln w="50800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599" tIns="60783" rIns="121599" bIns="60783" anchor="ctr" anchorCtr="0">
                <a:noAutofit/>
              </a:bodyPr>
              <a:lstStyle/>
              <a:p>
                <a:pPr marL="0" marR="0" lvl="0" indent="0" algn="ctr" defTabSz="121619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Tx/>
                  <a:buNone/>
                  <a:tabLst/>
                  <a:defRPr/>
                </a:pPr>
                <a:endParaRPr kumimoji="0" sz="800" b="0" i="0" u="none" strike="noStrike" kern="0" cap="none" spc="0" normalizeH="0" baseline="0" noProof="0">
                  <a:ln>
                    <a:noFill/>
                  </a:ln>
                  <a:solidFill>
                    <a:srgbClr val="57565A"/>
                  </a:solidFill>
                  <a:effectLst/>
                  <a:uLnTx/>
                  <a:uFillTx/>
                  <a:latin typeface="Arial" panose="020B0604020202020204" pitchFamily="34" charset="0"/>
                  <a:ea typeface="Open Sans Light"/>
                  <a:cs typeface="Arial" panose="020B0604020202020204" pitchFamily="34" charset="0"/>
                  <a:sym typeface="Open Sans Light"/>
                </a:endParaRPr>
              </a:p>
            </p:txBody>
          </p:sp>
          <p:sp>
            <p:nvSpPr>
              <p:cNvPr id="22" name="Google Shape;1554;p231">
                <a:extLst>
                  <a:ext uri="{FF2B5EF4-FFF2-40B4-BE49-F238E27FC236}">
                    <a16:creationId xmlns:a16="http://schemas.microsoft.com/office/drawing/2014/main" id="{36D9D57D-AA6B-9AB2-F0CA-F2ADF01EC870}"/>
                  </a:ext>
                </a:extLst>
              </p:cNvPr>
              <p:cNvSpPr/>
              <p:nvPr/>
            </p:nvSpPr>
            <p:spPr>
              <a:xfrm rot="10800000">
                <a:off x="7160915" y="4724055"/>
                <a:ext cx="4994450" cy="4940138"/>
              </a:xfrm>
              <a:prstGeom prst="arc">
                <a:avLst>
                  <a:gd name="adj1" fmla="val 10766207"/>
                  <a:gd name="adj2" fmla="val 0"/>
                </a:avLst>
              </a:prstGeom>
              <a:noFill/>
              <a:ln w="508000" cap="rnd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599" tIns="60783" rIns="121599" bIns="60783" anchor="ctr" anchorCtr="0">
                <a:noAutofit/>
              </a:bodyPr>
              <a:lstStyle/>
              <a:p>
                <a:pPr marL="0" marR="0" lvl="0" indent="0" algn="ctr" defTabSz="121619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Tx/>
                  <a:buNone/>
                  <a:tabLst/>
                  <a:defRPr/>
                </a:pPr>
                <a:endParaRPr kumimoji="0" sz="800" b="0" i="0" u="none" strike="noStrike" kern="0" cap="none" spc="0" normalizeH="0" baseline="0" noProof="0">
                  <a:ln>
                    <a:noFill/>
                  </a:ln>
                  <a:solidFill>
                    <a:srgbClr val="57565A"/>
                  </a:solidFill>
                  <a:effectLst/>
                  <a:uLnTx/>
                  <a:uFillTx/>
                  <a:latin typeface="Arial" panose="020B0604020202020204" pitchFamily="34" charset="0"/>
                  <a:ea typeface="Open Sans Light"/>
                  <a:cs typeface="Arial" panose="020B0604020202020204" pitchFamily="34" charset="0"/>
                  <a:sym typeface="Open Sans Light"/>
                </a:endParaRPr>
              </a:p>
            </p:txBody>
          </p:sp>
          <p:sp>
            <p:nvSpPr>
              <p:cNvPr id="23" name="Google Shape;1555;p231">
                <a:extLst>
                  <a:ext uri="{FF2B5EF4-FFF2-40B4-BE49-F238E27FC236}">
                    <a16:creationId xmlns:a16="http://schemas.microsoft.com/office/drawing/2014/main" id="{7F1EF146-D7EA-D461-24ED-30DB0488161C}"/>
                  </a:ext>
                </a:extLst>
              </p:cNvPr>
              <p:cNvSpPr/>
              <p:nvPr/>
            </p:nvSpPr>
            <p:spPr>
              <a:xfrm>
                <a:off x="12159545" y="4703378"/>
                <a:ext cx="4994450" cy="4940138"/>
              </a:xfrm>
              <a:prstGeom prst="arc">
                <a:avLst>
                  <a:gd name="adj1" fmla="val 10766207"/>
                  <a:gd name="adj2" fmla="val 0"/>
                </a:avLst>
              </a:prstGeom>
              <a:noFill/>
              <a:ln w="50800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599" tIns="60783" rIns="121599" bIns="60783" anchor="ctr" anchorCtr="0">
                <a:noAutofit/>
              </a:bodyPr>
              <a:lstStyle/>
              <a:p>
                <a:pPr marL="0" marR="0" lvl="0" indent="0" algn="ctr" defTabSz="121619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Tx/>
                  <a:buNone/>
                  <a:tabLst/>
                  <a:defRPr/>
                </a:pPr>
                <a:endParaRPr kumimoji="0" sz="800" b="0" i="0" u="none" strike="noStrike" kern="0" cap="none" spc="0" normalizeH="0" baseline="0" noProof="0">
                  <a:ln>
                    <a:noFill/>
                  </a:ln>
                  <a:solidFill>
                    <a:srgbClr val="57565A"/>
                  </a:solidFill>
                  <a:effectLst/>
                  <a:uLnTx/>
                  <a:uFillTx/>
                  <a:latin typeface="Arial" panose="020B0604020202020204" pitchFamily="34" charset="0"/>
                  <a:ea typeface="Open Sans Light"/>
                  <a:cs typeface="Arial" panose="020B0604020202020204" pitchFamily="34" charset="0"/>
                  <a:sym typeface="Open Sans Light"/>
                </a:endParaRPr>
              </a:p>
            </p:txBody>
          </p:sp>
        </p:grp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6E21B3C-C6E5-65AF-DCA1-38D2882DEA86}"/>
                </a:ext>
              </a:extLst>
            </p:cNvPr>
            <p:cNvSpPr/>
            <p:nvPr/>
          </p:nvSpPr>
          <p:spPr>
            <a:xfrm>
              <a:off x="1909612" y="5905306"/>
              <a:ext cx="496793" cy="609655"/>
            </a:xfrm>
            <a:prstGeom prst="ellipse">
              <a:avLst/>
            </a:prstGeom>
            <a:solidFill>
              <a:srgbClr val="373737"/>
            </a:solidFill>
            <a:ln w="7620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n-US" sz="932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2257678-16AB-A1B1-55DF-E44C05E2E62F}"/>
                </a:ext>
              </a:extLst>
            </p:cNvPr>
            <p:cNvSpPr/>
            <p:nvPr/>
          </p:nvSpPr>
          <p:spPr>
            <a:xfrm>
              <a:off x="6914232" y="5905306"/>
              <a:ext cx="496793" cy="609655"/>
            </a:xfrm>
            <a:prstGeom prst="ellipse">
              <a:avLst/>
            </a:prstGeom>
            <a:solidFill>
              <a:srgbClr val="373737"/>
            </a:solidFill>
            <a:ln w="76200" cap="flat" cmpd="sng" algn="ctr">
              <a:solidFill>
                <a:schemeClr val="accent2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n-US" sz="932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17F5F66-516E-92B0-F1B2-6EA6B457E25B}"/>
                </a:ext>
              </a:extLst>
            </p:cNvPr>
            <p:cNvSpPr/>
            <p:nvPr/>
          </p:nvSpPr>
          <p:spPr>
            <a:xfrm>
              <a:off x="11913992" y="5905306"/>
              <a:ext cx="496793" cy="609655"/>
            </a:xfrm>
            <a:prstGeom prst="ellipse">
              <a:avLst/>
            </a:prstGeom>
            <a:solidFill>
              <a:srgbClr val="373737"/>
            </a:solidFill>
            <a:ln w="76200" cap="flat" cmpd="sng" algn="ctr">
              <a:solidFill>
                <a:schemeClr val="accent3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n-US" sz="932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287EF3B-D599-ACC6-96AD-1C127BD961B5}"/>
                </a:ext>
              </a:extLst>
            </p:cNvPr>
            <p:cNvSpPr/>
            <p:nvPr/>
          </p:nvSpPr>
          <p:spPr>
            <a:xfrm>
              <a:off x="16905598" y="5905306"/>
              <a:ext cx="496793" cy="609655"/>
            </a:xfrm>
            <a:prstGeom prst="ellipse">
              <a:avLst/>
            </a:prstGeom>
            <a:solidFill>
              <a:srgbClr val="373737"/>
            </a:solidFill>
            <a:ln w="76200" cap="flat" cmpd="sng" algn="ctr">
              <a:solidFill>
                <a:schemeClr val="accent3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en-US" sz="932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Arial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96B74DE-3BA0-9053-82E8-215CCCE99C37}"/>
              </a:ext>
            </a:extLst>
          </p:cNvPr>
          <p:cNvGrpSpPr/>
          <p:nvPr/>
        </p:nvGrpSpPr>
        <p:grpSpPr>
          <a:xfrm>
            <a:off x="4744587" y="4318411"/>
            <a:ext cx="281456" cy="263795"/>
            <a:chOff x="7755121" y="384943"/>
            <a:chExt cx="377750" cy="507183"/>
          </a:xfrm>
        </p:grpSpPr>
        <p:sp>
          <p:nvSpPr>
            <p:cNvPr id="25" name="Triangle 619">
              <a:extLst>
                <a:ext uri="{FF2B5EF4-FFF2-40B4-BE49-F238E27FC236}">
                  <a16:creationId xmlns:a16="http://schemas.microsoft.com/office/drawing/2014/main" id="{8B825A26-BF31-1112-287C-A08E8A19C567}"/>
                </a:ext>
              </a:extLst>
            </p:cNvPr>
            <p:cNvSpPr/>
            <p:nvPr/>
          </p:nvSpPr>
          <p:spPr>
            <a:xfrm rot="5400000">
              <a:off x="7667553" y="535578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riangle 620">
              <a:extLst>
                <a:ext uri="{FF2B5EF4-FFF2-40B4-BE49-F238E27FC236}">
                  <a16:creationId xmlns:a16="http://schemas.microsoft.com/office/drawing/2014/main" id="{DD394BA4-5221-3B11-745E-E5DCD17B0617}"/>
                </a:ext>
              </a:extLst>
            </p:cNvPr>
            <p:cNvSpPr/>
            <p:nvPr/>
          </p:nvSpPr>
          <p:spPr>
            <a:xfrm rot="5400000">
              <a:off x="7742241" y="501497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D3890BF-5138-65AA-52F7-C4488DDFDC98}"/>
              </a:ext>
            </a:extLst>
          </p:cNvPr>
          <p:cNvGrpSpPr/>
          <p:nvPr/>
        </p:nvGrpSpPr>
        <p:grpSpPr>
          <a:xfrm>
            <a:off x="7150693" y="4318411"/>
            <a:ext cx="281456" cy="263795"/>
            <a:chOff x="7755121" y="384943"/>
            <a:chExt cx="377750" cy="507183"/>
          </a:xfrm>
        </p:grpSpPr>
        <p:sp>
          <p:nvSpPr>
            <p:cNvPr id="28" name="Triangle 622">
              <a:extLst>
                <a:ext uri="{FF2B5EF4-FFF2-40B4-BE49-F238E27FC236}">
                  <a16:creationId xmlns:a16="http://schemas.microsoft.com/office/drawing/2014/main" id="{0AB466B9-0D1E-6ECC-9F02-C6EC4FEDE933}"/>
                </a:ext>
              </a:extLst>
            </p:cNvPr>
            <p:cNvSpPr/>
            <p:nvPr/>
          </p:nvSpPr>
          <p:spPr>
            <a:xfrm rot="5400000">
              <a:off x="7667553" y="535578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Triangle 623">
              <a:extLst>
                <a:ext uri="{FF2B5EF4-FFF2-40B4-BE49-F238E27FC236}">
                  <a16:creationId xmlns:a16="http://schemas.microsoft.com/office/drawing/2014/main" id="{5F611132-2B15-0567-3EAD-09329DDB6A07}"/>
                </a:ext>
              </a:extLst>
            </p:cNvPr>
            <p:cNvSpPr/>
            <p:nvPr/>
          </p:nvSpPr>
          <p:spPr>
            <a:xfrm rot="5400000">
              <a:off x="7742241" y="501497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6" name="Google Shape;1556;p231">
            <a:extLst>
              <a:ext uri="{FF2B5EF4-FFF2-40B4-BE49-F238E27FC236}">
                <a16:creationId xmlns:a16="http://schemas.microsoft.com/office/drawing/2014/main" id="{5DB663C7-2245-43CE-0F9F-D6F14B37942A}"/>
              </a:ext>
            </a:extLst>
          </p:cNvPr>
          <p:cNvSpPr txBox="1"/>
          <p:nvPr/>
        </p:nvSpPr>
        <p:spPr>
          <a:xfrm>
            <a:off x="5419564" y="2691919"/>
            <a:ext cx="1163618" cy="24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 defTabSz="1216198">
              <a:buClr>
                <a:srgbClr val="000000"/>
              </a:buClr>
            </a:pPr>
            <a:r>
              <a:rPr lang="en" sz="1200" b="1" kern="0"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Prove &amp; Accelerate</a:t>
            </a:r>
          </a:p>
          <a:p>
            <a:pPr algn="ctr" defTabSz="1216198">
              <a:buClr>
                <a:srgbClr val="000000"/>
              </a:buClr>
            </a:pPr>
            <a:r>
              <a:rPr lang="en" sz="800" b="1" i="1" kern="0">
                <a:latin typeface="Arial"/>
                <a:ea typeface="Helvetica Neue"/>
                <a:cs typeface="Arial"/>
                <a:sym typeface="Helvetica Neue"/>
              </a:rPr>
              <a:t>(Weeks 6 – 16)</a:t>
            </a:r>
            <a:endParaRPr lang="en" sz="800" b="1" i="1" kern="0">
              <a:latin typeface="Arial"/>
              <a:ea typeface="Helvetica Neue"/>
              <a:cs typeface="Arial"/>
            </a:endParaRPr>
          </a:p>
        </p:txBody>
      </p:sp>
      <p:sp>
        <p:nvSpPr>
          <p:cNvPr id="38" name="Google Shape;1556;p231">
            <a:extLst>
              <a:ext uri="{FF2B5EF4-FFF2-40B4-BE49-F238E27FC236}">
                <a16:creationId xmlns:a16="http://schemas.microsoft.com/office/drawing/2014/main" id="{A22D52E0-0358-24E7-4B90-C65D7BE9A3B6}"/>
              </a:ext>
            </a:extLst>
          </p:cNvPr>
          <p:cNvSpPr txBox="1"/>
          <p:nvPr/>
        </p:nvSpPr>
        <p:spPr>
          <a:xfrm>
            <a:off x="7679876" y="3254695"/>
            <a:ext cx="1163618" cy="24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 defTabSz="1216198">
              <a:buClr>
                <a:srgbClr val="000000"/>
              </a:buClr>
            </a:pPr>
            <a:r>
              <a:rPr lang="en" sz="1200" b="1" kern="0"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Scale &amp; Compound</a:t>
            </a:r>
          </a:p>
          <a:p>
            <a:pPr algn="ctr" defTabSz="1216198">
              <a:buClr>
                <a:srgbClr val="000000"/>
              </a:buClr>
            </a:pPr>
            <a:r>
              <a:rPr lang="en" sz="800" b="1" i="1" kern="0"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(Months 4+)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458F91A-6416-8A3A-71FC-5632C8CDDF74}"/>
              </a:ext>
            </a:extLst>
          </p:cNvPr>
          <p:cNvCxnSpPr>
            <a:cxnSpLocks/>
          </p:cNvCxnSpPr>
          <p:nvPr/>
        </p:nvCxnSpPr>
        <p:spPr>
          <a:xfrm>
            <a:off x="2532220" y="1726464"/>
            <a:ext cx="2261353" cy="0"/>
          </a:xfrm>
          <a:prstGeom prst="line">
            <a:avLst/>
          </a:prstGeom>
          <a:ln w="38100">
            <a:solidFill>
              <a:srgbClr val="FD51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Google Shape;2164;p245">
            <a:extLst>
              <a:ext uri="{FF2B5EF4-FFF2-40B4-BE49-F238E27FC236}">
                <a16:creationId xmlns:a16="http://schemas.microsoft.com/office/drawing/2014/main" id="{D7A61CE2-B72D-9427-8489-526C1FF1FA79}"/>
              </a:ext>
            </a:extLst>
          </p:cNvPr>
          <p:cNvSpPr txBox="1"/>
          <p:nvPr/>
        </p:nvSpPr>
        <p:spPr>
          <a:xfrm>
            <a:off x="3220653" y="1644948"/>
            <a:ext cx="884487" cy="163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6198">
              <a:buClr>
                <a:srgbClr val="000000"/>
              </a:buClr>
            </a:pPr>
            <a:r>
              <a:rPr lang="en" sz="1100" b="1" ker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PHASE 1</a:t>
            </a:r>
            <a:endParaRPr lang="en-US" sz="1100" b="1" ker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9F94ECB-AC89-B888-66D1-CFD23834C2DF}"/>
              </a:ext>
            </a:extLst>
          </p:cNvPr>
          <p:cNvCxnSpPr>
            <a:cxnSpLocks/>
          </p:cNvCxnSpPr>
          <p:nvPr/>
        </p:nvCxnSpPr>
        <p:spPr>
          <a:xfrm>
            <a:off x="4821852" y="1726464"/>
            <a:ext cx="2261353" cy="0"/>
          </a:xfrm>
          <a:prstGeom prst="line">
            <a:avLst/>
          </a:prstGeom>
          <a:ln w="38100">
            <a:solidFill>
              <a:srgbClr val="FE7C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Google Shape;2164;p245">
            <a:extLst>
              <a:ext uri="{FF2B5EF4-FFF2-40B4-BE49-F238E27FC236}">
                <a16:creationId xmlns:a16="http://schemas.microsoft.com/office/drawing/2014/main" id="{135CF5C4-795F-557D-ED62-BC9AFDA11E5E}"/>
              </a:ext>
            </a:extLst>
          </p:cNvPr>
          <p:cNvSpPr txBox="1"/>
          <p:nvPr/>
        </p:nvSpPr>
        <p:spPr>
          <a:xfrm>
            <a:off x="5510284" y="1644948"/>
            <a:ext cx="884487" cy="163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6198">
              <a:buClr>
                <a:srgbClr val="000000"/>
              </a:buClr>
            </a:pPr>
            <a:r>
              <a:rPr lang="en" sz="1100" b="1" ker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PHASE 2</a:t>
            </a:r>
            <a:endParaRPr lang="en-US" sz="1100" b="1" ker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7ACDD5A-4D12-C9AD-2F61-098373221113}"/>
              </a:ext>
            </a:extLst>
          </p:cNvPr>
          <p:cNvCxnSpPr>
            <a:cxnSpLocks/>
          </p:cNvCxnSpPr>
          <p:nvPr/>
        </p:nvCxnSpPr>
        <p:spPr>
          <a:xfrm>
            <a:off x="7111482" y="1726464"/>
            <a:ext cx="2261353" cy="0"/>
          </a:xfrm>
          <a:prstGeom prst="line">
            <a:avLst/>
          </a:prstGeom>
          <a:ln w="38100">
            <a:solidFill>
              <a:srgbClr val="FFAA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Google Shape;2164;p245">
            <a:extLst>
              <a:ext uri="{FF2B5EF4-FFF2-40B4-BE49-F238E27FC236}">
                <a16:creationId xmlns:a16="http://schemas.microsoft.com/office/drawing/2014/main" id="{CA76F0FC-5D88-7580-0B1D-DF2A7B3B6A23}"/>
              </a:ext>
            </a:extLst>
          </p:cNvPr>
          <p:cNvSpPr txBox="1"/>
          <p:nvPr/>
        </p:nvSpPr>
        <p:spPr>
          <a:xfrm>
            <a:off x="7799915" y="1644948"/>
            <a:ext cx="884487" cy="163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6198">
              <a:buClr>
                <a:srgbClr val="000000"/>
              </a:buClr>
            </a:pPr>
            <a:r>
              <a:rPr lang="en" sz="1100" b="1" ker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PHASE 3</a:t>
            </a:r>
            <a:endParaRPr lang="en-US" sz="1100" b="1" ker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pic>
        <p:nvPicPr>
          <p:cNvPr id="51" name="Graphic 50">
            <a:extLst>
              <a:ext uri="{FF2B5EF4-FFF2-40B4-BE49-F238E27FC236}">
                <a16:creationId xmlns:a16="http://schemas.microsoft.com/office/drawing/2014/main" id="{16830956-BA04-D8DD-D902-7573BEADC6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1334" y="2094764"/>
            <a:ext cx="681305" cy="575473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AA34076E-8F0A-C173-6ECA-A1C5E03590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3494" y="2658414"/>
            <a:ext cx="681305" cy="575473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3706BBE5-0BD6-582C-E60F-2968F3BFC4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00410" y="2854686"/>
            <a:ext cx="681305" cy="575473"/>
          </a:xfrm>
          <a:prstGeom prst="rect">
            <a:avLst/>
          </a:prstGeom>
        </p:spPr>
      </p:pic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D5672B27-FF4B-6BD8-7F77-3BDDCF64FAA5}"/>
              </a:ext>
            </a:extLst>
          </p:cNvPr>
          <p:cNvSpPr/>
          <p:nvPr/>
        </p:nvSpPr>
        <p:spPr>
          <a:xfrm>
            <a:off x="8940800" y="5664200"/>
            <a:ext cx="2476500" cy="711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b="1">
                <a:solidFill>
                  <a:srgbClr val="000000"/>
                </a:solidFill>
                <a:cs typeface="Arial"/>
              </a:rPr>
              <a:t>We align our incentives to yours.</a:t>
            </a:r>
            <a:r>
              <a:rPr lang="en-US" sz="1000">
                <a:solidFill>
                  <a:srgbClr val="000000"/>
                </a:solidFill>
                <a:cs typeface="Arial"/>
              </a:rPr>
              <a:t> Phase 3 commercial model tied directly to measurable cost, revenue, and margin impact.</a:t>
            </a:r>
            <a:endParaRPr lang="en-US" sz="1000">
              <a:cs typeface="Arial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AF6E5D93-9E47-AFC3-10EB-241F7AE80A14}"/>
              </a:ext>
            </a:extLst>
          </p:cNvPr>
          <p:cNvSpPr/>
          <p:nvPr/>
        </p:nvSpPr>
        <p:spPr>
          <a:xfrm>
            <a:off x="3276600" y="5664200"/>
            <a:ext cx="2476500" cy="711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b="1">
                <a:solidFill>
                  <a:srgbClr val="000000"/>
                </a:solidFill>
                <a:cs typeface="Arial"/>
              </a:rPr>
              <a:t>We assess and act simultaneously.</a:t>
            </a:r>
            <a:r>
              <a:rPr lang="en-US" sz="1000">
                <a:solidFill>
                  <a:srgbClr val="000000"/>
                </a:solidFill>
                <a:cs typeface="Arial"/>
              </a:rPr>
              <a:t> Phase 1 is not preparation for action; it is action.</a:t>
            </a:r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08F30BE2-3039-1C51-E37C-383DE55F3F2C}"/>
              </a:ext>
            </a:extLst>
          </p:cNvPr>
          <p:cNvSpPr/>
          <p:nvPr/>
        </p:nvSpPr>
        <p:spPr>
          <a:xfrm>
            <a:off x="406400" y="5664200"/>
            <a:ext cx="2603500" cy="711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b="1">
                <a:solidFill>
                  <a:srgbClr val="000000"/>
                </a:solidFill>
                <a:cs typeface="Arial"/>
              </a:rPr>
              <a:t>We use agents to run our own diagnostics. </a:t>
            </a:r>
            <a:endParaRPr lang="en-US" b="1">
              <a:solidFill>
                <a:srgbClr val="FFFFFF"/>
              </a:solidFill>
              <a:cs typeface="Arial"/>
            </a:endParaRPr>
          </a:p>
          <a:p>
            <a:pPr algn="ctr"/>
            <a:r>
              <a:rPr lang="en-US" sz="1000">
                <a:solidFill>
                  <a:srgbClr val="000000"/>
                </a:solidFill>
                <a:cs typeface="Arial"/>
              </a:rPr>
              <a:t>Proprietary diagnostic agents compress weeks of discovery into days.</a:t>
            </a:r>
            <a:endParaRPr lang="en-US">
              <a:cs typeface="Arial"/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614C880-7FE3-92CD-DDB6-158C9E9B1768}"/>
              </a:ext>
            </a:extLst>
          </p:cNvPr>
          <p:cNvSpPr/>
          <p:nvPr/>
        </p:nvSpPr>
        <p:spPr>
          <a:xfrm>
            <a:off x="6108700" y="5664200"/>
            <a:ext cx="2476500" cy="711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b="1">
                <a:solidFill>
                  <a:srgbClr val="000000"/>
                </a:solidFill>
                <a:cs typeface="Arial"/>
              </a:rPr>
              <a:t>We prove before we scale</a:t>
            </a:r>
            <a:r>
              <a:rPr lang="en-US" sz="1000">
                <a:solidFill>
                  <a:srgbClr val="000000"/>
                </a:solidFill>
                <a:cs typeface="Arial"/>
              </a:rPr>
              <a:t>. Every next-phase investment is justified by evidence from the last.</a:t>
            </a:r>
            <a:endParaRPr lang="en-US"/>
          </a:p>
        </p:txBody>
      </p:sp>
      <p:sp>
        <p:nvSpPr>
          <p:cNvPr id="62" name="Content Placeholder 7">
            <a:extLst>
              <a:ext uri="{FF2B5EF4-FFF2-40B4-BE49-F238E27FC236}">
                <a16:creationId xmlns:a16="http://schemas.microsoft.com/office/drawing/2014/main" id="{C7358E48-69F0-B7B6-E20B-7FEBAC2E4D09}"/>
              </a:ext>
            </a:extLst>
          </p:cNvPr>
          <p:cNvSpPr txBox="1">
            <a:spLocks/>
          </p:cNvSpPr>
          <p:nvPr/>
        </p:nvSpPr>
        <p:spPr>
          <a:xfrm>
            <a:off x="411225" y="5241689"/>
            <a:ext cx="3299804" cy="226665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3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6198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The PwC </a:t>
            </a:r>
            <a:r>
              <a:rPr lang="en-US" sz="140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Differentiators</a:t>
            </a:r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E1FDBB7-A457-D6C2-0528-1FE62D368BEE}"/>
              </a:ext>
            </a:extLst>
          </p:cNvPr>
          <p:cNvCxnSpPr>
            <a:cxnSpLocks/>
          </p:cNvCxnSpPr>
          <p:nvPr/>
        </p:nvCxnSpPr>
        <p:spPr>
          <a:xfrm>
            <a:off x="411225" y="5535754"/>
            <a:ext cx="252504" cy="0"/>
          </a:xfrm>
          <a:prstGeom prst="line">
            <a:avLst/>
          </a:prstGeom>
          <a:ln w="38100" cap="flat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887B23E-DCA1-667D-DED5-B505AD6753C7}"/>
              </a:ext>
            </a:extLst>
          </p:cNvPr>
          <p:cNvSpPr txBox="1"/>
          <p:nvPr/>
        </p:nvSpPr>
        <p:spPr>
          <a:xfrm>
            <a:off x="394323" y="1284348"/>
            <a:ext cx="112141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aseline="0">
                <a:latin typeface="Arial"/>
              </a:rPr>
              <a:t>Each phase is not just a milestone – it is a layer of the growth system coming online and compounding over time.</a:t>
            </a:r>
            <a:r>
              <a:rPr sz="1400">
                <a:latin typeface="Arial"/>
                <a:ea typeface="Arial"/>
                <a:cs typeface="Arial"/>
              </a:rPr>
              <a:t>​</a:t>
            </a:r>
            <a:endParaRPr lang="en-US" sz="1100">
              <a:cs typeface="Arial"/>
            </a:endParaRPr>
          </a:p>
          <a:p>
            <a:pPr algn="l"/>
            <a:endParaRPr lang="en-US" sz="1600">
              <a:latin typeface="+mj-lt"/>
            </a:endParaRPr>
          </a:p>
        </p:txBody>
      </p:sp>
      <p:sp>
        <p:nvSpPr>
          <p:cNvPr id="3" name="Round Same Side Corner Rectangle 2">
            <a:extLst>
              <a:ext uri="{FF2B5EF4-FFF2-40B4-BE49-F238E27FC236}">
                <a16:creationId xmlns:a16="http://schemas.microsoft.com/office/drawing/2014/main" id="{F14524AB-077F-448A-DE03-A6449F95A825}"/>
              </a:ext>
            </a:extLst>
          </p:cNvPr>
          <p:cNvSpPr/>
          <p:nvPr/>
        </p:nvSpPr>
        <p:spPr>
          <a:xfrm rot="10800000">
            <a:off x="5081516" y="-6564"/>
            <a:ext cx="2284484" cy="23747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54B47-8105-16A2-A369-632539A1021A}"/>
              </a:ext>
            </a:extLst>
          </p:cNvPr>
          <p:cNvSpPr txBox="1"/>
          <p:nvPr/>
        </p:nvSpPr>
        <p:spPr>
          <a:xfrm>
            <a:off x="5308149" y="-39814"/>
            <a:ext cx="183121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b="1"/>
              <a:t>EXECUTIVE VERSION</a:t>
            </a:r>
          </a:p>
        </p:txBody>
      </p:sp>
    </p:spTree>
    <p:extLst>
      <p:ext uri="{BB962C8B-B14F-4D97-AF65-F5344CB8AC3E}">
        <p14:creationId xmlns:p14="http://schemas.microsoft.com/office/powerpoint/2010/main" val="9035363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BE740-A880-097F-C605-164D04253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06;p73">
            <a:extLst>
              <a:ext uri="{FF2B5EF4-FFF2-40B4-BE49-F238E27FC236}">
                <a16:creationId xmlns:a16="http://schemas.microsoft.com/office/drawing/2014/main" id="{849FCB9B-9928-4914-68A1-89B139D326F1}"/>
              </a:ext>
            </a:extLst>
          </p:cNvPr>
          <p:cNvSpPr/>
          <p:nvPr/>
        </p:nvSpPr>
        <p:spPr>
          <a:xfrm>
            <a:off x="-4228" y="1999624"/>
            <a:ext cx="12198482" cy="38077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637;p77">
            <a:extLst>
              <a:ext uri="{FF2B5EF4-FFF2-40B4-BE49-F238E27FC236}">
                <a16:creationId xmlns:a16="http://schemas.microsoft.com/office/drawing/2014/main" id="{7E4C836B-6A40-ECDC-537B-7D3257F1093C}"/>
              </a:ext>
            </a:extLst>
          </p:cNvPr>
          <p:cNvSpPr/>
          <p:nvPr/>
        </p:nvSpPr>
        <p:spPr>
          <a:xfrm>
            <a:off x="8621018" y="2002819"/>
            <a:ext cx="3128668" cy="3025336"/>
          </a:xfrm>
          <a:prstGeom prst="rect">
            <a:avLst/>
          </a:prstGeom>
          <a:solidFill>
            <a:srgbClr val="FFAA72"/>
          </a:solidFill>
          <a:ln w="38100" cap="flat" cmpd="sng">
            <a:solidFill>
              <a:srgbClr val="FFE9D4"/>
            </a:solidFill>
            <a:prstDash val="solid"/>
            <a:round/>
            <a:headEnd type="none" w="sm" len="sm"/>
            <a:tailEnd type="none" w="sm" len="sm"/>
          </a:ln>
          <a:effectLst>
            <a:outerShdw blurRad="190500" dist="25400" algn="t" rotWithShape="0">
              <a:srgbClr val="000000">
                <a:alpha val="29800"/>
              </a:srgbClr>
            </a:outerShdw>
          </a:effectLst>
        </p:spPr>
        <p:txBody>
          <a:bodyPr spcFirstLastPara="1" wrap="square" lIns="90000" tIns="90000" rIns="90000" bIns="900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4"/>
              <a:buFontTx/>
              <a:buNone/>
              <a:tabLst/>
              <a:defRPr/>
            </a:pP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0125EC85-AE2E-F644-1737-8032B151F611}"/>
              </a:ext>
            </a:extLst>
          </p:cNvPr>
          <p:cNvSpPr/>
          <p:nvPr/>
        </p:nvSpPr>
        <p:spPr>
          <a:xfrm>
            <a:off x="8614913" y="1505310"/>
            <a:ext cx="3099758" cy="4974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2EF6A-DB60-3492-B035-7FD1616CEF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0BFB6AA-E440-9288-FE49-1AB07461540F}"/>
              </a:ext>
            </a:extLst>
          </p:cNvPr>
          <p:cNvSpPr txBox="1">
            <a:spLocks/>
          </p:cNvSpPr>
          <p:nvPr/>
        </p:nvSpPr>
        <p:spPr>
          <a:xfrm>
            <a:off x="396076" y="403914"/>
            <a:ext cx="11393756" cy="81714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99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100" b="1">
                <a:solidFill>
                  <a:schemeClr val="accent1"/>
                </a:solidFill>
                <a:latin typeface="Arial"/>
                <a:cs typeface="Arial"/>
              </a:rPr>
              <a:t>CLOSING</a:t>
            </a:r>
            <a:endParaRPr lang="en-US" sz="1100" b="1">
              <a:latin typeface="Arial"/>
              <a:cs typeface="Arial"/>
            </a:endParaRPr>
          </a:p>
          <a:p>
            <a:r>
              <a:rPr lang="en-US" sz="2400" b="1">
                <a:latin typeface="Arial"/>
                <a:cs typeface="Arial"/>
              </a:rPr>
              <a:t>The organizations that will define the next decade of commercial performance are making the decision now</a:t>
            </a:r>
            <a:endParaRPr lang="en-US" sz="2400">
              <a:latin typeface="Arial"/>
              <a:cs typeface="Arial"/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8FE4E617-91AC-35DC-62A7-F7B6D0F1F8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44923" y="3234144"/>
            <a:ext cx="304721" cy="304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400"/>
          </a:p>
        </p:txBody>
      </p:sp>
      <p:sp>
        <p:nvSpPr>
          <p:cNvPr id="21" name="AutoShape 6">
            <a:extLst>
              <a:ext uri="{FF2B5EF4-FFF2-40B4-BE49-F238E27FC236}">
                <a16:creationId xmlns:a16="http://schemas.microsoft.com/office/drawing/2014/main" id="{26FAEFD7-D0EC-4BE3-02BE-24CF36F13B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97284" y="3499661"/>
            <a:ext cx="304721" cy="304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400"/>
          </a:p>
        </p:txBody>
      </p:sp>
      <p:sp>
        <p:nvSpPr>
          <p:cNvPr id="9" name="Google Shape;668;p77">
            <a:extLst>
              <a:ext uri="{FF2B5EF4-FFF2-40B4-BE49-F238E27FC236}">
                <a16:creationId xmlns:a16="http://schemas.microsoft.com/office/drawing/2014/main" id="{1B4973E5-BFD6-8B41-8519-C0A011AE47A0}"/>
              </a:ext>
            </a:extLst>
          </p:cNvPr>
          <p:cNvSpPr txBox="1"/>
          <p:nvPr/>
        </p:nvSpPr>
        <p:spPr>
          <a:xfrm>
            <a:off x="481583" y="1990933"/>
            <a:ext cx="3106429" cy="3045647"/>
          </a:xfrm>
          <a:prstGeom prst="rect">
            <a:avLst/>
          </a:prstGeom>
          <a:solidFill>
            <a:srgbClr val="FFE9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1" name="Google Shape;668;p77">
            <a:extLst>
              <a:ext uri="{FF2B5EF4-FFF2-40B4-BE49-F238E27FC236}">
                <a16:creationId xmlns:a16="http://schemas.microsoft.com/office/drawing/2014/main" id="{AC0E1797-4344-0155-FDC4-326C0AF2C590}"/>
              </a:ext>
            </a:extLst>
          </p:cNvPr>
          <p:cNvSpPr txBox="1"/>
          <p:nvPr/>
        </p:nvSpPr>
        <p:spPr>
          <a:xfrm>
            <a:off x="4166376" y="1974072"/>
            <a:ext cx="3840857" cy="3056428"/>
          </a:xfrm>
          <a:prstGeom prst="rect">
            <a:avLst/>
          </a:prstGeom>
          <a:solidFill>
            <a:srgbClr val="FFE9D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6" name="Content Placeholder 7">
            <a:extLst>
              <a:ext uri="{FF2B5EF4-FFF2-40B4-BE49-F238E27FC236}">
                <a16:creationId xmlns:a16="http://schemas.microsoft.com/office/drawing/2014/main" id="{6E72277B-996B-56AB-01FA-AD9C4256A7A9}"/>
              </a:ext>
            </a:extLst>
          </p:cNvPr>
          <p:cNvSpPr txBox="1">
            <a:spLocks/>
          </p:cNvSpPr>
          <p:nvPr/>
        </p:nvSpPr>
        <p:spPr>
          <a:xfrm>
            <a:off x="531295" y="1589845"/>
            <a:ext cx="2753704" cy="3136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3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6198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defRPr/>
            </a:pPr>
            <a:r>
              <a:rPr lang="en-US" sz="1600" kern="0">
                <a:solidFill>
                  <a:srgbClr val="000000"/>
                </a:solidFill>
                <a:latin typeface="Arial"/>
                <a:cs typeface="Arial"/>
              </a:rPr>
              <a:t>The Market Shift Is </a:t>
            </a:r>
            <a:r>
              <a:rPr lang="en-US" sz="1600" kern="0">
                <a:solidFill>
                  <a:schemeClr val="accent1"/>
                </a:solidFill>
                <a:latin typeface="Arial"/>
                <a:cs typeface="Arial"/>
              </a:rPr>
              <a:t>REAL</a:t>
            </a:r>
            <a:endParaRPr lang="en-US" sz="16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5B6DB47-2B35-B9CA-11DC-34FAE0B567DB}"/>
              </a:ext>
            </a:extLst>
          </p:cNvPr>
          <p:cNvCxnSpPr>
            <a:cxnSpLocks/>
          </p:cNvCxnSpPr>
          <p:nvPr/>
        </p:nvCxnSpPr>
        <p:spPr>
          <a:xfrm>
            <a:off x="594795" y="1916822"/>
            <a:ext cx="252504" cy="0"/>
          </a:xfrm>
          <a:prstGeom prst="line">
            <a:avLst/>
          </a:prstGeom>
          <a:ln w="38100" cap="flat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7">
            <a:extLst>
              <a:ext uri="{FF2B5EF4-FFF2-40B4-BE49-F238E27FC236}">
                <a16:creationId xmlns:a16="http://schemas.microsoft.com/office/drawing/2014/main" id="{FAF2CE36-CA42-D7CB-0C2A-BA9857F52740}"/>
              </a:ext>
            </a:extLst>
          </p:cNvPr>
          <p:cNvSpPr txBox="1">
            <a:spLocks/>
          </p:cNvSpPr>
          <p:nvPr/>
        </p:nvSpPr>
        <p:spPr>
          <a:xfrm>
            <a:off x="4286349" y="1589845"/>
            <a:ext cx="3617304" cy="37717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3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6198">
              <a:lnSpc>
                <a:spcPct val="114999"/>
              </a:lnSpc>
              <a:spcBef>
                <a:spcPts val="0"/>
              </a:spcBef>
              <a:spcAft>
                <a:spcPts val="1200"/>
              </a:spcAft>
              <a:defRPr/>
            </a:pPr>
            <a:r>
              <a:rPr lang="en-US" sz="1600" kern="0">
                <a:cs typeface="Arial"/>
              </a:rPr>
              <a:t>What we are </a:t>
            </a:r>
            <a:r>
              <a:rPr lang="en-US" sz="1600" kern="0">
                <a:solidFill>
                  <a:schemeClr val="accent1"/>
                </a:solidFill>
                <a:cs typeface="Arial"/>
              </a:rPr>
              <a:t>BUILDING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CA05476-B4A1-7C7F-4985-636AD74AD281}"/>
              </a:ext>
            </a:extLst>
          </p:cNvPr>
          <p:cNvCxnSpPr>
            <a:cxnSpLocks/>
          </p:cNvCxnSpPr>
          <p:nvPr/>
        </p:nvCxnSpPr>
        <p:spPr>
          <a:xfrm>
            <a:off x="4286349" y="1871209"/>
            <a:ext cx="252504" cy="0"/>
          </a:xfrm>
          <a:prstGeom prst="line">
            <a:avLst/>
          </a:prstGeom>
          <a:ln w="38100" cap="flat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ontent Placeholder 7">
            <a:extLst>
              <a:ext uri="{FF2B5EF4-FFF2-40B4-BE49-F238E27FC236}">
                <a16:creationId xmlns:a16="http://schemas.microsoft.com/office/drawing/2014/main" id="{FA61BACD-E728-F53F-7F13-03B216D0DBD9}"/>
              </a:ext>
            </a:extLst>
          </p:cNvPr>
          <p:cNvSpPr txBox="1">
            <a:spLocks/>
          </p:cNvSpPr>
          <p:nvPr/>
        </p:nvSpPr>
        <p:spPr>
          <a:xfrm>
            <a:off x="8731192" y="1600868"/>
            <a:ext cx="2911615" cy="3441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1300"/>
              </a:spcAft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71450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344488" indent="-173038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515938" indent="-171450" algn="l" defTabSz="914400" rtl="0" eaLnBrk="1" latinLnBrk="0" hangingPunct="1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6198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defRPr/>
            </a:pPr>
            <a:r>
              <a:rPr lang="en-US" sz="1600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What this means for</a:t>
            </a:r>
            <a:r>
              <a:rPr lang="en-US" sz="1600" kern="0">
                <a:solidFill>
                  <a:schemeClr val="accent1"/>
                </a:solidFill>
                <a:latin typeface="Arial"/>
                <a:cs typeface="Arial"/>
                <a:sym typeface="Arial"/>
              </a:rPr>
              <a:t> YOU</a:t>
            </a:r>
            <a:endParaRPr kumimoji="0" lang="en-US" sz="16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A3B108C-F43B-A4A4-0F01-FC691B322752}"/>
              </a:ext>
            </a:extLst>
          </p:cNvPr>
          <p:cNvCxnSpPr>
            <a:cxnSpLocks/>
          </p:cNvCxnSpPr>
          <p:nvPr/>
        </p:nvCxnSpPr>
        <p:spPr>
          <a:xfrm>
            <a:off x="8759946" y="1909309"/>
            <a:ext cx="252504" cy="0"/>
          </a:xfrm>
          <a:prstGeom prst="line">
            <a:avLst/>
          </a:prstGeom>
          <a:ln w="38100" cap="flat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Google Shape;637;p77">
            <a:extLst>
              <a:ext uri="{FF2B5EF4-FFF2-40B4-BE49-F238E27FC236}">
                <a16:creationId xmlns:a16="http://schemas.microsoft.com/office/drawing/2014/main" id="{6FF19293-4515-DC1B-173E-0979DF7594BD}"/>
              </a:ext>
            </a:extLst>
          </p:cNvPr>
          <p:cNvSpPr/>
          <p:nvPr/>
        </p:nvSpPr>
        <p:spPr>
          <a:xfrm>
            <a:off x="456894" y="1500431"/>
            <a:ext cx="3109030" cy="3531207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0000" tIns="90000" rIns="90000" bIns="900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4"/>
              <a:buFontTx/>
              <a:buNone/>
              <a:tabLst/>
              <a:defRPr/>
            </a:pP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3" name="Google Shape;637;p77">
            <a:extLst>
              <a:ext uri="{FF2B5EF4-FFF2-40B4-BE49-F238E27FC236}">
                <a16:creationId xmlns:a16="http://schemas.microsoft.com/office/drawing/2014/main" id="{218C4A04-95E9-183B-CFDD-61A7FB9717E2}"/>
              </a:ext>
            </a:extLst>
          </p:cNvPr>
          <p:cNvSpPr/>
          <p:nvPr/>
        </p:nvSpPr>
        <p:spPr>
          <a:xfrm>
            <a:off x="4166376" y="1500431"/>
            <a:ext cx="3840857" cy="3533889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0000" tIns="90000" rIns="90000" bIns="900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4"/>
              <a:buFontTx/>
              <a:buNone/>
              <a:tabLst/>
              <a:defRPr/>
            </a:pP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4" name="Google Shape;637;p77">
            <a:extLst>
              <a:ext uri="{FF2B5EF4-FFF2-40B4-BE49-F238E27FC236}">
                <a16:creationId xmlns:a16="http://schemas.microsoft.com/office/drawing/2014/main" id="{30BDBD8A-6265-B7AD-20E9-1C16B0F44DEA}"/>
              </a:ext>
            </a:extLst>
          </p:cNvPr>
          <p:cNvSpPr/>
          <p:nvPr/>
        </p:nvSpPr>
        <p:spPr>
          <a:xfrm>
            <a:off x="8620706" y="1500697"/>
            <a:ext cx="3117603" cy="3525442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0000" tIns="90000" rIns="90000" bIns="900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4"/>
              <a:buFontTx/>
              <a:buNone/>
              <a:tabLst/>
              <a:defRPr/>
            </a:pPr>
            <a:endParaRPr kumimoji="0" sz="16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3BD4477-5D5E-EA7F-FBA5-62CDDB3773A6}"/>
              </a:ext>
            </a:extLst>
          </p:cNvPr>
          <p:cNvGrpSpPr/>
          <p:nvPr/>
        </p:nvGrpSpPr>
        <p:grpSpPr>
          <a:xfrm>
            <a:off x="8150155" y="1590391"/>
            <a:ext cx="343409" cy="381053"/>
            <a:chOff x="7948872" y="1590394"/>
            <a:chExt cx="377750" cy="507183"/>
          </a:xfrm>
        </p:grpSpPr>
        <p:sp>
          <p:nvSpPr>
            <p:cNvPr id="61" name="Triangle 61">
              <a:extLst>
                <a:ext uri="{FF2B5EF4-FFF2-40B4-BE49-F238E27FC236}">
                  <a16:creationId xmlns:a16="http://schemas.microsoft.com/office/drawing/2014/main" id="{806837EE-9362-5A82-9153-F64FDBDF8112}"/>
                </a:ext>
              </a:extLst>
            </p:cNvPr>
            <p:cNvSpPr/>
            <p:nvPr/>
          </p:nvSpPr>
          <p:spPr>
            <a:xfrm rot="5400000">
              <a:off x="7861304" y="1741029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2" name="Triangle 576">
              <a:extLst>
                <a:ext uri="{FF2B5EF4-FFF2-40B4-BE49-F238E27FC236}">
                  <a16:creationId xmlns:a16="http://schemas.microsoft.com/office/drawing/2014/main" id="{7EDFD97D-4555-42C0-6F2F-C679ADD109D7}"/>
                </a:ext>
              </a:extLst>
            </p:cNvPr>
            <p:cNvSpPr/>
            <p:nvPr/>
          </p:nvSpPr>
          <p:spPr>
            <a:xfrm rot="5400000">
              <a:off x="7935992" y="1706948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7C987BB-E7F6-38B0-CE0F-25C59207AF9E}"/>
              </a:ext>
            </a:extLst>
          </p:cNvPr>
          <p:cNvGrpSpPr/>
          <p:nvPr/>
        </p:nvGrpSpPr>
        <p:grpSpPr>
          <a:xfrm>
            <a:off x="3678382" y="1552291"/>
            <a:ext cx="343409" cy="381053"/>
            <a:chOff x="4035899" y="1590394"/>
            <a:chExt cx="377750" cy="507183"/>
          </a:xfrm>
        </p:grpSpPr>
        <p:sp>
          <p:nvSpPr>
            <p:cNvPr id="59" name="Triangle 584">
              <a:extLst>
                <a:ext uri="{FF2B5EF4-FFF2-40B4-BE49-F238E27FC236}">
                  <a16:creationId xmlns:a16="http://schemas.microsoft.com/office/drawing/2014/main" id="{D8671246-0830-3230-D6F0-9047BFE6CD3C}"/>
                </a:ext>
              </a:extLst>
            </p:cNvPr>
            <p:cNvSpPr/>
            <p:nvPr/>
          </p:nvSpPr>
          <p:spPr>
            <a:xfrm rot="5400000">
              <a:off x="3948331" y="1741029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0" name="Triangle 599">
              <a:extLst>
                <a:ext uri="{FF2B5EF4-FFF2-40B4-BE49-F238E27FC236}">
                  <a16:creationId xmlns:a16="http://schemas.microsoft.com/office/drawing/2014/main" id="{6CD8B430-86B5-6200-FF5D-34D66F584AF2}"/>
                </a:ext>
              </a:extLst>
            </p:cNvPr>
            <p:cNvSpPr/>
            <p:nvPr/>
          </p:nvSpPr>
          <p:spPr>
            <a:xfrm rot="5400000">
              <a:off x="4023019" y="1706948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8E7D6A1-9932-FE46-4909-C8B72CFFEFE2}"/>
              </a:ext>
            </a:extLst>
          </p:cNvPr>
          <p:cNvSpPr/>
          <p:nvPr/>
        </p:nvSpPr>
        <p:spPr>
          <a:xfrm>
            <a:off x="8748739" y="2190751"/>
            <a:ext cx="2869542" cy="5716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050" b="1">
                <a:solidFill>
                  <a:schemeClr val="bg1"/>
                </a:solidFill>
                <a:highlight>
                  <a:srgbClr val="FE7C39"/>
                </a:highlight>
                <a:cs typeface="Arial"/>
              </a:rPr>
              <a:t>Lead with conviction</a:t>
            </a:r>
          </a:p>
          <a:p>
            <a:r>
              <a:rPr lang="en-US" sz="1000">
                <a:solidFill>
                  <a:schemeClr val="tx1"/>
                </a:solidFill>
                <a:ea typeface="+mn-lt"/>
                <a:cs typeface="+mn-lt"/>
              </a:rPr>
              <a:t>Align leadership around a clear agentic vision</a:t>
            </a:r>
            <a:endParaRPr lang="en-US" sz="1000">
              <a:solidFill>
                <a:schemeClr val="tx1"/>
              </a:solidFill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638EE8-9C9A-CCAA-455A-9E32987289C0}"/>
              </a:ext>
            </a:extLst>
          </p:cNvPr>
          <p:cNvSpPr/>
          <p:nvPr/>
        </p:nvSpPr>
        <p:spPr>
          <a:xfrm>
            <a:off x="8748739" y="2995946"/>
            <a:ext cx="2855165" cy="600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050" b="1">
                <a:solidFill>
                  <a:schemeClr val="bg1"/>
                </a:solidFill>
                <a:highlight>
                  <a:srgbClr val="FD5109"/>
                </a:highlight>
                <a:cs typeface="Arial"/>
              </a:rPr>
              <a:t>Start with a wedge</a:t>
            </a:r>
          </a:p>
          <a:p>
            <a:r>
              <a:rPr lang="en-US" sz="1000">
                <a:solidFill>
                  <a:schemeClr val="tx1"/>
                </a:solidFill>
                <a:ea typeface="+mn-lt"/>
                <a:cs typeface="+mn-lt"/>
              </a:rPr>
              <a:t>Identify a high-impact entry point in your front office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F7933B-6CE2-2DF3-5579-C9934F98F381}"/>
              </a:ext>
            </a:extLst>
          </p:cNvPr>
          <p:cNvSpPr/>
          <p:nvPr/>
        </p:nvSpPr>
        <p:spPr>
          <a:xfrm>
            <a:off x="8741550" y="3815518"/>
            <a:ext cx="2869542" cy="657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050" b="1">
                <a:solidFill>
                  <a:schemeClr val="bg1"/>
                </a:solidFill>
                <a:highlight>
                  <a:srgbClr val="939393"/>
                </a:highlight>
                <a:cs typeface="Arial"/>
              </a:rPr>
              <a:t>Build momentum quickly</a:t>
            </a:r>
          </a:p>
          <a:p>
            <a:r>
              <a:rPr lang="en-US" sz="1000">
                <a:solidFill>
                  <a:schemeClr val="tx1"/>
                </a:solidFill>
                <a:ea typeface="+mn-lt"/>
                <a:cs typeface="+mn-lt"/>
              </a:rPr>
              <a:t>Scale what works across the commercial lifecycle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85731B-5ED0-EB5E-BE87-971657906FC6}"/>
              </a:ext>
            </a:extLst>
          </p:cNvPr>
          <p:cNvSpPr/>
          <p:nvPr/>
        </p:nvSpPr>
        <p:spPr>
          <a:xfrm>
            <a:off x="638586" y="2094186"/>
            <a:ext cx="2745592" cy="22465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1450" indent="-171450">
              <a:buFont typeface="Arial"/>
              <a:buChar char="•"/>
            </a:pPr>
            <a:r>
              <a:rPr lang="en-US" sz="1100">
                <a:solidFill>
                  <a:schemeClr val="tx1"/>
                </a:solidFill>
                <a:cs typeface="Arial"/>
              </a:rPr>
              <a:t>AI is redefining the commercial engine and leaders are already setting the pace.</a:t>
            </a:r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 </a:t>
            </a:r>
            <a:endParaRPr lang="en-US">
              <a:solidFill>
                <a:schemeClr val="tx1"/>
              </a:solidFill>
              <a:cs typeface="Arial"/>
            </a:endParaRPr>
          </a:p>
          <a:p>
            <a:pPr marL="171450" indent="-171450">
              <a:buFont typeface="Arial"/>
              <a:buChar char="•"/>
            </a:pPr>
            <a:endParaRPr lang="en-US" sz="1100">
              <a:solidFill>
                <a:schemeClr val="tx1"/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1100">
                <a:solidFill>
                  <a:schemeClr val="tx1"/>
                </a:solidFill>
                <a:ea typeface="+mn-lt"/>
                <a:cs typeface="+mn-lt"/>
              </a:rPr>
              <a:t>The gap between leaders and followers is widening. 75% of CEOs are prioritizing AI — but few have realized value.</a:t>
            </a:r>
            <a:endParaRPr lang="en-US">
              <a:solidFill>
                <a:schemeClr val="tx1"/>
              </a:solidFill>
              <a:cs typeface="Arial"/>
            </a:endParaRPr>
          </a:p>
          <a:p>
            <a:pPr marL="171450" indent="-171450">
              <a:buFont typeface="Arial"/>
              <a:buChar char="•"/>
            </a:pPr>
            <a:endParaRPr lang="en-US" sz="1100">
              <a:solidFill>
                <a:schemeClr val="tx1"/>
              </a:solidFill>
              <a:cs typeface="Arial"/>
            </a:endParaRPr>
          </a:p>
          <a:p>
            <a:pPr marL="171450" indent="-171450">
              <a:buFont typeface="Arial"/>
              <a:buChar char="•"/>
            </a:pPr>
            <a:r>
              <a:rPr lang="en-US" sz="1100" b="1">
                <a:solidFill>
                  <a:schemeClr val="tx1"/>
                </a:solidFill>
                <a:cs typeface="Arial"/>
              </a:rPr>
              <a:t>That gap is where leaders differentiate.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88BF4B8-3021-AB5C-9A22-0C23C1A6BADC}"/>
              </a:ext>
            </a:extLst>
          </p:cNvPr>
          <p:cNvSpPr/>
          <p:nvPr/>
        </p:nvSpPr>
        <p:spPr>
          <a:xfrm>
            <a:off x="4267017" y="2521046"/>
            <a:ext cx="3637727" cy="4512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050" b="1">
                <a:solidFill>
                  <a:schemeClr val="tx1"/>
                </a:solidFill>
                <a:cs typeface="Arial"/>
              </a:rPr>
              <a:t>A proven, repeatable operating model</a:t>
            </a:r>
          </a:p>
          <a:p>
            <a:r>
              <a:rPr lang="en-US" sz="900">
                <a:solidFill>
                  <a:schemeClr val="tx1"/>
                </a:solidFill>
                <a:cs typeface="Arial"/>
              </a:rPr>
              <a:t>Sprint to Signal has been deployed across multiple clients and industries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97498FE-FB22-5584-DAFC-498C995231A6}"/>
              </a:ext>
            </a:extLst>
          </p:cNvPr>
          <p:cNvSpPr/>
          <p:nvPr/>
        </p:nvSpPr>
        <p:spPr>
          <a:xfrm>
            <a:off x="4267017" y="2087361"/>
            <a:ext cx="3634301" cy="3627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050" b="1">
                <a:solidFill>
                  <a:schemeClr val="tx1"/>
                </a:solidFill>
                <a:cs typeface="Arial"/>
              </a:rPr>
              <a:t>Market-defining POV on AFO</a:t>
            </a:r>
          </a:p>
          <a:p>
            <a:r>
              <a:rPr lang="en-US" sz="900">
                <a:solidFill>
                  <a:schemeClr val="tx1"/>
                </a:solidFill>
                <a:cs typeface="Arial"/>
              </a:rPr>
              <a:t>Not a generic AI services offering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44242BB-BC31-E960-99D3-C4B0A19E1D2D}"/>
              </a:ext>
            </a:extLst>
          </p:cNvPr>
          <p:cNvSpPr/>
          <p:nvPr/>
        </p:nvSpPr>
        <p:spPr>
          <a:xfrm>
            <a:off x="4267017" y="3566215"/>
            <a:ext cx="3637727" cy="35725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050" b="1">
                <a:solidFill>
                  <a:schemeClr val="tx1"/>
                </a:solidFill>
                <a:cs typeface="Arial"/>
              </a:rPr>
              <a:t>Pre-built agent library</a:t>
            </a:r>
          </a:p>
          <a:p>
            <a:r>
              <a:rPr lang="en-US" sz="900">
                <a:solidFill>
                  <a:schemeClr val="tx1"/>
                </a:solidFill>
                <a:cs typeface="Arial"/>
              </a:rPr>
              <a:t>we start from proven, not from scratch. Faster time to value.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B9645F2-86EC-58A5-F645-047DD78D810D}"/>
              </a:ext>
            </a:extLst>
          </p:cNvPr>
          <p:cNvSpPr/>
          <p:nvPr/>
        </p:nvSpPr>
        <p:spPr>
          <a:xfrm>
            <a:off x="4267017" y="3043631"/>
            <a:ext cx="3637727" cy="46393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050" b="1">
                <a:solidFill>
                  <a:schemeClr val="tx1"/>
                </a:solidFill>
                <a:cs typeface="Arial"/>
              </a:rPr>
              <a:t>Full-spectrum capability</a:t>
            </a:r>
          </a:p>
          <a:p>
            <a:r>
              <a:rPr lang="en-US" sz="900">
                <a:solidFill>
                  <a:schemeClr val="tx1"/>
                </a:solidFill>
                <a:cs typeface="Arial"/>
              </a:rPr>
              <a:t>Strategy through deployment through outcomes — not just advisory, not just systems integration</a:t>
            </a:r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21B8808-3EE7-490D-181D-78C0753A2D46}"/>
              </a:ext>
            </a:extLst>
          </p:cNvPr>
          <p:cNvSpPr/>
          <p:nvPr/>
        </p:nvSpPr>
        <p:spPr>
          <a:xfrm>
            <a:off x="4267017" y="4509785"/>
            <a:ext cx="3637727" cy="36226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050" b="1">
                <a:solidFill>
                  <a:schemeClr val="tx1"/>
                </a:solidFill>
                <a:cs typeface="Arial"/>
              </a:rPr>
              <a:t>Outcome-based commercials</a:t>
            </a:r>
          </a:p>
          <a:p>
            <a:r>
              <a:rPr lang="en-US" sz="900">
                <a:solidFill>
                  <a:schemeClr val="tx1"/>
                </a:solidFill>
                <a:cs typeface="Arial"/>
              </a:rPr>
              <a:t>We are accountable for results, not hours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E25B4F9-1F89-FE99-5272-2C82749764EE}"/>
              </a:ext>
            </a:extLst>
          </p:cNvPr>
          <p:cNvSpPr/>
          <p:nvPr/>
        </p:nvSpPr>
        <p:spPr>
          <a:xfrm>
            <a:off x="4267017" y="3987200"/>
            <a:ext cx="3637727" cy="46393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050" b="1">
                <a:solidFill>
                  <a:schemeClr val="tx1"/>
                </a:solidFill>
                <a:cs typeface="Arial"/>
              </a:rPr>
              <a:t>Alliance ecosystem</a:t>
            </a:r>
          </a:p>
          <a:p>
            <a:r>
              <a:rPr lang="en-US" sz="900">
                <a:solidFill>
                  <a:schemeClr val="tx1"/>
                </a:solidFill>
                <a:cs typeface="Arial"/>
              </a:rPr>
              <a:t>Salesforce, Adobe, and others embedded at the technology layer — not platform-agnostic theory</a:t>
            </a:r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A4E2D972-4D35-EE57-BAA5-CF0E5A497CB2}"/>
              </a:ext>
            </a:extLst>
          </p:cNvPr>
          <p:cNvSpPr/>
          <p:nvPr/>
        </p:nvSpPr>
        <p:spPr>
          <a:xfrm>
            <a:off x="-3175" y="5502980"/>
            <a:ext cx="12194821" cy="920045"/>
          </a:xfrm>
          <a:prstGeom prst="rect">
            <a:avLst/>
          </a:prstGeom>
          <a:solidFill>
            <a:srgbClr val="FD5109"/>
          </a:solidFill>
          <a:ln>
            <a:noFill/>
          </a:ln>
          <a:effectLst>
            <a:outerShdw blurRad="63500" dist="38100" dir="270000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000">
              <a:solidFill>
                <a:srgbClr val="000000"/>
              </a:solidFill>
              <a:cs typeface="Arial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FE9BFDB-F4DF-256E-1597-DFE341782215}"/>
              </a:ext>
            </a:extLst>
          </p:cNvPr>
          <p:cNvSpPr/>
          <p:nvPr/>
        </p:nvSpPr>
        <p:spPr>
          <a:xfrm>
            <a:off x="398754" y="5648968"/>
            <a:ext cx="6799106" cy="5046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400">
                <a:solidFill>
                  <a:srgbClr val="FFFFFF"/>
                </a:solidFill>
                <a:cs typeface="Arial"/>
              </a:rPr>
              <a:t>The Agentic Front Office is not the future of your commercial operating model. It is the present for the leaders who choose to see it.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9B6693F-26C7-7566-0C8E-17D5ACAF7B34}"/>
              </a:ext>
            </a:extLst>
          </p:cNvPr>
          <p:cNvSpPr txBox="1"/>
          <p:nvPr/>
        </p:nvSpPr>
        <p:spPr>
          <a:xfrm>
            <a:off x="7401731" y="6153419"/>
            <a:ext cx="6096000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baseline="0">
                <a:solidFill>
                  <a:srgbClr val="FFFFFF"/>
                </a:solidFill>
                <a:latin typeface="Arial"/>
              </a:rPr>
              <a:t>We are not catching up. We are setting the standard.</a:t>
            </a:r>
            <a:endParaRPr lang="en-US" sz="1400">
              <a:solidFill>
                <a:srgbClr val="FFFFFF"/>
              </a:solidFill>
              <a:cs typeface="Arial"/>
            </a:endParaRPr>
          </a:p>
          <a:p>
            <a:pPr algn="l"/>
            <a:endParaRPr lang="en-US">
              <a:solidFill>
                <a:srgbClr val="FFFF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04057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0DCF7-10E9-CF55-4EF1-D3033C8A7D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Appendix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7A3E6E-32EF-F64B-F750-D88778CF95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041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606;p73">
            <a:extLst>
              <a:ext uri="{FF2B5EF4-FFF2-40B4-BE49-F238E27FC236}">
                <a16:creationId xmlns:a16="http://schemas.microsoft.com/office/drawing/2014/main" id="{35B72B8F-E19B-BB27-49DE-6FED0EAEB56F}"/>
              </a:ext>
            </a:extLst>
          </p:cNvPr>
          <p:cNvSpPr/>
          <p:nvPr/>
        </p:nvSpPr>
        <p:spPr>
          <a:xfrm>
            <a:off x="0" y="972801"/>
            <a:ext cx="12192000" cy="19571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E1BD4A-083A-89A0-4F2A-B3B9B41D5E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14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DF1935-7079-1737-15D8-B1982A21EA53}"/>
              </a:ext>
            </a:extLst>
          </p:cNvPr>
          <p:cNvCxnSpPr/>
          <p:nvPr/>
        </p:nvCxnSpPr>
        <p:spPr>
          <a:xfrm>
            <a:off x="0" y="3928021"/>
            <a:ext cx="1219200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F32C882E-4B0B-25FA-8771-2AD2FB004041}"/>
              </a:ext>
            </a:extLst>
          </p:cNvPr>
          <p:cNvSpPr/>
          <p:nvPr/>
        </p:nvSpPr>
        <p:spPr>
          <a:xfrm>
            <a:off x="637565" y="3842267"/>
            <a:ext cx="176349" cy="18941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1A2C1E-A3CD-BEC7-3DA8-53A85DF8A494}"/>
              </a:ext>
            </a:extLst>
          </p:cNvPr>
          <p:cNvSpPr/>
          <p:nvPr/>
        </p:nvSpPr>
        <p:spPr>
          <a:xfrm>
            <a:off x="2456927" y="3842267"/>
            <a:ext cx="176349" cy="18941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354D2C-04A8-F179-1755-8DFF22D57010}"/>
              </a:ext>
            </a:extLst>
          </p:cNvPr>
          <p:cNvSpPr/>
          <p:nvPr/>
        </p:nvSpPr>
        <p:spPr>
          <a:xfrm>
            <a:off x="4276289" y="3842267"/>
            <a:ext cx="176349" cy="18941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B0690E-6F55-A140-B96A-205EB20F3AD5}"/>
              </a:ext>
            </a:extLst>
          </p:cNvPr>
          <p:cNvSpPr txBox="1"/>
          <p:nvPr/>
        </p:nvSpPr>
        <p:spPr>
          <a:xfrm>
            <a:off x="57787" y="3318816"/>
            <a:ext cx="14780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base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 b="1" i="0">
                <a:effectLst/>
              </a:rPr>
              <a:t>Audience Intelligence Agent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D7BF89-6D1A-94B5-DB66-A067ACADFA16}"/>
              </a:ext>
            </a:extLst>
          </p:cNvPr>
          <p:cNvSpPr txBox="1"/>
          <p:nvPr/>
        </p:nvSpPr>
        <p:spPr>
          <a:xfrm>
            <a:off x="111032" y="410900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800" b="0" i="0">
                <a:solidFill>
                  <a:srgbClr val="000000"/>
                </a:solidFill>
                <a:effectLst/>
              </a:rPr>
              <a:t>Identifies high-intent prospect from behavioral signals 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4582D03-7462-383E-C20D-A8EBEA55B375}"/>
              </a:ext>
            </a:extLst>
          </p:cNvPr>
          <p:cNvGrpSpPr/>
          <p:nvPr/>
        </p:nvGrpSpPr>
        <p:grpSpPr>
          <a:xfrm>
            <a:off x="1503848" y="3794357"/>
            <a:ext cx="263145" cy="285233"/>
            <a:chOff x="4035899" y="1590394"/>
            <a:chExt cx="377750" cy="507183"/>
          </a:xfrm>
        </p:grpSpPr>
        <p:sp>
          <p:nvSpPr>
            <p:cNvPr id="15" name="Triangle 584">
              <a:extLst>
                <a:ext uri="{FF2B5EF4-FFF2-40B4-BE49-F238E27FC236}">
                  <a16:creationId xmlns:a16="http://schemas.microsoft.com/office/drawing/2014/main" id="{A79298F1-C819-475F-24E5-A4D12C2C35DF}"/>
                </a:ext>
              </a:extLst>
            </p:cNvPr>
            <p:cNvSpPr/>
            <p:nvPr/>
          </p:nvSpPr>
          <p:spPr>
            <a:xfrm rot="5400000">
              <a:off x="3948331" y="1741029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Triangle 599">
              <a:extLst>
                <a:ext uri="{FF2B5EF4-FFF2-40B4-BE49-F238E27FC236}">
                  <a16:creationId xmlns:a16="http://schemas.microsoft.com/office/drawing/2014/main" id="{4308AA14-C613-B0A0-C7A9-5A28212F39D9}"/>
                </a:ext>
              </a:extLst>
            </p:cNvPr>
            <p:cNvSpPr/>
            <p:nvPr/>
          </p:nvSpPr>
          <p:spPr>
            <a:xfrm rot="5400000">
              <a:off x="4023019" y="1706948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AECB828A-A37D-4E00-1833-0B4BFD5CC0F5}"/>
              </a:ext>
            </a:extLst>
          </p:cNvPr>
          <p:cNvSpPr/>
          <p:nvPr/>
        </p:nvSpPr>
        <p:spPr>
          <a:xfrm>
            <a:off x="693441" y="5324121"/>
            <a:ext cx="10805117" cy="78035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  <a:effectLst>
            <a:outerShdw blurRad="50800" dist="50800" dir="5400000" algn="ctr" rotWithShape="0">
              <a:srgbClr val="000000">
                <a:alpha val="30281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076A18-34A9-5E89-DB8C-9AF605E60FC0}"/>
              </a:ext>
            </a:extLst>
          </p:cNvPr>
          <p:cNvSpPr txBox="1"/>
          <p:nvPr/>
        </p:nvSpPr>
        <p:spPr>
          <a:xfrm>
            <a:off x="796833" y="5452690"/>
            <a:ext cx="1064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1400" b="1" i="0">
                <a:effectLst/>
              </a:rPr>
              <a:t>Business Outcome: </a:t>
            </a:r>
            <a:r>
              <a:rPr lang="en-US" sz="1400" b="0" i="0">
                <a:effectLst/>
              </a:rPr>
              <a:t>Compressed sales cycles, higher win rates, consistent margin discipline — with sellers spending 100% of their time on the work that closes deals. </a:t>
            </a:r>
          </a:p>
        </p:txBody>
      </p:sp>
      <p:cxnSp>
        <p:nvCxnSpPr>
          <p:cNvPr id="18" name="Google Shape;624;p73">
            <a:extLst>
              <a:ext uri="{FF2B5EF4-FFF2-40B4-BE49-F238E27FC236}">
                <a16:creationId xmlns:a16="http://schemas.microsoft.com/office/drawing/2014/main" id="{E43A391F-8FEA-A09E-ED21-1756A13546BE}"/>
              </a:ext>
            </a:extLst>
          </p:cNvPr>
          <p:cNvCxnSpPr>
            <a:cxnSpLocks/>
          </p:cNvCxnSpPr>
          <p:nvPr/>
        </p:nvCxnSpPr>
        <p:spPr>
          <a:xfrm>
            <a:off x="693441" y="6104479"/>
            <a:ext cx="10805117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624;p73">
            <a:extLst>
              <a:ext uri="{FF2B5EF4-FFF2-40B4-BE49-F238E27FC236}">
                <a16:creationId xmlns:a16="http://schemas.microsoft.com/office/drawing/2014/main" id="{B3A983EC-32CA-13DF-0EB0-7B1DC648347A}"/>
              </a:ext>
            </a:extLst>
          </p:cNvPr>
          <p:cNvCxnSpPr>
            <a:cxnSpLocks/>
          </p:cNvCxnSpPr>
          <p:nvPr/>
        </p:nvCxnSpPr>
        <p:spPr>
          <a:xfrm>
            <a:off x="693441" y="5324121"/>
            <a:ext cx="10805117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E99D98D-0401-D3CE-88E3-0936BAC55A04}"/>
              </a:ext>
            </a:extLst>
          </p:cNvPr>
          <p:cNvGrpSpPr/>
          <p:nvPr/>
        </p:nvGrpSpPr>
        <p:grpSpPr>
          <a:xfrm>
            <a:off x="3323210" y="3794357"/>
            <a:ext cx="263145" cy="285233"/>
            <a:chOff x="4035899" y="1590394"/>
            <a:chExt cx="377750" cy="507183"/>
          </a:xfrm>
        </p:grpSpPr>
        <p:sp>
          <p:nvSpPr>
            <p:cNvPr id="24" name="Triangle 584">
              <a:extLst>
                <a:ext uri="{FF2B5EF4-FFF2-40B4-BE49-F238E27FC236}">
                  <a16:creationId xmlns:a16="http://schemas.microsoft.com/office/drawing/2014/main" id="{A5517621-262B-9453-9E18-FFD34E1D4C18}"/>
                </a:ext>
              </a:extLst>
            </p:cNvPr>
            <p:cNvSpPr/>
            <p:nvPr/>
          </p:nvSpPr>
          <p:spPr>
            <a:xfrm rot="5400000">
              <a:off x="3948331" y="1741029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Triangle 599">
              <a:extLst>
                <a:ext uri="{FF2B5EF4-FFF2-40B4-BE49-F238E27FC236}">
                  <a16:creationId xmlns:a16="http://schemas.microsoft.com/office/drawing/2014/main" id="{FE7A8F08-569A-BB0C-A757-71B7B3F35C6C}"/>
                </a:ext>
              </a:extLst>
            </p:cNvPr>
            <p:cNvSpPr/>
            <p:nvPr/>
          </p:nvSpPr>
          <p:spPr>
            <a:xfrm rot="5400000">
              <a:off x="4023019" y="1706948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22" name="Google Shape;2379;p339">
            <a:extLst>
              <a:ext uri="{FF2B5EF4-FFF2-40B4-BE49-F238E27FC236}">
                <a16:creationId xmlns:a16="http://schemas.microsoft.com/office/drawing/2014/main" id="{D811813A-9304-3C60-16D0-849141C4BFE1}"/>
              </a:ext>
            </a:extLst>
          </p:cNvPr>
          <p:cNvSpPr txBox="1">
            <a:spLocks/>
          </p:cNvSpPr>
          <p:nvPr/>
        </p:nvSpPr>
        <p:spPr>
          <a:xfrm>
            <a:off x="397667" y="402338"/>
            <a:ext cx="11403809" cy="5152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A “COMMERCIAL BRAIN”</a:t>
            </a:r>
            <a:endParaRPr lang="en-US" sz="1100" b="1"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>
                <a:latin typeface="+mn-lt"/>
                <a:cs typeface="Arial" panose="020B0604020202020204" pitchFamily="34" charset="0"/>
              </a:rPr>
              <a:t>Orchestration Deep Dives: How The Agents Work Together</a:t>
            </a:r>
            <a:endParaRPr lang="en-US" sz="2400">
              <a:latin typeface="+mn-lt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46A447-19CC-0A68-AEE3-C9FB271A6FD9}"/>
              </a:ext>
            </a:extLst>
          </p:cNvPr>
          <p:cNvSpPr txBox="1"/>
          <p:nvPr/>
        </p:nvSpPr>
        <p:spPr>
          <a:xfrm>
            <a:off x="1344490" y="1417867"/>
            <a:ext cx="11234890" cy="349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ts val="1744"/>
              </a:lnSpc>
            </a:pPr>
            <a:r>
              <a:rPr lang="en-US" sz="2800">
                <a:solidFill>
                  <a:srgbClr val="000000"/>
                </a:solidFill>
                <a:cs typeface="Arial" panose="020B0604020202020204" pitchFamily="34" charset="0"/>
              </a:rPr>
              <a:t>Orchestration Scenario 1: </a:t>
            </a:r>
            <a:r>
              <a:rPr lang="en-US" sz="2800" b="1">
                <a:solidFill>
                  <a:schemeClr val="accent2"/>
                </a:solidFill>
              </a:rPr>
              <a:t>Campaign to Close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7CACAA-463F-1BF6-ECDB-0A70D8FF89E3}"/>
              </a:ext>
            </a:extLst>
          </p:cNvPr>
          <p:cNvSpPr txBox="1"/>
          <p:nvPr/>
        </p:nvSpPr>
        <p:spPr>
          <a:xfrm>
            <a:off x="1344490" y="1722180"/>
            <a:ext cx="95380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b="1" i="0">
                <a:solidFill>
                  <a:srgbClr val="000000"/>
                </a:solidFill>
                <a:effectLst/>
              </a:rPr>
              <a:t>The journey from first signal to signed contract — without a single manual handoff: </a:t>
            </a:r>
          </a:p>
          <a:p>
            <a:pPr algn="l" rtl="0" fontAlgn="base"/>
            <a:r>
              <a:rPr lang="en-US" b="0" i="0">
                <a:solidFill>
                  <a:srgbClr val="000000"/>
                </a:solidFill>
                <a:effectLst/>
              </a:rPr>
              <a:t>A prospect engages with a campaign. By the time a seller is involved, the deal is already half-done. 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D34B6-27F8-DB04-0063-9B8C3A01598A}"/>
              </a:ext>
            </a:extLst>
          </p:cNvPr>
          <p:cNvSpPr txBox="1"/>
          <p:nvPr/>
        </p:nvSpPr>
        <p:spPr>
          <a:xfrm>
            <a:off x="1625445" y="3327701"/>
            <a:ext cx="183931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 fontAlgn="base">
              <a:spcBef>
                <a:spcPts val="1200"/>
              </a:spcBef>
              <a:spcAft>
                <a:spcPts val="1200"/>
              </a:spcAft>
              <a:buNone/>
              <a:defRPr sz="1100" b="1" i="0">
                <a:effectLst/>
              </a:defRPr>
            </a:lvl1pPr>
          </a:lstStyle>
          <a:p>
            <a:r>
              <a:rPr lang="en-US"/>
              <a:t>Lead &amp; Account Intelligence Agent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DC9149-35D4-B068-4B24-2F68BF4FC62C}"/>
              </a:ext>
            </a:extLst>
          </p:cNvPr>
          <p:cNvSpPr txBox="1"/>
          <p:nvPr/>
        </p:nvSpPr>
        <p:spPr>
          <a:xfrm>
            <a:off x="3656987" y="3327701"/>
            <a:ext cx="147809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 fontAlgn="base">
              <a:spcBef>
                <a:spcPts val="1200"/>
              </a:spcBef>
              <a:spcAft>
                <a:spcPts val="1200"/>
              </a:spcAft>
              <a:buNone/>
              <a:defRPr sz="1100" b="1" i="0">
                <a:effectLst/>
              </a:defRPr>
            </a:lvl1pPr>
          </a:lstStyle>
          <a:p>
            <a:r>
              <a:rPr lang="en-US"/>
              <a:t>Opportunity &amp; Next Best Action Agent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740D3C-FD0B-42E4-3396-2F00D1B71BD9}"/>
              </a:ext>
            </a:extLst>
          </p:cNvPr>
          <p:cNvSpPr txBox="1"/>
          <p:nvPr/>
        </p:nvSpPr>
        <p:spPr>
          <a:xfrm>
            <a:off x="5472619" y="3348543"/>
            <a:ext cx="142192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 fontAlgn="base">
              <a:spcBef>
                <a:spcPts val="1200"/>
              </a:spcBef>
              <a:spcAft>
                <a:spcPts val="1200"/>
              </a:spcAft>
              <a:buNone/>
              <a:defRPr sz="1100" b="1" i="0">
                <a:effectLst/>
              </a:defRPr>
            </a:lvl1pPr>
          </a:lstStyle>
          <a:p>
            <a:r>
              <a:rPr lang="en-US"/>
              <a:t>Dynamic Pricing &amp; Discount Agent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6137AA-F606-3AFF-0D6E-19297DD6897D}"/>
              </a:ext>
            </a:extLst>
          </p:cNvPr>
          <p:cNvSpPr txBox="1"/>
          <p:nvPr/>
        </p:nvSpPr>
        <p:spPr>
          <a:xfrm>
            <a:off x="7232085" y="3318816"/>
            <a:ext cx="15374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 fontAlgn="base">
              <a:spcBef>
                <a:spcPts val="1200"/>
              </a:spcBef>
              <a:spcAft>
                <a:spcPts val="1200"/>
              </a:spcAft>
              <a:buNone/>
              <a:defRPr sz="1100" b="1" i="0">
                <a:effectLst/>
              </a:defRPr>
            </a:lvl1pPr>
          </a:lstStyle>
          <a:p>
            <a:r>
              <a:rPr lang="en-US"/>
              <a:t>CPQ &amp; Quote Automation Agent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ACAC8F-6C3A-4784-E1F3-4BF6034B01E3}"/>
              </a:ext>
            </a:extLst>
          </p:cNvPr>
          <p:cNvSpPr txBox="1"/>
          <p:nvPr/>
        </p:nvSpPr>
        <p:spPr>
          <a:xfrm>
            <a:off x="9045215" y="3318816"/>
            <a:ext cx="162896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 fontAlgn="base">
              <a:spcBef>
                <a:spcPts val="1200"/>
              </a:spcBef>
              <a:spcAft>
                <a:spcPts val="1200"/>
              </a:spcAft>
              <a:buNone/>
              <a:defRPr sz="1100" b="1" i="0">
                <a:effectLst/>
              </a:defRPr>
            </a:lvl1pPr>
          </a:lstStyle>
          <a:p>
            <a:r>
              <a:rPr lang="en-US"/>
              <a:t>Deals Desk Contract Negotiation Agent 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1CC65D-2A50-BEF1-87F6-F7BD83A49353}"/>
              </a:ext>
            </a:extLst>
          </p:cNvPr>
          <p:cNvSpPr txBox="1"/>
          <p:nvPr/>
        </p:nvSpPr>
        <p:spPr>
          <a:xfrm>
            <a:off x="10818934" y="3327701"/>
            <a:ext cx="135924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 fontAlgn="base">
              <a:spcBef>
                <a:spcPts val="1200"/>
              </a:spcBef>
              <a:spcAft>
                <a:spcPts val="1200"/>
              </a:spcAft>
              <a:buNone/>
              <a:defRPr sz="1100" b="1" i="0">
                <a:effectLst/>
              </a:defRPr>
            </a:lvl1pPr>
          </a:lstStyle>
          <a:p>
            <a:r>
              <a:rPr lang="en-US"/>
              <a:t>Human Seller Agent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1EC7A0-543D-39D4-CD3F-BFE5C3454017}"/>
              </a:ext>
            </a:extLst>
          </p:cNvPr>
          <p:cNvSpPr txBox="1"/>
          <p:nvPr/>
        </p:nvSpPr>
        <p:spPr>
          <a:xfrm>
            <a:off x="1898706" y="410900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fontAlgn="base">
              <a:spcBef>
                <a:spcPts val="1200"/>
              </a:spcBef>
              <a:spcAft>
                <a:spcPts val="1200"/>
              </a:spcAft>
              <a:buNone/>
              <a:defRPr sz="800" b="0" i="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/>
              <a:t>Qualifies, enriches, and routes lead with full context 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A3AF7A-99B9-2474-5AFB-0E33DEC0A76C}"/>
              </a:ext>
            </a:extLst>
          </p:cNvPr>
          <p:cNvSpPr txBox="1"/>
          <p:nvPr/>
        </p:nvSpPr>
        <p:spPr>
          <a:xfrm>
            <a:off x="3656987" y="410900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fontAlgn="base">
              <a:spcBef>
                <a:spcPts val="1200"/>
              </a:spcBef>
              <a:spcAft>
                <a:spcPts val="1200"/>
              </a:spcAft>
              <a:buNone/>
              <a:defRPr sz="800" b="0" i="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/>
              <a:t>Recommends personalized outreach and next-best action 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F5E5A1-506B-1994-4DDC-F56E976BE44D}"/>
              </a:ext>
            </a:extLst>
          </p:cNvPr>
          <p:cNvSpPr txBox="1"/>
          <p:nvPr/>
        </p:nvSpPr>
        <p:spPr>
          <a:xfrm>
            <a:off x="5497781" y="410900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fontAlgn="base">
              <a:spcBef>
                <a:spcPts val="1200"/>
              </a:spcBef>
              <a:spcAft>
                <a:spcPts val="1200"/>
              </a:spcAft>
              <a:buNone/>
              <a:defRPr sz="800" b="0" i="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/>
              <a:t>Generates margin-compliant pricing in real time 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EFFA79-DC5E-9422-A285-20F2851486BA}"/>
              </a:ext>
            </a:extLst>
          </p:cNvPr>
          <p:cNvSpPr txBox="1"/>
          <p:nvPr/>
        </p:nvSpPr>
        <p:spPr>
          <a:xfrm>
            <a:off x="7188764" y="410900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fontAlgn="base">
              <a:spcBef>
                <a:spcPts val="1200"/>
              </a:spcBef>
              <a:spcAft>
                <a:spcPts val="1200"/>
              </a:spcAft>
              <a:buNone/>
              <a:defRPr sz="800" b="0" i="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/>
              <a:t>Produces accurate, policy-compliant quote instantly 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6B1E83-DC7C-476E-8CB6-4BB769640B4C}"/>
              </a:ext>
            </a:extLst>
          </p:cNvPr>
          <p:cNvSpPr txBox="1"/>
          <p:nvPr/>
        </p:nvSpPr>
        <p:spPr>
          <a:xfrm>
            <a:off x="8948978" y="410900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fontAlgn="base">
              <a:spcBef>
                <a:spcPts val="1200"/>
              </a:spcBef>
              <a:spcAft>
                <a:spcPts val="1200"/>
              </a:spcAft>
              <a:buNone/>
              <a:defRPr sz="800" b="0" i="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/>
              <a:t>Orchestrates redlining and approvals — routes only true exceptions to human 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34C0615-7F6D-BE4F-28BE-E483125004D6}"/>
              </a:ext>
            </a:extLst>
          </p:cNvPr>
          <p:cNvSpPr txBox="1"/>
          <p:nvPr/>
        </p:nvSpPr>
        <p:spPr>
          <a:xfrm>
            <a:off x="10751949" y="410900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fontAlgn="base">
              <a:spcBef>
                <a:spcPts val="1200"/>
              </a:spcBef>
              <a:spcAft>
                <a:spcPts val="1200"/>
              </a:spcAft>
              <a:buNone/>
              <a:defRPr sz="800" b="0" i="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/>
              <a:t>Enters at the strategic close — relationship and judgment, not administration 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34A7975-657A-0B7A-69BC-8070DB514027}"/>
              </a:ext>
            </a:extLst>
          </p:cNvPr>
          <p:cNvSpPr/>
          <p:nvPr/>
        </p:nvSpPr>
        <p:spPr>
          <a:xfrm>
            <a:off x="6095651" y="3842267"/>
            <a:ext cx="176349" cy="18941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3EB5B95-9A90-D088-0F2B-FF600038FB27}"/>
              </a:ext>
            </a:extLst>
          </p:cNvPr>
          <p:cNvGrpSpPr/>
          <p:nvPr/>
        </p:nvGrpSpPr>
        <p:grpSpPr>
          <a:xfrm>
            <a:off x="5142572" y="3794357"/>
            <a:ext cx="263145" cy="285233"/>
            <a:chOff x="4035899" y="1590394"/>
            <a:chExt cx="377750" cy="507183"/>
          </a:xfrm>
        </p:grpSpPr>
        <p:sp>
          <p:nvSpPr>
            <p:cNvPr id="42" name="Triangle 584">
              <a:extLst>
                <a:ext uri="{FF2B5EF4-FFF2-40B4-BE49-F238E27FC236}">
                  <a16:creationId xmlns:a16="http://schemas.microsoft.com/office/drawing/2014/main" id="{267FBC21-A073-50A5-5C66-5D2F55BC6784}"/>
                </a:ext>
              </a:extLst>
            </p:cNvPr>
            <p:cNvSpPr/>
            <p:nvPr/>
          </p:nvSpPr>
          <p:spPr>
            <a:xfrm rot="5400000">
              <a:off x="3948331" y="1741029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Triangle 599">
              <a:extLst>
                <a:ext uri="{FF2B5EF4-FFF2-40B4-BE49-F238E27FC236}">
                  <a16:creationId xmlns:a16="http://schemas.microsoft.com/office/drawing/2014/main" id="{F469C9A2-22D1-1A66-6487-3361BB814D1D}"/>
                </a:ext>
              </a:extLst>
            </p:cNvPr>
            <p:cNvSpPr/>
            <p:nvPr/>
          </p:nvSpPr>
          <p:spPr>
            <a:xfrm rot="5400000">
              <a:off x="4023019" y="1706948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55D4C8E8-5093-FD82-6182-E3EB094886C2}"/>
              </a:ext>
            </a:extLst>
          </p:cNvPr>
          <p:cNvSpPr/>
          <p:nvPr/>
        </p:nvSpPr>
        <p:spPr>
          <a:xfrm>
            <a:off x="7915013" y="3842267"/>
            <a:ext cx="176349" cy="18941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27F17C3-AA93-6647-060D-9B15A9F01E45}"/>
              </a:ext>
            </a:extLst>
          </p:cNvPr>
          <p:cNvGrpSpPr/>
          <p:nvPr/>
        </p:nvGrpSpPr>
        <p:grpSpPr>
          <a:xfrm>
            <a:off x="6961934" y="3794357"/>
            <a:ext cx="263145" cy="285233"/>
            <a:chOff x="4035899" y="1590394"/>
            <a:chExt cx="377750" cy="507183"/>
          </a:xfrm>
        </p:grpSpPr>
        <p:sp>
          <p:nvSpPr>
            <p:cNvPr id="46" name="Triangle 584">
              <a:extLst>
                <a:ext uri="{FF2B5EF4-FFF2-40B4-BE49-F238E27FC236}">
                  <a16:creationId xmlns:a16="http://schemas.microsoft.com/office/drawing/2014/main" id="{832FB17B-DFCB-DEBF-871F-A7ADAEF13D15}"/>
                </a:ext>
              </a:extLst>
            </p:cNvPr>
            <p:cNvSpPr/>
            <p:nvPr/>
          </p:nvSpPr>
          <p:spPr>
            <a:xfrm rot="5400000">
              <a:off x="3948331" y="1741029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Triangle 599">
              <a:extLst>
                <a:ext uri="{FF2B5EF4-FFF2-40B4-BE49-F238E27FC236}">
                  <a16:creationId xmlns:a16="http://schemas.microsoft.com/office/drawing/2014/main" id="{06D83D6E-F8D9-1A1C-0AAF-D6CFE551A06D}"/>
                </a:ext>
              </a:extLst>
            </p:cNvPr>
            <p:cNvSpPr/>
            <p:nvPr/>
          </p:nvSpPr>
          <p:spPr>
            <a:xfrm rot="5400000">
              <a:off x="4023019" y="1706948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8" name="Oval 47">
            <a:extLst>
              <a:ext uri="{FF2B5EF4-FFF2-40B4-BE49-F238E27FC236}">
                <a16:creationId xmlns:a16="http://schemas.microsoft.com/office/drawing/2014/main" id="{129142D9-8A61-8C96-60DB-96481129DE99}"/>
              </a:ext>
            </a:extLst>
          </p:cNvPr>
          <p:cNvSpPr/>
          <p:nvPr/>
        </p:nvSpPr>
        <p:spPr>
          <a:xfrm>
            <a:off x="9734375" y="3842267"/>
            <a:ext cx="176349" cy="18941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59B37BF-0519-D21C-592F-76AB45682503}"/>
              </a:ext>
            </a:extLst>
          </p:cNvPr>
          <p:cNvGrpSpPr/>
          <p:nvPr/>
        </p:nvGrpSpPr>
        <p:grpSpPr>
          <a:xfrm>
            <a:off x="8781296" y="3794357"/>
            <a:ext cx="263145" cy="285233"/>
            <a:chOff x="4035899" y="1590394"/>
            <a:chExt cx="377750" cy="507183"/>
          </a:xfrm>
        </p:grpSpPr>
        <p:sp>
          <p:nvSpPr>
            <p:cNvPr id="50" name="Triangle 584">
              <a:extLst>
                <a:ext uri="{FF2B5EF4-FFF2-40B4-BE49-F238E27FC236}">
                  <a16:creationId xmlns:a16="http://schemas.microsoft.com/office/drawing/2014/main" id="{601B2BDD-8273-6A7F-C4AC-70E3F536C795}"/>
                </a:ext>
              </a:extLst>
            </p:cNvPr>
            <p:cNvSpPr/>
            <p:nvPr/>
          </p:nvSpPr>
          <p:spPr>
            <a:xfrm rot="5400000">
              <a:off x="3948331" y="1741029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1" name="Triangle 599">
              <a:extLst>
                <a:ext uri="{FF2B5EF4-FFF2-40B4-BE49-F238E27FC236}">
                  <a16:creationId xmlns:a16="http://schemas.microsoft.com/office/drawing/2014/main" id="{90C49AB7-70D9-7B70-6703-A7D28CE67AC0}"/>
                </a:ext>
              </a:extLst>
            </p:cNvPr>
            <p:cNvSpPr/>
            <p:nvPr/>
          </p:nvSpPr>
          <p:spPr>
            <a:xfrm rot="5400000">
              <a:off x="4023019" y="1706948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2" name="Oval 51">
            <a:extLst>
              <a:ext uri="{FF2B5EF4-FFF2-40B4-BE49-F238E27FC236}">
                <a16:creationId xmlns:a16="http://schemas.microsoft.com/office/drawing/2014/main" id="{C4DEFE4E-CCA0-AE63-83E9-FE99A8FE7561}"/>
              </a:ext>
            </a:extLst>
          </p:cNvPr>
          <p:cNvSpPr/>
          <p:nvPr/>
        </p:nvSpPr>
        <p:spPr>
          <a:xfrm>
            <a:off x="11407118" y="3842267"/>
            <a:ext cx="182880" cy="18288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3DC75D6-BCAA-D856-6A83-063458119426}"/>
              </a:ext>
            </a:extLst>
          </p:cNvPr>
          <p:cNvGrpSpPr/>
          <p:nvPr/>
        </p:nvGrpSpPr>
        <p:grpSpPr>
          <a:xfrm>
            <a:off x="10600658" y="3794357"/>
            <a:ext cx="263145" cy="285233"/>
            <a:chOff x="4035899" y="1590394"/>
            <a:chExt cx="377750" cy="507183"/>
          </a:xfrm>
        </p:grpSpPr>
        <p:sp>
          <p:nvSpPr>
            <p:cNvPr id="54" name="Triangle 584">
              <a:extLst>
                <a:ext uri="{FF2B5EF4-FFF2-40B4-BE49-F238E27FC236}">
                  <a16:creationId xmlns:a16="http://schemas.microsoft.com/office/drawing/2014/main" id="{85271102-4D2F-0D63-7B67-BB2F83BAC1D3}"/>
                </a:ext>
              </a:extLst>
            </p:cNvPr>
            <p:cNvSpPr/>
            <p:nvPr/>
          </p:nvSpPr>
          <p:spPr>
            <a:xfrm rot="5400000">
              <a:off x="3948331" y="1741029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5" name="Triangle 599">
              <a:extLst>
                <a:ext uri="{FF2B5EF4-FFF2-40B4-BE49-F238E27FC236}">
                  <a16:creationId xmlns:a16="http://schemas.microsoft.com/office/drawing/2014/main" id="{2F44771E-0923-1100-8C37-43338B4B979E}"/>
                </a:ext>
              </a:extLst>
            </p:cNvPr>
            <p:cNvSpPr/>
            <p:nvPr/>
          </p:nvSpPr>
          <p:spPr>
            <a:xfrm rot="5400000">
              <a:off x="4023019" y="1706948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6" name="Oval 55">
            <a:extLst>
              <a:ext uri="{FF2B5EF4-FFF2-40B4-BE49-F238E27FC236}">
                <a16:creationId xmlns:a16="http://schemas.microsoft.com/office/drawing/2014/main" id="{DFBAD028-E48F-85B5-8EE4-CD5BD532C49C}"/>
              </a:ext>
            </a:extLst>
          </p:cNvPr>
          <p:cNvSpPr/>
          <p:nvPr/>
        </p:nvSpPr>
        <p:spPr>
          <a:xfrm>
            <a:off x="323420" y="1318874"/>
            <a:ext cx="946823" cy="923329"/>
          </a:xfrm>
          <a:prstGeom prst="ellipse">
            <a:avLst/>
          </a:prstGeom>
          <a:gradFill flip="none" rotWithShape="1">
            <a:gsLst>
              <a:gs pos="34000">
                <a:schemeClr val="accent2"/>
              </a:gs>
              <a:gs pos="100000">
                <a:schemeClr val="bg1"/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1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CA21E3F-CB0C-71EC-5856-D1A6E2D8657F}"/>
              </a:ext>
            </a:extLst>
          </p:cNvPr>
          <p:cNvGrpSpPr>
            <a:grpSpLocks noChangeAspect="1"/>
          </p:cNvGrpSpPr>
          <p:nvPr/>
        </p:nvGrpSpPr>
        <p:grpSpPr>
          <a:xfrm>
            <a:off x="11288806" y="89856"/>
            <a:ext cx="791837" cy="308070"/>
            <a:chOff x="1089352" y="1973524"/>
            <a:chExt cx="10318095" cy="401433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A5A3DE0-1294-413A-70F0-140A1AF70004}"/>
                </a:ext>
              </a:extLst>
            </p:cNvPr>
            <p:cNvSpPr/>
            <p:nvPr/>
          </p:nvSpPr>
          <p:spPr>
            <a:xfrm>
              <a:off x="1089352" y="4078262"/>
              <a:ext cx="5072945" cy="19096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4"/>
              </a:solidFill>
            </a:ln>
            <a:effectLst>
              <a:outerShdw blurRad="50800" dist="50800" dir="5400000" algn="ctr" rotWithShape="0">
                <a:schemeClr val="accent1">
                  <a:alpha val="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FAF5DD2-E2EE-17A3-9F0D-CAC658B86A47}"/>
                </a:ext>
              </a:extLst>
            </p:cNvPr>
            <p:cNvSpPr/>
            <p:nvPr/>
          </p:nvSpPr>
          <p:spPr>
            <a:xfrm>
              <a:off x="1089352" y="1973537"/>
              <a:ext cx="5072948" cy="19095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4"/>
              </a:solidFill>
            </a:ln>
            <a:effectLst>
              <a:outerShdw blurRad="50800" dist="50800" dir="5400000" algn="ctr" rotWithShape="0">
                <a:schemeClr val="accent1">
                  <a:alpha val="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90D4936-8570-6B8F-E49A-EEA3D608B4EF}"/>
                </a:ext>
              </a:extLst>
            </p:cNvPr>
            <p:cNvSpPr/>
            <p:nvPr/>
          </p:nvSpPr>
          <p:spPr>
            <a:xfrm>
              <a:off x="6334502" y="4078262"/>
              <a:ext cx="5072945" cy="19096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4"/>
              </a:solidFill>
            </a:ln>
            <a:effectLst>
              <a:outerShdw blurRad="50800" dist="50800" dir="5400000" algn="ctr" rotWithShape="0">
                <a:schemeClr val="accent1">
                  <a:alpha val="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C7AD987-9692-EDF4-38BA-3069F4CA1C36}"/>
                </a:ext>
              </a:extLst>
            </p:cNvPr>
            <p:cNvSpPr/>
            <p:nvPr/>
          </p:nvSpPr>
          <p:spPr>
            <a:xfrm>
              <a:off x="6334499" y="1973524"/>
              <a:ext cx="5072948" cy="19095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/>
              </a:solidFill>
            </a:ln>
            <a:effectLst>
              <a:outerShdw blurRad="50800" dist="50800" dir="5400000" algn="ctr" rotWithShape="0">
                <a:schemeClr val="accent1">
                  <a:alpha val="4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b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6146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E3EF2-D395-C874-0A85-31F48304B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1F7F49-0C04-027D-A6DE-5B776222FA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D490FF-A64C-2416-64DE-E88E3DB98CF5}"/>
              </a:ext>
            </a:extLst>
          </p:cNvPr>
          <p:cNvSpPr/>
          <p:nvPr/>
        </p:nvSpPr>
        <p:spPr>
          <a:xfrm>
            <a:off x="693441" y="5324121"/>
            <a:ext cx="10805117" cy="78035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  <a:effectLst>
            <a:outerShdw blurRad="50800" dist="50800" dir="5400000" algn="ctr" rotWithShape="0">
              <a:srgbClr val="000000">
                <a:alpha val="30281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FC8B23-13D0-0FB1-D7BA-52DE034218FF}"/>
              </a:ext>
            </a:extLst>
          </p:cNvPr>
          <p:cNvSpPr txBox="1"/>
          <p:nvPr/>
        </p:nvSpPr>
        <p:spPr>
          <a:xfrm>
            <a:off x="796833" y="5452690"/>
            <a:ext cx="10640916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fontAlgn="base"/>
            <a:r>
              <a:rPr lang="en-US" sz="1400" b="1" i="0">
                <a:effectLst/>
              </a:rPr>
              <a:t>Business Outcome: </a:t>
            </a:r>
            <a:r>
              <a:rPr lang="en-US" sz="1400"/>
              <a:t>20–30% improvement in targeted save programs; </a:t>
            </a:r>
            <a:r>
              <a:rPr lang="en-US" sz="1400" b="0" i="0">
                <a:effectLst/>
              </a:rPr>
              <a:t>higher </a:t>
            </a:r>
            <a:r>
              <a:rPr lang="en-US" sz="1400"/>
              <a:t>renewal </a:t>
            </a:r>
            <a:r>
              <a:rPr lang="en-US" sz="1400" b="0" i="0">
                <a:effectLst/>
              </a:rPr>
              <a:t>rates</a:t>
            </a:r>
            <a:r>
              <a:rPr lang="en-US" sz="1400"/>
              <a:t>; customer </a:t>
            </a:r>
            <a:r>
              <a:rPr lang="en-US" sz="1400" err="1"/>
              <a:t>lifetimevalue</a:t>
            </a:r>
            <a:r>
              <a:rPr lang="en-US" sz="1400"/>
              <a:t> protected before erosion begins</a:t>
            </a:r>
            <a:r>
              <a:rPr lang="en-US" sz="1400" b="0" i="0">
                <a:effectLst/>
              </a:rPr>
              <a:t>. </a:t>
            </a:r>
          </a:p>
        </p:txBody>
      </p:sp>
      <p:cxnSp>
        <p:nvCxnSpPr>
          <p:cNvPr id="18" name="Google Shape;624;p73">
            <a:extLst>
              <a:ext uri="{FF2B5EF4-FFF2-40B4-BE49-F238E27FC236}">
                <a16:creationId xmlns:a16="http://schemas.microsoft.com/office/drawing/2014/main" id="{87497D06-108F-7A66-B229-D8F489426696}"/>
              </a:ext>
            </a:extLst>
          </p:cNvPr>
          <p:cNvCxnSpPr>
            <a:cxnSpLocks/>
          </p:cNvCxnSpPr>
          <p:nvPr/>
        </p:nvCxnSpPr>
        <p:spPr>
          <a:xfrm>
            <a:off x="693441" y="6104479"/>
            <a:ext cx="10805117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624;p73">
            <a:extLst>
              <a:ext uri="{FF2B5EF4-FFF2-40B4-BE49-F238E27FC236}">
                <a16:creationId xmlns:a16="http://schemas.microsoft.com/office/drawing/2014/main" id="{C7FED9B2-72B9-9C98-25A0-F06ECB280BDE}"/>
              </a:ext>
            </a:extLst>
          </p:cNvPr>
          <p:cNvCxnSpPr>
            <a:cxnSpLocks/>
          </p:cNvCxnSpPr>
          <p:nvPr/>
        </p:nvCxnSpPr>
        <p:spPr>
          <a:xfrm>
            <a:off x="693441" y="5324121"/>
            <a:ext cx="10805117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Google Shape;2379;p339">
            <a:extLst>
              <a:ext uri="{FF2B5EF4-FFF2-40B4-BE49-F238E27FC236}">
                <a16:creationId xmlns:a16="http://schemas.microsoft.com/office/drawing/2014/main" id="{EEEF047E-6408-DA4C-D879-F702364A90DE}"/>
              </a:ext>
            </a:extLst>
          </p:cNvPr>
          <p:cNvSpPr txBox="1">
            <a:spLocks/>
          </p:cNvSpPr>
          <p:nvPr/>
        </p:nvSpPr>
        <p:spPr>
          <a:xfrm>
            <a:off x="397667" y="402338"/>
            <a:ext cx="11403809" cy="5152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A “COMMERCIAL BRAIN”</a:t>
            </a:r>
            <a:endParaRPr lang="en-US" sz="1100" b="1"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>
                <a:latin typeface="+mn-lt"/>
                <a:cs typeface="Arial" panose="020B0604020202020204" pitchFamily="34" charset="0"/>
              </a:rPr>
              <a:t>Orchestration Deep Dives: How The Agents Work Together</a:t>
            </a:r>
            <a:endParaRPr lang="en-US" sz="240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Google Shape;606;p73">
            <a:extLst>
              <a:ext uri="{FF2B5EF4-FFF2-40B4-BE49-F238E27FC236}">
                <a16:creationId xmlns:a16="http://schemas.microsoft.com/office/drawing/2014/main" id="{358427A4-18D3-2D21-4439-B4F2915B0683}"/>
              </a:ext>
            </a:extLst>
          </p:cNvPr>
          <p:cNvSpPr/>
          <p:nvPr/>
        </p:nvSpPr>
        <p:spPr>
          <a:xfrm>
            <a:off x="0" y="972801"/>
            <a:ext cx="12192000" cy="19571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1A300B1-4C72-9F9D-F2CF-FF5FEEB287FA}"/>
              </a:ext>
            </a:extLst>
          </p:cNvPr>
          <p:cNvSpPr txBox="1"/>
          <p:nvPr/>
        </p:nvSpPr>
        <p:spPr>
          <a:xfrm>
            <a:off x="1344490" y="1417867"/>
            <a:ext cx="11234890" cy="337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ts val="1744"/>
              </a:lnSpc>
            </a:pPr>
            <a:r>
              <a:rPr lang="en-US" sz="2800">
                <a:solidFill>
                  <a:srgbClr val="000000"/>
                </a:solidFill>
                <a:cs typeface="Arial" panose="020B0604020202020204" pitchFamily="34" charset="0"/>
              </a:rPr>
              <a:t>Orchestration Scenario 2: </a:t>
            </a:r>
            <a:r>
              <a:rPr lang="en-US" sz="2800" b="1">
                <a:solidFill>
                  <a:schemeClr val="accent2"/>
                </a:solidFill>
              </a:rPr>
              <a:t>Detect to Retain</a:t>
            </a:r>
            <a:endParaRPr lang="en-US" sz="1400">
              <a:solidFill>
                <a:schemeClr val="accent2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79625E-830E-9D75-ED22-BB53D633BF17}"/>
              </a:ext>
            </a:extLst>
          </p:cNvPr>
          <p:cNvSpPr txBox="1"/>
          <p:nvPr/>
        </p:nvSpPr>
        <p:spPr>
          <a:xfrm>
            <a:off x="1344490" y="1722180"/>
            <a:ext cx="95380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b="1" i="0">
                <a:solidFill>
                  <a:srgbClr val="000000"/>
                </a:solidFill>
                <a:effectLst/>
              </a:rPr>
              <a:t>The journey from churn signal to renewed contract — before the customer even considers leaving. </a:t>
            </a:r>
            <a:r>
              <a:rPr lang="en-US" i="0">
                <a:solidFill>
                  <a:srgbClr val="000000"/>
                </a:solidFill>
                <a:effectLst/>
              </a:rPr>
              <a:t>A usage drop is detected. Before the customer notices a problem, the solution is already in motion. 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27577B7-312A-31B3-F193-D0C0154D7C7A}"/>
              </a:ext>
            </a:extLst>
          </p:cNvPr>
          <p:cNvSpPr/>
          <p:nvPr/>
        </p:nvSpPr>
        <p:spPr>
          <a:xfrm>
            <a:off x="323420" y="1318874"/>
            <a:ext cx="946823" cy="923329"/>
          </a:xfrm>
          <a:prstGeom prst="ellipse">
            <a:avLst/>
          </a:prstGeom>
          <a:gradFill flip="none" rotWithShape="1">
            <a:gsLst>
              <a:gs pos="34000">
                <a:schemeClr val="accent2"/>
              </a:gs>
              <a:gs pos="100000">
                <a:schemeClr val="bg1"/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2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C03D65D-4924-3EF7-6BC3-62EF820C192D}"/>
              </a:ext>
            </a:extLst>
          </p:cNvPr>
          <p:cNvCxnSpPr/>
          <p:nvPr/>
        </p:nvCxnSpPr>
        <p:spPr>
          <a:xfrm>
            <a:off x="0" y="3928021"/>
            <a:ext cx="1219200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410A2CDF-EB6C-879B-BE34-04DE10E68297}"/>
              </a:ext>
            </a:extLst>
          </p:cNvPr>
          <p:cNvSpPr/>
          <p:nvPr/>
        </p:nvSpPr>
        <p:spPr>
          <a:xfrm>
            <a:off x="1303524" y="3835884"/>
            <a:ext cx="176349" cy="18941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2B878CC-DD32-0C15-106D-FF5314F8394A}"/>
              </a:ext>
            </a:extLst>
          </p:cNvPr>
          <p:cNvSpPr/>
          <p:nvPr/>
        </p:nvSpPr>
        <p:spPr>
          <a:xfrm>
            <a:off x="3137485" y="3835884"/>
            <a:ext cx="176349" cy="18941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8E060D5D-78E2-26C9-5CBB-F2F6D2C86C55}"/>
              </a:ext>
            </a:extLst>
          </p:cNvPr>
          <p:cNvSpPr/>
          <p:nvPr/>
        </p:nvSpPr>
        <p:spPr>
          <a:xfrm>
            <a:off x="4971446" y="3835884"/>
            <a:ext cx="176349" cy="18941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602AF9E-674A-8943-2DCF-D84B30BD46BB}"/>
              </a:ext>
            </a:extLst>
          </p:cNvPr>
          <p:cNvGrpSpPr/>
          <p:nvPr/>
        </p:nvGrpSpPr>
        <p:grpSpPr>
          <a:xfrm>
            <a:off x="2242894" y="3787974"/>
            <a:ext cx="263145" cy="285233"/>
            <a:chOff x="4035899" y="1590394"/>
            <a:chExt cx="377750" cy="507183"/>
          </a:xfrm>
        </p:grpSpPr>
        <p:sp>
          <p:nvSpPr>
            <p:cNvPr id="66" name="Triangle 584">
              <a:extLst>
                <a:ext uri="{FF2B5EF4-FFF2-40B4-BE49-F238E27FC236}">
                  <a16:creationId xmlns:a16="http://schemas.microsoft.com/office/drawing/2014/main" id="{79BB90AD-E02D-8136-1567-E3200A83392F}"/>
                </a:ext>
              </a:extLst>
            </p:cNvPr>
            <p:cNvSpPr/>
            <p:nvPr/>
          </p:nvSpPr>
          <p:spPr>
            <a:xfrm rot="5400000">
              <a:off x="3948331" y="1741029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7" name="Triangle 599">
              <a:extLst>
                <a:ext uri="{FF2B5EF4-FFF2-40B4-BE49-F238E27FC236}">
                  <a16:creationId xmlns:a16="http://schemas.microsoft.com/office/drawing/2014/main" id="{D53D9ADE-CE67-9DA6-61E2-96B6400030A0}"/>
                </a:ext>
              </a:extLst>
            </p:cNvPr>
            <p:cNvSpPr/>
            <p:nvPr/>
          </p:nvSpPr>
          <p:spPr>
            <a:xfrm rot="5400000">
              <a:off x="4023019" y="1706948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BB2C8F4-2BE9-2292-6B1A-865F2D47186D}"/>
              </a:ext>
            </a:extLst>
          </p:cNvPr>
          <p:cNvGrpSpPr/>
          <p:nvPr/>
        </p:nvGrpSpPr>
        <p:grpSpPr>
          <a:xfrm>
            <a:off x="4062256" y="3787974"/>
            <a:ext cx="263145" cy="285233"/>
            <a:chOff x="4035899" y="1590394"/>
            <a:chExt cx="377750" cy="507183"/>
          </a:xfrm>
        </p:grpSpPr>
        <p:sp>
          <p:nvSpPr>
            <p:cNvPr id="70" name="Triangle 584">
              <a:extLst>
                <a:ext uri="{FF2B5EF4-FFF2-40B4-BE49-F238E27FC236}">
                  <a16:creationId xmlns:a16="http://schemas.microsoft.com/office/drawing/2014/main" id="{25108F95-C8EF-3112-4D38-C91F8A57C051}"/>
                </a:ext>
              </a:extLst>
            </p:cNvPr>
            <p:cNvSpPr/>
            <p:nvPr/>
          </p:nvSpPr>
          <p:spPr>
            <a:xfrm rot="5400000">
              <a:off x="3948331" y="1741029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1" name="Triangle 599">
              <a:extLst>
                <a:ext uri="{FF2B5EF4-FFF2-40B4-BE49-F238E27FC236}">
                  <a16:creationId xmlns:a16="http://schemas.microsoft.com/office/drawing/2014/main" id="{201A0BDA-C1B0-EF8E-CD20-F8AA030633AF}"/>
                </a:ext>
              </a:extLst>
            </p:cNvPr>
            <p:cNvSpPr/>
            <p:nvPr/>
          </p:nvSpPr>
          <p:spPr>
            <a:xfrm rot="5400000">
              <a:off x="4023019" y="1706948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74" name="Oval 73">
            <a:extLst>
              <a:ext uri="{FF2B5EF4-FFF2-40B4-BE49-F238E27FC236}">
                <a16:creationId xmlns:a16="http://schemas.microsoft.com/office/drawing/2014/main" id="{524E5C46-1F06-22F4-1799-58AE77535F4A}"/>
              </a:ext>
            </a:extLst>
          </p:cNvPr>
          <p:cNvSpPr/>
          <p:nvPr/>
        </p:nvSpPr>
        <p:spPr>
          <a:xfrm>
            <a:off x="6805407" y="3835884"/>
            <a:ext cx="176349" cy="18941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E531F6F-88E9-E8E5-C24B-F11A8530BD67}"/>
              </a:ext>
            </a:extLst>
          </p:cNvPr>
          <p:cNvGrpSpPr/>
          <p:nvPr/>
        </p:nvGrpSpPr>
        <p:grpSpPr>
          <a:xfrm>
            <a:off x="5881618" y="3787974"/>
            <a:ext cx="263145" cy="285233"/>
            <a:chOff x="4035899" y="1590394"/>
            <a:chExt cx="377750" cy="507183"/>
          </a:xfrm>
        </p:grpSpPr>
        <p:sp>
          <p:nvSpPr>
            <p:cNvPr id="76" name="Triangle 584">
              <a:extLst>
                <a:ext uri="{FF2B5EF4-FFF2-40B4-BE49-F238E27FC236}">
                  <a16:creationId xmlns:a16="http://schemas.microsoft.com/office/drawing/2014/main" id="{7891D2A1-9408-8C41-1317-BB5EF233791F}"/>
                </a:ext>
              </a:extLst>
            </p:cNvPr>
            <p:cNvSpPr/>
            <p:nvPr/>
          </p:nvSpPr>
          <p:spPr>
            <a:xfrm rot="5400000">
              <a:off x="3948331" y="1741029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7" name="Triangle 599">
              <a:extLst>
                <a:ext uri="{FF2B5EF4-FFF2-40B4-BE49-F238E27FC236}">
                  <a16:creationId xmlns:a16="http://schemas.microsoft.com/office/drawing/2014/main" id="{FD475D7A-AEA8-2C77-4775-A5EAC65A8C44}"/>
                </a:ext>
              </a:extLst>
            </p:cNvPr>
            <p:cNvSpPr/>
            <p:nvPr/>
          </p:nvSpPr>
          <p:spPr>
            <a:xfrm rot="5400000">
              <a:off x="4023019" y="1706948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80" name="Oval 79">
            <a:extLst>
              <a:ext uri="{FF2B5EF4-FFF2-40B4-BE49-F238E27FC236}">
                <a16:creationId xmlns:a16="http://schemas.microsoft.com/office/drawing/2014/main" id="{133C2C6D-EBAE-61F0-197C-7B9EFA5963FD}"/>
              </a:ext>
            </a:extLst>
          </p:cNvPr>
          <p:cNvSpPr/>
          <p:nvPr/>
        </p:nvSpPr>
        <p:spPr>
          <a:xfrm>
            <a:off x="8639368" y="3835884"/>
            <a:ext cx="176349" cy="18941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9541B9F9-387C-BFFA-9A00-CCFA5B6E77E7}"/>
              </a:ext>
            </a:extLst>
          </p:cNvPr>
          <p:cNvGrpSpPr/>
          <p:nvPr/>
        </p:nvGrpSpPr>
        <p:grpSpPr>
          <a:xfrm>
            <a:off x="7700980" y="3787974"/>
            <a:ext cx="263145" cy="285233"/>
            <a:chOff x="4035899" y="1590394"/>
            <a:chExt cx="377750" cy="507183"/>
          </a:xfrm>
        </p:grpSpPr>
        <p:sp>
          <p:nvSpPr>
            <p:cNvPr id="82" name="Triangle 584">
              <a:extLst>
                <a:ext uri="{FF2B5EF4-FFF2-40B4-BE49-F238E27FC236}">
                  <a16:creationId xmlns:a16="http://schemas.microsoft.com/office/drawing/2014/main" id="{02C05EAF-F7F3-7E04-8F82-33F7B5028944}"/>
                </a:ext>
              </a:extLst>
            </p:cNvPr>
            <p:cNvSpPr/>
            <p:nvPr/>
          </p:nvSpPr>
          <p:spPr>
            <a:xfrm rot="5400000">
              <a:off x="3948331" y="1741029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3" name="Triangle 599">
              <a:extLst>
                <a:ext uri="{FF2B5EF4-FFF2-40B4-BE49-F238E27FC236}">
                  <a16:creationId xmlns:a16="http://schemas.microsoft.com/office/drawing/2014/main" id="{C025DFCE-6C2B-1664-0F4F-7ED7AD36D945}"/>
                </a:ext>
              </a:extLst>
            </p:cNvPr>
            <p:cNvSpPr/>
            <p:nvPr/>
          </p:nvSpPr>
          <p:spPr>
            <a:xfrm rot="5400000">
              <a:off x="4023019" y="1706948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86" name="Oval 85">
            <a:extLst>
              <a:ext uri="{FF2B5EF4-FFF2-40B4-BE49-F238E27FC236}">
                <a16:creationId xmlns:a16="http://schemas.microsoft.com/office/drawing/2014/main" id="{E9A7D248-8AAA-29E1-C45E-476D9193AC86}"/>
              </a:ext>
            </a:extLst>
          </p:cNvPr>
          <p:cNvSpPr/>
          <p:nvPr/>
        </p:nvSpPr>
        <p:spPr>
          <a:xfrm>
            <a:off x="10473327" y="3835884"/>
            <a:ext cx="176349" cy="18941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E7CC96A0-1C0E-0E16-B73A-1083CDFCBC4D}"/>
              </a:ext>
            </a:extLst>
          </p:cNvPr>
          <p:cNvGrpSpPr/>
          <p:nvPr/>
        </p:nvGrpSpPr>
        <p:grpSpPr>
          <a:xfrm>
            <a:off x="9520342" y="3787974"/>
            <a:ext cx="263145" cy="285233"/>
            <a:chOff x="4035899" y="1590394"/>
            <a:chExt cx="377750" cy="507183"/>
          </a:xfrm>
        </p:grpSpPr>
        <p:sp>
          <p:nvSpPr>
            <p:cNvPr id="88" name="Triangle 584">
              <a:extLst>
                <a:ext uri="{FF2B5EF4-FFF2-40B4-BE49-F238E27FC236}">
                  <a16:creationId xmlns:a16="http://schemas.microsoft.com/office/drawing/2014/main" id="{D6E3C7E3-E09E-81DC-1433-CADB82EE8BE5}"/>
                </a:ext>
              </a:extLst>
            </p:cNvPr>
            <p:cNvSpPr/>
            <p:nvPr/>
          </p:nvSpPr>
          <p:spPr>
            <a:xfrm rot="5400000">
              <a:off x="3948331" y="1741029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9" name="Triangle 599">
              <a:extLst>
                <a:ext uri="{FF2B5EF4-FFF2-40B4-BE49-F238E27FC236}">
                  <a16:creationId xmlns:a16="http://schemas.microsoft.com/office/drawing/2014/main" id="{445D78FD-682C-510C-E846-B33ADA4BCC08}"/>
                </a:ext>
              </a:extLst>
            </p:cNvPr>
            <p:cNvSpPr/>
            <p:nvPr/>
          </p:nvSpPr>
          <p:spPr>
            <a:xfrm rot="5400000">
              <a:off x="4023019" y="1706948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EB8A31DF-30F5-D099-E203-46F0D589656F}"/>
              </a:ext>
            </a:extLst>
          </p:cNvPr>
          <p:cNvSpPr txBox="1"/>
          <p:nvPr/>
        </p:nvSpPr>
        <p:spPr>
          <a:xfrm>
            <a:off x="614458" y="3312432"/>
            <a:ext cx="1554480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100" b="1"/>
              <a:t>Proactive Service &amp; SLA Agent</a:t>
            </a:r>
            <a:endParaRPr lang="en-US" sz="110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CB642FB-62FC-89DB-D8D6-69B3B4F73E70}"/>
              </a:ext>
            </a:extLst>
          </p:cNvPr>
          <p:cNvSpPr txBox="1"/>
          <p:nvPr/>
        </p:nvSpPr>
        <p:spPr>
          <a:xfrm>
            <a:off x="2448419" y="3312432"/>
            <a:ext cx="1554480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algn="ctr" fontAlgn="base">
              <a:spcBef>
                <a:spcPts val="1200"/>
              </a:spcBef>
              <a:spcAft>
                <a:spcPts val="1200"/>
              </a:spcAft>
              <a:buNone/>
              <a:defRPr sz="1100" b="1" i="0">
                <a:effectLst/>
              </a:defRPr>
            </a:lvl1pPr>
          </a:lstStyle>
          <a:p>
            <a:r>
              <a:rPr lang="en-US" err="1"/>
              <a:t>VoC</a:t>
            </a:r>
            <a:r>
              <a:rPr lang="en-US"/>
              <a:t> Synthesis Agent</a:t>
            </a:r>
            <a:endParaRPr lang="en-US" b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8AFB889-B05E-4353-C6D0-FFFED5423DC1}"/>
              </a:ext>
            </a:extLst>
          </p:cNvPr>
          <p:cNvSpPr txBox="1"/>
          <p:nvPr/>
        </p:nvSpPr>
        <p:spPr>
          <a:xfrm>
            <a:off x="4282380" y="3312432"/>
            <a:ext cx="1554480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algn="ctr" fontAlgn="base">
              <a:spcBef>
                <a:spcPts val="1200"/>
              </a:spcBef>
              <a:spcAft>
                <a:spcPts val="1200"/>
              </a:spcAft>
              <a:buNone/>
              <a:defRPr sz="1100" b="1" i="0">
                <a:effectLst/>
              </a:defRPr>
            </a:lvl1pPr>
          </a:lstStyle>
          <a:p>
            <a:r>
              <a:rPr lang="en-US"/>
              <a:t>Dynamic Pricing &amp; Discount Agent</a:t>
            </a:r>
            <a:endParaRPr lang="en-US">
              <a:cs typeface="Arial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01E065E-2C79-50BA-401F-CAF604A472AC}"/>
              </a:ext>
            </a:extLst>
          </p:cNvPr>
          <p:cNvSpPr txBox="1"/>
          <p:nvPr/>
        </p:nvSpPr>
        <p:spPr>
          <a:xfrm>
            <a:off x="6116341" y="3312432"/>
            <a:ext cx="1554480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algn="ctr" fontAlgn="base">
              <a:spcBef>
                <a:spcPts val="1200"/>
              </a:spcBef>
              <a:spcAft>
                <a:spcPts val="1200"/>
              </a:spcAft>
              <a:buNone/>
              <a:defRPr sz="1100" b="1" i="0">
                <a:effectLst/>
              </a:defRPr>
            </a:lvl1pPr>
          </a:lstStyle>
          <a:p>
            <a:r>
              <a:rPr lang="en-US"/>
              <a:t>Renewal &amp; Expansion Agent</a:t>
            </a:r>
            <a:endParaRPr lang="en-US">
              <a:cs typeface="Arial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E5F3C59-2EEF-8FD2-2A95-315C9F8A5DA2}"/>
              </a:ext>
            </a:extLst>
          </p:cNvPr>
          <p:cNvSpPr txBox="1"/>
          <p:nvPr/>
        </p:nvSpPr>
        <p:spPr>
          <a:xfrm>
            <a:off x="7950302" y="3312432"/>
            <a:ext cx="1554480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algn="ctr" fontAlgn="base">
              <a:spcBef>
                <a:spcPts val="1200"/>
              </a:spcBef>
              <a:spcAft>
                <a:spcPts val="1200"/>
              </a:spcAft>
              <a:buNone/>
              <a:defRPr sz="1100" b="1" i="0">
                <a:effectLst/>
              </a:defRPr>
            </a:lvl1pPr>
          </a:lstStyle>
          <a:p>
            <a:r>
              <a:rPr lang="en-US"/>
              <a:t>Campaign Orchestration Agent</a:t>
            </a:r>
            <a:endParaRPr lang="en-US" b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3AC477D-4FAC-2425-0DBB-7CFCA82D44A6}"/>
              </a:ext>
            </a:extLst>
          </p:cNvPr>
          <p:cNvSpPr txBox="1"/>
          <p:nvPr/>
        </p:nvSpPr>
        <p:spPr>
          <a:xfrm>
            <a:off x="9784261" y="3312432"/>
            <a:ext cx="1554480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algn="ctr" fontAlgn="base">
              <a:spcBef>
                <a:spcPts val="1200"/>
              </a:spcBef>
              <a:spcAft>
                <a:spcPts val="1200"/>
              </a:spcAft>
              <a:buNone/>
              <a:defRPr sz="1100" b="1" i="0">
                <a:effectLst/>
              </a:defRPr>
            </a:lvl1pPr>
          </a:lstStyle>
          <a:p>
            <a:r>
              <a:rPr lang="en-US"/>
              <a:t>Human CSM / Account Executive</a:t>
            </a:r>
            <a:endParaRPr lang="en-US" b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AB4115B-FA83-97EA-A881-FFD79691AA9D}"/>
              </a:ext>
            </a:extLst>
          </p:cNvPr>
          <p:cNvSpPr txBox="1"/>
          <p:nvPr/>
        </p:nvSpPr>
        <p:spPr>
          <a:xfrm>
            <a:off x="705898" y="4182158"/>
            <a:ext cx="13716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900">
                <a:solidFill>
                  <a:srgbClr val="000000"/>
                </a:solidFill>
              </a:rPr>
              <a:t>Detects usage drop and flags renewal risk</a:t>
            </a:r>
            <a:r>
              <a:rPr lang="en-US" sz="900" b="0" i="0">
                <a:solidFill>
                  <a:srgbClr val="000000"/>
                </a:solidFill>
                <a:effectLst/>
              </a:rPr>
              <a:t> </a:t>
            </a:r>
            <a:endParaRPr lang="en-US" sz="90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3AD9EDB-042B-97D4-5B9D-6141F63FF977}"/>
              </a:ext>
            </a:extLst>
          </p:cNvPr>
          <p:cNvSpPr txBox="1"/>
          <p:nvPr/>
        </p:nvSpPr>
        <p:spPr>
          <a:xfrm>
            <a:off x="2599217" y="4182158"/>
            <a:ext cx="1371600" cy="7315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fontAlgn="base">
              <a:spcBef>
                <a:spcPts val="1200"/>
              </a:spcBef>
              <a:spcAft>
                <a:spcPts val="1200"/>
              </a:spcAft>
              <a:buNone/>
              <a:defRPr sz="800" b="0" i="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 sz="900"/>
              <a:t>Cross-references sentiment data to confirm at-risk status </a:t>
            </a:r>
          </a:p>
          <a:p>
            <a:endParaRPr lang="en-US">
              <a:cs typeface="Arial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A5D1878-18BE-2C6F-5D65-69C3F43CE0D5}"/>
              </a:ext>
            </a:extLst>
          </p:cNvPr>
          <p:cNvSpPr txBox="1"/>
          <p:nvPr/>
        </p:nvSpPr>
        <p:spPr>
          <a:xfrm>
            <a:off x="4559690" y="4182158"/>
            <a:ext cx="1371600" cy="7315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fontAlgn="base">
              <a:spcBef>
                <a:spcPts val="1200"/>
              </a:spcBef>
              <a:spcAft>
                <a:spcPts val="1200"/>
              </a:spcAft>
              <a:buNone/>
              <a:defRPr sz="800" b="0" i="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 sz="900"/>
              <a:t>Models optimal retention offer within margin guardrails </a:t>
            </a:r>
          </a:p>
          <a:p>
            <a:endParaRPr lang="en-US">
              <a:cs typeface="Arial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DC6460F-4876-CB27-1AC7-785FDFA8A93F}"/>
              </a:ext>
            </a:extLst>
          </p:cNvPr>
          <p:cNvSpPr txBox="1"/>
          <p:nvPr/>
        </p:nvSpPr>
        <p:spPr>
          <a:xfrm>
            <a:off x="6280731" y="4182158"/>
            <a:ext cx="1371600" cy="7315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fontAlgn="base">
              <a:spcBef>
                <a:spcPts val="1200"/>
              </a:spcBef>
              <a:spcAft>
                <a:spcPts val="1200"/>
              </a:spcAft>
              <a:buNone/>
              <a:defRPr sz="800" b="0" i="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 sz="900"/>
              <a:t>Prepares personalized renewal brief with options and expansion opportunities </a:t>
            </a:r>
          </a:p>
          <a:p>
            <a:endParaRPr lang="en-US">
              <a:cs typeface="Arial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D239C90-0E44-65EF-F40F-66D93E4A7EF4}"/>
              </a:ext>
            </a:extLst>
          </p:cNvPr>
          <p:cNvSpPr txBox="1"/>
          <p:nvPr/>
        </p:nvSpPr>
        <p:spPr>
          <a:xfrm>
            <a:off x="8078217" y="4182158"/>
            <a:ext cx="1371600" cy="7315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fontAlgn="base">
              <a:spcBef>
                <a:spcPts val="1200"/>
              </a:spcBef>
              <a:spcAft>
                <a:spcPts val="1200"/>
              </a:spcAft>
              <a:buNone/>
              <a:defRPr sz="800" b="0" i="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 sz="900"/>
              <a:t>Activates personalized retention journey across preferred channels </a:t>
            </a:r>
            <a:endParaRPr lang="en-US" sz="900">
              <a:cs typeface="Arial"/>
            </a:endParaRPr>
          </a:p>
          <a:p>
            <a:endParaRPr lang="en-US" sz="900">
              <a:cs typeface="Arial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5261C91-E727-807D-930D-D640011011CB}"/>
              </a:ext>
            </a:extLst>
          </p:cNvPr>
          <p:cNvSpPr txBox="1"/>
          <p:nvPr/>
        </p:nvSpPr>
        <p:spPr>
          <a:xfrm>
            <a:off x="9875701" y="4182158"/>
            <a:ext cx="1371600" cy="7315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fontAlgn="base">
              <a:spcBef>
                <a:spcPts val="1200"/>
              </a:spcBef>
              <a:spcAft>
                <a:spcPts val="1200"/>
              </a:spcAft>
              <a:buNone/>
              <a:defRPr sz="800" b="0" i="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 sz="900"/>
              <a:t>Leads strategic renewal conversation — armed with full context and are commended offer </a:t>
            </a:r>
          </a:p>
          <a:p>
            <a:endParaRPr lang="en-US">
              <a:cs typeface="Arial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C1952C6-CC5C-045B-1788-523947A94E01}"/>
              </a:ext>
            </a:extLst>
          </p:cNvPr>
          <p:cNvGrpSpPr>
            <a:grpSpLocks noChangeAspect="1"/>
          </p:cNvGrpSpPr>
          <p:nvPr/>
        </p:nvGrpSpPr>
        <p:grpSpPr>
          <a:xfrm>
            <a:off x="11288806" y="89856"/>
            <a:ext cx="791837" cy="308070"/>
            <a:chOff x="1089352" y="1973524"/>
            <a:chExt cx="10318095" cy="401433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8B49D24-E191-9752-A796-7F2E12B7F168}"/>
                </a:ext>
              </a:extLst>
            </p:cNvPr>
            <p:cNvSpPr/>
            <p:nvPr/>
          </p:nvSpPr>
          <p:spPr>
            <a:xfrm>
              <a:off x="1089352" y="4078262"/>
              <a:ext cx="5072945" cy="19096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4"/>
              </a:solidFill>
            </a:ln>
            <a:effectLst>
              <a:outerShdw blurRad="50800" dist="50800" dir="5400000" algn="ctr" rotWithShape="0">
                <a:schemeClr val="accent1">
                  <a:alpha val="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8988398-3B92-5E8D-CC5E-BE167B588C70}"/>
                </a:ext>
              </a:extLst>
            </p:cNvPr>
            <p:cNvSpPr/>
            <p:nvPr/>
          </p:nvSpPr>
          <p:spPr>
            <a:xfrm>
              <a:off x="1089352" y="1973537"/>
              <a:ext cx="5072948" cy="19095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4"/>
              </a:solidFill>
            </a:ln>
            <a:effectLst>
              <a:outerShdw blurRad="50800" dist="50800" dir="5400000" algn="ctr" rotWithShape="0">
                <a:schemeClr val="accent1">
                  <a:alpha val="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887F79D-BA13-4DAA-E9A7-F1F20A7152BE}"/>
                </a:ext>
              </a:extLst>
            </p:cNvPr>
            <p:cNvSpPr/>
            <p:nvPr/>
          </p:nvSpPr>
          <p:spPr>
            <a:xfrm>
              <a:off x="6334502" y="4078262"/>
              <a:ext cx="5072945" cy="19096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4"/>
              </a:solidFill>
            </a:ln>
            <a:effectLst>
              <a:outerShdw blurRad="50800" dist="50800" dir="5400000" algn="ctr" rotWithShape="0">
                <a:schemeClr val="accent1">
                  <a:alpha val="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DBB9602-0273-50AB-78B0-43EE92F32AE0}"/>
                </a:ext>
              </a:extLst>
            </p:cNvPr>
            <p:cNvSpPr/>
            <p:nvPr/>
          </p:nvSpPr>
          <p:spPr>
            <a:xfrm>
              <a:off x="6334499" y="1973524"/>
              <a:ext cx="5072948" cy="19095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/>
              </a:solidFill>
            </a:ln>
            <a:effectLst>
              <a:outerShdw blurRad="50800" dist="50800" dir="5400000" algn="ctr" rotWithShape="0">
                <a:schemeClr val="accent1">
                  <a:alpha val="4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b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8858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356C6-026B-3E4D-FEF7-D731A5AD3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3C562E-8019-1550-9FF1-EC9BC3F928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230C20-856D-840B-2171-CA7B54DECBC2}"/>
              </a:ext>
            </a:extLst>
          </p:cNvPr>
          <p:cNvSpPr/>
          <p:nvPr/>
        </p:nvSpPr>
        <p:spPr>
          <a:xfrm>
            <a:off x="693441" y="5324121"/>
            <a:ext cx="10805117" cy="78035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  <a:effectLst>
            <a:outerShdw blurRad="50800" dist="50800" dir="5400000" algn="ctr" rotWithShape="0">
              <a:srgbClr val="000000">
                <a:alpha val="30281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238B8B-9430-AD71-2A7E-B09251B3F3B2}"/>
              </a:ext>
            </a:extLst>
          </p:cNvPr>
          <p:cNvSpPr txBox="1"/>
          <p:nvPr/>
        </p:nvSpPr>
        <p:spPr>
          <a:xfrm>
            <a:off x="796833" y="5452690"/>
            <a:ext cx="10640916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fontAlgn="base"/>
            <a:r>
              <a:rPr lang="en-US" sz="1400" b="1" i="0">
                <a:effectLst/>
              </a:rPr>
              <a:t>Business Outcome: </a:t>
            </a:r>
            <a:r>
              <a:rPr lang="en-US" sz="1400"/>
              <a:t>Service transformed from cost center to growth engine; contextual cross-sell </a:t>
            </a:r>
            <a:r>
              <a:rPr lang="en-US" sz="1400" err="1"/>
              <a:t>conversionduring</a:t>
            </a:r>
            <a:r>
              <a:rPr lang="en-US" sz="1400"/>
              <a:t> service moments; revenue leakage from policy inconsistencies eliminated</a:t>
            </a:r>
            <a:r>
              <a:rPr lang="en-US" sz="1400" i="0">
                <a:effectLst/>
              </a:rPr>
              <a:t>. </a:t>
            </a:r>
            <a:endParaRPr lang="en-US" sz="1400">
              <a:cs typeface="Arial"/>
            </a:endParaRPr>
          </a:p>
          <a:p>
            <a:endParaRPr lang="en-US" sz="1400">
              <a:cs typeface="Arial"/>
            </a:endParaRPr>
          </a:p>
          <a:p>
            <a:pPr algn="l"/>
            <a:endParaRPr lang="en-US" sz="1400" b="1" i="0">
              <a:effectLst/>
              <a:cs typeface="Arial"/>
            </a:endParaRPr>
          </a:p>
        </p:txBody>
      </p:sp>
      <p:cxnSp>
        <p:nvCxnSpPr>
          <p:cNvPr id="18" name="Google Shape;624;p73">
            <a:extLst>
              <a:ext uri="{FF2B5EF4-FFF2-40B4-BE49-F238E27FC236}">
                <a16:creationId xmlns:a16="http://schemas.microsoft.com/office/drawing/2014/main" id="{593D8586-A7C5-E5FF-5E1C-77CA0B71E72D}"/>
              </a:ext>
            </a:extLst>
          </p:cNvPr>
          <p:cNvCxnSpPr>
            <a:cxnSpLocks/>
          </p:cNvCxnSpPr>
          <p:nvPr/>
        </p:nvCxnSpPr>
        <p:spPr>
          <a:xfrm>
            <a:off x="693441" y="6104479"/>
            <a:ext cx="10805117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Google Shape;624;p73">
            <a:extLst>
              <a:ext uri="{FF2B5EF4-FFF2-40B4-BE49-F238E27FC236}">
                <a16:creationId xmlns:a16="http://schemas.microsoft.com/office/drawing/2014/main" id="{9046385B-D0C4-C1F2-DAA0-DBC7D6FDC415}"/>
              </a:ext>
            </a:extLst>
          </p:cNvPr>
          <p:cNvCxnSpPr>
            <a:cxnSpLocks/>
          </p:cNvCxnSpPr>
          <p:nvPr/>
        </p:nvCxnSpPr>
        <p:spPr>
          <a:xfrm>
            <a:off x="693441" y="5324121"/>
            <a:ext cx="10805117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Google Shape;2379;p339">
            <a:extLst>
              <a:ext uri="{FF2B5EF4-FFF2-40B4-BE49-F238E27FC236}">
                <a16:creationId xmlns:a16="http://schemas.microsoft.com/office/drawing/2014/main" id="{EDA7D433-A292-F063-6B8B-D346E9AF410A}"/>
              </a:ext>
            </a:extLst>
          </p:cNvPr>
          <p:cNvSpPr txBox="1">
            <a:spLocks/>
          </p:cNvSpPr>
          <p:nvPr/>
        </p:nvSpPr>
        <p:spPr>
          <a:xfrm>
            <a:off x="397667" y="402338"/>
            <a:ext cx="11403809" cy="5152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A “COMMERCIAL BRAIN”</a:t>
            </a:r>
            <a:endParaRPr lang="en-US" sz="1100" b="1"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>
                <a:latin typeface="+mn-lt"/>
                <a:cs typeface="Arial" panose="020B0604020202020204" pitchFamily="34" charset="0"/>
              </a:rPr>
              <a:t>Orchestration Deep Dives: How The Agents Work Together</a:t>
            </a:r>
            <a:endParaRPr lang="en-US" sz="240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1FBEEF1-8FBD-276A-FC59-CC9F4970A8E1}"/>
              </a:ext>
            </a:extLst>
          </p:cNvPr>
          <p:cNvSpPr txBox="1"/>
          <p:nvPr/>
        </p:nvSpPr>
        <p:spPr>
          <a:xfrm>
            <a:off x="296737" y="3300213"/>
            <a:ext cx="1737360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1100" b="1"/>
              <a:t>Multimodal Orchestration Agent</a:t>
            </a:r>
            <a:endParaRPr lang="en-US" sz="1100">
              <a:cs typeface="Arial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B0ED7AA-2404-F621-1A1D-824173C50E98}"/>
              </a:ext>
            </a:extLst>
          </p:cNvPr>
          <p:cNvSpPr txBox="1"/>
          <p:nvPr/>
        </p:nvSpPr>
        <p:spPr>
          <a:xfrm>
            <a:off x="2460231" y="3300213"/>
            <a:ext cx="1332566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algn="ctr">
              <a:defRPr sz="1200" b="1"/>
            </a:lvl1pPr>
          </a:lstStyle>
          <a:p>
            <a:r>
              <a:rPr lang="en-US" sz="1100" err="1"/>
              <a:t>VoC</a:t>
            </a:r>
            <a:r>
              <a:rPr lang="en-US" sz="1100"/>
              <a:t> Synthesis   Agent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3A0FA3C-A4F9-CD5B-F47C-B0925E180CE3}"/>
              </a:ext>
            </a:extLst>
          </p:cNvPr>
          <p:cNvSpPr txBox="1"/>
          <p:nvPr/>
        </p:nvSpPr>
        <p:spPr>
          <a:xfrm>
            <a:off x="4209161" y="3300213"/>
            <a:ext cx="1737360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algn="ctr" fontAlgn="base">
              <a:spcBef>
                <a:spcPts val="1200"/>
              </a:spcBef>
              <a:spcAft>
                <a:spcPts val="1200"/>
              </a:spcAft>
              <a:buNone/>
              <a:defRPr sz="1100" b="1" i="0">
                <a:effectLst/>
              </a:defRPr>
            </a:lvl1pPr>
          </a:lstStyle>
          <a:p>
            <a:r>
              <a:rPr lang="en-US"/>
              <a:t>Opportunity &amp; Next Best Action Agent</a:t>
            </a:r>
            <a:endParaRPr lang="en-US" b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69A4D75-5455-F683-E2B4-2627EAB03AC4}"/>
              </a:ext>
            </a:extLst>
          </p:cNvPr>
          <p:cNvSpPr txBox="1"/>
          <p:nvPr/>
        </p:nvSpPr>
        <p:spPr>
          <a:xfrm>
            <a:off x="6060039" y="3300213"/>
            <a:ext cx="1737360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algn="ctr" fontAlgn="base">
              <a:spcBef>
                <a:spcPts val="1200"/>
              </a:spcBef>
              <a:spcAft>
                <a:spcPts val="1200"/>
              </a:spcAft>
              <a:buNone/>
              <a:defRPr sz="1100" b="1" i="0">
                <a:effectLst/>
              </a:defRPr>
            </a:lvl1pPr>
          </a:lstStyle>
          <a:p>
            <a:r>
              <a:rPr lang="en-US"/>
              <a:t>Agentic Shopping Concierge</a:t>
            </a:r>
            <a:endParaRPr lang="en-US" b="0">
              <a:cs typeface="Arial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9484863-083F-1F38-ABFD-634F4586353E}"/>
              </a:ext>
            </a:extLst>
          </p:cNvPr>
          <p:cNvSpPr txBox="1"/>
          <p:nvPr/>
        </p:nvSpPr>
        <p:spPr>
          <a:xfrm>
            <a:off x="8116071" y="3300213"/>
            <a:ext cx="1737360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algn="ctr" fontAlgn="base">
              <a:spcBef>
                <a:spcPts val="1200"/>
              </a:spcBef>
              <a:spcAft>
                <a:spcPts val="1200"/>
              </a:spcAft>
              <a:buNone/>
              <a:defRPr sz="1100" b="1" i="0">
                <a:effectLst/>
              </a:defRPr>
            </a:lvl1pPr>
          </a:lstStyle>
          <a:p>
            <a:r>
              <a:rPr lang="en-US"/>
              <a:t>CPQ &amp; Quote Automation Agent</a:t>
            </a:r>
            <a:endParaRPr lang="en-US" b="0">
              <a:cs typeface="Arial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71599DE-33C6-88DA-B101-9C82399A3613}"/>
              </a:ext>
            </a:extLst>
          </p:cNvPr>
          <p:cNvSpPr txBox="1"/>
          <p:nvPr/>
        </p:nvSpPr>
        <p:spPr>
          <a:xfrm>
            <a:off x="10172102" y="3300213"/>
            <a:ext cx="1400067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algn="ctr" fontAlgn="base">
              <a:spcBef>
                <a:spcPts val="1200"/>
              </a:spcBef>
              <a:spcAft>
                <a:spcPts val="1200"/>
              </a:spcAft>
              <a:buNone/>
              <a:defRPr sz="1100" b="1" i="0">
                <a:effectLst/>
              </a:defRPr>
            </a:lvl1pPr>
          </a:lstStyle>
          <a:p>
            <a:r>
              <a:rPr lang="en-US"/>
              <a:t>Human Seller Agent</a:t>
            </a:r>
            <a:endParaRPr lang="en-US" b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C63B01E-C198-DC1B-A6D0-A6463FB7862D}"/>
              </a:ext>
            </a:extLst>
          </p:cNvPr>
          <p:cNvSpPr txBox="1"/>
          <p:nvPr/>
        </p:nvSpPr>
        <p:spPr>
          <a:xfrm>
            <a:off x="479617" y="4156374"/>
            <a:ext cx="1371600" cy="914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900">
                <a:solidFill>
                  <a:srgbClr val="000000"/>
                </a:solidFill>
              </a:rPr>
              <a:t>Handles Tier 1 intent, detects resolution + positive sentiment signal 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endParaRPr lang="en-US" sz="800" b="0" i="0">
              <a:solidFill>
                <a:srgbClr val="000000"/>
              </a:solidFill>
              <a:effectLst/>
              <a:cs typeface="Arial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F5B1622-7E94-5114-8FE2-7B97A3409D6E}"/>
              </a:ext>
            </a:extLst>
          </p:cNvPr>
          <p:cNvSpPr txBox="1"/>
          <p:nvPr/>
        </p:nvSpPr>
        <p:spPr>
          <a:xfrm>
            <a:off x="2418114" y="4156374"/>
            <a:ext cx="1371600" cy="914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fontAlgn="base">
              <a:spcBef>
                <a:spcPts val="1200"/>
              </a:spcBef>
              <a:spcAft>
                <a:spcPts val="1200"/>
              </a:spcAft>
              <a:buNone/>
              <a:defRPr sz="800" b="0" i="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 sz="900"/>
              <a:t>Identifies unmet need or product gap from interaction context </a:t>
            </a:r>
          </a:p>
          <a:p>
            <a:endParaRPr lang="en-US">
              <a:cs typeface="Arial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5218602-DDE4-B6AB-228E-153506C79DC4}"/>
              </a:ext>
            </a:extLst>
          </p:cNvPr>
          <p:cNvSpPr txBox="1"/>
          <p:nvPr/>
        </p:nvSpPr>
        <p:spPr>
          <a:xfrm>
            <a:off x="4356611" y="4156374"/>
            <a:ext cx="1371600" cy="914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fontAlgn="base">
              <a:spcBef>
                <a:spcPts val="1200"/>
              </a:spcBef>
              <a:spcAft>
                <a:spcPts val="1200"/>
              </a:spcAft>
              <a:buNone/>
              <a:defRPr sz="800" b="0" i="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 sz="900"/>
              <a:t>Surfaces cross-sell or upsell opportunity based on customer profile and interaction history </a:t>
            </a:r>
          </a:p>
          <a:p>
            <a:endParaRPr lang="en-US">
              <a:cs typeface="Arial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007751A-E65F-AB66-9EA9-C34E447FD4D3}"/>
              </a:ext>
            </a:extLst>
          </p:cNvPr>
          <p:cNvSpPr txBox="1"/>
          <p:nvPr/>
        </p:nvSpPr>
        <p:spPr>
          <a:xfrm>
            <a:off x="6295108" y="4156374"/>
            <a:ext cx="1371600" cy="914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fontAlgn="base">
              <a:spcBef>
                <a:spcPts val="1200"/>
              </a:spcBef>
              <a:spcAft>
                <a:spcPts val="1200"/>
              </a:spcAft>
              <a:buNone/>
              <a:defRPr sz="800" b="0" i="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 sz="900"/>
              <a:t>Presents relevant product or offer within the service interaction seamlessly </a:t>
            </a:r>
          </a:p>
          <a:p>
            <a:endParaRPr lang="en-US">
              <a:cs typeface="Arial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6643109-AF21-2EB9-B773-4781BC4F5940}"/>
              </a:ext>
            </a:extLst>
          </p:cNvPr>
          <p:cNvSpPr txBox="1"/>
          <p:nvPr/>
        </p:nvSpPr>
        <p:spPr>
          <a:xfrm>
            <a:off x="8233605" y="4156374"/>
            <a:ext cx="1371600" cy="914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fontAlgn="base">
              <a:spcBef>
                <a:spcPts val="1200"/>
              </a:spcBef>
              <a:spcAft>
                <a:spcPts val="1200"/>
              </a:spcAft>
              <a:buNone/>
              <a:defRPr sz="800" b="0" i="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 sz="900"/>
              <a:t>Generates compliant quote on the spot if customer shows buying intent </a:t>
            </a:r>
          </a:p>
          <a:p>
            <a:endParaRPr lang="en-US">
              <a:cs typeface="Arial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FFC74E4-1E6C-0A3E-E447-23E12A964305}"/>
              </a:ext>
            </a:extLst>
          </p:cNvPr>
          <p:cNvSpPr txBox="1"/>
          <p:nvPr/>
        </p:nvSpPr>
        <p:spPr>
          <a:xfrm>
            <a:off x="10172102" y="4156374"/>
            <a:ext cx="1371600" cy="914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fontAlgn="base">
              <a:spcBef>
                <a:spcPts val="1200"/>
              </a:spcBef>
              <a:spcAft>
                <a:spcPts val="1200"/>
              </a:spcAft>
              <a:buNone/>
              <a:defRPr sz="800" b="0" i="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 sz="900"/>
              <a:t>Engaged only for high-value, complex expansion discussions </a:t>
            </a:r>
          </a:p>
          <a:p>
            <a:endParaRPr lang="en-US">
              <a:cs typeface="Arial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D18AB7-8864-4D68-E547-64BC45805239}"/>
              </a:ext>
            </a:extLst>
          </p:cNvPr>
          <p:cNvCxnSpPr/>
          <p:nvPr/>
        </p:nvCxnSpPr>
        <p:spPr>
          <a:xfrm>
            <a:off x="0" y="3928021"/>
            <a:ext cx="1219200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EDEEB8BE-425A-B4C0-F5D5-2F92CE6A765E}"/>
              </a:ext>
            </a:extLst>
          </p:cNvPr>
          <p:cNvSpPr/>
          <p:nvPr/>
        </p:nvSpPr>
        <p:spPr>
          <a:xfrm>
            <a:off x="1055340" y="3842472"/>
            <a:ext cx="176349" cy="18941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094858B-96BB-6ECD-0A92-6D802FDD128D}"/>
              </a:ext>
            </a:extLst>
          </p:cNvPr>
          <p:cNvGrpSpPr/>
          <p:nvPr/>
        </p:nvGrpSpPr>
        <p:grpSpPr>
          <a:xfrm>
            <a:off x="2004517" y="3783921"/>
            <a:ext cx="263145" cy="285233"/>
            <a:chOff x="4035899" y="1590394"/>
            <a:chExt cx="377750" cy="507183"/>
          </a:xfrm>
        </p:grpSpPr>
        <p:sp>
          <p:nvSpPr>
            <p:cNvPr id="42" name="Triangle 584">
              <a:extLst>
                <a:ext uri="{FF2B5EF4-FFF2-40B4-BE49-F238E27FC236}">
                  <a16:creationId xmlns:a16="http://schemas.microsoft.com/office/drawing/2014/main" id="{48DB90BD-D791-6A96-E1B8-3908D219C13B}"/>
                </a:ext>
              </a:extLst>
            </p:cNvPr>
            <p:cNvSpPr/>
            <p:nvPr/>
          </p:nvSpPr>
          <p:spPr>
            <a:xfrm rot="5400000">
              <a:off x="3948331" y="1741029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Triangle 599">
              <a:extLst>
                <a:ext uri="{FF2B5EF4-FFF2-40B4-BE49-F238E27FC236}">
                  <a16:creationId xmlns:a16="http://schemas.microsoft.com/office/drawing/2014/main" id="{62A4F00D-3B65-480B-1954-FFFE18987AE1}"/>
                </a:ext>
              </a:extLst>
            </p:cNvPr>
            <p:cNvSpPr/>
            <p:nvPr/>
          </p:nvSpPr>
          <p:spPr>
            <a:xfrm rot="5400000">
              <a:off x="4023019" y="1706948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8" name="Oval 47">
            <a:extLst>
              <a:ext uri="{FF2B5EF4-FFF2-40B4-BE49-F238E27FC236}">
                <a16:creationId xmlns:a16="http://schemas.microsoft.com/office/drawing/2014/main" id="{1100DA62-7201-3BE8-FE99-4E767E94653C}"/>
              </a:ext>
            </a:extLst>
          </p:cNvPr>
          <p:cNvSpPr/>
          <p:nvPr/>
        </p:nvSpPr>
        <p:spPr>
          <a:xfrm>
            <a:off x="3018587" y="3831831"/>
            <a:ext cx="176349" cy="18941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F00E057-65E2-3E01-769A-AF4684889320}"/>
              </a:ext>
            </a:extLst>
          </p:cNvPr>
          <p:cNvGrpSpPr/>
          <p:nvPr/>
        </p:nvGrpSpPr>
        <p:grpSpPr>
          <a:xfrm>
            <a:off x="3945861" y="3783921"/>
            <a:ext cx="263145" cy="285233"/>
            <a:chOff x="4035899" y="1590394"/>
            <a:chExt cx="377750" cy="507183"/>
          </a:xfrm>
        </p:grpSpPr>
        <p:sp>
          <p:nvSpPr>
            <p:cNvPr id="52" name="Triangle 584">
              <a:extLst>
                <a:ext uri="{FF2B5EF4-FFF2-40B4-BE49-F238E27FC236}">
                  <a16:creationId xmlns:a16="http://schemas.microsoft.com/office/drawing/2014/main" id="{3E5B2068-166B-F629-F472-41B750A391DB}"/>
                </a:ext>
              </a:extLst>
            </p:cNvPr>
            <p:cNvSpPr/>
            <p:nvPr/>
          </p:nvSpPr>
          <p:spPr>
            <a:xfrm rot="5400000">
              <a:off x="3948331" y="1741029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6" name="Triangle 599">
              <a:extLst>
                <a:ext uri="{FF2B5EF4-FFF2-40B4-BE49-F238E27FC236}">
                  <a16:creationId xmlns:a16="http://schemas.microsoft.com/office/drawing/2014/main" id="{9486505A-24ED-F23E-E78A-8B9430FDD892}"/>
                </a:ext>
              </a:extLst>
            </p:cNvPr>
            <p:cNvSpPr/>
            <p:nvPr/>
          </p:nvSpPr>
          <p:spPr>
            <a:xfrm rot="5400000">
              <a:off x="4023019" y="1706948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60" name="Oval 59">
            <a:extLst>
              <a:ext uri="{FF2B5EF4-FFF2-40B4-BE49-F238E27FC236}">
                <a16:creationId xmlns:a16="http://schemas.microsoft.com/office/drawing/2014/main" id="{FFC71EDA-EB71-DDED-8243-B2D229956EA2}"/>
              </a:ext>
            </a:extLst>
          </p:cNvPr>
          <p:cNvSpPr/>
          <p:nvPr/>
        </p:nvSpPr>
        <p:spPr>
          <a:xfrm>
            <a:off x="4959931" y="3831831"/>
            <a:ext cx="176349" cy="18941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868725A-D243-E12A-9FBA-8DBAA7DEF1B2}"/>
              </a:ext>
            </a:extLst>
          </p:cNvPr>
          <p:cNvGrpSpPr/>
          <p:nvPr/>
        </p:nvGrpSpPr>
        <p:grpSpPr>
          <a:xfrm>
            <a:off x="5887205" y="3783921"/>
            <a:ext cx="263145" cy="285233"/>
            <a:chOff x="4035899" y="1590394"/>
            <a:chExt cx="377750" cy="507183"/>
          </a:xfrm>
        </p:grpSpPr>
        <p:sp>
          <p:nvSpPr>
            <p:cNvPr id="66" name="Triangle 584">
              <a:extLst>
                <a:ext uri="{FF2B5EF4-FFF2-40B4-BE49-F238E27FC236}">
                  <a16:creationId xmlns:a16="http://schemas.microsoft.com/office/drawing/2014/main" id="{8474E44E-C97A-18E5-F50A-B1A2AC1C942D}"/>
                </a:ext>
              </a:extLst>
            </p:cNvPr>
            <p:cNvSpPr/>
            <p:nvPr/>
          </p:nvSpPr>
          <p:spPr>
            <a:xfrm rot="5400000">
              <a:off x="3948331" y="1741029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8" name="Triangle 599">
              <a:extLst>
                <a:ext uri="{FF2B5EF4-FFF2-40B4-BE49-F238E27FC236}">
                  <a16:creationId xmlns:a16="http://schemas.microsoft.com/office/drawing/2014/main" id="{C8816732-4E99-7DC5-0E66-A775C3EA3343}"/>
                </a:ext>
              </a:extLst>
            </p:cNvPr>
            <p:cNvSpPr/>
            <p:nvPr/>
          </p:nvSpPr>
          <p:spPr>
            <a:xfrm rot="5400000">
              <a:off x="4023019" y="1706948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72" name="Oval 71">
            <a:extLst>
              <a:ext uri="{FF2B5EF4-FFF2-40B4-BE49-F238E27FC236}">
                <a16:creationId xmlns:a16="http://schemas.microsoft.com/office/drawing/2014/main" id="{30D354DA-0D8F-78AF-2302-0F4CCAEA2499}"/>
              </a:ext>
            </a:extLst>
          </p:cNvPr>
          <p:cNvSpPr/>
          <p:nvPr/>
        </p:nvSpPr>
        <p:spPr>
          <a:xfrm>
            <a:off x="6901275" y="3831831"/>
            <a:ext cx="176349" cy="18941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F7065EB-7E99-C9CE-4737-E0D2C93D5B75}"/>
              </a:ext>
            </a:extLst>
          </p:cNvPr>
          <p:cNvGrpSpPr/>
          <p:nvPr/>
        </p:nvGrpSpPr>
        <p:grpSpPr>
          <a:xfrm>
            <a:off x="7828549" y="3783921"/>
            <a:ext cx="263145" cy="285233"/>
            <a:chOff x="4035899" y="1590394"/>
            <a:chExt cx="377750" cy="507183"/>
          </a:xfrm>
        </p:grpSpPr>
        <p:sp>
          <p:nvSpPr>
            <p:cNvPr id="78" name="Triangle 584">
              <a:extLst>
                <a:ext uri="{FF2B5EF4-FFF2-40B4-BE49-F238E27FC236}">
                  <a16:creationId xmlns:a16="http://schemas.microsoft.com/office/drawing/2014/main" id="{CC106911-C905-51BB-3DF5-5DFE5213A4E6}"/>
                </a:ext>
              </a:extLst>
            </p:cNvPr>
            <p:cNvSpPr/>
            <p:nvPr/>
          </p:nvSpPr>
          <p:spPr>
            <a:xfrm rot="5400000">
              <a:off x="3948331" y="1741029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0" name="Triangle 599">
              <a:extLst>
                <a:ext uri="{FF2B5EF4-FFF2-40B4-BE49-F238E27FC236}">
                  <a16:creationId xmlns:a16="http://schemas.microsoft.com/office/drawing/2014/main" id="{F18F04FF-3988-578D-28EB-22730AEC4AF5}"/>
                </a:ext>
              </a:extLst>
            </p:cNvPr>
            <p:cNvSpPr/>
            <p:nvPr/>
          </p:nvSpPr>
          <p:spPr>
            <a:xfrm rot="5400000">
              <a:off x="4023019" y="1706948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84" name="Oval 83">
            <a:extLst>
              <a:ext uri="{FF2B5EF4-FFF2-40B4-BE49-F238E27FC236}">
                <a16:creationId xmlns:a16="http://schemas.microsoft.com/office/drawing/2014/main" id="{4029F765-593E-9647-4A7B-A77BF4D4042E}"/>
              </a:ext>
            </a:extLst>
          </p:cNvPr>
          <p:cNvSpPr/>
          <p:nvPr/>
        </p:nvSpPr>
        <p:spPr>
          <a:xfrm>
            <a:off x="8842619" y="3831831"/>
            <a:ext cx="176349" cy="18941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4049F1E-52C9-FFB5-6739-EA0343538A91}"/>
              </a:ext>
            </a:extLst>
          </p:cNvPr>
          <p:cNvGrpSpPr/>
          <p:nvPr/>
        </p:nvGrpSpPr>
        <p:grpSpPr>
          <a:xfrm>
            <a:off x="9769893" y="3783921"/>
            <a:ext cx="263145" cy="285233"/>
            <a:chOff x="4035899" y="1590394"/>
            <a:chExt cx="377750" cy="507183"/>
          </a:xfrm>
        </p:grpSpPr>
        <p:sp>
          <p:nvSpPr>
            <p:cNvPr id="88" name="Triangle 584">
              <a:extLst>
                <a:ext uri="{FF2B5EF4-FFF2-40B4-BE49-F238E27FC236}">
                  <a16:creationId xmlns:a16="http://schemas.microsoft.com/office/drawing/2014/main" id="{2E0D40AC-C5F0-1EDB-F487-A73B57626C36}"/>
                </a:ext>
              </a:extLst>
            </p:cNvPr>
            <p:cNvSpPr/>
            <p:nvPr/>
          </p:nvSpPr>
          <p:spPr>
            <a:xfrm rot="5400000">
              <a:off x="3948331" y="1741029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0" name="Triangle 599">
              <a:extLst>
                <a:ext uri="{FF2B5EF4-FFF2-40B4-BE49-F238E27FC236}">
                  <a16:creationId xmlns:a16="http://schemas.microsoft.com/office/drawing/2014/main" id="{78E7B221-3719-1951-BC54-9664B92A0812}"/>
                </a:ext>
              </a:extLst>
            </p:cNvPr>
            <p:cNvSpPr/>
            <p:nvPr/>
          </p:nvSpPr>
          <p:spPr>
            <a:xfrm rot="5400000">
              <a:off x="4023019" y="1706948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94" name="Oval 93">
            <a:extLst>
              <a:ext uri="{FF2B5EF4-FFF2-40B4-BE49-F238E27FC236}">
                <a16:creationId xmlns:a16="http://schemas.microsoft.com/office/drawing/2014/main" id="{4A70E286-DABE-ED65-20BE-B776592B7656}"/>
              </a:ext>
            </a:extLst>
          </p:cNvPr>
          <p:cNvSpPr/>
          <p:nvPr/>
        </p:nvSpPr>
        <p:spPr>
          <a:xfrm>
            <a:off x="10783962" y="3831831"/>
            <a:ext cx="176349" cy="18941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Google Shape;606;p73">
            <a:extLst>
              <a:ext uri="{FF2B5EF4-FFF2-40B4-BE49-F238E27FC236}">
                <a16:creationId xmlns:a16="http://schemas.microsoft.com/office/drawing/2014/main" id="{4A8C0344-04A3-7225-F1EF-97E468FF7533}"/>
              </a:ext>
            </a:extLst>
          </p:cNvPr>
          <p:cNvSpPr/>
          <p:nvPr/>
        </p:nvSpPr>
        <p:spPr>
          <a:xfrm>
            <a:off x="0" y="972801"/>
            <a:ext cx="12192000" cy="19571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78011C6-F7CD-94EE-4B32-8A1FEE471158}"/>
              </a:ext>
            </a:extLst>
          </p:cNvPr>
          <p:cNvSpPr txBox="1"/>
          <p:nvPr/>
        </p:nvSpPr>
        <p:spPr>
          <a:xfrm>
            <a:off x="1344490" y="1417867"/>
            <a:ext cx="11234890" cy="349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ts val="1744"/>
              </a:lnSpc>
            </a:pPr>
            <a:r>
              <a:rPr lang="en-US" sz="2800">
                <a:solidFill>
                  <a:srgbClr val="000000"/>
                </a:solidFill>
                <a:cs typeface="Arial" panose="020B0604020202020204" pitchFamily="34" charset="0"/>
              </a:rPr>
              <a:t>Orchestration Scenario 3: </a:t>
            </a:r>
            <a:r>
              <a:rPr lang="en-US" sz="2800" b="1">
                <a:solidFill>
                  <a:schemeClr val="accent2"/>
                </a:solidFill>
              </a:rPr>
              <a:t>Service Signal to Sales Opportunity​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77B38E2-02AA-1FA8-8752-2B2650ABA95F}"/>
              </a:ext>
            </a:extLst>
          </p:cNvPr>
          <p:cNvSpPr txBox="1"/>
          <p:nvPr/>
        </p:nvSpPr>
        <p:spPr>
          <a:xfrm>
            <a:off x="1344490" y="1722180"/>
            <a:ext cx="95380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00000"/>
                </a:solidFill>
                <a:cs typeface="Arial"/>
              </a:rPr>
              <a:t>The journey from a service interaction to a revenue-generating moment — in real time: </a:t>
            </a:r>
            <a:r>
              <a:rPr lang="en-US">
                <a:solidFill>
                  <a:srgbClr val="000000"/>
                </a:solidFill>
                <a:latin typeface="Aptos"/>
              </a:rPr>
              <a:t>A customer calls about a billing issue. By the time it's resolved, an upsell has been identified and presented. 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952BE215-6DBA-68B0-4CC2-30AA8CCFFF7E}"/>
              </a:ext>
            </a:extLst>
          </p:cNvPr>
          <p:cNvSpPr/>
          <p:nvPr/>
        </p:nvSpPr>
        <p:spPr>
          <a:xfrm>
            <a:off x="323420" y="1318874"/>
            <a:ext cx="946823" cy="923329"/>
          </a:xfrm>
          <a:prstGeom prst="ellipse">
            <a:avLst/>
          </a:prstGeom>
          <a:gradFill flip="none" rotWithShape="1">
            <a:gsLst>
              <a:gs pos="34000">
                <a:schemeClr val="accent2"/>
              </a:gs>
              <a:gs pos="100000">
                <a:schemeClr val="bg1"/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3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1785C89-A58C-2FFB-1059-B9E5959F6077}"/>
              </a:ext>
            </a:extLst>
          </p:cNvPr>
          <p:cNvGrpSpPr>
            <a:grpSpLocks noChangeAspect="1"/>
          </p:cNvGrpSpPr>
          <p:nvPr/>
        </p:nvGrpSpPr>
        <p:grpSpPr>
          <a:xfrm>
            <a:off x="11288806" y="89856"/>
            <a:ext cx="791837" cy="308070"/>
            <a:chOff x="1089352" y="1973524"/>
            <a:chExt cx="10318095" cy="401433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F879508-B410-891C-E17E-7C69C9F27024}"/>
                </a:ext>
              </a:extLst>
            </p:cNvPr>
            <p:cNvSpPr/>
            <p:nvPr/>
          </p:nvSpPr>
          <p:spPr>
            <a:xfrm>
              <a:off x="1089352" y="4078262"/>
              <a:ext cx="5072945" cy="19096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4"/>
              </a:solidFill>
            </a:ln>
            <a:effectLst>
              <a:outerShdw blurRad="50800" dist="50800" dir="5400000" algn="ctr" rotWithShape="0">
                <a:schemeClr val="accent1">
                  <a:alpha val="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169D1B0-AC53-B928-F920-B3665664B709}"/>
                </a:ext>
              </a:extLst>
            </p:cNvPr>
            <p:cNvSpPr/>
            <p:nvPr/>
          </p:nvSpPr>
          <p:spPr>
            <a:xfrm>
              <a:off x="1089352" y="1973537"/>
              <a:ext cx="5072948" cy="19095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4"/>
              </a:solidFill>
            </a:ln>
            <a:effectLst>
              <a:outerShdw blurRad="50800" dist="50800" dir="5400000" algn="ctr" rotWithShape="0">
                <a:schemeClr val="accent1">
                  <a:alpha val="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9642D46-026B-C08F-BAC7-D2B4FE21669E}"/>
                </a:ext>
              </a:extLst>
            </p:cNvPr>
            <p:cNvSpPr/>
            <p:nvPr/>
          </p:nvSpPr>
          <p:spPr>
            <a:xfrm>
              <a:off x="6334502" y="4078262"/>
              <a:ext cx="5072945" cy="19096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4"/>
              </a:solidFill>
            </a:ln>
            <a:effectLst>
              <a:outerShdw blurRad="50800" dist="50800" dir="5400000" algn="ctr" rotWithShape="0">
                <a:schemeClr val="accent1">
                  <a:alpha val="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9FAC561-4EFD-6F9E-A455-8B823077F4AA}"/>
                </a:ext>
              </a:extLst>
            </p:cNvPr>
            <p:cNvSpPr/>
            <p:nvPr/>
          </p:nvSpPr>
          <p:spPr>
            <a:xfrm>
              <a:off x="6334499" y="1973524"/>
              <a:ext cx="5072948" cy="19095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/>
              </a:solidFill>
            </a:ln>
            <a:effectLst>
              <a:outerShdw blurRad="50800" dist="50800" dir="5400000" algn="ctr" rotWithShape="0">
                <a:schemeClr val="accent1">
                  <a:alpha val="4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b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4029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38327-9F45-C15C-B3DD-E63B034FC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606;p73">
            <a:extLst>
              <a:ext uri="{FF2B5EF4-FFF2-40B4-BE49-F238E27FC236}">
                <a16:creationId xmlns:a16="http://schemas.microsoft.com/office/drawing/2014/main" id="{6FF7D938-55E6-9A5E-B51F-35B98BAAA652}"/>
              </a:ext>
            </a:extLst>
          </p:cNvPr>
          <p:cNvSpPr/>
          <p:nvPr/>
        </p:nvSpPr>
        <p:spPr>
          <a:xfrm>
            <a:off x="0" y="972801"/>
            <a:ext cx="12192000" cy="19571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tabLst/>
              <a:defRPr/>
            </a:pPr>
            <a:endParaRPr kumimoji="0" sz="19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Slide Number Placeholder 4">
            <a:extLst>
              <a:ext uri="{FF2B5EF4-FFF2-40B4-BE49-F238E27FC236}">
                <a16:creationId xmlns:a16="http://schemas.microsoft.com/office/drawing/2014/main" id="{F60C7060-B095-DEE2-8983-3918B2FF0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9" y="6501386"/>
            <a:ext cx="298209" cy="161583"/>
          </a:xfrm>
        </p:spPr>
        <p:txBody>
          <a:bodyPr/>
          <a:lstStyle/>
          <a:p>
            <a:fld id="{3E6AC032-1535-134B-A583-D5E1DDD0D167}" type="slidenum">
              <a:rPr lang="en-US" smtClean="0"/>
              <a:pPr/>
              <a:t>17</a:t>
            </a:fld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5734F2C-ED3F-C573-E71A-39F624BD4616}"/>
              </a:ext>
            </a:extLst>
          </p:cNvPr>
          <p:cNvCxnSpPr/>
          <p:nvPr/>
        </p:nvCxnSpPr>
        <p:spPr>
          <a:xfrm>
            <a:off x="0" y="3928021"/>
            <a:ext cx="1219200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CB0C9B42-919E-A94B-07DA-16B85A27F7EC}"/>
              </a:ext>
            </a:extLst>
          </p:cNvPr>
          <p:cNvSpPr/>
          <p:nvPr/>
        </p:nvSpPr>
        <p:spPr>
          <a:xfrm>
            <a:off x="672239" y="3842267"/>
            <a:ext cx="176349" cy="18941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2A5783A-4316-5F36-9F7A-D32C16B20BD3}"/>
              </a:ext>
            </a:extLst>
          </p:cNvPr>
          <p:cNvSpPr/>
          <p:nvPr/>
        </p:nvSpPr>
        <p:spPr>
          <a:xfrm>
            <a:off x="2545886" y="3842267"/>
            <a:ext cx="176349" cy="18941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9AFD4AC-E700-485E-2348-BDAEC1D552E9}"/>
              </a:ext>
            </a:extLst>
          </p:cNvPr>
          <p:cNvSpPr/>
          <p:nvPr/>
        </p:nvSpPr>
        <p:spPr>
          <a:xfrm>
            <a:off x="4345486" y="3842267"/>
            <a:ext cx="176349" cy="18941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CC50C25-8BEF-B5C2-0B63-BC2FB847F913}"/>
              </a:ext>
            </a:extLst>
          </p:cNvPr>
          <p:cNvSpPr txBox="1"/>
          <p:nvPr/>
        </p:nvSpPr>
        <p:spPr>
          <a:xfrm>
            <a:off x="0" y="3318816"/>
            <a:ext cx="152082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base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 b="1" i="0">
                <a:effectLst/>
              </a:rPr>
              <a:t>Buyers Procurement Agent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EC0E193-36FE-C3E9-9516-F07876AED7AC}"/>
              </a:ext>
            </a:extLst>
          </p:cNvPr>
          <p:cNvSpPr txBox="1"/>
          <p:nvPr/>
        </p:nvSpPr>
        <p:spPr>
          <a:xfrm>
            <a:off x="74613" y="4109002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800" b="0" i="0">
                <a:solidFill>
                  <a:srgbClr val="000000"/>
                </a:solidFill>
                <a:effectLst/>
              </a:rPr>
              <a:t>Submits structured purchase request via API 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CC890CA-2895-7032-2A35-0AE06029B915}"/>
              </a:ext>
            </a:extLst>
          </p:cNvPr>
          <p:cNvGrpSpPr/>
          <p:nvPr/>
        </p:nvGrpSpPr>
        <p:grpSpPr>
          <a:xfrm>
            <a:off x="1503848" y="3794357"/>
            <a:ext cx="263145" cy="285233"/>
            <a:chOff x="4035899" y="1590394"/>
            <a:chExt cx="377750" cy="507183"/>
          </a:xfrm>
        </p:grpSpPr>
        <p:sp>
          <p:nvSpPr>
            <p:cNvPr id="68" name="Triangle 584">
              <a:extLst>
                <a:ext uri="{FF2B5EF4-FFF2-40B4-BE49-F238E27FC236}">
                  <a16:creationId xmlns:a16="http://schemas.microsoft.com/office/drawing/2014/main" id="{79D6780E-597F-71EC-9259-31ADC569B158}"/>
                </a:ext>
              </a:extLst>
            </p:cNvPr>
            <p:cNvSpPr/>
            <p:nvPr/>
          </p:nvSpPr>
          <p:spPr>
            <a:xfrm rot="5400000">
              <a:off x="3948331" y="1741029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0" name="Triangle 599">
              <a:extLst>
                <a:ext uri="{FF2B5EF4-FFF2-40B4-BE49-F238E27FC236}">
                  <a16:creationId xmlns:a16="http://schemas.microsoft.com/office/drawing/2014/main" id="{088DD720-50FE-B339-071B-76ACFE38B8FB}"/>
                </a:ext>
              </a:extLst>
            </p:cNvPr>
            <p:cNvSpPr/>
            <p:nvPr/>
          </p:nvSpPr>
          <p:spPr>
            <a:xfrm rot="5400000">
              <a:off x="4023019" y="1706948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524829AD-840A-6DE4-7147-88E586EFC92F}"/>
              </a:ext>
            </a:extLst>
          </p:cNvPr>
          <p:cNvSpPr/>
          <p:nvPr/>
        </p:nvSpPr>
        <p:spPr>
          <a:xfrm>
            <a:off x="693441" y="5324121"/>
            <a:ext cx="10805117" cy="78035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</a:ln>
          <a:effectLst>
            <a:outerShdw blurRad="50800" dist="50800" dir="5400000" algn="ctr" rotWithShape="0">
              <a:srgbClr val="000000">
                <a:alpha val="30281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C0380D6-0F60-AD16-564C-949332A0FAC0}"/>
              </a:ext>
            </a:extLst>
          </p:cNvPr>
          <p:cNvSpPr txBox="1"/>
          <p:nvPr/>
        </p:nvSpPr>
        <p:spPr>
          <a:xfrm>
            <a:off x="796833" y="5452690"/>
            <a:ext cx="1064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1400" b="1" i="0">
                <a:effectLst/>
              </a:rPr>
              <a:t>Business Outcome: </a:t>
            </a:r>
            <a:r>
              <a:rPr lang="en-US" sz="1400" i="0">
                <a:effectLst/>
              </a:rPr>
              <a:t>24/7 autonomous B2B commerce, zero manual intervention for standard transactions, margin-safe at every step, the commercial engine that never sleeps. </a:t>
            </a:r>
          </a:p>
        </p:txBody>
      </p:sp>
      <p:cxnSp>
        <p:nvCxnSpPr>
          <p:cNvPr id="75" name="Google Shape;624;p73">
            <a:extLst>
              <a:ext uri="{FF2B5EF4-FFF2-40B4-BE49-F238E27FC236}">
                <a16:creationId xmlns:a16="http://schemas.microsoft.com/office/drawing/2014/main" id="{0D4A1EC9-E213-AB26-FAA1-FEAB188B0E8D}"/>
              </a:ext>
            </a:extLst>
          </p:cNvPr>
          <p:cNvCxnSpPr>
            <a:cxnSpLocks/>
          </p:cNvCxnSpPr>
          <p:nvPr/>
        </p:nvCxnSpPr>
        <p:spPr>
          <a:xfrm>
            <a:off x="693441" y="6104479"/>
            <a:ext cx="10805117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" name="Google Shape;624;p73">
            <a:extLst>
              <a:ext uri="{FF2B5EF4-FFF2-40B4-BE49-F238E27FC236}">
                <a16:creationId xmlns:a16="http://schemas.microsoft.com/office/drawing/2014/main" id="{30189742-E2DC-8E58-3900-AB82E467BA80}"/>
              </a:ext>
            </a:extLst>
          </p:cNvPr>
          <p:cNvCxnSpPr>
            <a:cxnSpLocks/>
          </p:cNvCxnSpPr>
          <p:nvPr/>
        </p:nvCxnSpPr>
        <p:spPr>
          <a:xfrm>
            <a:off x="693441" y="5324121"/>
            <a:ext cx="10805117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FC523F6-B06C-4AAA-59E4-D1D0A5A06BF8}"/>
              </a:ext>
            </a:extLst>
          </p:cNvPr>
          <p:cNvGrpSpPr/>
          <p:nvPr/>
        </p:nvGrpSpPr>
        <p:grpSpPr>
          <a:xfrm>
            <a:off x="3323210" y="3794357"/>
            <a:ext cx="263145" cy="285233"/>
            <a:chOff x="4035899" y="1590394"/>
            <a:chExt cx="377750" cy="507183"/>
          </a:xfrm>
        </p:grpSpPr>
        <p:sp>
          <p:nvSpPr>
            <p:cNvPr id="78" name="Triangle 584">
              <a:extLst>
                <a:ext uri="{FF2B5EF4-FFF2-40B4-BE49-F238E27FC236}">
                  <a16:creationId xmlns:a16="http://schemas.microsoft.com/office/drawing/2014/main" id="{2941F47E-8F01-AF9C-AEAD-6667047848C4}"/>
                </a:ext>
              </a:extLst>
            </p:cNvPr>
            <p:cNvSpPr/>
            <p:nvPr/>
          </p:nvSpPr>
          <p:spPr>
            <a:xfrm rot="5400000">
              <a:off x="3948331" y="1741029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9" name="Triangle 599">
              <a:extLst>
                <a:ext uri="{FF2B5EF4-FFF2-40B4-BE49-F238E27FC236}">
                  <a16:creationId xmlns:a16="http://schemas.microsoft.com/office/drawing/2014/main" id="{28CB14C8-E44C-BFC2-B2A1-5F8F0641D625}"/>
                </a:ext>
              </a:extLst>
            </p:cNvPr>
            <p:cNvSpPr/>
            <p:nvPr/>
          </p:nvSpPr>
          <p:spPr>
            <a:xfrm rot="5400000">
              <a:off x="4023019" y="1706948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80" name="Google Shape;2379;p339">
            <a:extLst>
              <a:ext uri="{FF2B5EF4-FFF2-40B4-BE49-F238E27FC236}">
                <a16:creationId xmlns:a16="http://schemas.microsoft.com/office/drawing/2014/main" id="{12682FA6-F2DD-83E1-A85F-4A8FC6E3C23D}"/>
              </a:ext>
            </a:extLst>
          </p:cNvPr>
          <p:cNvSpPr txBox="1">
            <a:spLocks/>
          </p:cNvSpPr>
          <p:nvPr/>
        </p:nvSpPr>
        <p:spPr>
          <a:xfrm>
            <a:off x="397667" y="402338"/>
            <a:ext cx="11403809" cy="5152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BY A “COMMERCIAL BRAIN”</a:t>
            </a:r>
            <a:endParaRPr lang="en-US" sz="1100" b="1"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>
                <a:latin typeface="+mn-lt"/>
                <a:cs typeface="Arial" panose="020B0604020202020204" pitchFamily="34" charset="0"/>
              </a:rPr>
              <a:t>Orchestration Deep Dives: How The Agents Work Together</a:t>
            </a:r>
            <a:endParaRPr lang="en-US" sz="2400">
              <a:latin typeface="+mn-lt"/>
              <a:cs typeface="Arial" panose="020B060402020202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65308EF-40F2-4449-2A65-0B74AE29954B}"/>
              </a:ext>
            </a:extLst>
          </p:cNvPr>
          <p:cNvSpPr txBox="1"/>
          <p:nvPr/>
        </p:nvSpPr>
        <p:spPr>
          <a:xfrm>
            <a:off x="1344490" y="1417867"/>
            <a:ext cx="11234890" cy="349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ts val="1744"/>
              </a:lnSpc>
            </a:pPr>
            <a:r>
              <a:rPr lang="en-US" sz="2800">
                <a:solidFill>
                  <a:srgbClr val="000000"/>
                </a:solidFill>
                <a:cs typeface="Arial" panose="020B0604020202020204" pitchFamily="34" charset="0"/>
              </a:rPr>
              <a:t>Orchestration Scenario 4: </a:t>
            </a:r>
            <a:r>
              <a:rPr lang="en-US" sz="2800" b="1">
                <a:solidFill>
                  <a:schemeClr val="accent2"/>
                </a:solidFill>
              </a:rPr>
              <a:t>Autonomous Commerce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EE375CC-E7F6-918C-53E7-A5E63CB58365}"/>
              </a:ext>
            </a:extLst>
          </p:cNvPr>
          <p:cNvSpPr txBox="1"/>
          <p:nvPr/>
        </p:nvSpPr>
        <p:spPr>
          <a:xfrm>
            <a:off x="1344490" y="1722180"/>
            <a:ext cx="95380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00000"/>
                </a:solidFill>
                <a:cs typeface="Arial"/>
              </a:rPr>
              <a:t>The journey where your customer's AI agent buys from your AI agent — no human on either side: </a:t>
            </a:r>
            <a:r>
              <a:rPr lang="en-US">
                <a:solidFill>
                  <a:srgbClr val="000000"/>
                </a:solidFill>
              </a:rPr>
              <a:t>A procurement bot submits a request. A commercial agent responds, negotiates, confirms, and closes — autonomously.</a:t>
            </a:r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E215179-EFB4-008F-351D-B6A04B80A448}"/>
              </a:ext>
            </a:extLst>
          </p:cNvPr>
          <p:cNvSpPr txBox="1"/>
          <p:nvPr/>
        </p:nvSpPr>
        <p:spPr>
          <a:xfrm>
            <a:off x="1800531" y="3318816"/>
            <a:ext cx="16670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 fontAlgn="base">
              <a:spcBef>
                <a:spcPts val="1200"/>
              </a:spcBef>
              <a:spcAft>
                <a:spcPts val="1200"/>
              </a:spcAft>
              <a:buNone/>
              <a:defRPr sz="1100" b="1" i="0">
                <a:effectLst/>
              </a:defRPr>
            </a:lvl1pPr>
          </a:lstStyle>
          <a:p>
            <a:r>
              <a:rPr lang="en-US"/>
              <a:t>Commerce Discovery &amp; GEO Agent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777F88D-B818-A4C7-7C6E-DAD470B6CFA5}"/>
              </a:ext>
            </a:extLst>
          </p:cNvPr>
          <p:cNvSpPr txBox="1"/>
          <p:nvPr/>
        </p:nvSpPr>
        <p:spPr>
          <a:xfrm>
            <a:off x="3702140" y="331881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 fontAlgn="base">
              <a:spcBef>
                <a:spcPts val="1200"/>
              </a:spcBef>
              <a:spcAft>
                <a:spcPts val="1200"/>
              </a:spcAft>
              <a:buNone/>
              <a:defRPr sz="1100" b="1" i="0">
                <a:effectLst/>
              </a:defRPr>
            </a:lvl1pPr>
          </a:lstStyle>
          <a:p>
            <a:r>
              <a:rPr lang="en-US"/>
              <a:t>Dynamic Pricing &amp; Discount Agent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04AB57E-C365-E589-2B72-60B5FF2DD771}"/>
              </a:ext>
            </a:extLst>
          </p:cNvPr>
          <p:cNvSpPr txBox="1"/>
          <p:nvPr/>
        </p:nvSpPr>
        <p:spPr>
          <a:xfrm>
            <a:off x="5482122" y="331881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 fontAlgn="base">
              <a:spcBef>
                <a:spcPts val="1200"/>
              </a:spcBef>
              <a:spcAft>
                <a:spcPts val="1200"/>
              </a:spcAft>
              <a:buNone/>
              <a:defRPr sz="1100" b="1" i="0">
                <a:effectLst/>
              </a:defRPr>
            </a:lvl1pPr>
          </a:lstStyle>
          <a:p>
            <a:r>
              <a:rPr lang="en-US"/>
              <a:t>Guided Buying &amp; Reorder Agent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882D787-BB6F-9640-02B9-E908E15FC8FD}"/>
              </a:ext>
            </a:extLst>
          </p:cNvPr>
          <p:cNvSpPr txBox="1"/>
          <p:nvPr/>
        </p:nvSpPr>
        <p:spPr>
          <a:xfrm>
            <a:off x="7232781" y="331881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 fontAlgn="base">
              <a:spcBef>
                <a:spcPts val="1200"/>
              </a:spcBef>
              <a:spcAft>
                <a:spcPts val="1200"/>
              </a:spcAft>
              <a:buNone/>
              <a:defRPr sz="1100" b="1" i="0">
                <a:effectLst/>
              </a:defRPr>
            </a:lvl1pPr>
          </a:lstStyle>
          <a:p>
            <a:r>
              <a:rPr lang="en-US"/>
              <a:t>CPQ &amp; Quote Automation Agent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9A9AE2E-0CE2-E84C-62F2-1FC123E5F23C}"/>
              </a:ext>
            </a:extLst>
          </p:cNvPr>
          <p:cNvSpPr txBox="1"/>
          <p:nvPr/>
        </p:nvSpPr>
        <p:spPr>
          <a:xfrm>
            <a:off x="9006239" y="3318816"/>
            <a:ext cx="156370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 fontAlgn="base">
              <a:spcBef>
                <a:spcPts val="1200"/>
              </a:spcBef>
              <a:spcAft>
                <a:spcPts val="1200"/>
              </a:spcAft>
              <a:buNone/>
              <a:defRPr sz="1100" b="1" i="0">
                <a:effectLst/>
              </a:defRPr>
            </a:lvl1pPr>
          </a:lstStyle>
          <a:p>
            <a:r>
              <a:rPr lang="en-US"/>
              <a:t>Contract Compliance Auditor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3F66D12-FB04-C0A0-AF2C-426AD32CA0A1}"/>
              </a:ext>
            </a:extLst>
          </p:cNvPr>
          <p:cNvSpPr txBox="1"/>
          <p:nvPr/>
        </p:nvSpPr>
        <p:spPr>
          <a:xfrm>
            <a:off x="10818934" y="331881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 fontAlgn="base">
              <a:spcBef>
                <a:spcPts val="1200"/>
              </a:spcBef>
              <a:spcAft>
                <a:spcPts val="1200"/>
              </a:spcAft>
              <a:buNone/>
              <a:defRPr sz="1100" b="1" i="0">
                <a:effectLst/>
              </a:defRPr>
            </a:lvl1pPr>
          </a:lstStyle>
          <a:p>
            <a:r>
              <a:rPr lang="en-US"/>
              <a:t>Renewal &amp; Expansion Agent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A60CC96-FECB-502D-5C9D-CE958F6BA770}"/>
              </a:ext>
            </a:extLst>
          </p:cNvPr>
          <p:cNvSpPr txBox="1"/>
          <p:nvPr/>
        </p:nvSpPr>
        <p:spPr>
          <a:xfrm>
            <a:off x="1948260" y="4109002"/>
            <a:ext cx="137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fontAlgn="base">
              <a:spcBef>
                <a:spcPts val="1200"/>
              </a:spcBef>
              <a:spcAft>
                <a:spcPts val="1200"/>
              </a:spcAft>
              <a:buNone/>
              <a:defRPr sz="800" b="0" i="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/>
              <a:t>Validates request against catalog, entitlements, and product data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D2392BE-7AAB-A2CF-F82E-922C435750C7}"/>
              </a:ext>
            </a:extLst>
          </p:cNvPr>
          <p:cNvSpPr txBox="1"/>
          <p:nvPr/>
        </p:nvSpPr>
        <p:spPr>
          <a:xfrm>
            <a:off x="3747860" y="4109002"/>
            <a:ext cx="137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fontAlgn="base">
              <a:spcBef>
                <a:spcPts val="1200"/>
              </a:spcBef>
              <a:spcAft>
                <a:spcPts val="1200"/>
              </a:spcAft>
              <a:buNone/>
              <a:defRPr sz="800" b="0" i="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/>
              <a:t>Applies real-time pricing logic and validates against margin guardrails 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A9FB482-A6EC-2E3C-41A0-DB3BCC9A9162}"/>
              </a:ext>
            </a:extLst>
          </p:cNvPr>
          <p:cNvSpPr txBox="1"/>
          <p:nvPr/>
        </p:nvSpPr>
        <p:spPr>
          <a:xfrm>
            <a:off x="5527842" y="4117081"/>
            <a:ext cx="1371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fontAlgn="base">
              <a:spcBef>
                <a:spcPts val="1200"/>
              </a:spcBef>
              <a:spcAft>
                <a:spcPts val="1200"/>
              </a:spcAft>
              <a:buNone/>
              <a:defRPr sz="800" b="0" i="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/>
              <a:t>Confirms availability, surfaces compliant options, applies contract terms 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6E3A2E2-65D5-A0C1-954C-66C49561E909}"/>
              </a:ext>
            </a:extLst>
          </p:cNvPr>
          <p:cNvSpPr txBox="1"/>
          <p:nvPr/>
        </p:nvSpPr>
        <p:spPr>
          <a:xfrm>
            <a:off x="7278501" y="4109002"/>
            <a:ext cx="1371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fontAlgn="base">
              <a:spcBef>
                <a:spcPts val="1200"/>
              </a:spcBef>
              <a:spcAft>
                <a:spcPts val="1200"/>
              </a:spcAft>
              <a:buNone/>
              <a:defRPr sz="800" b="0" i="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/>
              <a:t>Generates machine-readable quote and submits back to buyer's agent 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C540848-E72F-EFE2-D831-717780EF75CC}"/>
              </a:ext>
            </a:extLst>
          </p:cNvPr>
          <p:cNvSpPr txBox="1"/>
          <p:nvPr/>
        </p:nvSpPr>
        <p:spPr>
          <a:xfrm>
            <a:off x="9102292" y="4109002"/>
            <a:ext cx="1371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fontAlgn="base">
              <a:spcBef>
                <a:spcPts val="1200"/>
              </a:spcBef>
              <a:spcAft>
                <a:spcPts val="1200"/>
              </a:spcAft>
              <a:buNone/>
              <a:defRPr sz="800" b="0" i="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/>
              <a:t>Validates transaction post-close for billing accuracy and policy compliance 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E3A1B64-D876-98CF-87D5-FD54EB8411DA}"/>
              </a:ext>
            </a:extLst>
          </p:cNvPr>
          <p:cNvSpPr txBox="1"/>
          <p:nvPr/>
        </p:nvSpPr>
        <p:spPr>
          <a:xfrm>
            <a:off x="10864654" y="4109002"/>
            <a:ext cx="1371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fontAlgn="base">
              <a:spcBef>
                <a:spcPts val="1200"/>
              </a:spcBef>
              <a:spcAft>
                <a:spcPts val="1200"/>
              </a:spcAft>
              <a:buNone/>
              <a:defRPr sz="800" b="0" i="0">
                <a:solidFill>
                  <a:srgbClr val="000000"/>
                </a:solidFill>
                <a:effectLst/>
              </a:defRPr>
            </a:lvl1pPr>
          </a:lstStyle>
          <a:p>
            <a:r>
              <a:rPr lang="en-US"/>
              <a:t>Monitors post-purchase performance and flags expansion signals for next cycle 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449A7513-D516-A0A2-D88D-D50FE64A1F89}"/>
              </a:ext>
            </a:extLst>
          </p:cNvPr>
          <p:cNvSpPr/>
          <p:nvPr/>
        </p:nvSpPr>
        <p:spPr>
          <a:xfrm>
            <a:off x="6125468" y="3842267"/>
            <a:ext cx="176349" cy="18941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C096E0B-7ED4-9D59-BA20-99AF4549AFE3}"/>
              </a:ext>
            </a:extLst>
          </p:cNvPr>
          <p:cNvGrpSpPr/>
          <p:nvPr/>
        </p:nvGrpSpPr>
        <p:grpSpPr>
          <a:xfrm>
            <a:off x="5142572" y="3794357"/>
            <a:ext cx="263145" cy="285233"/>
            <a:chOff x="4035899" y="1590394"/>
            <a:chExt cx="377750" cy="507183"/>
          </a:xfrm>
        </p:grpSpPr>
        <p:sp>
          <p:nvSpPr>
            <p:cNvPr id="97" name="Triangle 584">
              <a:extLst>
                <a:ext uri="{FF2B5EF4-FFF2-40B4-BE49-F238E27FC236}">
                  <a16:creationId xmlns:a16="http://schemas.microsoft.com/office/drawing/2014/main" id="{AFC4C1C9-6F60-ADB2-C5E4-0962AB408372}"/>
                </a:ext>
              </a:extLst>
            </p:cNvPr>
            <p:cNvSpPr/>
            <p:nvPr/>
          </p:nvSpPr>
          <p:spPr>
            <a:xfrm rot="5400000">
              <a:off x="3948331" y="1741029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8" name="Triangle 599">
              <a:extLst>
                <a:ext uri="{FF2B5EF4-FFF2-40B4-BE49-F238E27FC236}">
                  <a16:creationId xmlns:a16="http://schemas.microsoft.com/office/drawing/2014/main" id="{074875F9-11BA-D6C8-9D5E-C644D911A559}"/>
                </a:ext>
              </a:extLst>
            </p:cNvPr>
            <p:cNvSpPr/>
            <p:nvPr/>
          </p:nvSpPr>
          <p:spPr>
            <a:xfrm rot="5400000">
              <a:off x="4023019" y="1706948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99" name="Oval 98">
            <a:extLst>
              <a:ext uri="{FF2B5EF4-FFF2-40B4-BE49-F238E27FC236}">
                <a16:creationId xmlns:a16="http://schemas.microsoft.com/office/drawing/2014/main" id="{1EE3887A-A7C8-E9D3-F414-F673B0E9AB72}"/>
              </a:ext>
            </a:extLst>
          </p:cNvPr>
          <p:cNvSpPr/>
          <p:nvPr/>
        </p:nvSpPr>
        <p:spPr>
          <a:xfrm>
            <a:off x="7876127" y="3842267"/>
            <a:ext cx="176349" cy="18941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4061B93-7256-17C9-3B34-863AB097D02A}"/>
              </a:ext>
            </a:extLst>
          </p:cNvPr>
          <p:cNvGrpSpPr/>
          <p:nvPr/>
        </p:nvGrpSpPr>
        <p:grpSpPr>
          <a:xfrm>
            <a:off x="6961934" y="3794357"/>
            <a:ext cx="263145" cy="285233"/>
            <a:chOff x="4035899" y="1590394"/>
            <a:chExt cx="377750" cy="507183"/>
          </a:xfrm>
        </p:grpSpPr>
        <p:sp>
          <p:nvSpPr>
            <p:cNvPr id="101" name="Triangle 584">
              <a:extLst>
                <a:ext uri="{FF2B5EF4-FFF2-40B4-BE49-F238E27FC236}">
                  <a16:creationId xmlns:a16="http://schemas.microsoft.com/office/drawing/2014/main" id="{DF80C09C-DEB0-43F0-5450-95119959DD4B}"/>
                </a:ext>
              </a:extLst>
            </p:cNvPr>
            <p:cNvSpPr/>
            <p:nvPr/>
          </p:nvSpPr>
          <p:spPr>
            <a:xfrm rot="5400000">
              <a:off x="3948331" y="1741029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Triangle 599">
              <a:extLst>
                <a:ext uri="{FF2B5EF4-FFF2-40B4-BE49-F238E27FC236}">
                  <a16:creationId xmlns:a16="http://schemas.microsoft.com/office/drawing/2014/main" id="{998427F2-95C4-7EDD-1B65-A3B7F8C15F1B}"/>
                </a:ext>
              </a:extLst>
            </p:cNvPr>
            <p:cNvSpPr/>
            <p:nvPr/>
          </p:nvSpPr>
          <p:spPr>
            <a:xfrm rot="5400000">
              <a:off x="4023019" y="1706948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03" name="Oval 102">
            <a:extLst>
              <a:ext uri="{FF2B5EF4-FFF2-40B4-BE49-F238E27FC236}">
                <a16:creationId xmlns:a16="http://schemas.microsoft.com/office/drawing/2014/main" id="{F4329E87-4196-26FD-B983-72D983CC43D1}"/>
              </a:ext>
            </a:extLst>
          </p:cNvPr>
          <p:cNvSpPr/>
          <p:nvPr/>
        </p:nvSpPr>
        <p:spPr>
          <a:xfrm>
            <a:off x="9699918" y="3842267"/>
            <a:ext cx="176349" cy="18941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59F7BF9-BE0A-9E5F-7AA8-BA1A299B139B}"/>
              </a:ext>
            </a:extLst>
          </p:cNvPr>
          <p:cNvGrpSpPr/>
          <p:nvPr/>
        </p:nvGrpSpPr>
        <p:grpSpPr>
          <a:xfrm>
            <a:off x="8781296" y="3794357"/>
            <a:ext cx="263145" cy="285233"/>
            <a:chOff x="4035899" y="1590394"/>
            <a:chExt cx="377750" cy="507183"/>
          </a:xfrm>
        </p:grpSpPr>
        <p:sp>
          <p:nvSpPr>
            <p:cNvPr id="105" name="Triangle 584">
              <a:extLst>
                <a:ext uri="{FF2B5EF4-FFF2-40B4-BE49-F238E27FC236}">
                  <a16:creationId xmlns:a16="http://schemas.microsoft.com/office/drawing/2014/main" id="{20F740DD-15D2-52A9-D82C-D9A0B59B230E}"/>
                </a:ext>
              </a:extLst>
            </p:cNvPr>
            <p:cNvSpPr/>
            <p:nvPr/>
          </p:nvSpPr>
          <p:spPr>
            <a:xfrm rot="5400000">
              <a:off x="3948331" y="1741029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6" name="Triangle 599">
              <a:extLst>
                <a:ext uri="{FF2B5EF4-FFF2-40B4-BE49-F238E27FC236}">
                  <a16:creationId xmlns:a16="http://schemas.microsoft.com/office/drawing/2014/main" id="{59374A3C-4413-0A6A-4DD3-76DB13BB47AC}"/>
                </a:ext>
              </a:extLst>
            </p:cNvPr>
            <p:cNvSpPr/>
            <p:nvPr/>
          </p:nvSpPr>
          <p:spPr>
            <a:xfrm rot="5400000">
              <a:off x="4023019" y="1706948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07" name="Oval 106">
            <a:extLst>
              <a:ext uri="{FF2B5EF4-FFF2-40B4-BE49-F238E27FC236}">
                <a16:creationId xmlns:a16="http://schemas.microsoft.com/office/drawing/2014/main" id="{4851FD5D-A84B-5B47-8BBC-97CBEF4AC5C5}"/>
              </a:ext>
            </a:extLst>
          </p:cNvPr>
          <p:cNvSpPr/>
          <p:nvPr/>
        </p:nvSpPr>
        <p:spPr>
          <a:xfrm>
            <a:off x="11462280" y="3842267"/>
            <a:ext cx="176349" cy="189412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72115FD-B837-106E-2738-ECE2A71684E0}"/>
              </a:ext>
            </a:extLst>
          </p:cNvPr>
          <p:cNvGrpSpPr/>
          <p:nvPr/>
        </p:nvGrpSpPr>
        <p:grpSpPr>
          <a:xfrm>
            <a:off x="10600658" y="3794357"/>
            <a:ext cx="263145" cy="285233"/>
            <a:chOff x="4035899" y="1590394"/>
            <a:chExt cx="377750" cy="507183"/>
          </a:xfrm>
        </p:grpSpPr>
        <p:sp>
          <p:nvSpPr>
            <p:cNvPr id="109" name="Triangle 584">
              <a:extLst>
                <a:ext uri="{FF2B5EF4-FFF2-40B4-BE49-F238E27FC236}">
                  <a16:creationId xmlns:a16="http://schemas.microsoft.com/office/drawing/2014/main" id="{F8AD74CA-F933-2828-0815-1964363D7A55}"/>
                </a:ext>
              </a:extLst>
            </p:cNvPr>
            <p:cNvSpPr/>
            <p:nvPr/>
          </p:nvSpPr>
          <p:spPr>
            <a:xfrm rot="5400000">
              <a:off x="3948331" y="1741029"/>
              <a:ext cx="381054" cy="205917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0" name="Triangle 599">
              <a:extLst>
                <a:ext uri="{FF2B5EF4-FFF2-40B4-BE49-F238E27FC236}">
                  <a16:creationId xmlns:a16="http://schemas.microsoft.com/office/drawing/2014/main" id="{F45C4ADC-0C06-958F-AE46-968ADF477246}"/>
                </a:ext>
              </a:extLst>
            </p:cNvPr>
            <p:cNvSpPr/>
            <p:nvPr/>
          </p:nvSpPr>
          <p:spPr>
            <a:xfrm rot="5400000">
              <a:off x="4023019" y="1706948"/>
              <a:ext cx="507183" cy="27407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11" name="Oval 110">
            <a:extLst>
              <a:ext uri="{FF2B5EF4-FFF2-40B4-BE49-F238E27FC236}">
                <a16:creationId xmlns:a16="http://schemas.microsoft.com/office/drawing/2014/main" id="{40391741-871A-5E96-48E9-C861A3D5B194}"/>
              </a:ext>
            </a:extLst>
          </p:cNvPr>
          <p:cNvSpPr/>
          <p:nvPr/>
        </p:nvSpPr>
        <p:spPr>
          <a:xfrm>
            <a:off x="323420" y="1318874"/>
            <a:ext cx="946823" cy="923329"/>
          </a:xfrm>
          <a:prstGeom prst="ellipse">
            <a:avLst/>
          </a:prstGeom>
          <a:gradFill flip="none" rotWithShape="1">
            <a:gsLst>
              <a:gs pos="34000">
                <a:schemeClr val="accent2"/>
              </a:gs>
              <a:gs pos="100000">
                <a:schemeClr val="bg1"/>
              </a:gs>
              <a:gs pos="100000">
                <a:schemeClr val="bg2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4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38FF72D-2F68-0807-1B14-9B5C9682CF97}"/>
              </a:ext>
            </a:extLst>
          </p:cNvPr>
          <p:cNvGrpSpPr>
            <a:grpSpLocks noChangeAspect="1"/>
          </p:cNvGrpSpPr>
          <p:nvPr/>
        </p:nvGrpSpPr>
        <p:grpSpPr>
          <a:xfrm>
            <a:off x="11288806" y="89856"/>
            <a:ext cx="791837" cy="308070"/>
            <a:chOff x="1089352" y="1973524"/>
            <a:chExt cx="10318095" cy="401433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4BFFB6E-78B4-12E2-B1EF-0B5C5C264BE0}"/>
                </a:ext>
              </a:extLst>
            </p:cNvPr>
            <p:cNvSpPr/>
            <p:nvPr/>
          </p:nvSpPr>
          <p:spPr>
            <a:xfrm>
              <a:off x="1089352" y="4078262"/>
              <a:ext cx="5072945" cy="19096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4"/>
              </a:solidFill>
            </a:ln>
            <a:effectLst>
              <a:outerShdw blurRad="50800" dist="50800" dir="5400000" algn="ctr" rotWithShape="0">
                <a:schemeClr val="accent1">
                  <a:alpha val="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DD01053-6BCC-C701-A70D-16478C4AD62C}"/>
                </a:ext>
              </a:extLst>
            </p:cNvPr>
            <p:cNvSpPr/>
            <p:nvPr/>
          </p:nvSpPr>
          <p:spPr>
            <a:xfrm>
              <a:off x="1089352" y="1973537"/>
              <a:ext cx="5072948" cy="19095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4"/>
              </a:solidFill>
            </a:ln>
            <a:effectLst>
              <a:outerShdw blurRad="50800" dist="50800" dir="5400000" algn="ctr" rotWithShape="0">
                <a:schemeClr val="accent1">
                  <a:alpha val="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D84ED33-547D-03EA-A975-7C752AF8421F}"/>
                </a:ext>
              </a:extLst>
            </p:cNvPr>
            <p:cNvSpPr/>
            <p:nvPr/>
          </p:nvSpPr>
          <p:spPr>
            <a:xfrm>
              <a:off x="6334502" y="4078262"/>
              <a:ext cx="5072945" cy="19096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accent4"/>
              </a:solidFill>
            </a:ln>
            <a:effectLst>
              <a:outerShdw blurRad="50800" dist="50800" dir="5400000" algn="ctr" rotWithShape="0">
                <a:schemeClr val="accent1">
                  <a:alpha val="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AAF3D35-F605-D11A-ECA3-2AB3E0DE927F}"/>
                </a:ext>
              </a:extLst>
            </p:cNvPr>
            <p:cNvSpPr/>
            <p:nvPr/>
          </p:nvSpPr>
          <p:spPr>
            <a:xfrm>
              <a:off x="6334499" y="1973524"/>
              <a:ext cx="5072948" cy="19095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accent1"/>
              </a:solidFill>
            </a:ln>
            <a:effectLst>
              <a:outerShdw blurRad="50800" dist="50800" dir="5400000" algn="ctr" rotWithShape="0">
                <a:schemeClr val="accent1">
                  <a:alpha val="44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b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5884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PwC Offic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E9E7FC3490C74C8F912DF18F6160CA" ma:contentTypeVersion="13" ma:contentTypeDescription="Create a new document." ma:contentTypeScope="" ma:versionID="e874b8423090a4449062d9ef54ea727b">
  <xsd:schema xmlns:xsd="http://www.w3.org/2001/XMLSchema" xmlns:xs="http://www.w3.org/2001/XMLSchema" xmlns:p="http://schemas.microsoft.com/office/2006/metadata/properties" xmlns:ns2="a046b229-4f3c-467f-9eac-543a4c84deb6" xmlns:ns3="53a5ee79-252e-45c7-b498-4afdb6e7f6b3" targetNamespace="http://schemas.microsoft.com/office/2006/metadata/properties" ma:root="true" ma:fieldsID="e073dff75403655c6ade24dd39ca2341" ns2:_="" ns3:_="">
    <xsd:import namespace="a046b229-4f3c-467f-9eac-543a4c84deb6"/>
    <xsd:import namespace="53a5ee79-252e-45c7-b498-4afdb6e7f6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46b229-4f3c-467f-9eac-543a4c84de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a5ee79-252e-45c7-b498-4afdb6e7f6b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1c1b973-f776-4cd3-affd-8184735301f9}" ma:internalName="TaxCatchAll" ma:showField="CatchAllData" ma:web="53a5ee79-252e-45c7-b498-4afdb6e7f6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046b229-4f3c-467f-9eac-543a4c84deb6">
      <Terms xmlns="http://schemas.microsoft.com/office/infopath/2007/PartnerControls"/>
    </lcf76f155ced4ddcb4097134ff3c332f>
    <TaxCatchAll xmlns="53a5ee79-252e-45c7-b498-4afdb6e7f6b3" xsi:nil="true"/>
  </documentManagement>
</p:properties>
</file>

<file path=customXml/itemProps1.xml><?xml version="1.0" encoding="utf-8"?>
<ds:datastoreItem xmlns:ds="http://schemas.openxmlformats.org/officeDocument/2006/customXml" ds:itemID="{324C8997-95FA-48D4-97A3-311F08B03C96}">
  <ds:schemaRefs>
    <ds:schemaRef ds:uri="53a5ee79-252e-45c7-b498-4afdb6e7f6b3"/>
    <ds:schemaRef ds:uri="a046b229-4f3c-467f-9eac-543a4c84deb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68E1488-A701-48C1-8CF8-5C08531C85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1F19713-E937-4D77-B1E7-3C6F1219CAD3}">
  <ds:schemaRefs>
    <ds:schemaRef ds:uri="a046b229-4f3c-467f-9eac-543a4c84deb6"/>
    <ds:schemaRef ds:uri="http://schemas.openxmlformats.org/package/2006/metadata/core-properties"/>
    <ds:schemaRef ds:uri="53a5ee79-252e-45c7-b498-4afdb6e7f6b3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3179</Words>
  <Application>Microsoft Macintosh PowerPoint</Application>
  <PresentationFormat>Widescreen</PresentationFormat>
  <Paragraphs>383</Paragraphs>
  <Slides>17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Aptos</vt:lpstr>
      <vt:lpstr>Arial</vt:lpstr>
      <vt:lpstr>Calibri</vt:lpstr>
      <vt:lpstr>Georgia</vt:lpstr>
      <vt:lpstr>Helvetica Neue</vt:lpstr>
      <vt:lpstr>Open Sans</vt:lpstr>
      <vt:lpstr>Poppins</vt:lpstr>
      <vt:lpstr>Wingdings</vt:lpstr>
      <vt:lpstr>1_PwC Slide Master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POWERED BY A “COMMERCIAL BRAIN” The Agentic Front Office is powered by data, agents, and a continuous feedback loop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Jim LaLonde (US)</cp:lastModifiedBy>
  <cp:revision>1</cp:revision>
  <dcterms:created xsi:type="dcterms:W3CDTF">2026-03-10T18:00:33Z</dcterms:created>
  <dcterms:modified xsi:type="dcterms:W3CDTF">2026-05-06T21:22:20Z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0x010100FCE9E7FC3490C74C8F912DF18F6160CA</vt:lpwstr>
  </property>
  <property fmtid="{D5CDD505-2E9C-101B-9397-08002B2CF9AE}" pid="3" name="MediaServiceImageTags">
    <vt:lpwstr/>
  </property>
</Properties>
</file>